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294" r:id="rId5"/>
    <p:sldId id="260" r:id="rId6"/>
    <p:sldId id="295"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96" r:id="rId26"/>
    <p:sldId id="280" r:id="rId27"/>
    <p:sldId id="281" r:id="rId28"/>
    <p:sldId id="282" r:id="rId29"/>
    <p:sldId id="283" r:id="rId30"/>
    <p:sldId id="297" r:id="rId46"/>
    <p:sldId id="284" r:id="rId31"/>
    <p:sldId id="285" r:id="rId32"/>
    <p:sldId id="286" r:id="rId33"/>
    <p:sldId id="287" r:id="rId34"/>
    <p:sldId id="288" r:id="rId35"/>
    <p:sldId id="289" r:id="rId36"/>
    <p:sldId id="290" r:id="rId37"/>
    <p:sldId id="291" r:id="rId38"/>
    <p:sldId id="292" r:id="rId39"/>
    <p:sldId id="293"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2" d="100"/>
          <a:sy n="122" d="100"/>
        </p:scale>
        <p:origin x="114"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46"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574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Title slide uses the conference card. Hook: 'This talk is about refusing a tradeoff.'</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Who I am, what SpaceForest does. Mention: everything shown today is in the public sopot repo.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 min. The setting: flight simulation for guidance. Stress that several disciplines co-own the code — that is WHY separation of concerns is not cosmetic here.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The Mathematica → hand C → codegen journey from the handwritten plan. Each stage solved the previous stage's problem and created a new one. Punchline at the bottom.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the submitted outline. ~5 min.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abstract's opening lines, verbatim — the audience saw them in the programme. Then: why each property matters in practice.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talk's credo: a simple solution to a simple problem; a library does not need to be hard to be useful. 'Obviously no deficiencies' is also why the framework is named the way it is, and why we verify with conservation laws and disassembly. Alternate quotes if preferred: Scott Meyers, Effective C++ Item 18 — 'Make interfaces easy to use correctly and hard to use incorrectly'; Stroustrup — 'Make simple things simple!' (CppCon 2014 keynote).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caricature, but a recognisable one. Ask the room who has seen y[13] be the mass. Note it IS fast — that's why it survives.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~7 min.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OO decomposition. Modularity: yes. But the optimizer hits a wall at every virtual call, and the interfaces are untyped (double*, strings).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 talk's claim. The rest of the hour is the proof: components with single responsibility that compile to the monolith's machine code.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~8 min. Running example for the rest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example. The conservation law is the point: we can VERIFY the composed system, not just eyeball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core table of the talk. Spend time here. 'Provides' and 'Queries' are the typed interface.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~12 min. All code from the public repo, lightly trimmed.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physics/coupled_oscillator/tags.hpp. The whole trick starts here: names become types, so the compiler can route and check them.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point_mass.hpp. Highlighted: the registry query — the only coupling to the outside world, and it's by tag, not by type of the provider.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spring.hpp (trimmed: damping &amp; repulsion elided). Point at the two registry calls: that IS the whole dependency.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energy_monitor.hpp. 'Doesn't know there's a spring' — the abstract promised exactly this slide.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coupled_system.hpp / examples. If a required provider is missing the static_assert (or the concept) fails AT THE CALL SITE.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run: assets/oscillator_demo.cpp against the repo headers. Energy conserved to machine precision — the conservation law validates the COMPOSITION, not just the parts.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5. ~10 min.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tag dispatch is the iterator-category trick the audience already knows, applied to physics quantities.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core/typed_component.hpp (simplified). The registry is the only 'framework' there is. Emphasize: provider chosen at compile time → calls inline through.</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to 'why C++20 made this practical' from the abstract. Without concepts the diagnostics made this pattern team-hostile.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tradeoff slide: static composition. Sell the price as a feature in this domain (certifiable, no allocation, deterministic), admit it's a real constraint elsewhere.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6. ~6 min.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asm from assets/asm_compare.cpp (trimmed for the slide; full listing in repo). Offer godbolt link for the skeptics. Be honest about the constant-propagation difference.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slide quick. The asm slide is the argument; these are corroborating measurements from the repo.</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item 'dlaczego 20 a nie 26'. Show genuine enthusiasm for P2996 (reflect/ dir has the experiments) but ground it in deployment reality.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7. ~7 min.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rocket/ in the repo mirrors what flies. Each box is a header a different engineer can own. Don't over-claim: say which parts are the open-source mirror of the production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Dual&lt;T,N&gt; from core/dual.hpp. One sentence of mechanism (dual numbers), then the payoff: exact linearization for control design. Sets up the finale.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circled phrase from the handwritten plan — 'consistent level of abstraction' — is the thesis. Land it here.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TODO(Jędrzej): drop in the book scan and cite it properly. Beat: we finally have a language where the modular math can stay modular in code.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 TO BROWSER. Fallback if Wi-Fi dies: screen recording (TODO: record one). Show: stabilization, then poke it. Mention cart-pole → 6-chain generalization was a small diff because components compose.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Slow down. One breath per bullet.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Q&amp;A budget: 5 min. Likely questions: compile times (fold expressions cut 40-60% per repo notes), dynamic composition (honest answer: not this pattern's job), comparison with Modelica/acausal (experiments in physics/acausal/).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pic>
        <p:nvPicPr>
          <p:cNvPr id="2" name="Picture 1" descr="separation of concerns.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lang="en-US" sz="1300" b="1" noProof="0" dirty="0">
                <a:solidFill>
                  <a:srgbClr val="F2C744"/>
                </a:solidFill>
                <a:latin typeface="Segoe UI"/>
              </a:rPr>
              <a:t>BEFORE WE START</a:t>
            </a:r>
          </a:p>
        </p:txBody>
      </p:sp>
      <p:sp>
        <p:nvSpPr>
          <p:cNvPr id="3" name="TextBox 2"/>
          <p:cNvSpPr txBox="1"/>
          <p:nvPr/>
        </p:nvSpPr>
        <p:spPr>
          <a:xfrm>
            <a:off x="457200" y="694944"/>
            <a:ext cx="2037737" cy="569387"/>
          </a:xfrm>
          <a:prstGeom prst="rect">
            <a:avLst/>
          </a:prstGeom>
          <a:noFill/>
        </p:spPr>
        <p:txBody>
          <a:bodyPr wrap="none">
            <a:spAutoFit/>
          </a:bodyPr>
          <a:lstStyle/>
          <a:p>
            <a:r>
              <a:rPr lang="en-US" sz="3100" b="1" noProof="0" dirty="0">
                <a:solidFill>
                  <a:srgbClr val="FFFFFF"/>
                </a:solidFill>
                <a:latin typeface="Segoe UI"/>
              </a:rPr>
              <a:t>About me</a:t>
            </a:r>
          </a:p>
        </p:txBody>
      </p:sp>
      <p:sp>
        <p:nvSpPr>
          <p:cNvPr id="4" name="TextBox 3"/>
          <p:cNvSpPr txBox="1"/>
          <p:nvPr/>
        </p:nvSpPr>
        <p:spPr>
          <a:xfrm>
            <a:off x="548640" y="1828800"/>
            <a:ext cx="7498079" cy="2472472"/>
          </a:xfrm>
          <a:prstGeom prst="rect">
            <a:avLst/>
          </a:prstGeom>
          <a:noFill/>
        </p:spPr>
        <p:txBody>
          <a:bodyPr wrap="square">
            <a:spAutoFit/>
          </a:bodyPr>
          <a:lstStyle/>
          <a:p>
            <a:pPr>
              <a:spcAft>
                <a:spcPts val="800"/>
              </a:spcAft>
            </a:pPr>
            <a:r>
              <a:rPr lang="en-US" sz="2200" noProof="0" dirty="0">
                <a:solidFill>
                  <a:srgbClr val="35C4E8"/>
                </a:solidFill>
                <a:latin typeface="Segoe UI"/>
              </a:rPr>
              <a:t>•  </a:t>
            </a:r>
            <a:r>
              <a:rPr lang="en-US" sz="2200" b="1" noProof="0" dirty="0">
                <a:solidFill>
                  <a:srgbClr val="F2C744"/>
                </a:solidFill>
                <a:latin typeface="Segoe UI"/>
              </a:rPr>
              <a:t>Jędrzej Michalczyk</a:t>
            </a:r>
            <a:r>
              <a:rPr lang="en-US" sz="2200" b="0" noProof="0" dirty="0">
                <a:solidFill>
                  <a:srgbClr val="D8E2EC"/>
                </a:solidFill>
                <a:latin typeface="Segoe UI"/>
              </a:rPr>
              <a:t>  —  </a:t>
            </a:r>
            <a:r>
              <a:rPr lang="en-US" sz="2200" noProof="0" dirty="0">
                <a:solidFill>
                  <a:srgbClr val="D8E2EC"/>
                </a:solidFill>
                <a:latin typeface="Segoe UI"/>
              </a:rPr>
              <a:t>R&amp;D Engineer</a:t>
            </a:r>
            <a:endParaRPr lang="en-US" sz="2200" b="0" noProof="0" dirty="0">
              <a:solidFill>
                <a:srgbClr val="D8E2EC"/>
              </a:solidFill>
              <a:latin typeface="Segoe UI"/>
            </a:endParaRPr>
          </a:p>
          <a:p>
            <a:pPr>
              <a:spcAft>
                <a:spcPts val="800"/>
              </a:spcAft>
            </a:pPr>
            <a:r>
              <a:rPr lang="en-US" sz="2200" noProof="0" dirty="0">
                <a:solidFill>
                  <a:srgbClr val="35C4E8"/>
                </a:solidFill>
                <a:latin typeface="Segoe UI"/>
              </a:rPr>
              <a:t>•  </a:t>
            </a:r>
            <a:r>
              <a:rPr lang="en-US" sz="2200" b="1" noProof="0" dirty="0" err="1">
                <a:solidFill>
                  <a:srgbClr val="35C4E8"/>
                </a:solidFill>
                <a:latin typeface="Segoe UI"/>
              </a:rPr>
              <a:t>SpaceForest</a:t>
            </a:r>
            <a:r>
              <a:rPr lang="en-US" sz="2200" b="0" noProof="0" dirty="0">
                <a:solidFill>
                  <a:srgbClr val="D8E2EC"/>
                </a:solidFill>
                <a:latin typeface="Segoe UI"/>
              </a:rPr>
              <a:t>  (Gdynia, Poland)</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PERUN — single-stage suborbital launch vehicle</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guidance, navigation &amp; control software in modern C++</a:t>
            </a:r>
          </a:p>
          <a:p>
            <a:pPr>
              <a:spcAft>
                <a:spcPts val="800"/>
              </a:spcAft>
            </a:pPr>
            <a:r>
              <a:rPr lang="en-US" sz="2200" noProof="0" dirty="0">
                <a:solidFill>
                  <a:srgbClr val="35C4E8"/>
                </a:solidFill>
                <a:latin typeface="Segoe UI"/>
              </a:rPr>
              <a:t>•  </a:t>
            </a:r>
            <a:r>
              <a:rPr lang="en-US" sz="2200" b="0" noProof="0" dirty="0">
                <a:solidFill>
                  <a:srgbClr val="D8E2EC"/>
                </a:solidFill>
                <a:latin typeface="Segoe UI"/>
              </a:rPr>
              <a:t>The code in this talk is </a:t>
            </a:r>
            <a:r>
              <a:rPr lang="en-US" sz="2200" noProof="0" dirty="0">
                <a:solidFill>
                  <a:srgbClr val="D8E2EC"/>
                </a:solidFill>
                <a:latin typeface="Segoe UI"/>
              </a:rPr>
              <a:t>roughly </a:t>
            </a:r>
            <a:r>
              <a:rPr lang="en-US" sz="2200" b="0" noProof="0" dirty="0">
                <a:solidFill>
                  <a:srgbClr val="D8E2EC"/>
                </a:solidFill>
                <a:latin typeface="Segoe UI"/>
              </a:rPr>
              <a:t>: </a:t>
            </a:r>
            <a:r>
              <a:rPr lang="en-US" sz="2200" b="0" noProof="0" dirty="0">
                <a:solidFill>
                  <a:srgbClr val="35C4E8"/>
                </a:solidFill>
                <a:latin typeface="Segoe UI"/>
              </a:rPr>
              <a:t>github.com/</a:t>
            </a:r>
            <a:r>
              <a:rPr lang="en-US" sz="2200" b="0" noProof="0" dirty="0" err="1">
                <a:solidFill>
                  <a:srgbClr val="35C4E8"/>
                </a:solidFill>
                <a:latin typeface="Segoe UI"/>
              </a:rPr>
              <a:t>jedrzejmichalczyk</a:t>
            </a:r>
            <a:r>
              <a:rPr lang="en-US" sz="2200" b="0" noProof="0" dirty="0">
                <a:solidFill>
                  <a:srgbClr val="35C4E8"/>
                </a:solidFill>
                <a:latin typeface="Segoe UI"/>
              </a:rPr>
              <a:t>/</a:t>
            </a:r>
            <a:r>
              <a:rPr lang="en-US" sz="2200" b="0" noProof="0" dirty="0" err="1">
                <a:solidFill>
                  <a:srgbClr val="35C4E8"/>
                </a:solidFill>
                <a:latin typeface="Segoe UI"/>
              </a:rPr>
              <a:t>accu-on-sea-2026-modular-physics</a:t>
            </a:r>
            <a:endParaRPr lang="en-US" sz="2200" b="0" noProof="0" dirty="0">
              <a:solidFill>
                <a:srgbClr val="35C4E8"/>
              </a:solidFill>
              <a:latin typeface="Segoe UI"/>
            </a:endParaRPr>
          </a:p>
        </p:txBody>
      </p:sp>
      <p:sp>
        <p:nvSpPr>
          <p:cNvPr id="6" name="TextBox 5"/>
          <p:cNvSpPr txBox="1"/>
          <p:nvPr/>
        </p:nvSpPr>
        <p:spPr>
          <a:xfrm>
            <a:off x="411480" y="6446520"/>
            <a:ext cx="10058400" cy="320040"/>
          </a:xfrm>
          <a:prstGeom prst="rect">
            <a:avLst/>
          </a:prstGeom>
          <a:noFill/>
        </p:spPr>
        <p:txBody>
          <a:bodyPr wrap="none">
            <a:spAutoFit/>
          </a:bodyPr>
          <a:lstStyle/>
          <a:p>
            <a:r>
              <a:rPr lang="en-US" sz="1000" noProof="0" dirty="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lang="en-US" sz="1000" noProof="0" dirty="0">
                <a:solidFill>
                  <a:srgbClr val="8CA3B8"/>
                </a:solidFill>
                <a:latin typeface="Segoe UI"/>
              </a:rPr>
              <a:t>2</a:t>
            </a:r>
          </a:p>
        </p:txBody>
      </p:sp>
      <p:pic>
        <p:nvPicPr>
          <p:cNvPr id="8" name="Perun launch" descr="launch-of-the-perun-suborbital-rocket-over-the-polish-coast.jpg"/>
          <p:cNvPicPr>
            <a:picLocks noChangeAspect="1"/>
          </p:cNvPicPr>
          <p:nvPr/>
        </p:nvPicPr>
        <p:blipFill>
          <a:blip r:embed="rId3"/>
          <a:srcRect l="16250" r="16250"/>
          <a:stretch>
            <a:fillRect/>
          </a:stretch>
        </p:blipFill>
        <p:spPr>
          <a:xfrm>
            <a:off x="8229600" y="1828800"/>
            <a:ext cx="3291840" cy="3657600"/>
          </a:xfrm>
          <a:prstGeom prst="roundRect">
            <a:avLst>
              <a:gd name="adj" fmla="val 5000"/>
            </a:avLst>
          </a:prstGeom>
          <a:ln w="19050">
            <a:solidFill>
              <a:srgbClr val="1E3A55"/>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SPACEFOREST, A FEW YEARS AGO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original problem</a:t>
            </a:r>
          </a:p>
        </p:txBody>
      </p:sp>
      <p:sp>
        <p:nvSpPr>
          <p:cNvPr id="4" name="TextBox 3"/>
          <p:cNvSpPr txBox="1"/>
          <p:nvPr/>
        </p:nvSpPr>
        <p:spPr>
          <a:xfrm>
            <a:off x="548640" y="1645920"/>
            <a:ext cx="11064240" cy="3200876"/>
          </a:xfrm>
          <a:prstGeom prst="rect">
            <a:avLst/>
          </a:prstGeom>
          <a:noFill/>
        </p:spPr>
        <p:txBody>
          <a:bodyPr wrap="square">
            <a:spAutoFit/>
          </a:bodyPr>
          <a:lstStyle/>
          <a:p>
            <a:pPr>
              <a:spcAft>
                <a:spcPts val="800"/>
              </a:spcAft>
            </a:pPr>
            <a:r>
              <a:rPr lang="pl-PL" sz="2100" dirty="0">
                <a:solidFill>
                  <a:srgbClr val="35C4E8"/>
                </a:solidFill>
                <a:latin typeface="Segoe UI"/>
              </a:rPr>
              <a:t>•  </a:t>
            </a:r>
            <a:r>
              <a:rPr lang="pl-PL" sz="2100" b="0" dirty="0" err="1">
                <a:solidFill>
                  <a:srgbClr val="D8E2EC"/>
                </a:solidFill>
                <a:latin typeface="Segoe UI"/>
              </a:rPr>
              <a:t>Simulate</a:t>
            </a:r>
            <a:r>
              <a:rPr lang="pl-PL" sz="2100" b="0" dirty="0">
                <a:solidFill>
                  <a:srgbClr val="D8E2EC"/>
                </a:solidFill>
                <a:latin typeface="Segoe UI"/>
              </a:rPr>
              <a:t> a </a:t>
            </a:r>
            <a:r>
              <a:rPr lang="pl-PL" sz="2100" b="0" dirty="0" err="1">
                <a:solidFill>
                  <a:srgbClr val="D8E2EC"/>
                </a:solidFill>
                <a:latin typeface="Segoe UI"/>
              </a:rPr>
              <a:t>rocket</a:t>
            </a:r>
            <a:r>
              <a:rPr lang="pl-PL" sz="2100" b="0" dirty="0">
                <a:solidFill>
                  <a:srgbClr val="D8E2EC"/>
                </a:solidFill>
                <a:latin typeface="Segoe UI"/>
              </a:rPr>
              <a:t>: </a:t>
            </a:r>
            <a:r>
              <a:rPr lang="pl-PL" sz="2100" b="1" dirty="0">
                <a:solidFill>
                  <a:srgbClr val="FFFFFF"/>
                </a:solidFill>
                <a:latin typeface="Segoe UI"/>
              </a:rPr>
              <a:t>6-DOF dynamics + </a:t>
            </a:r>
            <a:r>
              <a:rPr lang="pl-PL" sz="2100" b="1" dirty="0" err="1">
                <a:solidFill>
                  <a:srgbClr val="FFFFFF"/>
                </a:solidFill>
                <a:latin typeface="Segoe UI"/>
              </a:rPr>
              <a:t>aerodynamics</a:t>
            </a:r>
            <a:r>
              <a:rPr lang="pl-PL" sz="2100" b="1" dirty="0">
                <a:solidFill>
                  <a:srgbClr val="FFFFFF"/>
                </a:solidFill>
                <a:latin typeface="Segoe UI"/>
              </a:rPr>
              <a:t> + </a:t>
            </a:r>
            <a:r>
              <a:rPr lang="pl-PL" sz="2100" b="1" dirty="0" err="1">
                <a:solidFill>
                  <a:srgbClr val="FFFFFF"/>
                </a:solidFill>
                <a:latin typeface="Segoe UI"/>
              </a:rPr>
              <a:t>propulsion</a:t>
            </a:r>
            <a:r>
              <a:rPr lang="pl-PL" sz="2100" b="1" dirty="0">
                <a:solidFill>
                  <a:srgbClr val="FFFFFF"/>
                </a:solidFill>
                <a:latin typeface="Segoe UI"/>
              </a:rPr>
              <a:t> + </a:t>
            </a:r>
            <a:r>
              <a:rPr lang="pl-PL" sz="2100" b="1" dirty="0" err="1">
                <a:solidFill>
                  <a:srgbClr val="FFFFFF"/>
                </a:solidFill>
                <a:latin typeface="Segoe UI"/>
              </a:rPr>
              <a:t>atmosphere</a:t>
            </a:r>
            <a:r>
              <a:rPr lang="pl-PL" sz="2100" b="1" dirty="0">
                <a:solidFill>
                  <a:srgbClr val="FFFFFF"/>
                </a:solidFill>
                <a:latin typeface="Segoe UI"/>
              </a:rPr>
              <a:t> + </a:t>
            </a:r>
            <a:r>
              <a:rPr lang="pl-PL" sz="2100" b="1" dirty="0" err="1">
                <a:solidFill>
                  <a:srgbClr val="FFFFFF"/>
                </a:solidFill>
                <a:latin typeface="Segoe UI"/>
              </a:rPr>
              <a:t>control</a:t>
            </a:r>
            <a:endParaRPr lang="pl-PL" sz="2100" b="1" dirty="0">
              <a:solidFill>
                <a:srgbClr val="FFFFFF"/>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The same physics must run in three places:</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engineering analysis (parameter studies, Monte Carlo)</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hardware-in-the-loop test benches — real time</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onboard — guidance runs against the same models, in real time</a:t>
            </a:r>
          </a:p>
          <a:p>
            <a:pPr>
              <a:spcAft>
                <a:spcPts val="800"/>
              </a:spcAft>
            </a:pPr>
            <a:r>
              <a:rPr sz="2100" dirty="0">
                <a:solidFill>
                  <a:srgbClr val="35C4E8"/>
                </a:solidFill>
                <a:latin typeface="Segoe UI"/>
              </a:rPr>
              <a:t>•  </a:t>
            </a:r>
            <a:r>
              <a:rPr sz="2100" b="1" dirty="0">
                <a:solidFill>
                  <a:srgbClr val="F2C744"/>
                </a:solidFill>
                <a:latin typeface="Segoe UI"/>
              </a:rPr>
              <a:t>Correctness and performance are </a:t>
            </a:r>
            <a:r>
              <a:rPr lang="pl-PL" sz="2100" b="1" dirty="0" err="1">
                <a:solidFill>
                  <a:srgbClr val="F2C744"/>
                </a:solidFill>
                <a:latin typeface="Segoe UI"/>
              </a:rPr>
              <a:t>crucial</a:t>
            </a:r>
            <a:endParaRPr sz="2100" b="1" dirty="0">
              <a:solidFill>
                <a:srgbClr val="F2C744"/>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And: aero engineers, control engineers and software engineers all touch the same code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791516" cy="292388"/>
          </a:xfrm>
          <a:prstGeom prst="rect">
            <a:avLst/>
          </a:prstGeom>
          <a:noFill/>
        </p:spPr>
        <p:txBody>
          <a:bodyPr wrap="none">
            <a:spAutoFit/>
          </a:bodyPr>
          <a:lstStyle/>
          <a:p>
            <a:r>
              <a:rPr lang="en-US" sz="1300" b="1" dirty="0">
                <a:solidFill>
                  <a:srgbClr val="F2C744"/>
                </a:solidFill>
                <a:latin typeface="Segoe UI"/>
              </a:rPr>
              <a:t>THE GENERAL FLOW</a:t>
            </a:r>
          </a:p>
        </p:txBody>
      </p:sp>
      <p:sp>
        <p:nvSpPr>
          <p:cNvPr id="3" name="TextBox 2"/>
          <p:cNvSpPr txBox="1"/>
          <p:nvPr/>
        </p:nvSpPr>
        <p:spPr>
          <a:xfrm>
            <a:off x="457200" y="694944"/>
            <a:ext cx="6971909" cy="569387"/>
          </a:xfrm>
          <a:prstGeom prst="rect">
            <a:avLst/>
          </a:prstGeom>
          <a:noFill/>
        </p:spPr>
        <p:txBody>
          <a:bodyPr wrap="none">
            <a:spAutoFit/>
          </a:bodyPr>
          <a:lstStyle/>
          <a:p>
            <a:r>
              <a:rPr lang="en-US" sz="3100" b="1" dirty="0">
                <a:solidFill>
                  <a:srgbClr val="FFFFFF"/>
                </a:solidFill>
                <a:latin typeface="Segoe UI"/>
              </a:rPr>
              <a:t>From symbolic math to embedded C</a:t>
            </a:r>
          </a:p>
        </p:txBody>
      </p:sp>
      <p:sp>
        <p:nvSpPr>
          <p:cNvPr id="4" name="Rounded Rectangle 3"/>
          <p:cNvSpPr/>
          <p:nvPr/>
        </p:nvSpPr>
        <p:spPr>
          <a:xfrm>
            <a:off x="54864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35C4E8"/>
                </a:solidFill>
                <a:latin typeface="Segoe UI"/>
              </a:rPr>
              <a:t>1. High-level framework</a:t>
            </a:r>
          </a:p>
        </p:txBody>
      </p:sp>
      <p:sp>
        <p:nvSpPr>
          <p:cNvPr id="5" name="TextBox 4"/>
          <p:cNvSpPr txBox="1"/>
          <p:nvPr/>
        </p:nvSpPr>
        <p:spPr>
          <a:xfrm>
            <a:off x="685800" y="2514600"/>
            <a:ext cx="3291840" cy="1205458"/>
          </a:xfrm>
          <a:prstGeom prst="rect">
            <a:avLst/>
          </a:prstGeom>
          <a:noFill/>
        </p:spPr>
        <p:txBody>
          <a:bodyPr wrap="square">
            <a:spAutoFit/>
          </a:bodyPr>
          <a:lstStyle/>
          <a:p>
            <a:r>
              <a:rPr lang="en-US" sz="1600" b="1" dirty="0">
                <a:solidFill>
                  <a:srgbClr val="35C4E8"/>
                </a:solidFill>
                <a:latin typeface="Segoe UI"/>
              </a:rPr>
              <a:t>MATLAB · Mathematica · Symbolica</a:t>
            </a:r>
          </a:p>
          <a:p>
            <a:pPr>
              <a:spcBef>
                <a:spcPts val="1000"/>
              </a:spcBef>
            </a:pPr>
            <a:r>
              <a:rPr lang="en-US" sz="1600" dirty="0">
                <a:solidFill>
                  <a:srgbClr val="FFFFFF"/>
                </a:solidFill>
                <a:latin typeface="Segoe UI"/>
              </a:rPr>
              <a:t>Express the equations once and validate the physics at a high level.</a:t>
            </a:r>
          </a:p>
        </p:txBody>
      </p:sp>
      <p:sp>
        <p:nvSpPr>
          <p:cNvPr id="6" name="Rounded Rectangle 5"/>
          <p:cNvSpPr/>
          <p:nvPr/>
        </p:nvSpPr>
        <p:spPr>
          <a:xfrm>
            <a:off x="434340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F2C744"/>
                </a:solidFill>
                <a:latin typeface="Segoe UI"/>
              </a:rPr>
              <a:t>2. Rewrite or generate</a:t>
            </a:r>
          </a:p>
        </p:txBody>
      </p:sp>
      <p:sp>
        <p:nvSpPr>
          <p:cNvPr id="7" name="TextBox 6"/>
          <p:cNvSpPr txBox="1"/>
          <p:nvPr/>
        </p:nvSpPr>
        <p:spPr>
          <a:xfrm>
            <a:off x="4480560" y="2514600"/>
            <a:ext cx="3291840" cy="1205458"/>
          </a:xfrm>
          <a:prstGeom prst="rect">
            <a:avLst/>
          </a:prstGeom>
          <a:noFill/>
        </p:spPr>
        <p:txBody>
          <a:bodyPr wrap="square">
            <a:spAutoFit/>
          </a:bodyPr>
          <a:lstStyle/>
          <a:p>
            <a:r>
              <a:rPr lang="en-US" sz="1600" b="1" dirty="0">
                <a:solidFill>
                  <a:srgbClr val="F2C744"/>
                </a:solidFill>
                <a:latin typeface="Segoe UI"/>
              </a:rPr>
              <a:t>Hand-rewrite or auto-generate</a:t>
            </a:r>
          </a:p>
          <a:p>
            <a:pPr>
              <a:spcBef>
                <a:spcPts val="1000"/>
              </a:spcBef>
            </a:pPr>
            <a:r>
              <a:rPr lang="en-US" sz="1600" dirty="0">
                <a:solidFill>
                  <a:srgbClr val="FFFFFF"/>
                </a:solidFill>
                <a:latin typeface="Segoe UI"/>
              </a:rPr>
              <a:t>Translate the validated model into portable C from the symbolic source.</a:t>
            </a:r>
          </a:p>
        </p:txBody>
      </p:sp>
      <p:sp>
        <p:nvSpPr>
          <p:cNvPr id="8" name="Rounded Rectangle 7"/>
          <p:cNvSpPr/>
          <p:nvPr/>
        </p:nvSpPr>
        <p:spPr>
          <a:xfrm>
            <a:off x="813816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7EE08A"/>
                </a:solidFill>
                <a:latin typeface="Segoe UI"/>
              </a:rPr>
              <a:t>3. Embedded C</a:t>
            </a:r>
          </a:p>
        </p:txBody>
      </p:sp>
      <p:sp>
        <p:nvSpPr>
          <p:cNvPr id="9" name="TextBox 8"/>
          <p:cNvSpPr txBox="1"/>
          <p:nvPr/>
        </p:nvSpPr>
        <p:spPr>
          <a:xfrm>
            <a:off x="8275320" y="2514600"/>
            <a:ext cx="3291840" cy="959237"/>
          </a:xfrm>
          <a:prstGeom prst="rect">
            <a:avLst/>
          </a:prstGeom>
          <a:noFill/>
        </p:spPr>
        <p:txBody>
          <a:bodyPr wrap="square">
            <a:spAutoFit/>
          </a:bodyPr>
          <a:lstStyle/>
          <a:p>
            <a:r>
              <a:rPr lang="en-US" sz="1600" b="1" dirty="0">
                <a:solidFill>
                  <a:srgbClr val="7EE08A"/>
                </a:solidFill>
                <a:latin typeface="Segoe UI"/>
              </a:rPr>
              <a:t>Compile &amp; deploy</a:t>
            </a:r>
          </a:p>
          <a:p>
            <a:pPr>
              <a:spcBef>
                <a:spcPts val="1000"/>
              </a:spcBef>
            </a:pPr>
            <a:r>
              <a:rPr lang="en-US" sz="1600" dirty="0">
                <a:solidFill>
                  <a:srgbClr val="FFFFFF"/>
                </a:solidFill>
                <a:latin typeface="Segoe UI"/>
              </a:rPr>
              <a:t>Runs on the target — fast, deterministic and real-time.</a:t>
            </a:r>
          </a:p>
        </p:txBody>
      </p:sp>
      <p:sp>
        <p:nvSpPr>
          <p:cNvPr id="10" name="TextBox 9"/>
          <p:cNvSpPr txBox="1"/>
          <p:nvPr/>
        </p:nvSpPr>
        <p:spPr>
          <a:xfrm>
            <a:off x="685800" y="5057919"/>
            <a:ext cx="4072397" cy="461665"/>
          </a:xfrm>
          <a:prstGeom prst="rect">
            <a:avLst/>
          </a:prstGeom>
          <a:noFill/>
        </p:spPr>
        <p:txBody>
          <a:bodyPr wrap="none">
            <a:spAutoFit/>
          </a:bodyPr>
          <a:lstStyle/>
          <a:p>
            <a:r>
              <a:rPr lang="pl-PL" sz="2400" b="1" i="1" dirty="0" err="1">
                <a:solidFill>
                  <a:srgbClr val="F2C744"/>
                </a:solidFill>
                <a:latin typeface="Segoe UI"/>
              </a:rPr>
              <a:t>Sometimes</a:t>
            </a:r>
            <a:r>
              <a:rPr lang="pl-PL" sz="2400" b="1" i="1" dirty="0">
                <a:solidFill>
                  <a:srgbClr val="F2C744"/>
                </a:solidFill>
                <a:latin typeface="Segoe UI"/>
              </a:rPr>
              <a:t> </a:t>
            </a:r>
            <a:r>
              <a:rPr lang="pl-PL" sz="2400" b="1" i="1" dirty="0" err="1">
                <a:solidFill>
                  <a:srgbClr val="F2C744"/>
                </a:solidFill>
                <a:latin typeface="Segoe UI"/>
              </a:rPr>
              <a:t>it</a:t>
            </a:r>
            <a:r>
              <a:rPr lang="pl-PL" sz="2400" b="1" i="1" dirty="0">
                <a:solidFill>
                  <a:srgbClr val="F2C744"/>
                </a:solidFill>
                <a:latin typeface="Segoe UI"/>
              </a:rPr>
              <a:t> </a:t>
            </a:r>
            <a:r>
              <a:rPr lang="pl-PL" sz="2400" b="1" i="1" dirty="0" err="1">
                <a:solidFill>
                  <a:srgbClr val="F2C744"/>
                </a:solidFill>
                <a:latin typeface="Segoe UI"/>
              </a:rPr>
              <a:t>is</a:t>
            </a:r>
            <a:r>
              <a:rPr lang="pl-PL" sz="2400" b="1" i="1" dirty="0">
                <a:solidFill>
                  <a:srgbClr val="F2C744"/>
                </a:solidFill>
                <a:latin typeface="Segoe UI"/>
              </a:rPr>
              <a:t> </a:t>
            </a:r>
            <a:r>
              <a:rPr lang="pl-PL" sz="2400" b="1" i="1" dirty="0" err="1">
                <a:solidFill>
                  <a:srgbClr val="F2C744"/>
                </a:solidFill>
                <a:latin typeface="Segoe UI"/>
              </a:rPr>
              <a:t>an</a:t>
            </a:r>
            <a:r>
              <a:rPr lang="pl-PL" sz="2400" b="1" i="1" dirty="0">
                <a:solidFill>
                  <a:srgbClr val="F2C744"/>
                </a:solidFill>
                <a:latin typeface="Segoe UI"/>
              </a:rPr>
              <a:t> </a:t>
            </a:r>
            <a:r>
              <a:rPr lang="pl-PL" sz="2400" b="1" i="1" dirty="0" err="1">
                <a:solidFill>
                  <a:srgbClr val="F2C744"/>
                </a:solidFill>
                <a:latin typeface="Segoe UI"/>
              </a:rPr>
              <a:t>overkill</a:t>
            </a:r>
            <a:r>
              <a:rPr lang="pl-PL" sz="2400" b="1" i="1" dirty="0">
                <a:solidFill>
                  <a:srgbClr val="F2C744"/>
                </a:solidFill>
                <a:latin typeface="Segoe UI"/>
              </a:rPr>
              <a:t>.</a:t>
            </a:r>
            <a:endParaRPr lang="en-US" sz="2400" b="1" i="1" dirty="0">
              <a:solidFill>
                <a:srgbClr val="F2C744"/>
              </a:solidFill>
              <a:latin typeface="Segoe UI"/>
            </a:endParaRP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a:t>
            </a:r>
          </a:p>
        </p:txBody>
      </p:sp>
      <p:sp>
        <p:nvSpPr>
          <p:cNvPr id="13" name="Strzałka: w prawo 12">
            <a:extLst>
              <a:ext uri="{FF2B5EF4-FFF2-40B4-BE49-F238E27FC236}">
                <a16:creationId xmlns:a16="http://schemas.microsoft.com/office/drawing/2014/main" id="{2E7E4CE6-BC16-4F21-995B-710832846D5B}"/>
              </a:ext>
            </a:extLst>
          </p:cNvPr>
          <p:cNvSpPr/>
          <p:nvPr/>
        </p:nvSpPr>
        <p:spPr>
          <a:xfrm>
            <a:off x="40132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
        <p:nvSpPr>
          <p:cNvPr id="14" name="Strzałka: w prawo 13">
            <a:extLst>
              <a:ext uri="{FF2B5EF4-FFF2-40B4-BE49-F238E27FC236}">
                <a16:creationId xmlns:a16="http://schemas.microsoft.com/office/drawing/2014/main" id="{BE2C8CE0-8306-4E89-9435-103710C36962}"/>
              </a:ext>
            </a:extLst>
          </p:cNvPr>
          <p:cNvSpPr/>
          <p:nvPr/>
        </p:nvSpPr>
        <p:spPr>
          <a:xfrm>
            <a:off x="78105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Tree>
    <p:extLst>
      <p:ext uri="{BB962C8B-B14F-4D97-AF65-F5344CB8AC3E}">
        <p14:creationId xmlns:p14="http://schemas.microsoft.com/office/powerpoint/2010/main" val="7933791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01</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Principle</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Separation of concerns in numerical code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5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762000" y="685800"/>
            <a:ext cx="10668000" cy="754053"/>
          </a:xfrm>
          <a:prstGeom prst="rect">
            <a:avLst/>
          </a:prstGeom>
          <a:noFill/>
        </p:spPr>
        <p:txBody>
          <a:bodyPr wrap="square">
            <a:spAutoFit/>
          </a:bodyPr>
          <a:lstStyle/>
          <a:p>
            <a:r>
              <a:rPr lang="en-US" sz="1300" b="1">
                <a:solidFill>
                  <a:srgbClr val="F2C744"/>
                </a:solidFill>
                <a:latin typeface="Segoe UI"/>
              </a:rPr>
              <a:t>THE MODELING PROBLEM</a:t>
            </a:r>
          </a:p>
          <a:p>
            <a:r>
              <a:rPr lang="en-US" sz="3000" b="1">
                <a:solidFill>
                  <a:srgbClr val="FFFFFF"/>
                </a:solidFill>
                <a:latin typeface="Segoe UI"/>
              </a:rPr>
              <a:t>Where do the software modules go?</a:t>
            </a:r>
          </a:p>
        </p:txBody>
      </p:sp>
      <p:sp>
        <p:nvSpPr>
          <p:cNvPr id="3" name="TextBox 2"/>
          <p:cNvSpPr txBox="1"/>
          <p:nvPr/>
        </p:nvSpPr>
        <p:spPr>
          <a:xfrm>
            <a:off x="889000" y="5181600"/>
            <a:ext cx="10414000" cy="707886"/>
          </a:xfrm>
          <a:prstGeom prst="rect">
            <a:avLst/>
          </a:prstGeom>
          <a:noFill/>
        </p:spPr>
        <p:txBody>
          <a:bodyPr wrap="square">
            <a:spAutoFit/>
          </a:bodyPr>
          <a:lstStyle/>
          <a:p>
            <a:pPr algn="ctr"/>
            <a:endParaRPr lang="en-US" sz="2000" dirty="0">
              <a:solidFill>
                <a:srgbClr val="D8E2EC"/>
              </a:solidFill>
              <a:latin typeface="Segoe UI"/>
            </a:endParaRPr>
          </a:p>
          <a:p>
            <a:pPr algn="ctr"/>
            <a:r>
              <a:rPr lang="pl-PL" sz="2000" b="1" dirty="0">
                <a:solidFill>
                  <a:srgbClr val="F2C744"/>
                </a:solidFill>
                <a:latin typeface="Segoe UI"/>
              </a:rPr>
              <a:t>I</a:t>
            </a:r>
            <a:r>
              <a:rPr lang="en-US" sz="2000" b="1" dirty="0">
                <a:solidFill>
                  <a:srgbClr val="F2C744"/>
                </a:solidFill>
                <a:latin typeface="Segoe UI"/>
              </a:rPr>
              <a:t>t is not obvious where to draw the software module boundaries.</a:t>
            </a: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6</a:t>
            </a:r>
          </a:p>
        </p:txBody>
      </p:sp>
      <p:sp>
        <p:nvSpPr>
          <p:cNvPr id="200" name="Wall L"/>
          <p:cNvSpPr/>
          <p:nvPr/>
        </p:nvSpPr>
        <p:spPr>
          <a:xfrm>
            <a:off x="1778000" y="3022600"/>
            <a:ext cx="228600" cy="1498600"/>
          </a:xfrm>
          <a:prstGeom prst="rect">
            <a:avLst/>
          </a:prstGeom>
          <a:solidFill>
            <a:srgbClr val="5B6B7A"/>
          </a:solidFill>
          <a:ln>
            <a:noFill/>
          </a:ln>
        </p:spPr>
        <p:txBody>
          <a:bodyPr/>
          <a:lstStyle/>
          <a:p>
            <a:endParaRPr/>
          </a:p>
        </p:txBody>
      </p:sp>
      <p:sp>
        <p:nvSpPr>
          <p:cNvPr id="201" name="Wall R"/>
          <p:cNvSpPr/>
          <p:nvPr/>
        </p:nvSpPr>
        <p:spPr>
          <a:xfrm>
            <a:off x="10312400" y="3022600"/>
            <a:ext cx="228600" cy="1498600"/>
          </a:xfrm>
          <a:prstGeom prst="rect">
            <a:avLst/>
          </a:prstGeom>
          <a:solidFill>
            <a:srgbClr val="5B6B7A"/>
          </a:solidFill>
          <a:ln>
            <a:noFill/>
          </a:ln>
        </p:spPr>
        <p:txBody>
          <a:bodyPr/>
          <a:lstStyle/>
          <a:p>
            <a:endParaRPr/>
          </a:p>
        </p:txBody>
      </p:sp>
      <p:sp>
        <p:nvSpPr>
          <p:cNvPr id="202" name="Floor"/>
          <p:cNvSpPr/>
          <p:nvPr/>
        </p:nvSpPr>
        <p:spPr>
          <a:xfrm>
            <a:off x="1701800" y="4445000"/>
            <a:ext cx="9017000" cy="63500"/>
          </a:xfrm>
          <a:prstGeom prst="rect">
            <a:avLst/>
          </a:prstGeom>
          <a:solidFill>
            <a:srgbClr val="5B6B7A"/>
          </a:solidFill>
          <a:ln>
            <a:noFill/>
          </a:ln>
        </p:spPr>
        <p:txBody>
          <a:bodyPr/>
          <a:lstStyle/>
          <a:p>
            <a:endParaRPr/>
          </a:p>
        </p:txBody>
      </p:sp>
      <p:sp>
        <p:nvSpPr>
          <p:cNvPr id="203" name="Spring203"/>
          <p:cNvSpPr/>
          <p:nvPr/>
        </p:nvSpPr>
        <p:spPr>
          <a:xfrm>
            <a:off x="2006600" y="3606800"/>
            <a:ext cx="1803400" cy="406400"/>
          </a:xfrm>
          <a:custGeom>
            <a:avLst/>
            <a:gdLst/>
            <a:ahLst/>
            <a:cxnLst/>
            <a:rect l="0" t="0" r="0" b="0"/>
            <a:pathLst>
              <a:path w="1803400" h="406400" fill="none">
                <a:moveTo>
                  <a:pt x="0" y="203200"/>
                </a:moveTo>
                <a:lnTo>
                  <a:pt x="152400" y="203200"/>
                </a:lnTo>
                <a:lnTo>
                  <a:pt x="339725" y="25400"/>
                </a:lnTo>
                <a:lnTo>
                  <a:pt x="527050" y="381000"/>
                </a:lnTo>
                <a:lnTo>
                  <a:pt x="714375" y="25400"/>
                </a:lnTo>
                <a:lnTo>
                  <a:pt x="901700" y="381000"/>
                </a:lnTo>
                <a:lnTo>
                  <a:pt x="1089025" y="25400"/>
                </a:lnTo>
                <a:lnTo>
                  <a:pt x="1276350" y="381000"/>
                </a:lnTo>
                <a:lnTo>
                  <a:pt x="1463675" y="25400"/>
                </a:lnTo>
                <a:lnTo>
                  <a:pt x="1651000" y="203200"/>
                </a:lnTo>
                <a:lnTo>
                  <a:pt x="1803400" y="203200"/>
                </a:lnTo>
              </a:path>
            </a:pathLst>
          </a:custGeom>
          <a:noFill/>
          <a:ln w="28575" cap="rnd">
            <a:solidFill>
              <a:srgbClr val="D8E2EC"/>
            </a:solidFill>
            <a:round/>
          </a:ln>
        </p:spPr>
        <p:txBody>
          <a:bodyPr/>
          <a:lstStyle/>
          <a:p>
            <a:endParaRPr/>
          </a:p>
        </p:txBody>
      </p:sp>
      <p:sp>
        <p:nvSpPr>
          <p:cNvPr id="204" name="Spring204"/>
          <p:cNvSpPr/>
          <p:nvPr/>
        </p:nvSpPr>
        <p:spPr>
          <a:xfrm>
            <a:off x="5029200" y="3606800"/>
            <a:ext cx="2082800" cy="406400"/>
          </a:xfrm>
          <a:custGeom>
            <a:avLst/>
            <a:gdLst/>
            <a:ahLst/>
            <a:cxnLst/>
            <a:rect l="0" t="0" r="0" b="0"/>
            <a:pathLst>
              <a:path w="2082800" h="406400" fill="none">
                <a:moveTo>
                  <a:pt x="0" y="203200"/>
                </a:moveTo>
                <a:lnTo>
                  <a:pt x="152400" y="203200"/>
                </a:lnTo>
                <a:lnTo>
                  <a:pt x="374650" y="25400"/>
                </a:lnTo>
                <a:lnTo>
                  <a:pt x="596900" y="381000"/>
                </a:lnTo>
                <a:lnTo>
                  <a:pt x="819150" y="25400"/>
                </a:lnTo>
                <a:lnTo>
                  <a:pt x="1041400" y="381000"/>
                </a:lnTo>
                <a:lnTo>
                  <a:pt x="1263650" y="25400"/>
                </a:lnTo>
                <a:lnTo>
                  <a:pt x="1485900" y="381000"/>
                </a:lnTo>
                <a:lnTo>
                  <a:pt x="1708150" y="25400"/>
                </a:lnTo>
                <a:lnTo>
                  <a:pt x="1930400" y="203200"/>
                </a:lnTo>
                <a:lnTo>
                  <a:pt x="2082800" y="203200"/>
                </a:lnTo>
              </a:path>
            </a:pathLst>
          </a:custGeom>
          <a:noFill/>
          <a:ln w="28575" cap="rnd">
            <a:solidFill>
              <a:srgbClr val="D8E2EC"/>
            </a:solidFill>
            <a:round/>
          </a:ln>
        </p:spPr>
        <p:txBody>
          <a:bodyPr/>
          <a:lstStyle/>
          <a:p>
            <a:endParaRPr/>
          </a:p>
        </p:txBody>
      </p:sp>
      <p:sp>
        <p:nvSpPr>
          <p:cNvPr id="205" name="Spring205"/>
          <p:cNvSpPr/>
          <p:nvPr/>
        </p:nvSpPr>
        <p:spPr>
          <a:xfrm>
            <a:off x="8331200" y="3606800"/>
            <a:ext cx="1981200" cy="406400"/>
          </a:xfrm>
          <a:custGeom>
            <a:avLst/>
            <a:gdLst/>
            <a:ahLst/>
            <a:cxnLst/>
            <a:rect l="0" t="0" r="0" b="0"/>
            <a:pathLst>
              <a:path w="1981200" h="406400" fill="none">
                <a:moveTo>
                  <a:pt x="0" y="203200"/>
                </a:moveTo>
                <a:lnTo>
                  <a:pt x="152400" y="203200"/>
                </a:lnTo>
                <a:lnTo>
                  <a:pt x="361950" y="25400"/>
                </a:lnTo>
                <a:lnTo>
                  <a:pt x="571500" y="381000"/>
                </a:lnTo>
                <a:lnTo>
                  <a:pt x="781050" y="25400"/>
                </a:lnTo>
                <a:lnTo>
                  <a:pt x="990600" y="381000"/>
                </a:lnTo>
                <a:lnTo>
                  <a:pt x="1200150" y="25400"/>
                </a:lnTo>
                <a:lnTo>
                  <a:pt x="1409700" y="381000"/>
                </a:lnTo>
                <a:lnTo>
                  <a:pt x="1619250" y="25400"/>
                </a:lnTo>
                <a:lnTo>
                  <a:pt x="1828800" y="203200"/>
                </a:lnTo>
                <a:lnTo>
                  <a:pt x="1981200" y="203200"/>
                </a:lnTo>
              </a:path>
            </a:pathLst>
          </a:custGeom>
          <a:noFill/>
          <a:ln w="28575" cap="rnd">
            <a:solidFill>
              <a:srgbClr val="D8E2EC"/>
            </a:solidFill>
            <a:round/>
          </a:ln>
        </p:spPr>
        <p:txBody>
          <a:bodyPr/>
          <a:lstStyle/>
          <a:p>
            <a:endParaRPr/>
          </a:p>
        </p:txBody>
      </p:sp>
      <p:sp>
        <p:nvSpPr>
          <p:cNvPr id="206" name="m₁"/>
          <p:cNvSpPr/>
          <p:nvPr/>
        </p:nvSpPr>
        <p:spPr>
          <a:xfrm>
            <a:off x="3810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m₁</a:t>
            </a:r>
          </a:p>
        </p:txBody>
      </p:sp>
      <p:sp>
        <p:nvSpPr>
          <p:cNvPr id="207" name="m₂"/>
          <p:cNvSpPr/>
          <p:nvPr/>
        </p:nvSpPr>
        <p:spPr>
          <a:xfrm>
            <a:off x="7112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m₂</a:t>
            </a:r>
          </a:p>
        </p:txBody>
      </p:sp>
      <p:sp>
        <p:nvSpPr>
          <p:cNvPr id="208" name="lbl208"/>
          <p:cNvSpPr txBox="1"/>
          <p:nvPr/>
        </p:nvSpPr>
        <p:spPr>
          <a:xfrm>
            <a:off x="2400300" y="3073400"/>
            <a:ext cx="1016000" cy="304800"/>
          </a:xfrm>
          <a:prstGeom prst="rect">
            <a:avLst/>
          </a:prstGeom>
          <a:noFill/>
        </p:spPr>
        <p:txBody>
          <a:bodyPr wrap="none" anchor="ctr"/>
          <a:lstStyle/>
          <a:p>
            <a:pPr algn="ctr"/>
            <a:r>
              <a:rPr lang="en-US" sz="1600" b="1">
                <a:solidFill>
                  <a:srgbClr val="D8E2EC"/>
                </a:solidFill>
                <a:latin typeface="Segoe UI"/>
              </a:rPr>
              <a:t>k₁</a:t>
            </a:r>
          </a:p>
        </p:txBody>
      </p:sp>
      <p:sp>
        <p:nvSpPr>
          <p:cNvPr id="209" name="lbl209"/>
          <p:cNvSpPr txBox="1"/>
          <p:nvPr/>
        </p:nvSpPr>
        <p:spPr>
          <a:xfrm>
            <a:off x="5562600" y="3073400"/>
            <a:ext cx="1016000" cy="304800"/>
          </a:xfrm>
          <a:prstGeom prst="rect">
            <a:avLst/>
          </a:prstGeom>
          <a:noFill/>
        </p:spPr>
        <p:txBody>
          <a:bodyPr wrap="none" anchor="ctr"/>
          <a:lstStyle/>
          <a:p>
            <a:pPr algn="ctr"/>
            <a:r>
              <a:rPr lang="en-US" sz="1600" b="1">
                <a:solidFill>
                  <a:srgbClr val="D8E2EC"/>
                </a:solidFill>
                <a:latin typeface="Segoe UI"/>
              </a:rPr>
              <a:t>k₂</a:t>
            </a:r>
          </a:p>
        </p:txBody>
      </p:sp>
      <p:sp>
        <p:nvSpPr>
          <p:cNvPr id="210" name="lbl210"/>
          <p:cNvSpPr txBox="1"/>
          <p:nvPr/>
        </p:nvSpPr>
        <p:spPr>
          <a:xfrm>
            <a:off x="8813800" y="3073400"/>
            <a:ext cx="1016000" cy="304800"/>
          </a:xfrm>
          <a:prstGeom prst="rect">
            <a:avLst/>
          </a:prstGeom>
          <a:noFill/>
        </p:spPr>
        <p:txBody>
          <a:bodyPr wrap="none" anchor="ctr"/>
          <a:lstStyle/>
          <a:p>
            <a:pPr algn="ctr"/>
            <a:r>
              <a:rPr lang="en-US" sz="1600" b="1">
                <a:solidFill>
                  <a:srgbClr val="D8E2EC"/>
                </a:solidFill>
                <a:latin typeface="Segoe UI"/>
              </a:rPr>
              <a:t>k₃</a:t>
            </a:r>
          </a:p>
        </p:txBody>
      </p:sp>
      <p:sp>
        <p:nvSpPr>
          <p:cNvPr id="211" name="q211"/>
          <p:cNvSpPr/>
          <p:nvPr/>
        </p:nvSpPr>
        <p:spPr>
          <a:xfrm>
            <a:off x="3644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2" name="q212"/>
          <p:cNvSpPr/>
          <p:nvPr/>
        </p:nvSpPr>
        <p:spPr>
          <a:xfrm>
            <a:off x="4864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3" name="q213"/>
          <p:cNvSpPr/>
          <p:nvPr/>
        </p:nvSpPr>
        <p:spPr>
          <a:xfrm>
            <a:off x="6946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4" name="q214"/>
          <p:cNvSpPr/>
          <p:nvPr/>
        </p:nvSpPr>
        <p:spPr>
          <a:xfrm>
            <a:off x="8166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Tree>
    <p:extLst>
      <p:ext uri="{BB962C8B-B14F-4D97-AF65-F5344CB8AC3E}">
        <p14:creationId xmlns:p14="http://schemas.microsoft.com/office/powerpoint/2010/main" val="2814649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1188720" y="1371600"/>
            <a:ext cx="9784080" cy="1477328"/>
          </a:xfrm>
          <a:prstGeom prst="rect">
            <a:avLst/>
          </a:prstGeom>
          <a:noFill/>
        </p:spPr>
        <p:txBody>
          <a:bodyPr wrap="square">
            <a:spAutoFit/>
          </a:bodyPr>
          <a:lstStyle/>
          <a:p>
            <a:r>
              <a:rPr lang="pl-PL" sz="3000" i="1" dirty="0">
                <a:solidFill>
                  <a:srgbClr val="FFFFFF"/>
                </a:solidFill>
                <a:latin typeface="Segoe UI"/>
              </a:rPr>
              <a:t>General </a:t>
            </a:r>
            <a:r>
              <a:rPr lang="pl-PL" sz="3000" i="1" dirty="0" err="1">
                <a:solidFill>
                  <a:srgbClr val="FFFFFF"/>
                </a:solidFill>
                <a:latin typeface="Segoe UI"/>
              </a:rPr>
              <a:t>good</a:t>
            </a:r>
            <a:r>
              <a:rPr lang="pl-PL" sz="3000" i="1" dirty="0">
                <a:solidFill>
                  <a:srgbClr val="FFFFFF"/>
                </a:solidFill>
                <a:latin typeface="Segoe UI"/>
              </a:rPr>
              <a:t> idea:</a:t>
            </a:r>
          </a:p>
          <a:p>
            <a:r>
              <a:rPr lang="pl-PL" sz="3000" i="1" dirty="0" err="1">
                <a:solidFill>
                  <a:srgbClr val="FFFFFF"/>
                </a:solidFill>
                <a:latin typeface="Segoe UI"/>
              </a:rPr>
              <a:t>Choose</a:t>
            </a:r>
            <a:r>
              <a:rPr lang="pl-PL" sz="3000" i="1" dirty="0">
                <a:solidFill>
                  <a:srgbClr val="FFFFFF"/>
                </a:solidFill>
                <a:latin typeface="Segoe UI"/>
              </a:rPr>
              <a:t> </a:t>
            </a:r>
            <a:r>
              <a:rPr lang="pl-PL" sz="3000" i="1" dirty="0" err="1">
                <a:solidFill>
                  <a:srgbClr val="FFFFFF"/>
                </a:solidFill>
                <a:latin typeface="Segoe UI"/>
              </a:rPr>
              <a:t>correct</a:t>
            </a:r>
            <a:r>
              <a:rPr lang="pl-PL" sz="3000" i="1" dirty="0">
                <a:solidFill>
                  <a:srgbClr val="FFFFFF"/>
                </a:solidFill>
                <a:latin typeface="Segoe UI"/>
              </a:rPr>
              <a:t> </a:t>
            </a:r>
            <a:r>
              <a:rPr lang="pl-PL" sz="3000" i="1" dirty="0" err="1">
                <a:solidFill>
                  <a:srgbClr val="FFFFFF"/>
                </a:solidFill>
                <a:latin typeface="Segoe UI"/>
              </a:rPr>
              <a:t>states</a:t>
            </a:r>
            <a:r>
              <a:rPr lang="pl-PL" sz="3000" i="1" dirty="0">
                <a:solidFill>
                  <a:srgbClr val="FFFFFF"/>
                </a:solidFill>
                <a:latin typeface="Segoe UI"/>
              </a:rPr>
              <a:t> and </a:t>
            </a:r>
            <a:r>
              <a:rPr lang="pl-PL" sz="3000" i="1" dirty="0" err="1">
                <a:solidFill>
                  <a:srgbClr val="FFFFFF"/>
                </a:solidFill>
                <a:latin typeface="Segoe UI"/>
              </a:rPr>
              <a:t>make</a:t>
            </a:r>
            <a:r>
              <a:rPr lang="pl-PL" sz="3000" i="1" dirty="0">
                <a:solidFill>
                  <a:srgbClr val="FFFFFF"/>
                </a:solidFill>
                <a:latin typeface="Segoe UI"/>
              </a:rPr>
              <a:t> </a:t>
            </a:r>
            <a:r>
              <a:rPr lang="pl-PL" sz="3000" i="1" dirty="0" err="1">
                <a:solidFill>
                  <a:srgbClr val="FFFFFF"/>
                </a:solidFill>
                <a:latin typeface="Segoe UI"/>
              </a:rPr>
              <a:t>everything</a:t>
            </a:r>
            <a:r>
              <a:rPr lang="pl-PL" sz="3000" i="1" dirty="0">
                <a:solidFill>
                  <a:srgbClr val="FFFFFF"/>
                </a:solidFill>
                <a:latin typeface="Segoe UI"/>
              </a:rPr>
              <a:t> </a:t>
            </a:r>
            <a:r>
              <a:rPr lang="pl-PL" sz="3000" i="1" dirty="0" err="1">
                <a:solidFill>
                  <a:srgbClr val="FFFFFF"/>
                </a:solidFill>
                <a:latin typeface="Segoe UI"/>
              </a:rPr>
              <a:t>else</a:t>
            </a:r>
            <a:r>
              <a:rPr lang="pl-PL" sz="3000" i="1" dirty="0">
                <a:solidFill>
                  <a:srgbClr val="FFFFFF"/>
                </a:solidFill>
                <a:latin typeface="Segoe UI"/>
              </a:rPr>
              <a:t> a </a:t>
            </a:r>
            <a:r>
              <a:rPr lang="pl-PL" sz="3000" i="1" dirty="0" err="1">
                <a:solidFill>
                  <a:srgbClr val="FFFFFF"/>
                </a:solidFill>
                <a:latin typeface="Segoe UI"/>
              </a:rPr>
              <a:t>pure</a:t>
            </a:r>
            <a:r>
              <a:rPr lang="pl-PL" sz="3000" i="1" dirty="0">
                <a:solidFill>
                  <a:srgbClr val="FFFFFF"/>
                </a:solidFill>
                <a:latin typeface="Segoe UI"/>
              </a:rPr>
              <a:t> </a:t>
            </a:r>
            <a:r>
              <a:rPr lang="pl-PL" sz="3000" i="1" dirty="0" err="1">
                <a:solidFill>
                  <a:srgbClr val="FFFFFF"/>
                </a:solidFill>
                <a:latin typeface="Segoe UI"/>
              </a:rPr>
              <a:t>state</a:t>
            </a:r>
            <a:r>
              <a:rPr lang="pl-PL" sz="3000" i="1" dirty="0">
                <a:solidFill>
                  <a:srgbClr val="FFFFFF"/>
                </a:solidFill>
                <a:latin typeface="Segoe UI"/>
              </a:rPr>
              <a:t> </a:t>
            </a:r>
            <a:r>
              <a:rPr lang="pl-PL" sz="3000" i="1" dirty="0" err="1">
                <a:solidFill>
                  <a:srgbClr val="FFFFFF"/>
                </a:solidFill>
                <a:latin typeface="Segoe UI"/>
              </a:rPr>
              <a:t>function</a:t>
            </a:r>
            <a:r>
              <a:rPr lang="pl-PL" sz="3000" i="1" dirty="0">
                <a:solidFill>
                  <a:srgbClr val="FFFFFF"/>
                </a:solidFill>
                <a:latin typeface="Segoe UI"/>
              </a:rPr>
              <a:t>.</a:t>
            </a:r>
            <a:endParaRPr sz="3000" b="0" i="1" dirty="0">
              <a:solidFill>
                <a:srgbClr val="FFFFFF"/>
              </a:solidFill>
              <a:latin typeface="Segoe UI"/>
            </a:endParaRPr>
          </a:p>
        </p:txBody>
      </p:sp>
      <p:sp>
        <p:nvSpPr>
          <p:cNvPr id="4" name="TextBox 3"/>
          <p:cNvSpPr txBox="1"/>
          <p:nvPr/>
        </p:nvSpPr>
        <p:spPr>
          <a:xfrm>
            <a:off x="719519" y="5120640"/>
            <a:ext cx="10722487" cy="430887"/>
          </a:xfrm>
          <a:prstGeom prst="rect">
            <a:avLst/>
          </a:prstGeom>
          <a:noFill/>
        </p:spPr>
        <p:txBody>
          <a:bodyPr wrap="none">
            <a:spAutoFit/>
          </a:bodyPr>
          <a:lstStyle/>
          <a:p>
            <a:pPr algn="ctr"/>
            <a:r>
              <a:rPr sz="2200" b="1" dirty="0">
                <a:solidFill>
                  <a:srgbClr val="35C4E8"/>
                </a:solidFill>
                <a:latin typeface="Segoe UI"/>
              </a:rPr>
              <a:t>SOPOT — “Obviously Physics, Obviously Templates” — </a:t>
            </a:r>
            <a:r>
              <a:rPr lang="pl-PL" sz="2200" b="1" dirty="0" err="1">
                <a:solidFill>
                  <a:srgbClr val="35C4E8"/>
                </a:solidFill>
                <a:latin typeface="Segoe UI"/>
              </a:rPr>
              <a:t>tries</a:t>
            </a:r>
            <a:r>
              <a:rPr lang="pl-PL" sz="2200" b="1" dirty="0">
                <a:solidFill>
                  <a:srgbClr val="35C4E8"/>
                </a:solidFill>
                <a:latin typeface="Segoe UI"/>
              </a:rPr>
              <a:t> to </a:t>
            </a:r>
            <a:r>
              <a:rPr lang="pl-PL" sz="2200" b="1" dirty="0" err="1">
                <a:solidFill>
                  <a:srgbClr val="35C4E8"/>
                </a:solidFill>
                <a:latin typeface="Segoe UI"/>
              </a:rPr>
              <a:t>capture</a:t>
            </a:r>
            <a:r>
              <a:rPr lang="pl-PL" sz="2200" b="1" dirty="0">
                <a:solidFill>
                  <a:srgbClr val="35C4E8"/>
                </a:solidFill>
                <a:latin typeface="Segoe UI"/>
              </a:rPr>
              <a:t> </a:t>
            </a:r>
            <a:r>
              <a:rPr lang="pl-PL" sz="2200" b="1" dirty="0" err="1">
                <a:solidFill>
                  <a:srgbClr val="35C4E8"/>
                </a:solidFill>
                <a:latin typeface="Segoe UI"/>
              </a:rPr>
              <a:t>this</a:t>
            </a:r>
            <a:r>
              <a:rPr lang="pl-PL" sz="2200" b="1" dirty="0">
                <a:solidFill>
                  <a:srgbClr val="35C4E8"/>
                </a:solidFill>
                <a:latin typeface="Segoe UI"/>
              </a:rPr>
              <a:t> idea</a:t>
            </a:r>
            <a:endParaRPr sz="2200" b="1" dirty="0">
              <a:solidFill>
                <a:srgbClr val="35C4E8"/>
              </a:solidFill>
              <a:latin typeface="Segoe UI"/>
            </a:endParaRP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STATUS QUO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What numerical code usually looks like</a:t>
            </a:r>
          </a:p>
        </p:txBody>
      </p:sp>
      <p:sp>
        <p:nvSpPr>
          <p:cNvPr id="4" name="Rounded Rectangle 3"/>
          <p:cNvSpPr/>
          <p:nvPr/>
        </p:nvSpPr>
        <p:spPr>
          <a:xfrm>
            <a:off x="548639" y="1508760"/>
            <a:ext cx="10385659" cy="41422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2"/>
            <a:ext cx="9855307" cy="2900794"/>
          </a:xfrm>
          <a:prstGeom prst="rect">
            <a:avLst/>
          </a:prstGeom>
          <a:noFill/>
        </p:spPr>
        <p:txBody>
          <a:bodyPr wrap="none">
            <a:spAutoFit/>
          </a:bodyPr>
          <a:lstStyle/>
          <a:p>
            <a:pPr>
              <a:spcAft>
                <a:spcPts val="100"/>
              </a:spcAft>
            </a:pPr>
            <a:r>
              <a:rPr sz="1600">
                <a:solidFill>
                  <a:srgbClr val="6A9955"/>
                </a:solidFill>
                <a:latin typeface="Consolas"/>
              </a:rPr>
              <a:t>// derivs.cpp — all of physics in one function</a:t>
            </a:r>
          </a:p>
          <a:p>
            <a:pPr>
              <a:spcAft>
                <a:spcPts val="100"/>
              </a:spcAft>
            </a:pPr>
            <a:r>
              <a:rPr sz="1600">
                <a:solidFill>
                  <a:srgbClr val="4EC9B0"/>
                </a:solidFill>
                <a:latin typeface="Consolas"/>
              </a:rPr>
              <a:t>void</a:t>
            </a:r>
            <a:r>
              <a:rPr sz="1600">
                <a:solidFill>
                  <a:srgbClr val="D4D4D4"/>
                </a:solidFill>
                <a:latin typeface="Consolas"/>
              </a:rPr>
              <a:t> derivs(</a:t>
            </a:r>
            <a:r>
              <a:rPr sz="1600">
                <a:solidFill>
                  <a:srgbClr val="4EC9B0"/>
                </a:solidFill>
                <a:latin typeface="Consolas"/>
              </a:rPr>
              <a:t>double</a:t>
            </a:r>
            <a:r>
              <a:rPr sz="1600">
                <a:solidFill>
                  <a:srgbClr val="D4D4D4"/>
                </a:solidFill>
                <a:latin typeface="Consolas"/>
              </a:rPr>
              <a:t> 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y, </a:t>
            </a:r>
            <a:r>
              <a:rPr sz="1600">
                <a:solidFill>
                  <a:srgbClr val="4EC9B0"/>
                </a:solidFill>
                <a:latin typeface="Consolas"/>
              </a:rPr>
              <a:t>double</a:t>
            </a:r>
            <a:r>
              <a:rPr sz="1600">
                <a:solidFill>
                  <a:srgbClr val="D4D4D4"/>
                </a:solidFill>
                <a:latin typeface="Consolas"/>
              </a:rPr>
              <a:t>* dydt) {</a:t>
            </a:r>
          </a:p>
          <a:p>
            <a:pPr>
              <a:spcAft>
                <a:spcPts val="100"/>
              </a:spcAft>
            </a:pPr>
            <a:r>
              <a:rPr sz="1600">
                <a:solidFill>
                  <a:srgbClr val="D4D4D4"/>
                </a:solidFill>
                <a:latin typeface="Consolas"/>
              </a:rPr>
              <a:t>    </a:t>
            </a:r>
            <a:r>
              <a:rPr sz="1600">
                <a:solidFill>
                  <a:srgbClr val="6A9955"/>
                </a:solidFill>
                <a:latin typeface="Consolas"/>
              </a:rPr>
              <a:t>// y[0..2] pos, y[3..5] vel, y[6..9] quat, y[10..12] omega, y[13] mass</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rho = </a:t>
            </a:r>
            <a:r>
              <a:rPr sz="1600">
                <a:solidFill>
                  <a:srgbClr val="B5CEA8"/>
                </a:solidFill>
                <a:latin typeface="Consolas"/>
              </a:rPr>
              <a:t>1.225</a:t>
            </a:r>
            <a:r>
              <a:rPr sz="1600">
                <a:solidFill>
                  <a:srgbClr val="D4D4D4"/>
                </a:solidFill>
                <a:latin typeface="Consolas"/>
              </a:rPr>
              <a:t> * exp(-y[</a:t>
            </a:r>
            <a:r>
              <a:rPr sz="1600">
                <a:solidFill>
                  <a:srgbClr val="B5CEA8"/>
                </a:solidFill>
                <a:latin typeface="Consolas"/>
              </a:rPr>
              <a:t>2</a:t>
            </a:r>
            <a:r>
              <a:rPr sz="1600">
                <a:solidFill>
                  <a:srgbClr val="D4D4D4"/>
                </a:solidFill>
                <a:latin typeface="Consolas"/>
              </a:rPr>
              <a:t>] / </a:t>
            </a:r>
            <a:r>
              <a:rPr sz="1600">
                <a:solidFill>
                  <a:srgbClr val="B5CEA8"/>
                </a:solidFill>
                <a:latin typeface="Consolas"/>
              </a:rPr>
              <a:t>8500.0</a:t>
            </a:r>
            <a:r>
              <a:rPr sz="1600">
                <a:solidFill>
                  <a:srgbClr val="D4D4D4"/>
                </a:solidFill>
                <a:latin typeface="Consolas"/>
              </a:rPr>
              <a:t>);            </a:t>
            </a:r>
            <a:r>
              <a:rPr sz="1600">
                <a:solidFill>
                  <a:srgbClr val="6A9955"/>
                </a:solidFill>
                <a:latin typeface="Consolas"/>
              </a:rPr>
              <a:t>// atmosphere</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v2  = y[</a:t>
            </a:r>
            <a:r>
              <a:rPr sz="1600">
                <a:solidFill>
                  <a:srgbClr val="B5CEA8"/>
                </a:solidFill>
                <a:latin typeface="Consolas"/>
              </a:rPr>
              <a:t>3</a:t>
            </a:r>
            <a:r>
              <a:rPr sz="1600">
                <a:solidFill>
                  <a:srgbClr val="D4D4D4"/>
                </a:solidFill>
                <a:latin typeface="Consolas"/>
              </a:rPr>
              <a:t>]*y[</a:t>
            </a:r>
            <a:r>
              <a:rPr sz="1600">
                <a:solidFill>
                  <a:srgbClr val="B5CEA8"/>
                </a:solidFill>
                <a:latin typeface="Consolas"/>
              </a:rPr>
              <a:t>3</a:t>
            </a:r>
            <a:r>
              <a:rPr sz="1600">
                <a:solidFill>
                  <a:srgbClr val="D4D4D4"/>
                </a:solidFill>
                <a:latin typeface="Consolas"/>
              </a:rPr>
              <a:t>] + y[</a:t>
            </a:r>
            <a:r>
              <a:rPr sz="1600">
                <a:solidFill>
                  <a:srgbClr val="B5CEA8"/>
                </a:solidFill>
                <a:latin typeface="Consolas"/>
              </a:rPr>
              <a:t>4</a:t>
            </a:r>
            <a:r>
              <a:rPr sz="1600">
                <a:solidFill>
                  <a:srgbClr val="D4D4D4"/>
                </a:solidFill>
                <a:latin typeface="Consolas"/>
              </a:rPr>
              <a:t>]*y[</a:t>
            </a:r>
            <a:r>
              <a:rPr sz="1600">
                <a:solidFill>
                  <a:srgbClr val="B5CEA8"/>
                </a:solidFill>
                <a:latin typeface="Consolas"/>
              </a:rPr>
              <a:t>4</a:t>
            </a:r>
            <a:r>
              <a:rPr sz="1600">
                <a:solidFill>
                  <a:srgbClr val="D4D4D4"/>
                </a:solidFill>
                <a:latin typeface="Consolas"/>
              </a:rPr>
              <a:t>] + y[</a:t>
            </a:r>
            <a:r>
              <a:rPr sz="1600">
                <a:solidFill>
                  <a:srgbClr val="B5CEA8"/>
                </a:solidFill>
                <a:latin typeface="Consolas"/>
              </a:rPr>
              <a:t>5</a:t>
            </a:r>
            <a:r>
              <a:rPr sz="1600">
                <a:solidFill>
                  <a:srgbClr val="D4D4D4"/>
                </a:solidFill>
                <a:latin typeface="Consolas"/>
              </a:rPr>
              <a:t>]*y[</a:t>
            </a:r>
            <a:r>
              <a:rPr sz="1600">
                <a:solidFill>
                  <a:srgbClr val="B5CEA8"/>
                </a:solidFill>
                <a:latin typeface="Consolas"/>
              </a:rPr>
              <a:t>5</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4EC9B0"/>
                </a:solidFill>
                <a:latin typeface="Consolas"/>
              </a:rPr>
              <a:t>Fd</a:t>
            </a:r>
            <a:r>
              <a:rPr sz="1600">
                <a:solidFill>
                  <a:srgbClr val="D4D4D4"/>
                </a:solidFill>
                <a:latin typeface="Consolas"/>
              </a:rPr>
              <a:t>  = </a:t>
            </a:r>
            <a:r>
              <a:rPr sz="1600">
                <a:solidFill>
                  <a:srgbClr val="B5CEA8"/>
                </a:solidFill>
                <a:latin typeface="Consolas"/>
              </a:rPr>
              <a:t>0.5</a:t>
            </a:r>
            <a:r>
              <a:rPr sz="1600">
                <a:solidFill>
                  <a:srgbClr val="D4D4D4"/>
                </a:solidFill>
                <a:latin typeface="Consolas"/>
              </a:rPr>
              <a:t> * rho * v2 * CD * AREA;             </a:t>
            </a:r>
            <a:r>
              <a:rPr sz="1600">
                <a:solidFill>
                  <a:srgbClr val="6A9955"/>
                </a:solidFill>
                <a:latin typeface="Consolas"/>
              </a:rPr>
              <a:t>// aero drag</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4EC9B0"/>
                </a:solidFill>
                <a:latin typeface="Consolas"/>
              </a:rPr>
              <a:t>Ft</a:t>
            </a:r>
            <a:r>
              <a:rPr sz="1600">
                <a:solidFill>
                  <a:srgbClr val="D4D4D4"/>
                </a:solidFill>
                <a:latin typeface="Consolas"/>
              </a:rPr>
              <a:t>  = thrust_table_lookup(t);                 </a:t>
            </a:r>
            <a:r>
              <a:rPr sz="1600">
                <a:solidFill>
                  <a:srgbClr val="6A9955"/>
                </a:solidFill>
                <a:latin typeface="Consolas"/>
              </a:rPr>
              <a:t>// propulsion</a:t>
            </a:r>
          </a:p>
          <a:p>
            <a:pPr>
              <a:spcAft>
                <a:spcPts val="100"/>
              </a:spcAft>
            </a:pPr>
            <a:r>
              <a:rPr sz="1600">
                <a:solidFill>
                  <a:srgbClr val="D4D4D4"/>
                </a:solidFill>
                <a:latin typeface="Consolas"/>
              </a:rPr>
              <a:t>    dydt[</a:t>
            </a:r>
            <a:r>
              <a:rPr sz="1600">
                <a:solidFill>
                  <a:srgbClr val="B5CEA8"/>
                </a:solidFill>
                <a:latin typeface="Consolas"/>
              </a:rPr>
              <a:t>3</a:t>
            </a:r>
            <a:r>
              <a:rPr sz="1600">
                <a:solidFill>
                  <a:srgbClr val="D4D4D4"/>
                </a:solidFill>
                <a:latin typeface="Consolas"/>
              </a:rPr>
              <a:t>] = (</a:t>
            </a:r>
            <a:r>
              <a:rPr sz="1600">
                <a:solidFill>
                  <a:srgbClr val="4EC9B0"/>
                </a:solidFill>
                <a:latin typeface="Consolas"/>
              </a:rPr>
              <a:t>Ft</a:t>
            </a:r>
            <a:r>
              <a:rPr sz="1600">
                <a:solidFill>
                  <a:srgbClr val="D4D4D4"/>
                </a:solidFill>
                <a:latin typeface="Consolas"/>
              </a:rPr>
              <a:t>*ax(y) - </a:t>
            </a:r>
            <a:r>
              <a:rPr sz="1600">
                <a:solidFill>
                  <a:srgbClr val="4EC9B0"/>
                </a:solidFill>
                <a:latin typeface="Consolas"/>
              </a:rPr>
              <a:t>Fd</a:t>
            </a:r>
            <a:r>
              <a:rPr sz="1600">
                <a:solidFill>
                  <a:srgbClr val="D4D4D4"/>
                </a:solidFill>
                <a:latin typeface="Consolas"/>
              </a:rPr>
              <a:t>*vx_hat(y)) / y[</a:t>
            </a:r>
            <a:r>
              <a:rPr sz="1600">
                <a:solidFill>
                  <a:srgbClr val="B5CEA8"/>
                </a:solidFill>
                <a:latin typeface="Consolas"/>
              </a:rPr>
              <a:t>13</a:t>
            </a:r>
            <a:r>
              <a:rPr sz="1600">
                <a:solidFill>
                  <a:srgbClr val="D4D4D4"/>
                </a:solidFill>
                <a:latin typeface="Consolas"/>
              </a:rPr>
              <a:t>];         </a:t>
            </a:r>
            <a:r>
              <a:rPr sz="1600">
                <a:solidFill>
                  <a:srgbClr val="6A9955"/>
                </a:solidFill>
                <a:latin typeface="Consolas"/>
              </a:rPr>
              <a:t>// dynamics</a:t>
            </a:r>
          </a:p>
          <a:p>
            <a:pPr>
              <a:spcAft>
                <a:spcPts val="100"/>
              </a:spcAft>
            </a:pPr>
            <a:r>
              <a:rPr sz="1600">
                <a:solidFill>
                  <a:srgbClr val="D4D4D4"/>
                </a:solidFill>
                <a:latin typeface="Consolas"/>
              </a:rPr>
              <a:t>    </a:t>
            </a:r>
            <a:r>
              <a:rPr sz="1600">
                <a:solidFill>
                  <a:srgbClr val="6A9955"/>
                </a:solidFill>
                <a:latin typeface="Consolas"/>
              </a:rPr>
              <a:t>/* ... 400 more lines, every subsystem interleaved ...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02</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Tradeoff That Isn't</a:t>
            </a:r>
          </a:p>
        </p:txBody>
      </p:sp>
      <p:sp>
        <p:nvSpPr>
          <p:cNvPr id="4" name="TextBox 3"/>
          <p:cNvSpPr txBox="1"/>
          <p:nvPr/>
        </p:nvSpPr>
        <p:spPr>
          <a:xfrm>
            <a:off x="3794760" y="3429000"/>
            <a:ext cx="7772400" cy="822960"/>
          </a:xfrm>
          <a:prstGeom prst="rect">
            <a:avLst/>
          </a:prstGeom>
          <a:noFill/>
        </p:spPr>
        <p:txBody>
          <a:bodyPr wrap="none">
            <a:spAutoFit/>
          </a:bodyPr>
          <a:lstStyle/>
          <a:p>
            <a:r>
              <a:rPr sz="2000" dirty="0">
                <a:solidFill>
                  <a:srgbClr val="8CA3B8"/>
                </a:solidFill>
                <a:latin typeface="Segoe UI"/>
              </a:rPr>
              <a:t>Modularity vs performance — or so we're told</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TEXTBOOK FIX</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Attempt: classic OO interfaces</a:t>
            </a:r>
          </a:p>
        </p:txBody>
      </p:sp>
      <p:sp>
        <p:nvSpPr>
          <p:cNvPr id="4" name="Rounded Rectangle 3"/>
          <p:cNvSpPr/>
          <p:nvPr/>
        </p:nvSpPr>
        <p:spPr>
          <a:xfrm>
            <a:off x="548640" y="1508759"/>
            <a:ext cx="11155680" cy="445890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1"/>
            <a:ext cx="10788957" cy="3575338"/>
          </a:xfrm>
          <a:prstGeom prst="rect">
            <a:avLst/>
          </a:prstGeom>
          <a:noFill/>
        </p:spPr>
        <p:txBody>
          <a:bodyPr wrap="none">
            <a:spAutoFit/>
          </a:bodyPr>
          <a:lstStyle/>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virtual</a:t>
            </a:r>
            <a:r>
              <a:rPr sz="1600">
                <a:solidFill>
                  <a:srgbClr val="D4D4D4"/>
                </a:solidFill>
                <a:latin typeface="Consolas"/>
              </a:rPr>
              <a:t> </a:t>
            </a:r>
            <a:r>
              <a:rPr sz="1600">
                <a:solidFill>
                  <a:srgbClr val="4EC9B0"/>
                </a:solidFill>
                <a:latin typeface="Consolas"/>
              </a:rPr>
              <a:t>void</a:t>
            </a:r>
            <a:r>
              <a:rPr sz="1600">
                <a:solidFill>
                  <a:srgbClr val="D4D4D4"/>
                </a:solidFill>
                <a:latin typeface="Consolas"/>
              </a:rPr>
              <a:t> computeDerivatives(</a:t>
            </a:r>
            <a:r>
              <a:rPr sz="1600">
                <a:solidFill>
                  <a:srgbClr val="4EC9B0"/>
                </a:solidFill>
                <a:latin typeface="Consolas"/>
              </a:rPr>
              <a:t>double</a:t>
            </a:r>
            <a:r>
              <a:rPr sz="1600">
                <a:solidFill>
                  <a:srgbClr val="D4D4D4"/>
                </a:solidFill>
                <a:latin typeface="Consolas"/>
              </a:rPr>
              <a:t> 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state,</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dydt) = </a:t>
            </a:r>
            <a:r>
              <a:rPr sz="1600">
                <a:solidFill>
                  <a:srgbClr val="B5CEA8"/>
                </a:solidFill>
                <a:latin typeface="Consolas"/>
              </a:rPr>
              <a:t>0</a:t>
            </a:r>
            <a:r>
              <a:rPr sz="1600">
                <a:solidFill>
                  <a:srgbClr val="D4D4D4"/>
                </a:solidFill>
                <a:latin typeface="Consolas"/>
              </a:rPr>
              <a:t>;</a:t>
            </a:r>
          </a:p>
          <a:p>
            <a:pPr>
              <a:spcAft>
                <a:spcPts val="100"/>
              </a:spcAft>
            </a:pPr>
            <a:r>
              <a:rPr sz="1600" b="1">
                <a:solidFill>
                  <a:srgbClr val="D4D4D4"/>
                </a:solidFill>
                <a:latin typeface="Consolas"/>
              </a:rPr>
              <a:t>    </a:t>
            </a:r>
            <a:r>
              <a:rPr sz="1600" b="1">
                <a:solidFill>
                  <a:srgbClr val="569CD6"/>
                </a:solidFill>
                <a:latin typeface="Consolas"/>
              </a:rPr>
              <a:t>virtual</a:t>
            </a:r>
            <a:r>
              <a:rPr sz="1600" b="1">
                <a:solidFill>
                  <a:srgbClr val="D4D4D4"/>
                </a:solidFill>
                <a:latin typeface="Consolas"/>
              </a:rPr>
              <a:t> </a:t>
            </a:r>
            <a:r>
              <a:rPr sz="1600" b="1">
                <a:solidFill>
                  <a:srgbClr val="4EC9B0"/>
                </a:solidFill>
                <a:latin typeface="Consolas"/>
              </a:rPr>
              <a:t>double</a:t>
            </a:r>
            <a:r>
              <a:rPr sz="1600" b="1">
                <a:solidFill>
                  <a:srgbClr val="D4D4D4"/>
                </a:solidFill>
                <a:latin typeface="Consolas"/>
              </a:rPr>
              <a:t> getOutput(</a:t>
            </a:r>
            <a:r>
              <a:rPr sz="1600" b="1">
                <a:solidFill>
                  <a:srgbClr val="569CD6"/>
                </a:solidFill>
                <a:latin typeface="Consolas"/>
              </a:rPr>
              <a:t>const</a:t>
            </a:r>
            <a:r>
              <a:rPr sz="1600" b="1">
                <a:solidFill>
                  <a:srgbClr val="D4D4D4"/>
                </a:solidFill>
                <a:latin typeface="Consolas"/>
              </a:rPr>
              <a:t> std::string&amp; name) = </a:t>
            </a:r>
            <a:r>
              <a:rPr sz="1600" b="1">
                <a:solidFill>
                  <a:srgbClr val="B5CEA8"/>
                </a:solidFill>
                <a:latin typeface="Consolas"/>
              </a:rPr>
              <a:t>0</a:t>
            </a:r>
            <a:r>
              <a:rPr sz="1600" b="1">
                <a:solidFill>
                  <a:srgbClr val="D4D4D4"/>
                </a:solidFill>
                <a:latin typeface="Consolas"/>
              </a:rPr>
              <a:t>;  </a:t>
            </a:r>
            <a:r>
              <a:rPr sz="1600" b="1">
                <a:solidFill>
                  <a:srgbClr val="6A9955"/>
                </a:solidFill>
                <a:latin typeface="Consolas"/>
              </a:rPr>
              <a:t>// !!</a:t>
            </a:r>
          </a:p>
          <a:p>
            <a:pPr>
              <a:spcAft>
                <a:spcPts val="100"/>
              </a:spcAft>
            </a:pPr>
            <a:r>
              <a:rPr sz="1600">
                <a:solidFill>
                  <a:srgbClr val="D4D4D4"/>
                </a:solidFill>
                <a:latin typeface="Consolas"/>
              </a:rPr>
              <a:t>    </a:t>
            </a:r>
            <a:r>
              <a:rPr sz="1600">
                <a:solidFill>
                  <a:srgbClr val="569CD6"/>
                </a:solidFill>
                <a:latin typeface="Consolas"/>
              </a:rPr>
              <a:t>virtual</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 = </a:t>
            </a:r>
            <a:r>
              <a:rPr sz="1600">
                <a:solidFill>
                  <a:srgbClr val="569CD6"/>
                </a:solidFill>
                <a:latin typeface="Consolas"/>
              </a:rPr>
              <a:t>default</a:t>
            </a:r>
            <a:r>
              <a:rPr sz="1600">
                <a:solidFill>
                  <a:srgbClr val="D4D4D4"/>
                </a:solidFill>
                <a:latin typeface="Consolas"/>
              </a:rPr>
              <a:t>;</a:t>
            </a:r>
          </a:p>
          <a:p>
            <a:pPr>
              <a:spcAft>
                <a:spcPts val="100"/>
              </a:spcAft>
            </a:pP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std::vector&lt;std::unique_ptr&lt;</a:t>
            </a:r>
            <a:r>
              <a:rPr sz="1600">
                <a:solidFill>
                  <a:srgbClr val="4EC9B0"/>
                </a:solidFill>
                <a:latin typeface="Consolas"/>
              </a:rPr>
              <a:t>Component</a:t>
            </a:r>
            <a:r>
              <a:rPr sz="1600">
                <a:solidFill>
                  <a:srgbClr val="D4D4D4"/>
                </a:solidFill>
                <a:latin typeface="Consolas"/>
              </a:rPr>
              <a:t>&gt;&gt; components;</a:t>
            </a:r>
          </a:p>
          <a:p>
            <a:pPr>
              <a:spcAft>
                <a:spcPts val="100"/>
              </a:spcAft>
            </a:pPr>
            <a:r>
              <a:rPr sz="1600" b="1">
                <a:solidFill>
                  <a:srgbClr val="569CD6"/>
                </a:solidFill>
                <a:latin typeface="Consolas"/>
              </a:rPr>
              <a:t>for</a:t>
            </a:r>
            <a:r>
              <a:rPr sz="1600" b="1">
                <a:solidFill>
                  <a:srgbClr val="D4D4D4"/>
                </a:solidFill>
                <a:latin typeface="Consolas"/>
              </a:rPr>
              <a:t> (</a:t>
            </a:r>
            <a:r>
              <a:rPr sz="1600" b="1">
                <a:solidFill>
                  <a:srgbClr val="569CD6"/>
                </a:solidFill>
                <a:latin typeface="Consolas"/>
              </a:rPr>
              <a:t>auto</a:t>
            </a:r>
            <a:r>
              <a:rPr sz="1600" b="1">
                <a:solidFill>
                  <a:srgbClr val="D4D4D4"/>
                </a:solidFill>
                <a:latin typeface="Consolas"/>
              </a:rPr>
              <a:t>&amp; c : components)              </a:t>
            </a:r>
            <a:r>
              <a:rPr sz="1600" b="1">
                <a:solidFill>
                  <a:srgbClr val="6A9955"/>
                </a:solidFill>
                <a:latin typeface="Consolas"/>
              </a:rPr>
              <a:t>// innermost loop of RK4,</a:t>
            </a:r>
          </a:p>
          <a:p>
            <a:pPr>
              <a:spcAft>
                <a:spcPts val="100"/>
              </a:spcAft>
            </a:pPr>
            <a:r>
              <a:rPr sz="1600" b="1">
                <a:solidFill>
                  <a:srgbClr val="D4D4D4"/>
                </a:solidFill>
                <a:latin typeface="Consolas"/>
              </a:rPr>
              <a:t>    c-&gt;computeDerivatives(t, y, dydt);  </a:t>
            </a:r>
            <a:r>
              <a:rPr sz="1600" b="1">
                <a:solidFill>
                  <a:srgbClr val="6A9955"/>
                </a:solidFill>
                <a:latin typeface="Consolas"/>
              </a:rPr>
              <a:t>// 4x per step, 1000s of steps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PICK ONE?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apparent tradeoff</a:t>
            </a:r>
          </a:p>
        </p:txBody>
      </p:sp>
      <p:sp>
        <p:nvSpPr>
          <p:cNvPr id="4" name="Rounded Rectangle 3"/>
          <p:cNvSpPr/>
          <p:nvPr/>
        </p:nvSpPr>
        <p:spPr>
          <a:xfrm>
            <a:off x="128016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Monolith</a:t>
            </a:r>
          </a:p>
        </p:txBody>
      </p:sp>
      <p:sp>
        <p:nvSpPr>
          <p:cNvPr id="5" name="TextBox 4"/>
          <p:cNvSpPr txBox="1"/>
          <p:nvPr/>
        </p:nvSpPr>
        <p:spPr>
          <a:xfrm>
            <a:off x="1417320" y="3154680"/>
            <a:ext cx="3840480" cy="1463040"/>
          </a:xfrm>
          <a:prstGeom prst="rect">
            <a:avLst/>
          </a:prstGeom>
          <a:noFill/>
        </p:spPr>
        <p:txBody>
          <a:bodyPr wrap="square">
            <a:spAutoFit/>
          </a:bodyPr>
          <a:lstStyle/>
          <a:p>
            <a:r>
              <a:rPr sz="2000" b="1">
                <a:solidFill>
                  <a:srgbClr val="7EE08A"/>
                </a:solidFill>
                <a:latin typeface="Segoe UI"/>
              </a:rPr>
              <a:t>fast ✓</a:t>
            </a:r>
          </a:p>
          <a:p>
            <a:r>
              <a:rPr sz="2000" b="1">
                <a:solidFill>
                  <a:srgbClr val="E86A6A"/>
                </a:solidFill>
                <a:latin typeface="Segoe UI"/>
              </a:rPr>
              <a:t>unmaintainable ✗</a:t>
            </a:r>
          </a:p>
        </p:txBody>
      </p:sp>
      <p:sp>
        <p:nvSpPr>
          <p:cNvPr id="6" name="Rounded Rectangle 5"/>
          <p:cNvSpPr/>
          <p:nvPr/>
        </p:nvSpPr>
        <p:spPr>
          <a:xfrm>
            <a:off x="685800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Virtual components</a:t>
            </a:r>
          </a:p>
        </p:txBody>
      </p:sp>
      <p:sp>
        <p:nvSpPr>
          <p:cNvPr id="7" name="TextBox 6"/>
          <p:cNvSpPr txBox="1"/>
          <p:nvPr/>
        </p:nvSpPr>
        <p:spPr>
          <a:xfrm>
            <a:off x="6995160" y="3154680"/>
            <a:ext cx="3840480" cy="1463040"/>
          </a:xfrm>
          <a:prstGeom prst="rect">
            <a:avLst/>
          </a:prstGeom>
          <a:noFill/>
        </p:spPr>
        <p:txBody>
          <a:bodyPr wrap="square">
            <a:spAutoFit/>
          </a:bodyPr>
          <a:lstStyle/>
          <a:p>
            <a:r>
              <a:rPr sz="2000" b="1">
                <a:solidFill>
                  <a:srgbClr val="7EE08A"/>
                </a:solidFill>
                <a:latin typeface="Segoe UI"/>
              </a:rPr>
              <a:t>modular ✓</a:t>
            </a:r>
          </a:p>
          <a:p>
            <a:r>
              <a:rPr sz="2000" b="1">
                <a:solidFill>
                  <a:srgbClr val="E86A6A"/>
                </a:solidFill>
                <a:latin typeface="Segoe UI"/>
              </a:rPr>
              <a:t>indirection in the hot loop ✗</a:t>
            </a:r>
          </a:p>
        </p:txBody>
      </p:sp>
      <p:sp>
        <p:nvSpPr>
          <p:cNvPr id="8" name="TextBox 7"/>
          <p:cNvSpPr txBox="1"/>
          <p:nvPr/>
        </p:nvSpPr>
        <p:spPr>
          <a:xfrm>
            <a:off x="4980968" y="5029200"/>
            <a:ext cx="2291012" cy="523220"/>
          </a:xfrm>
          <a:prstGeom prst="rect">
            <a:avLst/>
          </a:prstGeom>
          <a:noFill/>
        </p:spPr>
        <p:txBody>
          <a:bodyPr wrap="none">
            <a:spAutoFit/>
          </a:bodyPr>
          <a:lstStyle/>
          <a:p>
            <a:pPr algn="ctr"/>
            <a:r>
              <a:rPr lang="pl-PL" sz="2800" b="1" dirty="0" err="1">
                <a:solidFill>
                  <a:srgbClr val="F2C744"/>
                </a:solidFill>
                <a:latin typeface="Segoe UI"/>
              </a:rPr>
              <a:t>Can</a:t>
            </a:r>
            <a:r>
              <a:rPr lang="pl-PL" sz="2800" b="1" dirty="0">
                <a:solidFill>
                  <a:srgbClr val="F2C744"/>
                </a:solidFill>
                <a:latin typeface="Segoe UI"/>
              </a:rPr>
              <a:t> be </a:t>
            </a:r>
            <a:r>
              <a:rPr lang="pl-PL" sz="2800" b="1" dirty="0" err="1">
                <a:solidFill>
                  <a:srgbClr val="F2C744"/>
                </a:solidFill>
                <a:latin typeface="Segoe UI"/>
              </a:rPr>
              <a:t>done</a:t>
            </a:r>
            <a:endParaRPr sz="2800" b="1" dirty="0">
              <a:solidFill>
                <a:srgbClr val="F2C744"/>
              </a:solidFill>
              <a:latin typeface="Segoe UI"/>
            </a:endParaRP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03</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Coupled Oscillator</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Two masses, one spring, four components</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8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RUNNING EXAMPLE</a:t>
            </a:r>
          </a:p>
        </p:txBody>
      </p:sp>
      <p:sp>
        <p:nvSpPr>
          <p:cNvPr id="4" name="Rounded Rectangle 3"/>
          <p:cNvSpPr/>
          <p:nvPr/>
        </p:nvSpPr>
        <p:spPr>
          <a:xfrm>
            <a:off x="1828800" y="1722923"/>
            <a:ext cx="1554480" cy="1097280"/>
          </a:xfrm>
          <a:prstGeom prst="roundRect">
            <a:avLst>
              <a:gd name="adj" fmla="val 10000"/>
            </a:avLst>
          </a:prstGeom>
          <a:solidFill>
            <a:srgbClr val="35C4E8"/>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1</a:t>
            </a:r>
          </a:p>
        </p:txBody>
      </p:sp>
      <p:sp>
        <p:nvSpPr>
          <p:cNvPr id="5" name="Rounded Rectangle 4"/>
          <p:cNvSpPr/>
          <p:nvPr/>
        </p:nvSpPr>
        <p:spPr>
          <a:xfrm>
            <a:off x="8778240" y="1722923"/>
            <a:ext cx="1554480" cy="109728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2</a:t>
            </a:r>
          </a:p>
        </p:txBody>
      </p:sp>
      <p:sp>
        <p:nvSpPr>
          <p:cNvPr id="6" name="Rounded Rectangle 5"/>
          <p:cNvSpPr/>
          <p:nvPr/>
        </p:nvSpPr>
        <p:spPr>
          <a:xfrm>
            <a:off x="4572000" y="1860083"/>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Segoe UI"/>
              </a:rPr>
              <a:t>Spring  k, L0</a:t>
            </a:r>
          </a:p>
        </p:txBody>
      </p:sp>
      <p:cxnSp>
        <p:nvCxnSpPr>
          <p:cNvPr id="7" name="Connector 6"/>
          <p:cNvCxnSpPr/>
          <p:nvPr/>
        </p:nvCxnSpPr>
        <p:spPr>
          <a:xfrm>
            <a:off x="338328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58952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0" y="3647978"/>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7EE08A"/>
                </a:solidFill>
                <a:latin typeface="Segoe UI"/>
              </a:rPr>
              <a:t>EnergyMonitor</a:t>
            </a:r>
          </a:p>
          <a:p>
            <a:pPr algn="ctr"/>
            <a:r>
              <a:rPr sz="1200">
                <a:solidFill>
                  <a:srgbClr val="8CA3B8"/>
                </a:solidFill>
                <a:latin typeface="Segoe UI"/>
              </a:rPr>
              <a:t>KE₁ + KE₂ + PE = const?</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SEPARATION, CONCRETELY</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Who owns what — who asks what</a:t>
            </a:r>
          </a:p>
        </p:txBody>
      </p:sp>
      <p:sp>
        <p:nvSpPr>
          <p:cNvPr id="4" name="Rectangle 3"/>
          <p:cNvSpPr/>
          <p:nvPr/>
        </p:nvSpPr>
        <p:spPr>
          <a:xfrm>
            <a:off x="45720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Component</a:t>
            </a:r>
          </a:p>
        </p:txBody>
      </p:sp>
      <p:sp>
        <p:nvSpPr>
          <p:cNvPr id="5" name="Rectangle 4"/>
          <p:cNvSpPr/>
          <p:nvPr/>
        </p:nvSpPr>
        <p:spPr>
          <a:xfrm>
            <a:off x="310896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Owns (state)</a:t>
            </a:r>
          </a:p>
        </p:txBody>
      </p:sp>
      <p:sp>
        <p:nvSpPr>
          <p:cNvPr id="6" name="Rectangle 5"/>
          <p:cNvSpPr/>
          <p:nvPr/>
        </p:nvSpPr>
        <p:spPr>
          <a:xfrm>
            <a:off x="576072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Provides</a:t>
            </a:r>
          </a:p>
        </p:txBody>
      </p:sp>
      <p:sp>
        <p:nvSpPr>
          <p:cNvPr id="7" name="Rectangle 6"/>
          <p:cNvSpPr/>
          <p:nvPr/>
        </p:nvSpPr>
        <p:spPr>
          <a:xfrm>
            <a:off x="886968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Queries</a:t>
            </a:r>
          </a:p>
        </p:txBody>
      </p:sp>
      <p:sp>
        <p:nvSpPr>
          <p:cNvPr id="8" name="Rectangle 7"/>
          <p:cNvSpPr/>
          <p:nvPr/>
        </p:nvSpPr>
        <p:spPr>
          <a:xfrm>
            <a:off x="45720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Mass1 / Mass2</a:t>
            </a:r>
          </a:p>
        </p:txBody>
      </p:sp>
      <p:sp>
        <p:nvSpPr>
          <p:cNvPr id="9" name="Rectangle 8"/>
          <p:cNvSpPr/>
          <p:nvPr/>
        </p:nvSpPr>
        <p:spPr>
          <a:xfrm>
            <a:off x="310896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a:t>
            </a:r>
          </a:p>
        </p:txBody>
      </p:sp>
      <p:sp>
        <p:nvSpPr>
          <p:cNvPr id="10" name="Rectangle 9"/>
          <p:cNvSpPr/>
          <p:nvPr/>
        </p:nvSpPr>
        <p:spPr>
          <a:xfrm>
            <a:off x="576072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 Mass</a:t>
            </a:r>
          </a:p>
        </p:txBody>
      </p:sp>
      <p:sp>
        <p:nvSpPr>
          <p:cNvPr id="11" name="Rectangle 10"/>
          <p:cNvSpPr/>
          <p:nvPr/>
        </p:nvSpPr>
        <p:spPr>
          <a:xfrm>
            <a:off x="886968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(whoever provides it)</a:t>
            </a:r>
          </a:p>
        </p:txBody>
      </p:sp>
      <p:sp>
        <p:nvSpPr>
          <p:cNvPr id="12" name="Rectangle 11"/>
          <p:cNvSpPr/>
          <p:nvPr/>
        </p:nvSpPr>
        <p:spPr>
          <a:xfrm>
            <a:off x="45720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Spring</a:t>
            </a:r>
          </a:p>
        </p:txBody>
      </p:sp>
      <p:sp>
        <p:nvSpPr>
          <p:cNvPr id="13" name="Rectangle 12"/>
          <p:cNvSpPr/>
          <p:nvPr/>
        </p:nvSpPr>
        <p:spPr>
          <a:xfrm>
            <a:off x="310896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4" name="Rectangle 13"/>
          <p:cNvSpPr/>
          <p:nvPr/>
        </p:nvSpPr>
        <p:spPr>
          <a:xfrm>
            <a:off x="576072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Extension, PE</a:t>
            </a:r>
          </a:p>
        </p:txBody>
      </p:sp>
      <p:sp>
        <p:nvSpPr>
          <p:cNvPr id="15" name="Rectangle 14"/>
          <p:cNvSpPr/>
          <p:nvPr/>
        </p:nvSpPr>
        <p:spPr>
          <a:xfrm>
            <a:off x="886968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dirty="0">
                <a:solidFill>
                  <a:srgbClr val="D8E2EC"/>
                </a:solidFill>
                <a:latin typeface="Segoe UI"/>
              </a:rPr>
              <a:t>Position of both masses</a:t>
            </a:r>
          </a:p>
        </p:txBody>
      </p:sp>
      <p:sp>
        <p:nvSpPr>
          <p:cNvPr id="16" name="Rectangle 15"/>
          <p:cNvSpPr/>
          <p:nvPr/>
        </p:nvSpPr>
        <p:spPr>
          <a:xfrm>
            <a:off x="45720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EnergyMonitor</a:t>
            </a:r>
          </a:p>
        </p:txBody>
      </p:sp>
      <p:sp>
        <p:nvSpPr>
          <p:cNvPr id="17" name="Rectangle 16"/>
          <p:cNvSpPr/>
          <p:nvPr/>
        </p:nvSpPr>
        <p:spPr>
          <a:xfrm>
            <a:off x="310896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8" name="Rectangle 17"/>
          <p:cNvSpPr/>
          <p:nvPr/>
        </p:nvSpPr>
        <p:spPr>
          <a:xfrm>
            <a:off x="576072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TotalEnergy, Momentum</a:t>
            </a:r>
          </a:p>
        </p:txBody>
      </p:sp>
      <p:sp>
        <p:nvSpPr>
          <p:cNvPr id="19" name="Rectangle 18"/>
          <p:cNvSpPr/>
          <p:nvPr/>
        </p:nvSpPr>
        <p:spPr>
          <a:xfrm>
            <a:off x="886968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everything above</a:t>
            </a:r>
          </a:p>
        </p:txBody>
      </p:sp>
      <p:sp>
        <p:nvSpPr>
          <p:cNvPr id="20" name="TextBox 19"/>
          <p:cNvSpPr txBox="1"/>
          <p:nvPr/>
        </p:nvSpPr>
        <p:spPr>
          <a:xfrm>
            <a:off x="548640" y="4983480"/>
            <a:ext cx="11064240" cy="1128514"/>
          </a:xfrm>
          <a:prstGeom prst="rect">
            <a:avLst/>
          </a:prstGeom>
          <a:noFill/>
        </p:spPr>
        <p:txBody>
          <a:bodyPr wrap="square">
            <a:spAutoFit/>
          </a:bodyPr>
          <a:lstStyle/>
          <a:p>
            <a:pPr>
              <a:spcAft>
                <a:spcPts val="800"/>
              </a:spcAft>
            </a:pPr>
            <a:r>
              <a:rPr sz="1800" dirty="0">
                <a:solidFill>
                  <a:srgbClr val="35C4E8"/>
                </a:solidFill>
                <a:latin typeface="Segoe UI"/>
              </a:rPr>
              <a:t>•  </a:t>
            </a:r>
            <a:r>
              <a:rPr lang="pl-PL" sz="1800" dirty="0" err="1">
                <a:solidFill>
                  <a:srgbClr val="D8E2EC"/>
                </a:solidFill>
                <a:latin typeface="Segoe UI"/>
              </a:rPr>
              <a:t>Composition</a:t>
            </a:r>
            <a:r>
              <a:rPr lang="pl-PL" sz="1800" dirty="0">
                <a:solidFill>
                  <a:srgbClr val="D8E2EC"/>
                </a:solidFill>
                <a:latin typeface="Segoe UI"/>
              </a:rPr>
              <a:t> </a:t>
            </a:r>
            <a:r>
              <a:rPr lang="pl-PL" dirty="0">
                <a:solidFill>
                  <a:srgbClr val="D8E2EC"/>
                </a:solidFill>
                <a:latin typeface="Segoe UI"/>
              </a:rPr>
              <a:t>of the </a:t>
            </a:r>
            <a:r>
              <a:rPr lang="pl-PL" dirty="0" err="1">
                <a:solidFill>
                  <a:srgbClr val="D8E2EC"/>
                </a:solidFill>
                <a:latin typeface="Segoe UI"/>
              </a:rPr>
              <a:t>whole</a:t>
            </a:r>
            <a:r>
              <a:rPr lang="pl-PL" dirty="0">
                <a:solidFill>
                  <a:srgbClr val="D8E2EC"/>
                </a:solidFill>
                <a:latin typeface="Segoe UI"/>
              </a:rPr>
              <a:t> system</a:t>
            </a:r>
            <a:endParaRPr sz="1800" b="0" dirty="0">
              <a:solidFill>
                <a:srgbClr val="D8E2EC"/>
              </a:solidFill>
              <a:latin typeface="Segoe UI"/>
            </a:endParaRPr>
          </a:p>
          <a:p>
            <a:pPr>
              <a:spcAft>
                <a:spcPts val="800"/>
              </a:spcAft>
            </a:pPr>
            <a:r>
              <a:rPr sz="1800" dirty="0">
                <a:solidFill>
                  <a:srgbClr val="35C4E8"/>
                </a:solidFill>
                <a:latin typeface="Segoe UI"/>
              </a:rPr>
              <a:t>•  </a:t>
            </a:r>
            <a:r>
              <a:rPr lang="pl-PL" sz="1800" dirty="0" err="1">
                <a:solidFill>
                  <a:srgbClr val="D8E2EC"/>
                </a:solidFill>
                <a:latin typeface="Segoe UI"/>
              </a:rPr>
              <a:t>Wiring</a:t>
            </a:r>
            <a:r>
              <a:rPr lang="pl-PL" dirty="0">
                <a:solidFill>
                  <a:srgbClr val="D8E2EC"/>
                </a:solidFill>
                <a:latin typeface="Segoe UI"/>
              </a:rPr>
              <a:t>	</a:t>
            </a:r>
            <a:endParaRPr sz="1800" b="0" dirty="0">
              <a:solidFill>
                <a:srgbClr val="D8E2EC"/>
              </a:solidFill>
              <a:latin typeface="Segoe UI"/>
            </a:endParaRPr>
          </a:p>
          <a:p>
            <a:pPr>
              <a:spcAft>
                <a:spcPts val="800"/>
              </a:spcAft>
            </a:pPr>
            <a:r>
              <a:rPr sz="1800" dirty="0">
                <a:solidFill>
                  <a:srgbClr val="35C4E8"/>
                </a:solidFill>
                <a:latin typeface="Segoe UI"/>
              </a:rPr>
              <a:t>•</a:t>
            </a:r>
            <a:r>
              <a:rPr lang="pl-PL" sz="1800" dirty="0">
                <a:solidFill>
                  <a:srgbClr val="35C4E8"/>
                </a:solidFill>
                <a:latin typeface="Segoe UI"/>
              </a:rPr>
              <a:t> </a:t>
            </a:r>
            <a:endParaRPr sz="1800" b="0" dirty="0">
              <a:solidFill>
                <a:srgbClr val="D8E2EC"/>
              </a:solidFill>
              <a:latin typeface="Segoe UI"/>
            </a:endParaRPr>
          </a:p>
        </p:txBody>
      </p:sp>
      <p:sp>
        <p:nvSpPr>
          <p:cNvPr id="21" name="TextBox 2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22" name="TextBox 2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04</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Code Walkthrough</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The four components, for real</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12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Tags: typed names for physical quantities</a:t>
            </a:r>
          </a:p>
        </p:txBody>
      </p:sp>
      <p:sp>
        <p:nvSpPr>
          <p:cNvPr id="4" name="Rounded Rectangle 3"/>
          <p:cNvSpPr/>
          <p:nvPr/>
        </p:nvSpPr>
        <p:spPr>
          <a:xfrm>
            <a:off x="548640" y="1508759"/>
            <a:ext cx="11155680" cy="448777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tags"/>
          <p:cNvSpPr txBox="1"/>
          <p:nvPr/>
        </p:nvSpPr>
        <p:spPr>
          <a:xfrm>
            <a:off x="713232" y="1673352"/>
            <a:ext cx="10930128" cy="3503523"/>
          </a:xfrm>
          <a:prstGeom prst="rect">
            <a:avLst/>
          </a:prstGeom>
          <a:noFill/>
        </p:spPr>
        <p:txBody>
          <a:bodyPr wrap="none">
            <a:spAutoFit/>
          </a:bodyPr>
          <a:lstStyle/>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mass1</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Position</a:t>
            </a:r>
            <a:r>
              <a:rPr sz="1600">
                <a:solidFill>
                  <a:srgbClr val="D4D4D4"/>
                </a:solidFill>
                <a:latin typeface="Consolas"/>
              </a:rPr>
              <a:t> {};      </a:t>
            </a:r>
            <a:r>
              <a:rPr sz="1600">
                <a:solidFill>
                  <a:srgbClr val="6A9955"/>
                </a:solidFill>
                <a:latin typeface="Consolas"/>
              </a:rPr>
              <a:t>// empty types — pure compile-time keys</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Velocity</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Force</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a:t>
            </a:r>
            <a:r>
              <a:rPr sz="1600">
                <a:solidFill>
                  <a:srgbClr val="D4D4D4"/>
                </a:solidFill>
                <a:latin typeface="Consolas"/>
              </a:rPr>
              <a:t>     {};</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mass2</a:t>
            </a:r>
            <a:r>
              <a:rPr sz="1600">
                <a:solidFill>
                  <a:srgbClr val="D4D4D4"/>
                </a:solidFill>
                <a:latin typeface="Consolas"/>
              </a:rPr>
              <a:t> { </a:t>
            </a:r>
            <a:r>
              <a:rPr sz="1600">
                <a:solidFill>
                  <a:srgbClr val="6A9955"/>
                </a:solidFill>
                <a:latin typeface="Consolas"/>
              </a:rPr>
              <a:t>/* same shape, different types */</a:t>
            </a:r>
            <a:r>
              <a:rPr sz="1600">
                <a:solidFill>
                  <a:srgbClr val="D4D4D4"/>
                </a:solidFill>
                <a:latin typeface="Consolas"/>
              </a:rPr>
              <a:t> };</a:t>
            </a:r>
          </a:p>
          <a:p>
            <a:pPr>
              <a:spcAft>
                <a:spcPts val="100"/>
              </a:spcAft>
            </a:pPr>
            <a:r>
              <a:rPr sz="1600">
                <a:latin typeface="Consolas"/>
              </a:rPr>
              <a:t> </a:t>
            </a:r>
          </a:p>
          <a:p>
            <a:pPr>
              <a:spcAft>
                <a:spcPts val="100"/>
              </a:spcAft>
            </a:pPr>
            <a:r>
              <a:rPr sz="1600">
                <a:solidFill>
                  <a:srgbClr val="569CD6"/>
                </a:solidFill>
                <a:latin typeface="Consolas"/>
              </a:rPr>
              <a:t>namespace</a:t>
            </a:r>
            <a:r>
              <a:rPr sz="1600">
                <a:solidFill>
                  <a:srgbClr val="D4D4D4"/>
                </a:solidFill>
                <a:latin typeface="Consolas"/>
              </a:rPr>
              <a:t> </a:t>
            </a:r>
            <a:r>
              <a:rPr sz="1600">
                <a:solidFill>
                  <a:srgbClr val="4EC9B0"/>
                </a:solidFill>
                <a:latin typeface="Consolas"/>
              </a:rPr>
              <a:t>spring</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Extension</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PotentialEnergy</a:t>
            </a: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2/5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PointMass: owns its state, asks for force</a:t>
            </a:r>
          </a:p>
        </p:txBody>
      </p:sp>
      <p:sp>
        <p:nvSpPr>
          <p:cNvPr id="4" name="Rounded Rectangle 3"/>
          <p:cNvSpPr/>
          <p:nvPr/>
        </p:nvSpPr>
        <p:spPr>
          <a:xfrm>
            <a:off x="274320" y="1371600"/>
            <a:ext cx="11704320"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pointmass"/>
          <p:cNvSpPr txBox="1"/>
          <p:nvPr/>
        </p:nvSpPr>
        <p:spPr>
          <a:xfrm>
            <a:off x="457200" y="1554480"/>
            <a:ext cx="11338560" cy="3758183"/>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a:t>
            </a:r>
            <a:r>
              <a:rPr sz="1600">
                <a:solidFill>
                  <a:srgbClr val="D4D4D4"/>
                </a:solidFill>
                <a:latin typeface="Consolas"/>
              </a:rPr>
              <a:t>, </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PointMass</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2</a:t>
            </a:r>
            <a:r>
              <a:rPr sz="1600">
                <a:solidFill>
                  <a:srgbClr val="D4D4D4"/>
                </a:solidFill>
                <a:latin typeface="Consolas"/>
              </a:rPr>
              <a:t>, T&gt; {   </a:t>
            </a:r>
            <a:r>
              <a:rPr sz="1600">
                <a:solidFill>
                  <a:srgbClr val="6A9955"/>
                </a:solidFill>
                <a:latin typeface="Consolas"/>
              </a:rPr>
              <a:t>// 2 states: [x, v]</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m_mass;</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4EC9B0"/>
                </a:solidFill>
                <a:latin typeface="Consolas"/>
              </a:rPr>
              <a:t>LocalDerivative</a:t>
            </a:r>
            <a:r>
              <a:rPr sz="1600">
                <a:solidFill>
                  <a:srgbClr val="D4D4D4"/>
                </a:solidFill>
                <a:latin typeface="Consolas"/>
              </a:rPr>
              <a:t> derivatives(T 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registry)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T velocity = </a:t>
            </a:r>
            <a:r>
              <a:rPr sz="1600">
                <a:solidFill>
                  <a:srgbClr val="569CD6"/>
                </a:solidFill>
                <a:latin typeface="Consolas"/>
              </a:rPr>
              <a:t>this</a:t>
            </a:r>
            <a:r>
              <a:rPr sz="1600">
                <a:solidFill>
                  <a:srgbClr val="D4D4D4"/>
                </a:solidFill>
                <a:latin typeface="Consolas"/>
              </a:rPr>
              <a:t>-&gt;localState(state, </a:t>
            </a:r>
            <a:r>
              <a:rPr sz="1600">
                <a:solidFill>
                  <a:srgbClr val="B5CEA8"/>
                </a:solidFill>
                <a:latin typeface="Consolas"/>
              </a:rPr>
              <a:t>1</a:t>
            </a:r>
            <a:r>
              <a:rPr sz="1600">
                <a:solidFill>
                  <a:srgbClr val="D4D4D4"/>
                </a:solidFill>
                <a:latin typeface="Consolas"/>
              </a:rPr>
              <a:t>);          </a:t>
            </a:r>
            <a:r>
              <a:rPr sz="1600">
                <a:solidFill>
                  <a:srgbClr val="6A9955"/>
                </a:solidFill>
                <a:latin typeface="Consolas"/>
              </a:rPr>
              <a:t>// dx/dt = v</a:t>
            </a:r>
          </a:p>
          <a:p>
            <a:pPr>
              <a:spcAft>
                <a:spcPts val="100"/>
              </a:spcAft>
            </a:pPr>
            <a:r>
              <a:rPr sz="1600" b="1">
                <a:solidFill>
                  <a:srgbClr val="D4D4D4"/>
                </a:solidFill>
                <a:latin typeface="Consolas"/>
              </a:rPr>
              <a:t>        T force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a:t>
            </a:r>
            <a:r>
              <a:rPr sz="1600" b="1">
                <a:solidFill>
                  <a:srgbClr val="D4D4D4"/>
                </a:solidFill>
                <a:latin typeface="Consolas"/>
              </a:rPr>
              <a:t>::</a:t>
            </a:r>
            <a:r>
              <a:rPr sz="1600" b="1">
                <a:solidFill>
                  <a:srgbClr val="4EC9B0"/>
                </a:solidFill>
                <a:latin typeface="Consolas"/>
              </a:rPr>
              <a:t>Force</a:t>
            </a:r>
            <a:r>
              <a:rPr sz="1600" b="1">
                <a:solidFill>
                  <a:srgbClr val="D4D4D4"/>
                </a:solidFill>
                <a:latin typeface="Consolas"/>
              </a:rPr>
              <a:t>&gt;(registry, state);</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{velocity, force / T(m_mass)};             </a:t>
            </a:r>
            <a:r>
              <a:rPr sz="1600">
                <a:solidFill>
                  <a:srgbClr val="6A9955"/>
                </a:solidFill>
                <a:latin typeface="Consolas"/>
              </a:rPr>
              <a:t>// dv/dt = F/m</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            </a:t>
            </a:r>
            <a:r>
              <a:rPr sz="1600">
                <a:solidFill>
                  <a:srgbClr val="6A9955"/>
                </a:solidFill>
                <a:latin typeface="Consolas"/>
              </a:rPr>
              <a:t>// Velocity: same, localState(s, 1)</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a:t>
            </a:r>
            <a:r>
              <a:rPr sz="1600">
                <a:solidFill>
                  <a:srgbClr val="D4D4D4"/>
                </a:solidFill>
                <a:latin typeface="Consolas"/>
              </a:rPr>
              <a:t>::</a:t>
            </a:r>
            <a:r>
              <a:rPr sz="1600">
                <a:solidFill>
                  <a:srgbClr val="4EC9B0"/>
                </a:solidFill>
                <a:latin typeface="Consolas"/>
              </a:rPr>
              <a:t>Position</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a:t>
            </a:r>
            <a:r>
              <a:rPr sz="1600">
                <a:solidFill>
                  <a:srgbClr val="569CD6"/>
                </a:solidFill>
                <a:latin typeface="Consolas"/>
              </a:rPr>
              <a:t>const</a:t>
            </a:r>
            <a:r>
              <a:rPr sz="1600">
                <a:solidFill>
                  <a:srgbClr val="D4D4D4"/>
                </a:solidFill>
                <a:latin typeface="Consolas"/>
              </a:rPr>
              <a:t> { </a:t>
            </a:r>
            <a:r>
              <a:rPr sz="1600">
                <a:solidFill>
                  <a:srgbClr val="569CD6"/>
                </a:solidFill>
                <a:latin typeface="Consolas"/>
              </a:rPr>
              <a:t>return</a:t>
            </a:r>
            <a:r>
              <a:rPr sz="1600">
                <a:solidFill>
                  <a:srgbClr val="D4D4D4"/>
                </a:solidFill>
                <a:latin typeface="Consolas"/>
              </a:rPr>
              <a:t> </a:t>
            </a:r>
            <a:r>
              <a:rPr sz="1600">
                <a:solidFill>
                  <a:srgbClr val="569CD6"/>
                </a:solidFill>
                <a:latin typeface="Consolas"/>
              </a:rPr>
              <a:t>this</a:t>
            </a:r>
            <a:r>
              <a:rPr sz="1600">
                <a:solidFill>
                  <a:srgbClr val="D4D4D4"/>
                </a:solidFill>
                <a:latin typeface="Consolas"/>
              </a:rPr>
              <a:t>-&gt;localState(s, </a:t>
            </a:r>
            <a:r>
              <a:rPr sz="1600">
                <a:solidFill>
                  <a:srgbClr val="B5CEA8"/>
                </a:solidFill>
                <a:latin typeface="Consolas"/>
              </a:rPr>
              <a:t>0</a:t>
            </a: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3/5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Spring: no state, just physics</a:t>
            </a:r>
          </a:p>
        </p:txBody>
      </p:sp>
      <p:sp>
        <p:nvSpPr>
          <p:cNvPr id="4" name="Rounded Rectangle 3"/>
          <p:cNvSpPr/>
          <p:nvPr/>
        </p:nvSpPr>
        <p:spPr>
          <a:xfrm>
            <a:off x="274320" y="1371600"/>
            <a:ext cx="11704320" cy="464515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spring"/>
          <p:cNvSpPr txBox="1"/>
          <p:nvPr/>
        </p:nvSpPr>
        <p:spPr>
          <a:xfrm>
            <a:off x="457200" y="1554480"/>
            <a:ext cx="11338560" cy="4279392"/>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TagSet2</a:t>
            </a:r>
            <a:r>
              <a:rPr sz="1600">
                <a:solidFill>
                  <a:srgbClr val="D4D4D4"/>
                </a:solidFill>
                <a:latin typeface="Consolas"/>
              </a:rPr>
              <a:t>, </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Spring</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 T&gt; {        </a:t>
            </a:r>
            <a:r>
              <a:rPr sz="1600">
                <a:solidFill>
                  <a:srgbClr val="6A9955"/>
                </a:solidFill>
                <a:latin typeface="Consolas"/>
              </a:rPr>
              <a:t>// 0 states!</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m_stiffness, m_rest_length;</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a:t>
            </a:r>
            <a:r>
              <a:rPr sz="1600">
                <a:solidFill>
                  <a:srgbClr val="569CD6"/>
                </a:solidFill>
                <a:latin typeface="Consolas"/>
              </a:rPr>
              <a:t>const</a:t>
            </a:r>
            <a:r>
              <a:rPr sz="1600">
                <a:solidFill>
                  <a:srgbClr val="D4D4D4"/>
                </a:solidFill>
                <a:latin typeface="Consolas"/>
              </a:rPr>
              <a:t> {</a:t>
            </a:r>
          </a:p>
          <a:p>
            <a:pPr>
              <a:spcAft>
                <a:spcPts val="100"/>
              </a:spcAft>
            </a:pPr>
            <a:r>
              <a:rPr sz="1600" b="1">
                <a:solidFill>
                  <a:srgbClr val="D4D4D4"/>
                </a:solidFill>
                <a:latin typeface="Consolas"/>
              </a:rPr>
              <a:t>        T x1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TagSet1</a:t>
            </a:r>
            <a:r>
              <a:rPr sz="1600" b="1">
                <a:solidFill>
                  <a:srgbClr val="D4D4D4"/>
                </a:solidFill>
                <a:latin typeface="Consolas"/>
              </a:rPr>
              <a:t>::</a:t>
            </a:r>
            <a:r>
              <a:rPr sz="1600" b="1">
                <a:solidFill>
                  <a:srgbClr val="4EC9B0"/>
                </a:solidFill>
                <a:latin typeface="Consolas"/>
              </a:rPr>
              <a:t>Position</a:t>
            </a:r>
            <a:r>
              <a:rPr sz="1600" b="1">
                <a:solidFill>
                  <a:srgbClr val="D4D4D4"/>
                </a:solidFill>
                <a:latin typeface="Consolas"/>
              </a:rPr>
              <a:t>&gt;(reg, state);</a:t>
            </a:r>
          </a:p>
          <a:p>
            <a:pPr>
              <a:spcAft>
                <a:spcPts val="100"/>
              </a:spcAft>
            </a:pPr>
            <a:r>
              <a:rPr sz="1600" b="1">
                <a:solidFill>
                  <a:srgbClr val="D4D4D4"/>
                </a:solidFill>
                <a:latin typeface="Consolas"/>
              </a:rPr>
              <a:t>        T x2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TagSet2</a:t>
            </a:r>
            <a:r>
              <a:rPr sz="1600" b="1">
                <a:solidFill>
                  <a:srgbClr val="D4D4D4"/>
                </a:solidFill>
                <a:latin typeface="Consolas"/>
              </a:rPr>
              <a:t>::</a:t>
            </a:r>
            <a:r>
              <a:rPr sz="1600" b="1">
                <a:solidFill>
                  <a:srgbClr val="4EC9B0"/>
                </a:solidFill>
                <a:latin typeface="Consolas"/>
              </a:rPr>
              <a:t>Position</a:t>
            </a:r>
            <a:r>
              <a:rPr sz="1600" b="1">
                <a:solidFill>
                  <a:srgbClr val="D4D4D4"/>
                </a:solidFill>
                <a:latin typeface="Consolas"/>
              </a:rPr>
              <a:t>&gt;(reg, state);</a:t>
            </a:r>
          </a:p>
          <a:p>
            <a:pPr>
              <a:spcAft>
                <a:spcPts val="100"/>
              </a:spcAft>
            </a:pPr>
            <a:r>
              <a:rPr sz="1600">
                <a:solidFill>
                  <a:srgbClr val="D4D4D4"/>
                </a:solidFill>
                <a:latin typeface="Consolas"/>
              </a:rPr>
              <a:t>        T extension = x1 - x2 - T(m_rest_length);</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-T(m_stiffness) * extension;               </a:t>
            </a:r>
            <a:r>
              <a:rPr sz="1600">
                <a:solidFill>
                  <a:srgbClr val="6A9955"/>
                </a:solidFill>
                <a:latin typeface="Consolas"/>
              </a:rPr>
              <a:t>// Hooke's law</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TagSet2</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-query&lt;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&gt;(reg, state);       </a:t>
            </a:r>
            <a:r>
              <a:rPr sz="1600">
                <a:solidFill>
                  <a:srgbClr val="6A9955"/>
                </a:solidFill>
                <a:latin typeface="Consolas"/>
              </a:rPr>
              <a:t>// Newton's 3rd</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EnergyMonitor: system totals from component data</a:t>
            </a:r>
          </a:p>
        </p:txBody>
      </p:sp>
      <p:sp>
        <p:nvSpPr>
          <p:cNvPr id="4" name="Rounded Rectangle 3"/>
          <p:cNvSpPr/>
          <p:nvPr/>
        </p:nvSpPr>
        <p:spPr>
          <a:xfrm>
            <a:off x="530351" y="1371600"/>
            <a:ext cx="11154717"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energy"/>
          <p:cNvSpPr txBox="1"/>
          <p:nvPr/>
        </p:nvSpPr>
        <p:spPr>
          <a:xfrm>
            <a:off x="713231" y="1554480"/>
            <a:ext cx="10788957" cy="3758183"/>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EnergyMonitor</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 T&gt; {</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compute(system::</a:t>
            </a:r>
            <a:r>
              <a:rPr sz="1600">
                <a:solidFill>
                  <a:srgbClr val="4EC9B0"/>
                </a:solidFill>
                <a:latin typeface="Consolas"/>
              </a:rPr>
              <a:t>TotalEnergy</a:t>
            </a:r>
            <a:r>
              <a:rPr sz="1600">
                <a:solidFill>
                  <a:srgbClr val="D4D4D4"/>
                </a:solidFill>
                <a:latin typeface="Consolas"/>
              </a:rPr>
              <a:t>,</a:t>
            </a:r>
          </a:p>
          <a:p>
            <a:pPr>
              <a:spcAft>
                <a:spcPts val="100"/>
              </a:spcAft>
            </a:pP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registry)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T m1 = query&lt;mass1::</a:t>
            </a:r>
            <a:r>
              <a:rPr sz="1600">
                <a:solidFill>
                  <a:srgbClr val="4EC9B0"/>
                </a:solidFill>
                <a:latin typeface="Consolas"/>
              </a:rPr>
              <a:t>Mass</a:t>
            </a:r>
            <a:r>
              <a:rPr sz="1600">
                <a:solidFill>
                  <a:srgbClr val="D4D4D4"/>
                </a:solidFill>
                <a:latin typeface="Consolas"/>
              </a:rPr>
              <a:t>&gt;(registry, state);</a:t>
            </a:r>
          </a:p>
          <a:p>
            <a:pPr>
              <a:spcAft>
                <a:spcPts val="100"/>
              </a:spcAft>
            </a:pPr>
            <a:r>
              <a:rPr sz="1600">
                <a:solidFill>
                  <a:srgbClr val="D4D4D4"/>
                </a:solidFill>
                <a:latin typeface="Consolas"/>
              </a:rPr>
              <a:t>        T v1 = query&lt;mass1::</a:t>
            </a:r>
            <a:r>
              <a:rPr sz="1600">
                <a:solidFill>
                  <a:srgbClr val="4EC9B0"/>
                </a:solidFill>
                <a:latin typeface="Consolas"/>
              </a:rPr>
              <a:t>Velocity</a:t>
            </a:r>
            <a:r>
              <a:rPr sz="1600">
                <a:solidFill>
                  <a:srgbClr val="D4D4D4"/>
                </a:solidFill>
                <a:latin typeface="Consolas"/>
              </a:rPr>
              <a:t>&gt;(registry, state);</a:t>
            </a:r>
          </a:p>
          <a:p>
            <a:pPr>
              <a:spcAft>
                <a:spcPts val="100"/>
              </a:spcAft>
            </a:pPr>
            <a:r>
              <a:rPr sz="1600">
                <a:solidFill>
                  <a:srgbClr val="D4D4D4"/>
                </a:solidFill>
                <a:latin typeface="Consolas"/>
              </a:rPr>
              <a:t>        T m2 = query&lt;mass2::</a:t>
            </a:r>
            <a:r>
              <a:rPr sz="1600">
                <a:solidFill>
                  <a:srgbClr val="4EC9B0"/>
                </a:solidFill>
                <a:latin typeface="Consolas"/>
              </a:rPr>
              <a:t>Mass</a:t>
            </a:r>
            <a:r>
              <a:rPr sz="1600">
                <a:solidFill>
                  <a:srgbClr val="D4D4D4"/>
                </a:solidFill>
                <a:latin typeface="Consolas"/>
              </a:rPr>
              <a:t>&gt;(registry, state);</a:t>
            </a:r>
          </a:p>
          <a:p>
            <a:pPr>
              <a:spcAft>
                <a:spcPts val="100"/>
              </a:spcAft>
            </a:pPr>
            <a:r>
              <a:rPr sz="1600">
                <a:solidFill>
                  <a:srgbClr val="D4D4D4"/>
                </a:solidFill>
                <a:latin typeface="Consolas"/>
              </a:rPr>
              <a:t>        T v2 = query&lt;mass2::</a:t>
            </a:r>
            <a:r>
              <a:rPr sz="1600">
                <a:solidFill>
                  <a:srgbClr val="4EC9B0"/>
                </a:solidFill>
                <a:latin typeface="Consolas"/>
              </a:rPr>
              <a:t>Velocity</a:t>
            </a:r>
            <a:r>
              <a:rPr sz="1600">
                <a:solidFill>
                  <a:srgbClr val="D4D4D4"/>
                </a:solidFill>
                <a:latin typeface="Consolas"/>
              </a:rPr>
              <a:t>&gt;(registry, state);</a:t>
            </a:r>
          </a:p>
          <a:p>
            <a:pPr>
              <a:spcAft>
                <a:spcPts val="100"/>
              </a:spcAft>
            </a:pPr>
            <a:r>
              <a:rPr sz="1600">
                <a:solidFill>
                  <a:srgbClr val="D4D4D4"/>
                </a:solidFill>
                <a:latin typeface="Consolas"/>
              </a:rPr>
              <a:t>        T pe = query&lt;spring::</a:t>
            </a:r>
            <a:r>
              <a:rPr sz="1600">
                <a:solidFill>
                  <a:srgbClr val="4EC9B0"/>
                </a:solidFill>
                <a:latin typeface="Consolas"/>
              </a:rPr>
              <a:t>PotentialEnergy</a:t>
            </a:r>
            <a:r>
              <a:rPr sz="1600">
                <a:solidFill>
                  <a:srgbClr val="D4D4D4"/>
                </a:solidFill>
                <a:latin typeface="Consolas"/>
              </a:rPr>
              <a:t>&gt;(registry, state);</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T(</a:t>
            </a:r>
            <a:r>
              <a:rPr sz="1600">
                <a:solidFill>
                  <a:srgbClr val="B5CEA8"/>
                </a:solidFill>
                <a:latin typeface="Consolas"/>
              </a:rPr>
              <a:t>0.5</a:t>
            </a:r>
            <a:r>
              <a:rPr sz="1600">
                <a:solidFill>
                  <a:srgbClr val="D4D4D4"/>
                </a:solidFill>
                <a:latin typeface="Consolas"/>
              </a:rPr>
              <a:t>)*m1*v1*v1 + T(</a:t>
            </a:r>
            <a:r>
              <a:rPr sz="1600">
                <a:solidFill>
                  <a:srgbClr val="B5CEA8"/>
                </a:solidFill>
                <a:latin typeface="Consolas"/>
              </a:rPr>
              <a:t>0.5</a:t>
            </a:r>
            <a:r>
              <a:rPr sz="1600">
                <a:solidFill>
                  <a:srgbClr val="D4D4D4"/>
                </a:solidFill>
                <a:latin typeface="Consolas"/>
              </a:rPr>
              <a:t>)*m2*v2*v2 + pe;</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Wiring it together</a:t>
            </a:r>
          </a:p>
        </p:txBody>
      </p:sp>
      <p:sp>
        <p:nvSpPr>
          <p:cNvPr id="4" name="Rounded Rectangle 3"/>
          <p:cNvSpPr/>
          <p:nvPr/>
        </p:nvSpPr>
        <p:spPr>
          <a:xfrm>
            <a:off x="530351" y="1371600"/>
            <a:ext cx="11193219" cy="4384547"/>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wiring"/>
          <p:cNvSpPr txBox="1"/>
          <p:nvPr/>
        </p:nvSpPr>
        <p:spPr>
          <a:xfrm>
            <a:off x="713231" y="1554480"/>
            <a:ext cx="10827459" cy="4018787"/>
          </a:xfrm>
          <a:prstGeom prst="rect">
            <a:avLst/>
          </a:prstGeom>
          <a:noFill/>
        </p:spPr>
        <p:txBody>
          <a:bodyPr wrap="none">
            <a:spAutoFit/>
          </a:bodyPr>
          <a:lstStyle/>
          <a:p>
            <a:pPr>
              <a:spcAft>
                <a:spcPts val="100"/>
              </a:spcAft>
            </a:pPr>
            <a:r>
              <a:rPr sz="1600">
                <a:solidFill>
                  <a:srgbClr val="569CD6"/>
                </a:solidFill>
                <a:latin typeface="Consolas"/>
              </a:rPr>
              <a:t>auto</a:t>
            </a:r>
            <a:r>
              <a:rPr sz="1600">
                <a:solidFill>
                  <a:srgbClr val="D4D4D4"/>
                </a:solidFill>
                <a:latin typeface="Consolas"/>
              </a:rPr>
              <a:t> sys = makeODESystem&lt;</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4EC9B0"/>
                </a:solidFill>
                <a:latin typeface="Consolas"/>
              </a:rPr>
              <a:t>Mass1</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B5CEA8"/>
                </a:solidFill>
                <a:latin typeface="Consolas"/>
              </a:rPr>
              <a:t>1.0</a:t>
            </a:r>
            <a:r>
              <a:rPr sz="1600">
                <a:solidFill>
                  <a:srgbClr val="D4D4D4"/>
                </a:solidFill>
                <a:latin typeface="Consolas"/>
              </a:rPr>
              <a:t>, </a:t>
            </a:r>
            <a:r>
              <a:rPr sz="1600">
                <a:solidFill>
                  <a:srgbClr val="6A9955"/>
                </a:solidFill>
                <a:latin typeface="Consolas"/>
              </a:rPr>
              <a:t>/*x0*/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 </a:t>
            </a:r>
            <a:r>
              <a:rPr sz="1600">
                <a:solidFill>
                  <a:srgbClr val="6A9955"/>
                </a:solidFill>
                <a:latin typeface="Consolas"/>
              </a:rPr>
              <a:t>/*v0*/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Mass2</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B5CEA8"/>
                </a:solidFill>
                <a:latin typeface="Consolas"/>
              </a:rPr>
              <a:t>1.0</a:t>
            </a:r>
            <a:r>
              <a:rPr sz="1600">
                <a:solidFill>
                  <a:srgbClr val="D4D4D4"/>
                </a:solidFill>
                <a:latin typeface="Consolas"/>
              </a:rPr>
              <a:t>, </a:t>
            </a:r>
            <a:r>
              <a:rPr sz="1600">
                <a:solidFill>
                  <a:srgbClr val="6A9955"/>
                </a:solidFill>
                <a:latin typeface="Consolas"/>
              </a:rPr>
              <a:t>/*x0*/</a:t>
            </a:r>
            <a:r>
              <a:rPr sz="1600">
                <a:solidFill>
                  <a:srgbClr val="D4D4D4"/>
                </a:solidFill>
                <a:latin typeface="Consolas"/>
              </a:rPr>
              <a:t> </a:t>
            </a:r>
            <a:r>
              <a:rPr sz="1600">
                <a:solidFill>
                  <a:srgbClr val="B5CEA8"/>
                </a:solidFill>
                <a:latin typeface="Consolas"/>
              </a:rPr>
              <a:t>2.5</a:t>
            </a:r>
            <a:r>
              <a:rPr sz="1600">
                <a:solidFill>
                  <a:srgbClr val="D4D4D4"/>
                </a:solidFill>
                <a:latin typeface="Consolas"/>
              </a:rPr>
              <a:t>, </a:t>
            </a:r>
            <a:r>
              <a:rPr sz="1600">
                <a:solidFill>
                  <a:srgbClr val="6A9955"/>
                </a:solidFill>
                <a:latin typeface="Consolas"/>
              </a:rPr>
              <a:t>/*v0*/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Spring12</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6A9955"/>
                </a:solidFill>
                <a:latin typeface="Consolas"/>
              </a:rPr>
              <a:t>/*k*/</a:t>
            </a:r>
            <a:r>
              <a:rPr sz="1600">
                <a:solidFill>
                  <a:srgbClr val="D4D4D4"/>
                </a:solidFill>
                <a:latin typeface="Consolas"/>
              </a:rPr>
              <a:t> </a:t>
            </a:r>
            <a:r>
              <a:rPr sz="1600">
                <a:solidFill>
                  <a:srgbClr val="B5CEA8"/>
                </a:solidFill>
                <a:latin typeface="Consolas"/>
              </a:rPr>
              <a:t>4.0</a:t>
            </a:r>
            <a:r>
              <a:rPr sz="1600">
                <a:solidFill>
                  <a:srgbClr val="D4D4D4"/>
                </a:solidFill>
                <a:latin typeface="Consolas"/>
              </a:rPr>
              <a:t>, </a:t>
            </a:r>
            <a:r>
              <a:rPr sz="1600">
                <a:solidFill>
                  <a:srgbClr val="6A9955"/>
                </a:solidFill>
                <a:latin typeface="Consolas"/>
              </a:rPr>
              <a:t>/*L0*/</a:t>
            </a:r>
            <a:r>
              <a:rPr sz="1600">
                <a:solidFill>
                  <a:srgbClr val="D4D4D4"/>
                </a:solidFill>
                <a:latin typeface="Consolas"/>
              </a:rPr>
              <a:t> </a:t>
            </a:r>
            <a:r>
              <a:rPr sz="1600">
                <a:solidFill>
                  <a:srgbClr val="B5CEA8"/>
                </a:solidFill>
                <a:latin typeface="Consolas"/>
              </a:rPr>
              <a:t>1.0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EnergyMonitor</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b="1">
                <a:solidFill>
                  <a:srgbClr val="6A9955"/>
                </a:solidFill>
                <a:latin typeface="Consolas"/>
              </a:rPr>
              <a:t>// the wiring is CHECKED at compile time:</a:t>
            </a:r>
          </a:p>
          <a:p>
            <a:pPr>
              <a:spcAft>
                <a:spcPts val="100"/>
              </a:spcAft>
            </a:pPr>
            <a:r>
              <a:rPr sz="1600" b="1">
                <a:solidFill>
                  <a:srgbClr val="569CD6"/>
                </a:solidFill>
                <a:latin typeface="Consolas"/>
              </a:rPr>
              <a:t>static_assert</a:t>
            </a:r>
            <a:r>
              <a:rPr sz="1600" b="1">
                <a:solidFill>
                  <a:srgbClr val="D4D4D4"/>
                </a:solidFill>
                <a:latin typeface="Consolas"/>
              </a:rPr>
              <a:t>(</a:t>
            </a:r>
            <a:r>
              <a:rPr sz="1600" b="1">
                <a:solidFill>
                  <a:srgbClr val="569CD6"/>
                </a:solidFill>
                <a:latin typeface="Consolas"/>
              </a:rPr>
              <a:t>decltype</a:t>
            </a:r>
            <a:r>
              <a:rPr sz="1600" b="1">
                <a:solidFill>
                  <a:srgbClr val="D4D4D4"/>
                </a:solidFill>
                <a:latin typeface="Consolas"/>
              </a:rPr>
              <a:t>(sys)::hasFunction&lt;system::</a:t>
            </a:r>
            <a:r>
              <a:rPr sz="1600" b="1">
                <a:solidFill>
                  <a:srgbClr val="4EC9B0"/>
                </a:solidFill>
                <a:latin typeface="Consolas"/>
              </a:rPr>
              <a:t>TotalEnergy</a:t>
            </a:r>
            <a:r>
              <a:rPr sz="1600" b="1">
                <a:solidFill>
                  <a:srgbClr val="D4D4D4"/>
                </a:solidFill>
                <a:latin typeface="Consolas"/>
              </a:rPr>
              <a:t>&gt;());</a:t>
            </a:r>
          </a:p>
          <a:p>
            <a:pPr>
              <a:spcAft>
                <a:spcPts val="100"/>
              </a:spcAft>
            </a:pPr>
            <a:r>
              <a:rPr sz="1600">
                <a:latin typeface="Consolas"/>
              </a:rPr>
              <a:t> </a:t>
            </a:r>
          </a:p>
          <a:p>
            <a:pPr>
              <a:spcAft>
                <a:spcPts val="100"/>
              </a:spcAft>
            </a:pPr>
            <a:r>
              <a:rPr sz="1600">
                <a:solidFill>
                  <a:srgbClr val="4EC9B0"/>
                </a:solidFill>
                <a:latin typeface="Consolas"/>
              </a:rPr>
              <a:t>RK4Solver</a:t>
            </a:r>
            <a:r>
              <a:rPr sz="1600">
                <a:solidFill>
                  <a:srgbClr val="D4D4D4"/>
                </a:solidFill>
                <a:latin typeface="Consolas"/>
              </a:rPr>
              <a:t> solver;</a:t>
            </a:r>
          </a:p>
          <a:p>
            <a:pPr>
              <a:spcAft>
                <a:spcPts val="100"/>
              </a:spcAft>
            </a:pPr>
            <a:r>
              <a:rPr sz="1600">
                <a:solidFill>
                  <a:srgbClr val="569CD6"/>
                </a:solidFill>
                <a:latin typeface="Consolas"/>
              </a:rPr>
              <a:t>auto</a:t>
            </a:r>
            <a:r>
              <a:rPr sz="1600">
                <a:solidFill>
                  <a:srgbClr val="D4D4D4"/>
                </a:solidFill>
                <a:latin typeface="Consolas"/>
              </a:rPr>
              <a:t> sol = solver.solve(derivs(sys), sys.getStateDimension(),</a:t>
            </a:r>
          </a:p>
          <a:p>
            <a:pPr>
              <a:spcAft>
                <a:spcPts val="100"/>
              </a:spcAft>
            </a:pPr>
            <a:r>
              <a:rPr sz="1600">
                <a:solidFill>
                  <a:srgbClr val="D4D4D4"/>
                </a:solidFill>
                <a:latin typeface="Consolas"/>
              </a:rPr>
              <a:t>                        </a:t>
            </a:r>
            <a:r>
              <a:rPr sz="1600">
                <a:solidFill>
                  <a:srgbClr val="B5CEA8"/>
                </a:solidFill>
                <a:latin typeface="Consolas"/>
              </a:rPr>
              <a:t>0.0</a:t>
            </a:r>
            <a:r>
              <a:rPr sz="1600">
                <a:solidFill>
                  <a:srgbClr val="D4D4D4"/>
                </a:solidFill>
                <a:latin typeface="Consolas"/>
              </a:rPr>
              <a:t>, </a:t>
            </a:r>
            <a:r>
              <a:rPr sz="1600">
                <a:solidFill>
                  <a:srgbClr val="B5CEA8"/>
                </a:solidFill>
                <a:latin typeface="Consolas"/>
              </a:rPr>
              <a:t>20.0</a:t>
            </a:r>
            <a:r>
              <a:rPr sz="1600">
                <a:solidFill>
                  <a:srgbClr val="D4D4D4"/>
                </a:solidFill>
                <a:latin typeface="Consolas"/>
              </a:rPr>
              <a:t>, </a:t>
            </a:r>
            <a:r>
              <a:rPr sz="1600">
                <a:solidFill>
                  <a:srgbClr val="6A9955"/>
                </a:solidFill>
                <a:latin typeface="Consolas"/>
              </a:rPr>
              <a:t>/*dt*/</a:t>
            </a:r>
            <a:r>
              <a:rPr sz="1600">
                <a:solidFill>
                  <a:srgbClr val="D4D4D4"/>
                </a:solidFill>
                <a:latin typeface="Consolas"/>
              </a:rPr>
              <a:t> </a:t>
            </a:r>
            <a:r>
              <a:rPr sz="1600">
                <a:solidFill>
                  <a:srgbClr val="B5CEA8"/>
                </a:solidFill>
                <a:latin typeface="Consolas"/>
              </a:rPr>
              <a:t>0.001</a:t>
            </a:r>
            <a:r>
              <a:rPr sz="1600">
                <a:solidFill>
                  <a:srgbClr val="D4D4D4"/>
                </a:solidFill>
                <a:latin typeface="Consolas"/>
              </a:rPr>
              <a:t>, sys.getInitialState());</a:t>
            </a:r>
          </a:p>
          <a:p>
            <a:pPr>
              <a:spcAft>
                <a:spcPts val="100"/>
              </a:spcAft>
            </a:pPr>
            <a:r>
              <a:rPr sz="1600">
                <a:latin typeface="Consolas"/>
              </a:rPr>
              <a:t> </a:t>
            </a:r>
          </a:p>
          <a:p>
            <a:pPr>
              <a:spcAft>
                <a:spcPts val="100"/>
              </a:spcAft>
            </a:pPr>
            <a:r>
              <a:rPr sz="1600">
                <a:solidFill>
                  <a:srgbClr val="4EC9B0"/>
                </a:solidFill>
                <a:latin typeface="Consolas"/>
              </a:rPr>
              <a:t>double</a:t>
            </a:r>
            <a:r>
              <a:rPr sz="1600">
                <a:solidFill>
                  <a:srgbClr val="D4D4D4"/>
                </a:solidFill>
                <a:latin typeface="Consolas"/>
              </a:rPr>
              <a:t> E = sys.query&lt;system::</a:t>
            </a:r>
            <a:r>
              <a:rPr sz="1600">
                <a:solidFill>
                  <a:srgbClr val="4EC9B0"/>
                </a:solidFill>
                <a:latin typeface="Consolas"/>
              </a:rPr>
              <a:t>TotalEnergy</a:t>
            </a:r>
            <a:r>
              <a:rPr sz="1600">
                <a:solidFill>
                  <a:srgbClr val="D4D4D4"/>
                </a:solidFill>
                <a:latin typeface="Consolas"/>
              </a:rPr>
              <a:t>&gt;(sol.states.back());</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PROOF, NOT PROMISE</a:t>
            </a:r>
          </a:p>
        </p:txBody>
      </p:sp>
      <p:sp>
        <p:nvSpPr>
          <p:cNvPr id="3" name="TextBox 2"/>
          <p:cNvSpPr txBox="1"/>
          <p:nvPr/>
        </p:nvSpPr>
        <p:spPr>
          <a:xfrm>
            <a:off x="457200" y="694944"/>
            <a:ext cx="2821285" cy="569387"/>
          </a:xfrm>
          <a:prstGeom prst="rect">
            <a:avLst/>
          </a:prstGeom>
          <a:noFill/>
        </p:spPr>
        <p:txBody>
          <a:bodyPr wrap="none">
            <a:spAutoFit/>
          </a:bodyPr>
          <a:lstStyle/>
          <a:p>
            <a:r>
              <a:rPr sz="3100" b="1" dirty="0">
                <a:solidFill>
                  <a:srgbClr val="FFFFFF"/>
                </a:solidFill>
                <a:latin typeface="Segoe UI"/>
              </a:rPr>
              <a:t>Does it work? </a:t>
            </a:r>
          </a:p>
        </p:txBody>
      </p:sp>
      <p:pic>
        <p:nvPicPr>
          <p:cNvPr id="4" name="Picture 3" descr="energy_conservation.png"/>
          <p:cNvPicPr>
            <a:picLocks noChangeAspect="1"/>
          </p:cNvPicPr>
          <p:nvPr/>
        </p:nvPicPr>
        <p:blipFill>
          <a:blip r:embed="rId3"/>
          <a:stretch>
            <a:fillRect/>
          </a:stretch>
        </p:blipFill>
        <p:spPr>
          <a:xfrm>
            <a:off x="548640" y="1554480"/>
            <a:ext cx="7455271" cy="4023360"/>
          </a:xfrm>
          <a:prstGeom prst="rect">
            <a:avLst/>
          </a:prstGeom>
        </p:spPr>
      </p:pic>
      <p:sp>
        <p:nvSpPr>
          <p:cNvPr id="5" name="TextBox 4"/>
          <p:cNvSpPr txBox="1"/>
          <p:nvPr/>
        </p:nvSpPr>
        <p:spPr>
          <a:xfrm>
            <a:off x="8503920" y="1737360"/>
            <a:ext cx="3291840" cy="1005840"/>
          </a:xfrm>
          <a:prstGeom prst="rect">
            <a:avLst/>
          </a:prstGeom>
          <a:noFill/>
        </p:spPr>
        <p:txBody>
          <a:bodyPr wrap="none">
            <a:spAutoFit/>
          </a:bodyPr>
          <a:lstStyle/>
          <a:p>
            <a:r>
              <a:rPr sz="2800" b="1">
                <a:solidFill>
                  <a:srgbClr val="F2C744"/>
                </a:solidFill>
                <a:latin typeface="Segoe UI"/>
              </a:rPr>
              <a:t>20 001</a:t>
            </a:r>
          </a:p>
          <a:p>
            <a:r>
              <a:rPr sz="1400">
                <a:solidFill>
                  <a:srgbClr val="8CA3B8"/>
                </a:solidFill>
                <a:latin typeface="Segoe UI"/>
              </a:rPr>
              <a:t>RK4 steps (dt = 1 ms)</a:t>
            </a:r>
          </a:p>
        </p:txBody>
      </p:sp>
      <p:sp>
        <p:nvSpPr>
          <p:cNvPr id="6" name="TextBox 5"/>
          <p:cNvSpPr txBox="1"/>
          <p:nvPr/>
        </p:nvSpPr>
        <p:spPr>
          <a:xfrm>
            <a:off x="8503920" y="2971800"/>
            <a:ext cx="3291840" cy="1005840"/>
          </a:xfrm>
          <a:prstGeom prst="rect">
            <a:avLst/>
          </a:prstGeom>
          <a:noFill/>
        </p:spPr>
        <p:txBody>
          <a:bodyPr wrap="none">
            <a:spAutoFit/>
          </a:bodyPr>
          <a:lstStyle/>
          <a:p>
            <a:r>
              <a:rPr sz="2800" b="1">
                <a:solidFill>
                  <a:srgbClr val="F2C744"/>
                </a:solidFill>
                <a:latin typeface="Segoe UI"/>
              </a:rPr>
              <a:t>16.7 ms</a:t>
            </a:r>
          </a:p>
          <a:p>
            <a:r>
              <a:rPr sz="1400">
                <a:solidFill>
                  <a:srgbClr val="8CA3B8"/>
                </a:solidFill>
                <a:latin typeface="Segoe UI"/>
              </a:rPr>
              <a:t>wall clock, g++ 14 -O2</a:t>
            </a:r>
          </a:p>
        </p:txBody>
      </p:sp>
      <p:sp>
        <p:nvSpPr>
          <p:cNvPr id="7" name="TextBox 6"/>
          <p:cNvSpPr txBox="1"/>
          <p:nvPr/>
        </p:nvSpPr>
        <p:spPr>
          <a:xfrm>
            <a:off x="8503920" y="4206240"/>
            <a:ext cx="3291840" cy="1005840"/>
          </a:xfrm>
          <a:prstGeom prst="rect">
            <a:avLst/>
          </a:prstGeom>
          <a:noFill/>
        </p:spPr>
        <p:txBody>
          <a:bodyPr wrap="none">
            <a:spAutoFit/>
          </a:bodyPr>
          <a:lstStyle/>
          <a:p>
            <a:r>
              <a:rPr sz="2800" b="1">
                <a:solidFill>
                  <a:srgbClr val="F2C744"/>
                </a:solidFill>
                <a:latin typeface="Segoe UI"/>
              </a:rPr>
              <a:t>1.4 × 10⁻¹³</a:t>
            </a:r>
          </a:p>
          <a:p>
            <a:r>
              <a:rPr sz="1400">
                <a:solidFill>
                  <a:srgbClr val="8CA3B8"/>
                </a:solidFill>
                <a:latin typeface="Segoe UI"/>
              </a:rPr>
              <a:t>max relative energy drift over 20 s</a:t>
            </a: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05</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How It Works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Tags, registry, concepts — no magic</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10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1 — dispatch on type, not through a hierarchy</a:t>
            </a:r>
          </a:p>
        </p:txBody>
      </p:sp>
      <p:sp>
        <p:nvSpPr>
          <p:cNvPr id="4" name="Rounded Rectangle 3"/>
          <p:cNvSpPr/>
          <p:nvPr/>
        </p:nvSpPr>
        <p:spPr>
          <a:xfrm>
            <a:off x="530352" y="1371600"/>
            <a:ext cx="11100816" cy="203911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554480"/>
            <a:ext cx="10735056" cy="1673352"/>
          </a:xfrm>
          <a:prstGeom prst="rect">
            <a:avLst/>
          </a:prstGeom>
          <a:noFill/>
        </p:spPr>
        <p:txBody>
          <a:bodyPr wrap="none">
            <a:spAutoFit/>
          </a:bodyPr>
          <a:lstStyle/>
          <a:p>
            <a:pPr>
              <a:spcAft>
                <a:spcPts val="100"/>
              </a:spcAft>
            </a:pPr>
            <a:r>
              <a:rPr sz="1600">
                <a:solidFill>
                  <a:srgbClr val="6A9955"/>
                </a:solidFill>
                <a:latin typeface="Consolas"/>
              </a:rPr>
              <a:t>// instead of:                       // we write:</a:t>
            </a:r>
          </a:p>
          <a:p>
            <a:pPr>
              <a:spcAft>
                <a:spcPts val="100"/>
              </a:spcAft>
            </a:pPr>
            <a:r>
              <a:rPr sz="1600">
                <a:solidFill>
                  <a:srgbClr val="4EC9B0"/>
                </a:solidFill>
                <a:latin typeface="Consolas"/>
              </a:rPr>
              <a:t>double</a:t>
            </a:r>
            <a:r>
              <a:rPr sz="1600">
                <a:solidFill>
                  <a:srgbClr val="D4D4D4"/>
                </a:solidFill>
                <a:latin typeface="Consolas"/>
              </a:rPr>
              <a:t> getOutput(                    T compute(mass1::</a:t>
            </a:r>
            <a:r>
              <a:rPr sz="1600">
                <a:solidFill>
                  <a:srgbClr val="4EC9B0"/>
                </a:solidFill>
                <a:latin typeface="Consolas"/>
              </a:rPr>
              <a:t>Position</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std::string&amp; name);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6A9955"/>
                </a:solidFill>
                <a:latin typeface="Consolas"/>
              </a:rPr>
              <a:t>// one virtual + string compare      // one overload per quantity,</a:t>
            </a:r>
          </a:p>
          <a:p>
            <a:pPr>
              <a:spcAft>
                <a:spcPts val="100"/>
              </a:spcAft>
            </a:pPr>
            <a:r>
              <a:rPr sz="1600">
                <a:solidFill>
                  <a:srgbClr val="6A9955"/>
                </a:solidFill>
                <a:latin typeface="Consolas"/>
              </a:rPr>
              <a:t>// per query, at runtime             // chosen by the COMPILER</a:t>
            </a:r>
          </a:p>
        </p:txBody>
      </p:sp>
      <p:sp>
        <p:nvSpPr>
          <p:cNvPr id="6" name="TextBox 5"/>
          <p:cNvSpPr txBox="1"/>
          <p:nvPr/>
        </p:nvSpPr>
        <p:spPr>
          <a:xfrm>
            <a:off x="548640" y="3749039"/>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1">
                <a:solidFill>
                  <a:srgbClr val="F2C744"/>
                </a:solidFill>
                <a:latin typeface="Segoe UI"/>
              </a:rPr>
              <a:t>Overload resolution replaces virtual dispatch</a:t>
            </a:r>
          </a:p>
          <a:p>
            <a:pPr>
              <a:spcAft>
                <a:spcPts val="800"/>
              </a:spcAft>
            </a:pPr>
            <a:r>
              <a:rPr sz="2000">
                <a:solidFill>
                  <a:srgbClr val="35C4E8"/>
                </a:solidFill>
                <a:latin typeface="Segoe UI"/>
              </a:rPr>
              <a:t>•  </a:t>
            </a:r>
            <a:r>
              <a:rPr sz="2000" b="0">
                <a:solidFill>
                  <a:srgbClr val="D8E2EC"/>
                </a:solidFill>
                <a:latin typeface="Segoe UI"/>
              </a:rPr>
              <a:t>The tag argument is empty — it exists only to select the overload</a:t>
            </a:r>
          </a:p>
          <a:p>
            <a:pPr>
              <a:spcAft>
                <a:spcPts val="800"/>
              </a:spcAft>
            </a:pPr>
            <a:r>
              <a:rPr sz="2000">
                <a:solidFill>
                  <a:srgbClr val="35C4E8"/>
                </a:solidFill>
                <a:latin typeface="Segoe UI"/>
              </a:rPr>
              <a:t>•  </a:t>
            </a:r>
            <a:r>
              <a:rPr sz="2000" b="0">
                <a:solidFill>
                  <a:srgbClr val="D8E2EC"/>
                </a:solidFill>
                <a:latin typeface="Segoe UI"/>
              </a:rPr>
              <a:t>Unknown tag → compile error, with the tag's name in the message</a:t>
            </a:r>
          </a:p>
          <a:p>
            <a:pPr>
              <a:spcAft>
                <a:spcPts val="800"/>
              </a:spcAft>
            </a:pPr>
            <a:r>
              <a:rPr sz="2000">
                <a:solidFill>
                  <a:srgbClr val="35C4E8"/>
                </a:solidFill>
                <a:latin typeface="Segoe UI"/>
              </a:rPr>
              <a:t>•  </a:t>
            </a:r>
            <a:r>
              <a:rPr sz="2000" b="0">
                <a:solidFill>
                  <a:srgbClr val="D8E2EC"/>
                </a:solidFill>
                <a:latin typeface="Segoe UI"/>
              </a:rPr>
              <a:t>This is ordinary C++ — tag dispatch is as old as the STL (</a:t>
            </a:r>
            <a:r>
              <a:rPr sz="2000" b="0">
                <a:solidFill>
                  <a:srgbClr val="35C4E8"/>
                </a:solidFill>
                <a:latin typeface="Segoe UI"/>
              </a:rPr>
              <a:t>std::advance</a:t>
            </a:r>
            <a:r>
              <a:rPr sz="2000" b="0">
                <a:solidFill>
                  <a:srgbClr val="D8E2EC"/>
                </a:solidFill>
                <a:latin typeface="Segoe UI"/>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2/5</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Idea 2 — the registry: 'who provides what'</a:t>
            </a:r>
          </a:p>
        </p:txBody>
      </p:sp>
      <p:sp>
        <p:nvSpPr>
          <p:cNvPr id="4" name="Rounded Rectangle 3"/>
          <p:cNvSpPr/>
          <p:nvPr/>
        </p:nvSpPr>
        <p:spPr>
          <a:xfrm>
            <a:off x="548640" y="1371600"/>
            <a:ext cx="11338560" cy="4905756"/>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registry"/>
          <p:cNvSpPr txBox="1"/>
          <p:nvPr/>
        </p:nvSpPr>
        <p:spPr>
          <a:xfrm>
            <a:off x="731520" y="1554480"/>
            <a:ext cx="10972800" cy="4539996"/>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 </a:t>
            </a:r>
            <a:r>
              <a:rPr sz="1600">
                <a:solidFill>
                  <a:srgbClr val="4EC9B0"/>
                </a:solidFill>
                <a:latin typeface="Consolas"/>
              </a:rPr>
              <a:t>Components</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 {</a:t>
            </a:r>
          </a:p>
          <a:p>
            <a:pPr>
              <a:spcAft>
                <a:spcPts val="100"/>
              </a:spcAft>
            </a:pPr>
            <a:r>
              <a:rPr sz="1600">
                <a:solidFill>
                  <a:srgbClr val="D4D4D4"/>
                </a:solidFill>
                <a:latin typeface="Consolas"/>
              </a:rPr>
              <a:t>    std::tuple&lt;</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Components</a:t>
            </a:r>
            <a:r>
              <a:rPr sz="1600">
                <a:solidFill>
                  <a:srgbClr val="D4D4D4"/>
                </a:solidFill>
                <a:latin typeface="Consolas"/>
              </a:rPr>
              <a:t>&amp;...&gt; m_components;</a:t>
            </a:r>
          </a:p>
          <a:p>
            <a:pPr>
              <a:spcAft>
                <a:spcPts val="100"/>
              </a:spcAft>
            </a:pPr>
            <a:r>
              <a:rPr sz="1600">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569CD6"/>
                </a:solidFill>
                <a:latin typeface="Consolas"/>
              </a:rPr>
              <a:t>static</a:t>
            </a:r>
            <a:r>
              <a:rPr sz="1600">
                <a:solidFill>
                  <a:srgbClr val="D4D4D4"/>
                </a:solidFill>
                <a:latin typeface="Consolas"/>
              </a:rPr>
              <a:t> </a:t>
            </a:r>
            <a:r>
              <a:rPr sz="1600">
                <a:solidFill>
                  <a:srgbClr val="569CD6"/>
                </a:solidFill>
                <a:latin typeface="Consolas"/>
              </a:rPr>
              <a:t>constexpr</a:t>
            </a:r>
            <a:r>
              <a:rPr sz="1600">
                <a:solidFill>
                  <a:srgbClr val="D4D4D4"/>
                </a:solidFill>
                <a:latin typeface="Consolas"/>
              </a:rPr>
              <a:t> </a:t>
            </a:r>
            <a:r>
              <a:rPr sz="1600">
                <a:solidFill>
                  <a:srgbClr val="4EC9B0"/>
                </a:solidFill>
                <a:latin typeface="Consolas"/>
              </a:rPr>
              <a:t>bool</a:t>
            </a:r>
            <a:r>
              <a:rPr sz="1600">
                <a:solidFill>
                  <a:srgbClr val="D4D4D4"/>
                </a:solidFill>
                <a:latin typeface="Consolas"/>
              </a:rPr>
              <a:t> hasFunction() {</a:t>
            </a:r>
          </a:p>
          <a:p>
            <a:pPr>
              <a:spcAft>
                <a:spcPts val="100"/>
              </a:spcAft>
            </a:pPr>
            <a:r>
              <a:rPr sz="1600" b="1">
                <a:solidFill>
                  <a:srgbClr val="D4D4D4"/>
                </a:solidFill>
                <a:latin typeface="Consolas"/>
              </a:rPr>
              <a:t>        </a:t>
            </a:r>
            <a:r>
              <a:rPr sz="1600" b="1">
                <a:solidFill>
                  <a:srgbClr val="569CD6"/>
                </a:solidFill>
                <a:latin typeface="Consolas"/>
              </a:rPr>
              <a:t>return</a:t>
            </a:r>
            <a:r>
              <a:rPr sz="1600" b="1">
                <a:solidFill>
                  <a:srgbClr val="D4D4D4"/>
                </a:solidFill>
                <a:latin typeface="Consolas"/>
              </a:rPr>
              <a:t> (</a:t>
            </a:r>
            <a:r>
              <a:rPr sz="1600" b="1">
                <a:solidFill>
                  <a:srgbClr val="4EC9B0"/>
                </a:solidFill>
                <a:latin typeface="Consolas"/>
              </a:rPr>
              <a:t>ProvidesStateFunction</a:t>
            </a:r>
            <a:r>
              <a:rPr sz="1600" b="1">
                <a:solidFill>
                  <a:srgbClr val="D4D4D4"/>
                </a:solidFill>
                <a:latin typeface="Consolas"/>
              </a:rPr>
              <a:t>&lt;</a:t>
            </a:r>
            <a:r>
              <a:rPr sz="1600" b="1">
                <a:solidFill>
                  <a:srgbClr val="4EC9B0"/>
                </a:solidFill>
                <a:latin typeface="Consolas"/>
              </a:rPr>
              <a:t>Components</a:t>
            </a:r>
            <a:r>
              <a:rPr sz="1600" b="1">
                <a:solidFill>
                  <a:srgbClr val="D4D4D4"/>
                </a:solidFill>
                <a:latin typeface="Consolas"/>
              </a:rPr>
              <a:t>, </a:t>
            </a:r>
            <a:r>
              <a:rPr sz="1600" b="1">
                <a:solidFill>
                  <a:srgbClr val="4EC9B0"/>
                </a:solidFill>
                <a:latin typeface="Consolas"/>
              </a:rPr>
              <a:t>Tag</a:t>
            </a:r>
            <a:r>
              <a:rPr sz="1600" b="1">
                <a:solidFill>
                  <a:srgbClr val="D4D4D4"/>
                </a:solidFill>
                <a:latin typeface="Consolas"/>
              </a:rPr>
              <a:t>, T, </a:t>
            </a:r>
            <a:r>
              <a:rPr sz="1600" b="1">
                <a:solidFill>
                  <a:srgbClr val="4EC9B0"/>
                </a:solidFill>
                <a:latin typeface="Consolas"/>
              </a:rPr>
              <a:t>Registry</a:t>
            </a:r>
            <a:r>
              <a:rPr sz="1600" b="1">
                <a:solidFill>
                  <a:srgbClr val="D4D4D4"/>
                </a:solidFill>
                <a:latin typeface="Consolas"/>
              </a:rPr>
              <a:t>&gt; || ...);</a:t>
            </a:r>
          </a:p>
          <a:p>
            <a:pPr>
              <a:spcAft>
                <a:spcPts val="100"/>
              </a:spcAft>
            </a:pPr>
            <a:r>
              <a:rPr sz="1600">
                <a:solidFill>
                  <a:srgbClr val="D4D4D4"/>
                </a:solidFill>
                <a:latin typeface="Consolas"/>
              </a:rPr>
              <a:t>    }                                     </a:t>
            </a:r>
            <a:r>
              <a:rPr sz="1600">
                <a:solidFill>
                  <a:srgbClr val="6A9955"/>
                </a:solidFill>
                <a:latin typeface="Consolas"/>
              </a:rPr>
              <a:t>//        fold over all components</a:t>
            </a:r>
          </a:p>
          <a:p>
            <a:pPr>
              <a:spcAft>
                <a:spcPts val="100"/>
              </a:spcAft>
            </a:pPr>
            <a:r>
              <a:rPr sz="1600">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569CD6"/>
                </a:solidFill>
                <a:latin typeface="Consolas"/>
              </a:rPr>
              <a:t>auto</a:t>
            </a:r>
            <a:r>
              <a:rPr sz="1600">
                <a:solidFill>
                  <a:srgbClr val="D4D4D4"/>
                </a:solidFill>
                <a:latin typeface="Consolas"/>
              </a:rPr>
              <a:t> computeFunction(std::span&lt;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p>
          <a:p>
            <a:pPr>
              <a:spcAft>
                <a:spcPts val="100"/>
              </a:spcAft>
            </a:pPr>
            <a:r>
              <a:rPr sz="1600" b="1">
                <a:solidFill>
                  <a:srgbClr val="D4D4D4"/>
                </a:solidFill>
                <a:latin typeface="Consolas"/>
              </a:rPr>
              <a:t>        </a:t>
            </a:r>
            <a:r>
              <a:rPr sz="1600" b="1">
                <a:solidFill>
                  <a:srgbClr val="569CD6"/>
                </a:solidFill>
                <a:latin typeface="Consolas"/>
              </a:rPr>
              <a:t>static_assert</a:t>
            </a:r>
            <a:r>
              <a:rPr sz="1600" b="1">
                <a:solidFill>
                  <a:srgbClr val="D4D4D4"/>
                </a:solidFill>
                <a:latin typeface="Consolas"/>
              </a:rPr>
              <a:t>(hasFunction&lt;</a:t>
            </a:r>
            <a:r>
              <a:rPr sz="1600" b="1">
                <a:solidFill>
                  <a:srgbClr val="4EC9B0"/>
                </a:solidFill>
                <a:latin typeface="Consolas"/>
              </a:rPr>
              <a:t>Tag</a:t>
            </a:r>
            <a:r>
              <a:rPr sz="1600" b="1">
                <a:solidFill>
                  <a:srgbClr val="D4D4D4"/>
                </a:solidFill>
                <a:latin typeface="Consolas"/>
              </a:rPr>
              <a:t>&gt;(),</a:t>
            </a:r>
          </a:p>
          <a:p>
            <a:pPr>
              <a:spcAft>
                <a:spcPts val="100"/>
              </a:spcAft>
            </a:pPr>
            <a:r>
              <a:rPr sz="1600" b="1">
                <a:solidFill>
                  <a:srgbClr val="D4D4D4"/>
                </a:solidFill>
                <a:latin typeface="Consolas"/>
              </a:rPr>
              <a:t>                      </a:t>
            </a:r>
            <a:r>
              <a:rPr sz="1600" b="1">
                <a:solidFill>
                  <a:srgbClr val="CE9178"/>
                </a:solidFill>
                <a:latin typeface="Consolas"/>
              </a:rPr>
              <a:t>"No component provides this state function"</a:t>
            </a:r>
            <a:r>
              <a:rPr sz="1600" b="1">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569CD6"/>
                </a:solidFill>
                <a:latin typeface="Consolas"/>
              </a:rPr>
              <a:t>auto</a:t>
            </a:r>
            <a:r>
              <a:rPr sz="1600">
                <a:solidFill>
                  <a:srgbClr val="D4D4D4"/>
                </a:solidFill>
                <a:latin typeface="Consolas"/>
              </a:rPr>
              <a:t>&amp; provider = findProvider&lt;</a:t>
            </a:r>
            <a:r>
              <a:rPr sz="1600">
                <a:solidFill>
                  <a:srgbClr val="4EC9B0"/>
                </a:solidFill>
                <a:latin typeface="Consolas"/>
              </a:rPr>
              <a:t>Tag</a:t>
            </a:r>
            <a:r>
              <a:rPr sz="1600">
                <a:solidFill>
                  <a:srgbClr val="D4D4D4"/>
                </a:solidFill>
                <a:latin typeface="Consolas"/>
              </a:rPr>
              <a:t>&gt;();   </a:t>
            </a:r>
            <a:r>
              <a:rPr sz="1600">
                <a:solidFill>
                  <a:srgbClr val="6A9955"/>
                </a:solidFill>
                <a:latin typeface="Consolas"/>
              </a:rPr>
              <a:t>// index found constexpr</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provider.compute(</a:t>
            </a:r>
            <a:r>
              <a:rPr sz="1600">
                <a:solidFill>
                  <a:srgbClr val="4EC9B0"/>
                </a:solidFill>
                <a:latin typeface="Consolas"/>
              </a:rPr>
              <a:t>Tag</a:t>
            </a:r>
            <a:r>
              <a:rPr sz="1600">
                <a:solidFill>
                  <a:srgbClr val="D4D4D4"/>
                </a:solidFill>
                <a:latin typeface="Consolas"/>
              </a:rPr>
              <a:t>{}, state, *</a:t>
            </a:r>
            <a:r>
              <a:rPr sz="1600">
                <a:solidFill>
                  <a:srgbClr val="569CD6"/>
                </a:solidFill>
                <a:latin typeface="Consolas"/>
              </a:rPr>
              <a:t>this</a:t>
            </a: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3/5</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compute vs query: provide vs ask</a:t>
            </a:r>
          </a:p>
        </p:txBody>
      </p:sp>
      <p:sp>
        <p:nvSpPr>
          <p:cNvPr id="4" name="Rounded Rectangle 3"/>
          <p:cNvSpPr/>
          <p:nvPr/>
        </p:nvSpPr>
        <p:spPr>
          <a:xfrm>
            <a:off x="548640" y="1463040"/>
            <a:ext cx="11338560" cy="33421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query"/>
          <p:cNvSpPr txBox="1"/>
          <p:nvPr/>
        </p:nvSpPr>
        <p:spPr>
          <a:xfrm>
            <a:off x="731520" y="1645920"/>
            <a:ext cx="10972800" cy="2976372"/>
          </a:xfrm>
          <a:prstGeom prst="rect">
            <a:avLst/>
          </a:prstGeom>
          <a:noFill/>
        </p:spPr>
        <p:txBody>
          <a:bodyPr wrap="none">
            <a:spAutoFit/>
          </a:bodyPr>
          <a:lstStyle/>
          <a:p>
            <a:pPr>
              <a:spcAft>
                <a:spcPts val="100"/>
              </a:spcAft>
            </a:pPr>
            <a:r>
              <a:rPr sz="1600">
                <a:solidFill>
                  <a:srgbClr val="6A9955"/>
                </a:solidFill>
                <a:latin typeface="Consolas"/>
              </a:rPr>
              <a:t>// a component PROVIDES a quantity (one overload per tag):</a:t>
            </a:r>
          </a:p>
          <a:p>
            <a:pPr>
              <a:spcAft>
                <a:spcPts val="100"/>
              </a:spcAft>
            </a:pPr>
            <a:r>
              <a:rPr sz="1600">
                <a:solidFill>
                  <a:srgbClr val="D4D4D4"/>
                </a:solidFill>
                <a:latin typeface="Consolas"/>
              </a:rPr>
              <a:t>T compute(mass1::</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a:t>
            </a:r>
            <a:r>
              <a:rPr sz="1600">
                <a:solidFill>
                  <a:srgbClr val="569CD6"/>
                </a:solidFill>
                <a:latin typeface="Consolas"/>
              </a:rPr>
              <a:t>const</a:t>
            </a: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anyone ASKS for one, by tag — component or driver:</a:t>
            </a:r>
          </a:p>
          <a:p>
            <a:pPr>
              <a:spcAft>
                <a:spcPts val="100"/>
              </a:spcAft>
            </a:pPr>
            <a:r>
              <a:rPr sz="1600" b="1">
                <a:solidFill>
                  <a:srgbClr val="D4D4D4"/>
                </a:solidFill>
                <a:latin typeface="Consolas"/>
              </a:rPr>
              <a:t>T f = query&lt;mass1::</a:t>
            </a:r>
            <a:r>
              <a:rPr sz="1600" b="1">
                <a:solidFill>
                  <a:srgbClr val="4EC9B0"/>
                </a:solidFill>
                <a:latin typeface="Consolas"/>
              </a:rPr>
              <a:t>Force</a:t>
            </a:r>
            <a:r>
              <a:rPr sz="1600" b="1">
                <a:solidFill>
                  <a:srgbClr val="D4D4D4"/>
                </a:solidFill>
                <a:latin typeface="Consolas"/>
              </a:rPr>
              <a:t>&gt;(registry, state);</a:t>
            </a:r>
          </a:p>
          <a:p>
            <a:pPr>
              <a:spcAft>
                <a:spcPts val="100"/>
              </a:spcAft>
            </a:pPr>
            <a:r>
              <a:rPr sz="1600">
                <a:latin typeface="Consolas"/>
              </a:rPr>
              <a:t> </a:t>
            </a:r>
          </a:p>
          <a:p>
            <a:pPr>
              <a:spcAft>
                <a:spcPts val="100"/>
              </a:spcAft>
            </a:pPr>
            <a:r>
              <a:rPr sz="1600">
                <a:solidFill>
                  <a:srgbClr val="6A9955"/>
                </a:solidFill>
                <a:latin typeface="Consolas"/>
              </a:rPr>
              <a:t>// query is just the registry call with friendlier syntax:</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&gt;</a:t>
            </a:r>
          </a:p>
          <a:p>
            <a:pPr>
              <a:spcAft>
                <a:spcPts val="100"/>
              </a:spcAft>
            </a:pPr>
            <a:r>
              <a:rPr sz="1600">
                <a:solidFill>
                  <a:srgbClr val="569CD6"/>
                </a:solidFill>
                <a:latin typeface="Consolas"/>
              </a:rPr>
              <a:t>auto</a:t>
            </a:r>
            <a:r>
              <a:rPr sz="1600">
                <a:solidFill>
                  <a:srgbClr val="D4D4D4"/>
                </a:solidFill>
                <a:latin typeface="Consolas"/>
              </a:rPr>
              <a:t> query(</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std::span&lt;</a:t>
            </a:r>
            <a:r>
              <a:rPr sz="1600">
                <a:solidFill>
                  <a:srgbClr val="569CD6"/>
                </a:solidFill>
                <a:latin typeface="Consolas"/>
              </a:rPr>
              <a:t>const</a:t>
            </a:r>
            <a:r>
              <a:rPr sz="1600">
                <a:solidFill>
                  <a:srgbClr val="D4D4D4"/>
                </a:solidFill>
                <a:latin typeface="Consolas"/>
              </a:rPr>
              <a:t> T&gt; s) {</a:t>
            </a:r>
          </a:p>
          <a:p>
            <a:pPr>
              <a:spcAft>
                <a:spcPts val="100"/>
              </a:spcAft>
            </a:pPr>
            <a:r>
              <a:rPr sz="1600" b="1">
                <a:solidFill>
                  <a:srgbClr val="D4D4D4"/>
                </a:solidFill>
                <a:latin typeface="Consolas"/>
              </a:rPr>
              <a:t>    </a:t>
            </a:r>
            <a:r>
              <a:rPr sz="1600" b="1">
                <a:solidFill>
                  <a:srgbClr val="569CD6"/>
                </a:solidFill>
                <a:latin typeface="Consolas"/>
              </a:rPr>
              <a:t>return</a:t>
            </a:r>
            <a:r>
              <a:rPr sz="1600" b="1">
                <a:solidFill>
                  <a:srgbClr val="D4D4D4"/>
                </a:solidFill>
                <a:latin typeface="Consolas"/>
              </a:rPr>
              <a:t> reg.computeFunction&lt;</a:t>
            </a:r>
            <a:r>
              <a:rPr sz="1600" b="1">
                <a:solidFill>
                  <a:srgbClr val="4EC9B0"/>
                </a:solidFill>
                <a:latin typeface="Consolas"/>
              </a:rPr>
              <a:t>Tag</a:t>
            </a:r>
            <a:r>
              <a:rPr sz="1600" b="1">
                <a:solidFill>
                  <a:srgbClr val="D4D4D4"/>
                </a:solidFill>
                <a:latin typeface="Consolas"/>
              </a:rPr>
              <a:t>&gt;(s);   </a:t>
            </a:r>
            <a:r>
              <a:rPr sz="1600" b="1">
                <a:solidFill>
                  <a:srgbClr val="6A9955"/>
                </a:solidFill>
                <a:latin typeface="Consolas"/>
              </a:rPr>
              <a:t>// find provider -&gt; provider.compute(...)</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3 — concepts make the contracts checkable</a:t>
            </a:r>
          </a:p>
        </p:txBody>
      </p:sp>
      <p:sp>
        <p:nvSpPr>
          <p:cNvPr id="4" name="Rounded Rectangle 3"/>
          <p:cNvSpPr/>
          <p:nvPr/>
        </p:nvSpPr>
        <p:spPr>
          <a:xfrm>
            <a:off x="530352" y="1371600"/>
            <a:ext cx="11036808" cy="386333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concepts"/>
          <p:cNvSpPr txBox="1"/>
          <p:nvPr/>
        </p:nvSpPr>
        <p:spPr>
          <a:xfrm>
            <a:off x="713232" y="1554480"/>
            <a:ext cx="10671048" cy="3497579"/>
          </a:xfrm>
          <a:prstGeom prst="rect">
            <a:avLst/>
          </a:prstGeom>
          <a:noFill/>
        </p:spPr>
        <p:txBody>
          <a:bodyPr wrap="none">
            <a:spAutoFit/>
          </a:bodyPr>
          <a:lstStyle/>
          <a:p>
            <a:pPr>
              <a:spcAft>
                <a:spcPts val="100"/>
              </a:spcAft>
            </a:pPr>
            <a:r>
              <a:rPr sz="1600">
                <a:solidFill>
                  <a:srgbClr val="6A9955"/>
                </a:solidFill>
                <a:latin typeface="Consolas"/>
              </a:rPr>
              <a:t>// what a component IS:</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&gt;</a:t>
            </a:r>
          </a:p>
          <a:p>
            <a:pPr>
              <a:spcAft>
                <a:spcPts val="100"/>
              </a:spcAft>
            </a:pPr>
            <a:r>
              <a:rPr sz="1600">
                <a:solidFill>
                  <a:srgbClr val="569CD6"/>
                </a:solidFill>
                <a:latin typeface="Consolas"/>
              </a:rPr>
              <a:t>concept</a:t>
            </a: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 = </a:t>
            </a:r>
            <a:r>
              <a:rPr sz="1600">
                <a:solidFill>
                  <a:srgbClr val="569CD6"/>
                </a:solidFill>
                <a:latin typeface="Consolas"/>
              </a:rPr>
              <a:t>requires</a:t>
            </a:r>
            <a:r>
              <a:rPr sz="1600">
                <a:solidFill>
                  <a:srgbClr val="D4D4D4"/>
                </a:solidFill>
                <a:latin typeface="Consolas"/>
              </a:rPr>
              <a:t>(</a:t>
            </a:r>
            <a:r>
              <a:rPr sz="1600">
                <a:solidFill>
                  <a:srgbClr val="569CD6"/>
                </a:solidFill>
                <a:latin typeface="Consolas"/>
              </a:rPr>
              <a:t>const</a:t>
            </a:r>
            <a:r>
              <a:rPr sz="1600">
                <a:solidFill>
                  <a:srgbClr val="D4D4D4"/>
                </a:solidFill>
                <a:latin typeface="Consolas"/>
              </a:rPr>
              <a:t> C&amp; c) {</a:t>
            </a:r>
          </a:p>
          <a:p>
            <a:pPr>
              <a:spcAft>
                <a:spcPts val="100"/>
              </a:spcAft>
            </a:pPr>
            <a:r>
              <a:rPr sz="1600">
                <a:solidFill>
                  <a:srgbClr val="D4D4D4"/>
                </a:solidFill>
                <a:latin typeface="Consolas"/>
              </a:rPr>
              <a:t>    { C::state_size } -&gt; std::convertible_to&lt;</a:t>
            </a:r>
            <a:r>
              <a:rPr sz="1600">
                <a:solidFill>
                  <a:srgbClr val="4EC9B0"/>
                </a:solidFill>
                <a:latin typeface="Consolas"/>
              </a:rPr>
              <a:t>size_t</a:t>
            </a:r>
            <a:r>
              <a:rPr sz="1600">
                <a:solidFill>
                  <a:srgbClr val="D4D4D4"/>
                </a:solidFill>
                <a:latin typeface="Consolas"/>
              </a:rPr>
              <a:t>&gt;;</a:t>
            </a:r>
          </a:p>
          <a:p>
            <a:pPr>
              <a:spcAft>
                <a:spcPts val="100"/>
              </a:spcAft>
            </a:pPr>
            <a:r>
              <a:rPr sz="1600">
                <a:solidFill>
                  <a:srgbClr val="D4D4D4"/>
                </a:solidFill>
                <a:latin typeface="Consolas"/>
              </a:rPr>
              <a:t>    { c.getInitialLocalState() } -&gt; std::same_as&lt;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a:t>
            </a:r>
            <a:r>
              <a:rPr sz="1600">
                <a:solidFill>
                  <a:srgbClr val="4EC9B0"/>
                </a:solidFill>
                <a:latin typeface="Consolas"/>
              </a:rPr>
              <a:t>LocalState</a:t>
            </a:r>
            <a:r>
              <a:rPr sz="1600">
                <a:solidFill>
                  <a:srgbClr val="D4D4D4"/>
                </a:solidFill>
                <a:latin typeface="Consolas"/>
              </a:rPr>
              <a:t>&gt;;</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what it PROVIDES (a quantity, selected by tag):</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569CD6"/>
                </a:solidFill>
                <a:latin typeface="Consolas"/>
              </a:rPr>
              <a:t>concept</a:t>
            </a:r>
            <a:r>
              <a:rPr sz="1600">
                <a:solidFill>
                  <a:srgbClr val="D4D4D4"/>
                </a:solidFill>
                <a:latin typeface="Consolas"/>
              </a:rPr>
              <a:t> </a:t>
            </a:r>
            <a:r>
              <a:rPr sz="1600">
                <a:solidFill>
                  <a:srgbClr val="4EC9B0"/>
                </a:solidFill>
                <a:latin typeface="Consolas"/>
              </a:rPr>
              <a:t>ProvidesStateFunction</a:t>
            </a:r>
            <a:r>
              <a:rPr sz="1600">
                <a:solidFill>
                  <a:srgbClr val="D4D4D4"/>
                </a:solidFill>
                <a:latin typeface="Consolas"/>
              </a:rPr>
              <a:t> =</a:t>
            </a:r>
          </a:p>
          <a:p>
            <a:pPr>
              <a:spcAft>
                <a:spcPts val="100"/>
              </a:spcAft>
            </a:pP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&lt;C&gt; &amp;&amp; </a:t>
            </a:r>
            <a:r>
              <a:rPr sz="1600">
                <a:solidFill>
                  <a:srgbClr val="4EC9B0"/>
                </a:solidFill>
                <a:latin typeface="Consolas"/>
              </a:rPr>
              <a:t>StateTagConcept</a:t>
            </a:r>
            <a:r>
              <a:rPr sz="1600">
                <a:solidFill>
                  <a:srgbClr val="D4D4D4"/>
                </a:solidFill>
                <a:latin typeface="Consolas"/>
              </a:rPr>
              <a:t>&lt;</a:t>
            </a:r>
            <a:r>
              <a:rPr sz="1600">
                <a:solidFill>
                  <a:srgbClr val="4EC9B0"/>
                </a:solidFill>
                <a:latin typeface="Consolas"/>
              </a:rPr>
              <a:t>Tag</a:t>
            </a:r>
            <a:r>
              <a:rPr sz="1600">
                <a:solidFill>
                  <a:srgbClr val="D4D4D4"/>
                </a:solidFill>
                <a:latin typeface="Consolas"/>
              </a:rPr>
              <a:t>&gt; &amp;&amp;</a:t>
            </a:r>
          </a:p>
          <a:p>
            <a:pPr>
              <a:spcAft>
                <a:spcPts val="100"/>
              </a:spcAft>
            </a:pPr>
            <a:r>
              <a:rPr sz="1600">
                <a:solidFill>
                  <a:srgbClr val="D4D4D4"/>
                </a:solidFill>
                <a:latin typeface="Consolas"/>
              </a:rPr>
              <a:t>    </a:t>
            </a:r>
            <a:r>
              <a:rPr sz="1600">
                <a:solidFill>
                  <a:srgbClr val="569CD6"/>
                </a:solidFill>
                <a:latin typeface="Consolas"/>
              </a:rPr>
              <a:t>requires</a:t>
            </a:r>
            <a:r>
              <a:rPr sz="1600">
                <a:solidFill>
                  <a:srgbClr val="D4D4D4"/>
                </a:solidFill>
                <a:latin typeface="Consolas"/>
              </a:rPr>
              <a:t>(</a:t>
            </a:r>
            <a:r>
              <a:rPr sz="1600">
                <a:solidFill>
                  <a:srgbClr val="569CD6"/>
                </a:solidFill>
                <a:latin typeface="Consolas"/>
              </a:rPr>
              <a:t>const</a:t>
            </a:r>
            <a:r>
              <a:rPr sz="1600">
                <a:solidFill>
                  <a:srgbClr val="D4D4D4"/>
                </a:solidFill>
                <a:latin typeface="Consolas"/>
              </a:rPr>
              <a:t> C&amp; c, std::span&lt;</a:t>
            </a:r>
            <a:r>
              <a:rPr sz="1600">
                <a:solidFill>
                  <a:srgbClr val="569CD6"/>
                </a:solidFill>
                <a:latin typeface="Consolas"/>
              </a:rPr>
              <a:t>const</a:t>
            </a:r>
            <a:r>
              <a:rPr sz="1600">
                <a:solidFill>
                  <a:srgbClr val="D4D4D4"/>
                </a:solidFill>
                <a:latin typeface="Consolas"/>
              </a:rPr>
              <a:t> T&gt; s,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a:t>
            </a:r>
          </a:p>
          <a:p>
            <a:pPr>
              <a:spcAft>
                <a:spcPts val="100"/>
              </a:spcAft>
            </a:pPr>
            <a:r>
              <a:rPr sz="1600">
                <a:solidFill>
                  <a:srgbClr val="D4D4D4"/>
                </a:solidFill>
                <a:latin typeface="Consolas"/>
              </a:rPr>
              <a:t>    { c.compute(</a:t>
            </a:r>
            <a:r>
              <a:rPr sz="1600">
                <a:solidFill>
                  <a:srgbClr val="4EC9B0"/>
                </a:solidFill>
                <a:latin typeface="Consolas"/>
              </a:rPr>
              <a:t>Tag</a:t>
            </a:r>
            <a:r>
              <a:rPr sz="1600">
                <a:solidFill>
                  <a:srgbClr val="D4D4D4"/>
                </a:solidFill>
                <a:latin typeface="Consolas"/>
              </a:rPr>
              <a:t>{}, s, reg); };</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4 — everything is a value</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0">
                <a:solidFill>
                  <a:srgbClr val="D8E2EC"/>
                </a:solidFill>
                <a:latin typeface="Segoe UI"/>
              </a:rPr>
              <a:t>The system is </a:t>
            </a:r>
            <a:r>
              <a:rPr sz="2100" b="0">
                <a:solidFill>
                  <a:srgbClr val="35C4E8"/>
                </a:solidFill>
                <a:latin typeface="Segoe UI"/>
              </a:rPr>
              <a:t>std::tuple&lt;Mass1, Mass2, Spring, EnergyMonitor&gt;</a:t>
            </a:r>
          </a:p>
          <a:p>
            <a:pPr lvl="1">
              <a:spcBef>
                <a:spcPts val="0"/>
              </a:spcBef>
              <a:spcAft>
                <a:spcPts val="800"/>
              </a:spcAft>
            </a:pPr>
            <a:r>
              <a:rPr sz="1900">
                <a:solidFill>
                  <a:srgbClr val="8CA3B8"/>
                </a:solidFill>
                <a:latin typeface="Segoe UI"/>
              </a:rPr>
              <a:t>–  </a:t>
            </a:r>
            <a:r>
              <a:rPr sz="1900" b="0">
                <a:solidFill>
                  <a:srgbClr val="D8E2EC"/>
                </a:solidFill>
                <a:latin typeface="Segoe UI"/>
              </a:rPr>
              <a:t>no heap, no pointers, no type erasure, no std::function</a:t>
            </a:r>
          </a:p>
          <a:p>
            <a:pPr>
              <a:spcAft>
                <a:spcPts val="800"/>
              </a:spcAft>
            </a:pPr>
            <a:r>
              <a:rPr sz="2100">
                <a:solidFill>
                  <a:srgbClr val="35C4E8"/>
                </a:solidFill>
                <a:latin typeface="Segoe UI"/>
              </a:rPr>
              <a:t>•  </a:t>
            </a:r>
            <a:r>
              <a:rPr sz="2100" b="1">
                <a:solidFill>
                  <a:srgbClr val="F2C744"/>
                </a:solidFill>
                <a:latin typeface="Segoe UI"/>
              </a:rPr>
              <a:t>The optimizer sees the whole object graph as one struct</a:t>
            </a:r>
          </a:p>
          <a:p>
            <a:pPr lvl="1">
              <a:spcBef>
                <a:spcPts val="0"/>
              </a:spcBef>
              <a:spcAft>
                <a:spcPts val="800"/>
              </a:spcAft>
            </a:pPr>
            <a:r>
              <a:rPr sz="1900">
                <a:solidFill>
                  <a:srgbClr val="8CA3B8"/>
                </a:solidFill>
                <a:latin typeface="Segoe UI"/>
              </a:rPr>
              <a:t>–  </a:t>
            </a:r>
            <a:r>
              <a:rPr sz="1900" b="0">
                <a:solidFill>
                  <a:srgbClr val="D8E2EC"/>
                </a:solidFill>
                <a:latin typeface="Segoe UI"/>
              </a:rPr>
              <a:t>every compute() call is a direct (and inlinable) call</a:t>
            </a:r>
          </a:p>
          <a:p>
            <a:pPr>
              <a:spcAft>
                <a:spcPts val="800"/>
              </a:spcAft>
            </a:pPr>
            <a:r>
              <a:rPr sz="2100">
                <a:solidFill>
                  <a:srgbClr val="35C4E8"/>
                </a:solidFill>
                <a:latin typeface="Segoe UI"/>
              </a:rPr>
              <a:t>•  </a:t>
            </a:r>
            <a:r>
              <a:rPr sz="2100" b="0">
                <a:solidFill>
                  <a:srgbClr val="D8E2EC"/>
                </a:solidFill>
                <a:latin typeface="Segoe UI"/>
              </a:rPr>
              <a:t>State lives in one contiguous vector; components know their offsets</a:t>
            </a:r>
          </a:p>
          <a:p>
            <a:pPr>
              <a:spcAft>
                <a:spcPts val="800"/>
              </a:spcAft>
            </a:pPr>
            <a:r>
              <a:rPr sz="2100">
                <a:solidFill>
                  <a:srgbClr val="35C4E8"/>
                </a:solidFill>
                <a:latin typeface="Segoe UI"/>
              </a:rPr>
              <a:t>•  </a:t>
            </a:r>
            <a:r>
              <a:rPr sz="2100" b="0">
                <a:solidFill>
                  <a:srgbClr val="D8E2EC"/>
                </a:solidFill>
                <a:latin typeface="Segoe UI"/>
              </a:rPr>
              <a:t>The price: component set is fixed at compile time</a:t>
            </a:r>
          </a:p>
          <a:p>
            <a:pPr lvl="1">
              <a:spcBef>
                <a:spcPts val="0"/>
              </a:spcBef>
              <a:spcAft>
                <a:spcPts val="800"/>
              </a:spcAft>
            </a:pPr>
            <a:r>
              <a:rPr sz="1900">
                <a:solidFill>
                  <a:srgbClr val="8CA3B8"/>
                </a:solidFill>
                <a:latin typeface="Segoe UI"/>
              </a:rPr>
              <a:t>–  </a:t>
            </a:r>
            <a:r>
              <a:rPr sz="1900" b="0">
                <a:solidFill>
                  <a:srgbClr val="D8E2EC"/>
                </a:solidFill>
                <a:latin typeface="Segoe UI"/>
              </a:rPr>
              <a:t>for flight software that's a feature — the vehicle doesn't grow a fin mid-flight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06</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What the Compiler Sees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Trust, but disassemble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6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G++ 14 -O2, REAL OUTPUT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abstraction compiles away</a:t>
            </a:r>
          </a:p>
        </p:txBody>
      </p:sp>
      <p:sp>
        <p:nvSpPr>
          <p:cNvPr id="4" name="Rounded Rectangle 3"/>
          <p:cNvSpPr/>
          <p:nvPr/>
        </p:nvSpPr>
        <p:spPr>
          <a:xfrm>
            <a:off x="548640" y="1371600"/>
            <a:ext cx="11338560"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554480"/>
            <a:ext cx="10972800" cy="3758183"/>
          </a:xfrm>
          <a:prstGeom prst="rect">
            <a:avLst/>
          </a:prstGeom>
          <a:noFill/>
        </p:spPr>
        <p:txBody>
          <a:bodyPr wrap="none">
            <a:spAutoFit/>
          </a:bodyPr>
          <a:lstStyle/>
          <a:p>
            <a:pPr>
              <a:spcAft>
                <a:spcPts val="100"/>
              </a:spcAft>
            </a:pPr>
            <a:r>
              <a:rPr sz="1600">
                <a:solidFill>
                  <a:srgbClr val="DCDCAA"/>
                </a:solidFill>
                <a:latin typeface="Consolas"/>
              </a:rPr>
              <a:t>energy_sopot</a:t>
            </a:r>
            <a:r>
              <a:rPr sz="1600">
                <a:solidFill>
                  <a:srgbClr val="D4D4D4"/>
                </a:solidFill>
                <a:latin typeface="Consolas"/>
              </a:rPr>
              <a:t>(span&lt;const double&gt;):     </a:t>
            </a:r>
            <a:r>
              <a:rPr sz="1600">
                <a:solidFill>
                  <a:srgbClr val="6A9955"/>
                </a:solidFill>
                <a:latin typeface="Consolas"/>
              </a:rPr>
              <a:t>; 4 components, registry dispatch</a:t>
            </a:r>
          </a:p>
          <a:p>
            <a:pPr>
              <a:spcAft>
                <a:spcPts val="100"/>
              </a:spcAft>
            </a:pPr>
            <a:r>
              <a:rPr sz="1600">
                <a:solidFill>
                  <a:srgbClr val="D4D4D4"/>
                </a:solidFill>
                <a:latin typeface="Consolas"/>
              </a:rPr>
              <a:t>    </a:t>
            </a:r>
            <a:r>
              <a:rPr sz="1600">
                <a:solidFill>
                  <a:srgbClr val="DCDCAA"/>
                </a:solidFill>
                <a:latin typeface="Consolas"/>
              </a:rPr>
              <a:t>mov</a:t>
            </a:r>
            <a:r>
              <a:rPr sz="1600">
                <a:solidFill>
                  <a:srgbClr val="D4D4D4"/>
                </a:solidFill>
                <a:latin typeface="Consolas"/>
              </a:rPr>
              <a:t>   r10, [sys+</a:t>
            </a:r>
            <a:r>
              <a:rPr sz="1600">
                <a:solidFill>
                  <a:srgbClr val="B5CEA8"/>
                </a:solidFill>
                <a:latin typeface="Consolas"/>
              </a:rPr>
              <a:t>272</a:t>
            </a:r>
            <a:r>
              <a:rPr sz="1600">
                <a:solidFill>
                  <a:srgbClr val="D4D4D4"/>
                </a:solidFill>
                <a:latin typeface="Consolas"/>
              </a:rPr>
              <a:t>]</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xmm1, [.LC0]        </a:t>
            </a:r>
            <a:r>
              <a:rPr sz="1600">
                <a:solidFill>
                  <a:srgbClr val="6A9955"/>
                </a:solidFill>
                <a:latin typeface="Consolas"/>
              </a:rPr>
              <a:t>; 0.5</a:t>
            </a:r>
          </a:p>
          <a:p>
            <a:pPr>
              <a:spcAft>
                <a:spcPts val="100"/>
              </a:spcAft>
            </a:pPr>
            <a:r>
              <a:rPr sz="1600">
                <a:solidFill>
                  <a:srgbClr val="D4D4D4"/>
                </a:solidFill>
                <a:latin typeface="Consolas"/>
              </a:rPr>
              <a:t>    </a:t>
            </a:r>
            <a:r>
              <a:rPr sz="1600">
                <a:solidFill>
                  <a:srgbClr val="DCDCAA"/>
                </a:solidFill>
                <a:latin typeface="Consolas"/>
              </a:rPr>
              <a:t>mov</a:t>
            </a:r>
            <a:r>
              <a:rPr sz="1600">
                <a:solidFill>
                  <a:srgbClr val="D4D4D4"/>
                </a:solidFill>
                <a:latin typeface="Consolas"/>
              </a:rPr>
              <a:t>   rax, [rcx]</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xmm0, [r10+</a:t>
            </a:r>
            <a:r>
              <a:rPr sz="1600">
                <a:solidFill>
                  <a:srgbClr val="B5CEA8"/>
                </a:solidFill>
                <a:latin typeface="Consolas"/>
              </a:rPr>
              <a:t>8</a:t>
            </a:r>
            <a:r>
              <a:rPr sz="1600">
                <a:solidFill>
                  <a:srgbClr val="D4D4D4"/>
                </a:solidFill>
                <a:latin typeface="Consolas"/>
              </a:rPr>
              <a:t>]       </a:t>
            </a:r>
            <a:r>
              <a:rPr sz="1600">
                <a:solidFill>
                  <a:srgbClr val="6A9955"/>
                </a:solidFill>
                <a:latin typeface="Consolas"/>
              </a:rPr>
              <a:t>; m1        &lt;- runtime parameters,</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xmm3, [rax+rcx*</a:t>
            </a:r>
            <a:r>
              <a:rPr sz="1600">
                <a:solidFill>
                  <a:srgbClr val="B5CEA8"/>
                </a:solidFill>
                <a:latin typeface="Consolas"/>
              </a:rPr>
              <a:t>8</a:t>
            </a:r>
            <a:r>
              <a:rPr sz="1600">
                <a:solidFill>
                  <a:srgbClr val="D4D4D4"/>
                </a:solidFill>
                <a:latin typeface="Consolas"/>
              </a:rPr>
              <a:t>]   </a:t>
            </a:r>
            <a:r>
              <a:rPr sz="1600">
                <a:solidFill>
                  <a:srgbClr val="6A9955"/>
                </a:solidFill>
                <a:latin typeface="Consolas"/>
              </a:rPr>
              <a:t>; v1           loaded once</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xmm0, xmm1</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xmm0, xmm3          </a:t>
            </a:r>
            <a:r>
              <a:rPr sz="1600">
                <a:solidFill>
                  <a:srgbClr val="6A9955"/>
                </a:solidFill>
                <a:latin typeface="Consolas"/>
              </a:rPr>
              <a:t>; 0.5*m1*v1</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xmm0, xmm3          </a:t>
            </a:r>
            <a:r>
              <a:rPr sz="1600">
                <a:solidFill>
                  <a:srgbClr val="6A9955"/>
                </a:solidFill>
                <a:latin typeface="Consolas"/>
              </a:rPr>
              <a:t>; ... * v1</a:t>
            </a:r>
          </a:p>
          <a:p>
            <a:pPr>
              <a:spcAft>
                <a:spcPts val="100"/>
              </a:spcAft>
            </a:pPr>
            <a:r>
              <a:rPr sz="1600">
                <a:solidFill>
                  <a:srgbClr val="D4D4D4"/>
                </a:solidFill>
                <a:latin typeface="Consolas"/>
              </a:rPr>
              <a:t>    </a:t>
            </a:r>
            <a:r>
              <a:rPr sz="1600">
                <a:solidFill>
                  <a:srgbClr val="DCDCAA"/>
                </a:solidFill>
                <a:latin typeface="Consolas"/>
              </a:rPr>
              <a:t>subsd</a:t>
            </a:r>
            <a:r>
              <a:rPr sz="1600">
                <a:solidFill>
                  <a:srgbClr val="D4D4D4"/>
                </a:solidFill>
                <a:latin typeface="Consolas"/>
              </a:rPr>
              <a:t> xmm2, [r8+</a:t>
            </a:r>
            <a:r>
              <a:rPr sz="1600">
                <a:solidFill>
                  <a:srgbClr val="B5CEA8"/>
                </a:solidFill>
                <a:latin typeface="Consolas"/>
              </a:rPr>
              <a:t>16</a:t>
            </a:r>
            <a:r>
              <a:rPr sz="1600">
                <a:solidFill>
                  <a:srgbClr val="D4D4D4"/>
                </a:solidFill>
                <a:latin typeface="Consolas"/>
              </a:rPr>
              <a:t>]       </a:t>
            </a:r>
            <a:r>
              <a:rPr sz="1600">
                <a:solidFill>
                  <a:srgbClr val="6A9955"/>
                </a:solidFill>
                <a:latin typeface="Consolas"/>
              </a:rPr>
              <a:t>; x1-x2-L0</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xmm1, xmm2          </a:t>
            </a:r>
            <a:r>
              <a:rPr sz="1600">
                <a:solidFill>
                  <a:srgbClr val="6A9955"/>
                </a:solidFill>
                <a:latin typeface="Consolas"/>
              </a:rPr>
              <a:t>; PE terms</a:t>
            </a:r>
          </a:p>
          <a:p>
            <a:pPr>
              <a:spcAft>
                <a:spcPts val="100"/>
              </a:spcAft>
            </a:pPr>
            <a:r>
              <a:rPr sz="1600">
                <a:solidFill>
                  <a:srgbClr val="D4D4D4"/>
                </a:solidFill>
                <a:latin typeface="Consolas"/>
              </a:rPr>
              <a:t>    </a:t>
            </a:r>
            <a:r>
              <a:rPr sz="1600">
                <a:solidFill>
                  <a:srgbClr val="DCDCAA"/>
                </a:solidFill>
                <a:latin typeface="Consolas"/>
              </a:rPr>
              <a:t>addsd</a:t>
            </a:r>
            <a:r>
              <a:rPr sz="1600">
                <a:solidFill>
                  <a:srgbClr val="D4D4D4"/>
                </a:solidFill>
                <a:latin typeface="Consolas"/>
              </a:rPr>
              <a:t> xmm0, xmm3</a:t>
            </a:r>
          </a:p>
          <a:p>
            <a:pPr>
              <a:spcAft>
                <a:spcPts val="100"/>
              </a:spcAft>
            </a:pPr>
            <a:r>
              <a:rPr sz="1600">
                <a:solidFill>
                  <a:srgbClr val="D4D4D4"/>
                </a:solidFill>
                <a:latin typeface="Consolas"/>
              </a:rPr>
              <a:t>    </a:t>
            </a:r>
            <a:r>
              <a:rPr sz="1600">
                <a:solidFill>
                  <a:srgbClr val="DCDCAA"/>
                </a:solidFill>
                <a:latin typeface="Consolas"/>
              </a:rPr>
              <a:t>addsd</a:t>
            </a:r>
            <a:r>
              <a:rPr sz="1600">
                <a:solidFill>
                  <a:srgbClr val="D4D4D4"/>
                </a:solidFill>
                <a:latin typeface="Consolas"/>
              </a:rPr>
              <a:t> xmm0, xmm1          </a:t>
            </a:r>
            <a:r>
              <a:rPr sz="1600">
                <a:solidFill>
                  <a:srgbClr val="6A9955"/>
                </a:solidFill>
                <a:latin typeface="Consolas"/>
              </a:rPr>
              <a:t>; KE1+KE2+PE</a:t>
            </a:r>
          </a:p>
          <a:p>
            <a:pPr>
              <a:spcAft>
                <a:spcPts val="100"/>
              </a:spcAft>
            </a:pPr>
            <a:r>
              <a:rPr sz="1600">
                <a:solidFill>
                  <a:srgbClr val="D4D4D4"/>
                </a:solidFill>
                <a:latin typeface="Consolas"/>
              </a:rPr>
              <a:t>    </a:t>
            </a:r>
            <a:r>
              <a:rPr sz="1600">
                <a:solidFill>
                  <a:srgbClr val="DCDCAA"/>
                </a:solidFill>
                <a:latin typeface="Consolas"/>
              </a:rPr>
              <a:t>ret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29</a:t>
            </a:r>
          </a:p>
        </p:txBody>
      </p:sp>
      <p:sp>
        <p:nvSpPr>
          <p:cNvPr id="9" name="asm takeaway"/>
          <p:cNvSpPr txBox="1"/>
          <p:nvPr/>
        </p:nvSpPr>
        <p:spPr>
          <a:xfrm>
            <a:off x="731520" y="5678423"/>
            <a:ext cx="10972800" cy="548640"/>
          </a:xfrm>
          <a:prstGeom prst="rect">
            <a:avLst/>
          </a:prstGeom>
          <a:noFill/>
        </p:spPr>
        <p:txBody>
          <a:bodyPr wrap="none">
            <a:spAutoFit/>
          </a:bodyPr>
          <a:lstStyle/>
          <a:p>
            <a:r>
              <a:rPr sz="1900" i="1">
                <a:solidFill>
                  <a:srgbClr val="7EE08A"/>
                </a:solidFill>
                <a:latin typeface="Segoe UI"/>
              </a:rPr>
              <a:t>0 calls · 0 jumps · 0 vtables — straight-line FP, the same shape as the hand-written formula.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G++ 14 -O2, REAL OUTPUT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…and the derivative? Same story.</a:t>
            </a:r>
          </a:p>
        </p:txBody>
      </p:sp>
      <p:sp>
        <p:nvSpPr>
          <p:cNvPr id="4" name="Rounded Rectangle 3"/>
          <p:cNvSpPr/>
          <p:nvPr/>
        </p:nvSpPr>
        <p:spPr>
          <a:xfrm>
            <a:off x="548640" y="1280160"/>
            <a:ext cx="11338560" cy="4425696"/>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463040"/>
            <a:ext cx="10972800" cy="4059936"/>
          </a:xfrm>
          <a:prstGeom prst="rect">
            <a:avLst/>
          </a:prstGeom>
          <a:noFill/>
        </p:spPr>
        <p:txBody>
          <a:bodyPr wrap="none">
            <a:spAutoFit/>
          </a:bodyPr>
          <a:lstStyle/>
          <a:p>
            <a:pPr>
              <a:spcAft>
                <a:spcPts val="100"/>
              </a:spcAft>
            </a:pPr>
            <a:r>
              <a:rPr sz="1600">
                <a:solidFill>
                  <a:srgbClr val="D4D4D4"/>
                </a:solidFill>
                <a:latin typeface="Consolas"/>
              </a:rPr>
              <a:t>mass1_derivative(...):            </a:t>
            </a:r>
            <a:r>
              <a:rPr sz="1600">
                <a:solidFill>
                  <a:srgbClr val="6A9955"/>
                </a:solidFill>
                <a:latin typeface="Consolas"/>
              </a:rPr>
              <a:t>; returns { dx/dt , dv/dt }</a:t>
            </a:r>
          </a:p>
          <a:p>
            <a:pPr>
              <a:spcAft>
                <a:spcPts val="100"/>
              </a:spcAft>
            </a:pPr>
            <a:r>
              <a:rPr sz="1600">
                <a:solidFill>
                  <a:srgbClr val="D4D4D4"/>
                </a:solidFill>
                <a:latin typeface="Consolas"/>
              </a:rPr>
              <a:t>    mov   r9,  [sys+112]          </a:t>
            </a:r>
            <a:r>
              <a:rPr sz="1600">
                <a:solidFill>
                  <a:srgbClr val="6A9955"/>
                </a:solidFill>
                <a:latin typeface="Consolas"/>
              </a:rPr>
              <a:t>; spring component</a:t>
            </a:r>
          </a:p>
          <a:p>
            <a:pPr>
              <a:spcAft>
                <a:spcPts val="100"/>
              </a:spcAft>
            </a:pPr>
            <a:r>
              <a:rPr sz="1600">
                <a:solidFill>
                  <a:srgbClr val="D4D4D4"/>
                </a:solidFill>
                <a:latin typeface="Consolas"/>
              </a:rPr>
              <a:t>    mov   r10, [sys+128]          </a:t>
            </a:r>
            <a:r>
              <a:rPr sz="1600">
                <a:solidFill>
                  <a:srgbClr val="6A9955"/>
                </a:solidFill>
                <a:latin typeface="Consolas"/>
              </a:rPr>
              <a:t>; mass1 component</a:t>
            </a:r>
          </a:p>
          <a:p>
            <a:pPr>
              <a:spcAft>
                <a:spcPts val="100"/>
              </a:spcAft>
            </a:pPr>
            <a:r>
              <a:rPr sz="1600">
                <a:solidFill>
                  <a:srgbClr val="D4D4D4"/>
                </a:solidFill>
                <a:latin typeface="Consolas"/>
              </a:rPr>
              <a:t>    movsd xmm2, [r9+8]            </a:t>
            </a:r>
            <a:r>
              <a:rPr sz="1600">
                <a:solidFill>
                  <a:srgbClr val="6A9955"/>
                </a:solidFill>
                <a:latin typeface="Consolas"/>
              </a:rPr>
              <a:t>; stiffness k, negated -&gt; -k</a:t>
            </a:r>
          </a:p>
          <a:p>
            <a:pPr>
              <a:spcAft>
                <a:spcPts val="100"/>
              </a:spcAft>
            </a:pPr>
            <a:r>
              <a:rPr sz="1600">
                <a:solidFill>
                  <a:srgbClr val="D4D4D4"/>
                </a:solidFill>
                <a:latin typeface="Consolas"/>
              </a:rPr>
              <a:t>    xorpd xmm2, [.LC0]</a:t>
            </a:r>
          </a:p>
          <a:p>
            <a:pPr>
              <a:spcAft>
                <a:spcPts val="100"/>
              </a:spcAft>
            </a:pPr>
            <a:r>
              <a:rPr sz="1600">
                <a:solidFill>
                  <a:srgbClr val="D4D4D4"/>
                </a:solidFill>
                <a:latin typeface="Consolas"/>
              </a:rPr>
              <a:t>    movsd xmm0, [r8+rcx*8]        </a:t>
            </a:r>
            <a:r>
              <a:rPr sz="1600">
                <a:solidFill>
                  <a:srgbClr val="6A9955"/>
                </a:solidFill>
                <a:latin typeface="Consolas"/>
              </a:rPr>
              <a:t>; x1</a:t>
            </a:r>
          </a:p>
          <a:p>
            <a:pPr>
              <a:spcAft>
                <a:spcPts val="100"/>
              </a:spcAft>
            </a:pPr>
            <a:r>
              <a:rPr sz="1600">
                <a:solidFill>
                  <a:srgbClr val="D4D4D4"/>
                </a:solidFill>
                <a:latin typeface="Consolas"/>
              </a:rPr>
              <a:t>    subsd xmm0, [r8+rdx*8]        </a:t>
            </a:r>
            <a:r>
              <a:rPr sz="1600">
                <a:solidFill>
                  <a:srgbClr val="6A9955"/>
                </a:solidFill>
                <a:latin typeface="Consolas"/>
              </a:rPr>
              <a:t>;   - x2</a:t>
            </a:r>
          </a:p>
          <a:p>
            <a:pPr>
              <a:spcAft>
                <a:spcPts val="100"/>
              </a:spcAft>
            </a:pPr>
            <a:r>
              <a:rPr sz="1600">
                <a:solidFill>
                  <a:srgbClr val="D4D4D4"/>
                </a:solidFill>
                <a:latin typeface="Consolas"/>
              </a:rPr>
              <a:t>    subsd xmm0, [r9+16]           </a:t>
            </a:r>
            <a:r>
              <a:rPr sz="1600">
                <a:solidFill>
                  <a:srgbClr val="6A9955"/>
                </a:solidFill>
                <a:latin typeface="Consolas"/>
              </a:rPr>
              <a:t>;   - L0       -&gt; extension</a:t>
            </a:r>
          </a:p>
          <a:p>
            <a:pPr>
              <a:spcAft>
                <a:spcPts val="100"/>
              </a:spcAft>
            </a:pPr>
            <a:r>
              <a:rPr sz="1600">
                <a:solidFill>
                  <a:srgbClr val="D4D4D4"/>
                </a:solidFill>
                <a:latin typeface="Consolas"/>
              </a:rPr>
              <a:t>    movsd xmm1, [r8+rcx*8]        </a:t>
            </a:r>
            <a:r>
              <a:rPr sz="1600">
                <a:solidFill>
                  <a:srgbClr val="6A9955"/>
                </a:solidFill>
                <a:latin typeface="Consolas"/>
              </a:rPr>
              <a:t>; v1           (= dx/dt)</a:t>
            </a:r>
          </a:p>
          <a:p>
            <a:pPr>
              <a:spcAft>
                <a:spcPts val="100"/>
              </a:spcAft>
            </a:pPr>
            <a:r>
              <a:rPr sz="1600">
                <a:solidFill>
                  <a:srgbClr val="D4D4D4"/>
                </a:solidFill>
                <a:latin typeface="Consolas"/>
              </a:rPr>
              <a:t>    mulsd xmm0, xmm2              </a:t>
            </a:r>
            <a:r>
              <a:rPr sz="1600">
                <a:solidFill>
                  <a:srgbClr val="6A9955"/>
                </a:solidFill>
                <a:latin typeface="Consolas"/>
              </a:rPr>
              <a:t>; -k * extension   (spring force)</a:t>
            </a:r>
          </a:p>
          <a:p>
            <a:pPr>
              <a:spcAft>
                <a:spcPts val="100"/>
              </a:spcAft>
            </a:pPr>
            <a:r>
              <a:rPr sz="1600">
                <a:solidFill>
                  <a:srgbClr val="D4D4D4"/>
                </a:solidFill>
                <a:latin typeface="Consolas"/>
              </a:rPr>
              <a:t>    comisd xmm3, 0               </a:t>
            </a:r>
            <a:r>
              <a:rPr sz="1600">
                <a:solidFill>
                  <a:srgbClr val="6A9955"/>
                </a:solidFill>
                <a:latin typeface="Consolas"/>
              </a:rPr>
              <a:t>; if (damping &gt; 0)  - c == 0, so</a:t>
            </a:r>
          </a:p>
          <a:p>
            <a:pPr>
              <a:spcAft>
                <a:spcPts val="100"/>
              </a:spcAft>
            </a:pPr>
            <a:r>
              <a:rPr sz="1600">
                <a:solidFill>
                  <a:srgbClr val="D4D4D4"/>
                </a:solidFill>
                <a:latin typeface="Consolas"/>
              </a:rPr>
              <a:t>    jbe   .Lskip                 </a:t>
            </a:r>
            <a:r>
              <a:rPr sz="1600">
                <a:solidFill>
                  <a:srgbClr val="6A9955"/>
                </a:solidFill>
                <a:latin typeface="Consolas"/>
              </a:rPr>
              <a:t>;   the branch is skipped</a:t>
            </a:r>
          </a:p>
          <a:p>
            <a:pPr>
              <a:spcAft>
                <a:spcPts val="100"/>
              </a:spcAft>
            </a:pPr>
            <a:r>
              <a:rPr sz="1600">
                <a:solidFill>
                  <a:srgbClr val="D4D4D4"/>
                </a:solidFill>
                <a:latin typeface="Consolas"/>
              </a:rPr>
              <a:t>    divsd xmm0, [r10+8]          </a:t>
            </a:r>
            <a:r>
              <a:rPr sz="1600">
                <a:solidFill>
                  <a:srgbClr val="6A9955"/>
                </a:solidFill>
                <a:latin typeface="Consolas"/>
              </a:rPr>
              <a:t>; force / m1   (= dv/dt)</a:t>
            </a:r>
          </a:p>
          <a:p>
            <a:pPr>
              <a:spcAft>
                <a:spcPts val="100"/>
              </a:spcAft>
            </a:pPr>
            <a:r>
              <a:rPr sz="1600">
                <a:solidFill>
                  <a:srgbClr val="D4D4D4"/>
                </a:solidFill>
                <a:latin typeface="Consolas"/>
              </a:rPr>
              <a:t>    unpcklpd xmm1, xmm0          </a:t>
            </a:r>
            <a:r>
              <a:rPr sz="1600">
                <a:solidFill>
                  <a:srgbClr val="6A9955"/>
                </a:solidFill>
                <a:latin typeface="Consolas"/>
              </a:rPr>
              <a:t>; pack { v1, a1 }</a:t>
            </a:r>
          </a:p>
          <a:p>
            <a:pPr>
              <a:spcAft>
                <a:spcPts val="100"/>
              </a:spcAft>
            </a:pPr>
            <a:r>
              <a:rPr sz="1600">
                <a:solidFill>
                  <a:srgbClr val="D4D4D4"/>
                </a:solidFill>
                <a:latin typeface="Consolas"/>
              </a:rPr>
              <a:t>    movups [rax], xmm1</a:t>
            </a:r>
          </a:p>
          <a:p>
            <a:pPr>
              <a:spcAft>
                <a:spcPts val="100"/>
              </a:spcAft>
            </a:pPr>
            <a:r>
              <a:rPr sz="1600">
                <a:solidFill>
                  <a:srgbClr val="D4D4D4"/>
                </a:solidFill>
                <a:latin typeface="Consolas"/>
              </a:rPr>
              <a:t>    ret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30</a:t>
            </a:r>
          </a:p>
        </p:txBody>
      </p:sp>
      <p:sp>
        <p:nvSpPr>
          <p:cNvPr id="9" name="asm takeaway"/>
          <p:cNvSpPr txBox="1"/>
          <p:nvPr/>
        </p:nvSpPr>
        <p:spPr>
          <a:xfrm>
            <a:off x="731520" y="5833872"/>
            <a:ext cx="11155680" cy="548640"/>
          </a:xfrm>
          <a:prstGeom prst="rect">
            <a:avLst/>
          </a:prstGeom>
          <a:noFill/>
        </p:spPr>
        <p:txBody>
          <a:bodyPr wrap="none">
            <a:spAutoFit/>
          </a:bodyPr>
          <a:lstStyle/>
          <a:p>
            <a:r>
              <a:rPr sz="1900" i="1">
                <a:solidFill>
                  <a:srgbClr val="7EE08A"/>
                </a:solidFill>
                <a:latin typeface="Segoe UI"/>
              </a:rPr>
              <a:t>the whole query chain — spring force, then ÷ mass — is ~15 instructions, no calls.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MEASURED, NOT ESTIMATED</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Numbers</a:t>
            </a:r>
          </a:p>
        </p:txBody>
      </p:sp>
      <p:sp>
        <p:nvSpPr>
          <p:cNvPr id="4" name="TextBox 3"/>
          <p:cNvSpPr txBox="1"/>
          <p:nvPr/>
        </p:nvSpPr>
        <p:spPr>
          <a:xfrm>
            <a:off x="914400" y="1828800"/>
            <a:ext cx="10515600" cy="1188720"/>
          </a:xfrm>
          <a:prstGeom prst="rect">
            <a:avLst/>
          </a:prstGeom>
          <a:noFill/>
        </p:spPr>
        <p:txBody>
          <a:bodyPr wrap="none">
            <a:spAutoFit/>
          </a:bodyPr>
          <a:lstStyle/>
          <a:p>
            <a:r>
              <a:rPr sz="4000" b="1">
                <a:solidFill>
                  <a:srgbClr val="35C4E8"/>
                </a:solidFill>
                <a:latin typeface="Segoe UI"/>
              </a:rPr>
              <a:t>~1 ns</a:t>
            </a:r>
            <a:r>
              <a:rPr sz="2000">
                <a:solidFill>
                  <a:srgbClr val="D8E2EC"/>
                </a:solidFill>
                <a:latin typeface="Segoe UI"/>
              </a:rPr>
              <a:t>   per state-function query — fully inlined</a:t>
            </a:r>
          </a:p>
        </p:txBody>
      </p:sp>
      <p:sp>
        <p:nvSpPr>
          <p:cNvPr id="5" name="TextBox 4"/>
          <p:cNvSpPr txBox="1"/>
          <p:nvPr/>
        </p:nvSpPr>
        <p:spPr>
          <a:xfrm>
            <a:off x="914400" y="3154680"/>
            <a:ext cx="10515600" cy="1188720"/>
          </a:xfrm>
          <a:prstGeom prst="rect">
            <a:avLst/>
          </a:prstGeom>
          <a:noFill/>
        </p:spPr>
        <p:txBody>
          <a:bodyPr wrap="none">
            <a:spAutoFit/>
          </a:bodyPr>
          <a:lstStyle/>
          <a:p>
            <a:r>
              <a:rPr sz="4000" b="1">
                <a:solidFill>
                  <a:srgbClr val="F2C744"/>
                </a:solidFill>
                <a:latin typeface="Segoe UI"/>
              </a:rPr>
              <a:t>16.7 ms</a:t>
            </a:r>
            <a:r>
              <a:rPr sz="2000">
                <a:solidFill>
                  <a:srgbClr val="D8E2EC"/>
                </a:solidFill>
                <a:latin typeface="Segoe UI"/>
              </a:rPr>
              <a:t>   20 001 RK4 steps of the 4-component oscillator (laptop, -O2)</a:t>
            </a:r>
          </a:p>
        </p:txBody>
      </p:sp>
      <p:sp>
        <p:nvSpPr>
          <p:cNvPr id="6" name="TextBox 5"/>
          <p:cNvSpPr txBox="1"/>
          <p:nvPr/>
        </p:nvSpPr>
        <p:spPr>
          <a:xfrm>
            <a:off x="914400" y="4480560"/>
            <a:ext cx="3927550" cy="400110"/>
          </a:xfrm>
          <a:prstGeom prst="rect">
            <a:avLst/>
          </a:prstGeom>
          <a:noFill/>
        </p:spPr>
        <p:txBody>
          <a:bodyPr wrap="none">
            <a:spAutoFit/>
          </a:bodyPr>
          <a:lstStyle/>
          <a:p>
            <a:r>
              <a:rPr sz="4000" b="1">
                <a:solidFill>
                  <a:srgbClr val="7EE08A"/>
                </a:solidFill>
                <a:latin typeface="Segoe UI"/>
              </a:rPr>
              <a:t>1000×</a:t>
            </a:r>
            <a:r>
              <a:rPr sz="2000" b="0">
                <a:solidFill>
                  <a:srgbClr val="D8E2EC"/>
                </a:solidFill>
                <a:latin typeface="Segoe UI"/>
              </a:rPr>
              <a:t>   faster than an equivalent OO C# version</a:t>
            </a:r>
            <a:endParaRPr sz="2000" dirty="0">
              <a:solidFill>
                <a:srgbClr val="D8E2EC"/>
              </a:solidFill>
              <a:latin typeface="Segoe UI"/>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FROM THE HANDWRITTEN PLAN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Why C++20 — and not C++26?</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1">
                <a:solidFill>
                  <a:srgbClr val="FFFFFF"/>
                </a:solidFill>
                <a:latin typeface="Segoe UI"/>
              </a:rPr>
              <a:t>Everything here needs only C++20:</a:t>
            </a:r>
          </a:p>
          <a:p>
            <a:pPr lvl="1">
              <a:spcBef>
                <a:spcPts val="0"/>
              </a:spcBef>
              <a:spcAft>
                <a:spcPts val="800"/>
              </a:spcAft>
            </a:pPr>
            <a:r>
              <a:rPr sz="1900">
                <a:solidFill>
                  <a:srgbClr val="8CA3B8"/>
                </a:solidFill>
                <a:latin typeface="Segoe UI"/>
              </a:rPr>
              <a:t>–  </a:t>
            </a:r>
            <a:r>
              <a:rPr sz="1900" b="0">
                <a:solidFill>
                  <a:srgbClr val="D8E2EC"/>
                </a:solidFill>
                <a:latin typeface="Segoe UI"/>
              </a:rPr>
              <a:t>concepts (the diagnostics!), fold expressions, std::span, CTAD</a:t>
            </a:r>
          </a:p>
          <a:p>
            <a:pPr>
              <a:spcAft>
                <a:spcPts val="800"/>
              </a:spcAft>
            </a:pPr>
            <a:r>
              <a:rPr sz="2100">
                <a:solidFill>
                  <a:srgbClr val="35C4E8"/>
                </a:solidFill>
                <a:latin typeface="Segoe UI"/>
              </a:rPr>
              <a:t>•  </a:t>
            </a:r>
            <a:r>
              <a:rPr sz="2100" b="1">
                <a:solidFill>
                  <a:srgbClr val="FFFFFF"/>
                </a:solidFill>
                <a:latin typeface="Segoe UI"/>
              </a:rPr>
              <a:t>C++26 reflection (P2996) would remove the remaining boilerplate:</a:t>
            </a:r>
          </a:p>
          <a:p>
            <a:pPr lvl="1">
              <a:spcBef>
                <a:spcPts val="0"/>
              </a:spcBef>
              <a:spcAft>
                <a:spcPts val="800"/>
              </a:spcAft>
            </a:pPr>
            <a:r>
              <a:rPr sz="1900">
                <a:solidFill>
                  <a:srgbClr val="8CA3B8"/>
                </a:solidFill>
                <a:latin typeface="Segoe UI"/>
              </a:rPr>
              <a:t>–  </a:t>
            </a:r>
            <a:r>
              <a:rPr sz="1900" b="0">
                <a:solidFill>
                  <a:srgbClr val="D8E2EC"/>
                </a:solidFill>
                <a:latin typeface="Segoe UI"/>
              </a:rPr>
              <a:t>tag declarations and compute() registration could be generated</a:t>
            </a:r>
          </a:p>
          <a:p>
            <a:pPr lvl="1">
              <a:spcBef>
                <a:spcPts val="0"/>
              </a:spcBef>
              <a:spcAft>
                <a:spcPts val="800"/>
              </a:spcAft>
            </a:pPr>
            <a:r>
              <a:rPr sz="1900">
                <a:solidFill>
                  <a:srgbClr val="8CA3B8"/>
                </a:solidFill>
                <a:latin typeface="Segoe UI"/>
              </a:rPr>
              <a:t>–  </a:t>
            </a:r>
            <a:r>
              <a:rPr sz="1900" b="0">
                <a:solidFill>
                  <a:srgbClr val="D8E2EC"/>
                </a:solidFill>
                <a:latin typeface="Segoe UI"/>
              </a:rPr>
              <a:t>we have working experiments in the repo: </a:t>
            </a:r>
            <a:r>
              <a:rPr sz="1900" b="0">
                <a:solidFill>
                  <a:srgbClr val="35C4E8"/>
                </a:solidFill>
                <a:latin typeface="Segoe UI"/>
              </a:rPr>
              <a:t>reflect/</a:t>
            </a:r>
          </a:p>
          <a:p>
            <a:pPr>
              <a:spcAft>
                <a:spcPts val="800"/>
              </a:spcAft>
            </a:pPr>
            <a:r>
              <a:rPr sz="2100">
                <a:solidFill>
                  <a:srgbClr val="35C4E8"/>
                </a:solidFill>
                <a:latin typeface="Segoe UI"/>
              </a:rPr>
              <a:t>•  </a:t>
            </a:r>
            <a:r>
              <a:rPr sz="2100" b="0">
                <a:solidFill>
                  <a:srgbClr val="FFFFFF"/>
                </a:solidFill>
                <a:latin typeface="Segoe UI"/>
              </a:rPr>
              <a:t>But flight software ships on the toolchain you have, </a:t>
            </a:r>
            <a:r>
              <a:rPr sz="2100" b="1">
                <a:solidFill>
                  <a:srgbClr val="F2C744"/>
                </a:solidFill>
                <a:latin typeface="Segoe UI"/>
              </a:rPr>
              <a:t>not the one you want</a:t>
            </a:r>
          </a:p>
          <a:p>
            <a:pPr lvl="1">
              <a:spcBef>
                <a:spcPts val="0"/>
              </a:spcBef>
              <a:spcAft>
                <a:spcPts val="800"/>
              </a:spcAft>
            </a:pPr>
            <a:r>
              <a:rPr sz="1900">
                <a:solidFill>
                  <a:srgbClr val="8CA3B8"/>
                </a:solidFill>
                <a:latin typeface="Segoe UI"/>
              </a:rPr>
              <a:t>–  </a:t>
            </a:r>
            <a:r>
              <a:rPr sz="1900" b="0">
                <a:solidFill>
                  <a:srgbClr val="D8E2EC"/>
                </a:solidFill>
                <a:latin typeface="Segoe UI"/>
              </a:rPr>
              <a:t>embedded / cross targets lag years behind; certification lags more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07</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Where It Scales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From two masses to a flying vehicle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PRODUCTION, NOT PROMO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Same pattern, real vehicle: 6-DOF rocket</a:t>
            </a:r>
          </a:p>
        </p:txBody>
      </p:sp>
      <p:sp>
        <p:nvSpPr>
          <p:cNvPr id="4" name="Rounded Rectangle 3"/>
          <p:cNvSpPr/>
          <p:nvPr/>
        </p:nvSpPr>
        <p:spPr>
          <a:xfrm>
            <a:off x="640080" y="16459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StandardAtmosphere</a:t>
            </a:r>
          </a:p>
        </p:txBody>
      </p:sp>
      <p:sp>
        <p:nvSpPr>
          <p:cNvPr id="5" name="Rounded Rectangle 4"/>
          <p:cNvSpPr/>
          <p:nvPr/>
        </p:nvSpPr>
        <p:spPr>
          <a:xfrm>
            <a:off x="640080" y="246888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AxisymmetricAero</a:t>
            </a:r>
          </a:p>
        </p:txBody>
      </p:sp>
      <p:sp>
        <p:nvSpPr>
          <p:cNvPr id="6" name="Rounded Rectangle 5"/>
          <p:cNvSpPr/>
          <p:nvPr/>
        </p:nvSpPr>
        <p:spPr>
          <a:xfrm>
            <a:off x="640080" y="329184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InterpolatedEngine</a:t>
            </a:r>
          </a:p>
        </p:txBody>
      </p:sp>
      <p:sp>
        <p:nvSpPr>
          <p:cNvPr id="7" name="Rounded Rectangle 6"/>
          <p:cNvSpPr/>
          <p:nvPr/>
        </p:nvSpPr>
        <p:spPr>
          <a:xfrm>
            <a:off x="640080" y="41148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Gravity</a:t>
            </a:r>
          </a:p>
        </p:txBody>
      </p:sp>
      <p:sp>
        <p:nvSpPr>
          <p:cNvPr id="8" name="Rounded Rectangle 7"/>
          <p:cNvSpPr/>
          <p:nvPr/>
        </p:nvSpPr>
        <p:spPr>
          <a:xfrm>
            <a:off x="420624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2C744"/>
                </a:solidFill>
                <a:latin typeface="Segoe UI"/>
              </a:rPr>
              <a:t>ForceAggregator</a:t>
            </a:r>
          </a:p>
        </p:txBody>
      </p:sp>
      <p:sp>
        <p:nvSpPr>
          <p:cNvPr id="9" name="Rounded Rectangle 8"/>
          <p:cNvSpPr/>
          <p:nvPr/>
        </p:nvSpPr>
        <p:spPr>
          <a:xfrm>
            <a:off x="7589520" y="20574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TranslationDynamics</a:t>
            </a:r>
          </a:p>
        </p:txBody>
      </p:sp>
      <p:sp>
        <p:nvSpPr>
          <p:cNvPr id="10" name="Rounded Rectangle 9"/>
          <p:cNvSpPr/>
          <p:nvPr/>
        </p:nvSpPr>
        <p:spPr>
          <a:xfrm>
            <a:off x="758952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RotationDynamics</a:t>
            </a:r>
          </a:p>
        </p:txBody>
      </p:sp>
      <p:sp>
        <p:nvSpPr>
          <p:cNvPr id="11" name="Rounded Rectangle 10"/>
          <p:cNvSpPr/>
          <p:nvPr/>
        </p:nvSpPr>
        <p:spPr>
          <a:xfrm>
            <a:off x="7589520" y="37033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RocketBody (mass, I)</a:t>
            </a:r>
          </a:p>
        </p:txBody>
      </p:sp>
      <p:cxnSp>
        <p:nvCxnSpPr>
          <p:cNvPr id="12" name="Connector 11"/>
          <p:cNvCxnSpPr/>
          <p:nvPr/>
        </p:nvCxnSpPr>
        <p:spPr>
          <a:xfrm>
            <a:off x="3566160" y="278892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566160" y="329184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7132320" y="2468880"/>
            <a:ext cx="457200" cy="73152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132320" y="3200400"/>
            <a:ext cx="45720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48640" y="5120640"/>
            <a:ext cx="1106424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F2C744"/>
                </a:solidFill>
                <a:latin typeface="Segoe UI"/>
              </a:rPr>
              <a:t>11 components, 14 states</a:t>
            </a:r>
            <a:r>
              <a:rPr sz="1800" b="0">
                <a:solidFill>
                  <a:srgbClr val="D8E2EC"/>
                </a:solidFill>
                <a:latin typeface="Segoe UI"/>
              </a:rPr>
              <a:t> — position, velocity, quaternion, angular rate, mass</a:t>
            </a:r>
          </a:p>
          <a:p>
            <a:pPr>
              <a:spcAft>
                <a:spcPts val="800"/>
              </a:spcAft>
            </a:pPr>
            <a:r>
              <a:rPr sz="1800">
                <a:solidFill>
                  <a:srgbClr val="35C4E8"/>
                </a:solidFill>
                <a:latin typeface="Segoe UI"/>
              </a:rPr>
              <a:t>•  </a:t>
            </a:r>
            <a:r>
              <a:rPr sz="1800" b="0">
                <a:solidFill>
                  <a:srgbClr val="D8E2EC"/>
                </a:solidFill>
                <a:latin typeface="Segoe UI"/>
              </a:rPr>
              <a:t>Thrust vector control &amp; attitude determination: same tags-and-registry architecture</a:t>
            </a:r>
          </a:p>
          <a:p>
            <a:pPr>
              <a:spcAft>
                <a:spcPts val="800"/>
              </a:spcAft>
            </a:pPr>
            <a:r>
              <a:rPr sz="1800">
                <a:solidFill>
                  <a:srgbClr val="35C4E8"/>
                </a:solidFill>
                <a:latin typeface="Segoe UI"/>
              </a:rPr>
              <a:t>•  </a:t>
            </a:r>
            <a:r>
              <a:rPr sz="1800" b="1">
                <a:solidFill>
                  <a:srgbClr val="FFFFFF"/>
                </a:solidFill>
                <a:latin typeface="Segoe UI"/>
              </a:rPr>
              <a:t>These patterns run in production flight software</a:t>
            </a:r>
            <a:r>
              <a:rPr sz="1800" b="0">
                <a:solidFill>
                  <a:srgbClr val="D8E2EC"/>
                </a:solidFill>
                <a:latin typeface="Segoe UI"/>
              </a:rPr>
              <a:t> — correctness and performance both non-negotiable</a:t>
            </a:r>
          </a:p>
        </p:txBody>
      </p:sp>
      <p:sp>
        <p:nvSpPr>
          <p:cNvPr id="17" name="TextBox 1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8" name="TextBox 1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WE PLANTED T EVERYWHERE — PAYOFF</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Bonus: the scalar is a template parameter</a:t>
            </a:r>
          </a:p>
        </p:txBody>
      </p:sp>
      <p:sp>
        <p:nvSpPr>
          <p:cNvPr id="4" name="Rounded Rectangle 3"/>
          <p:cNvSpPr/>
          <p:nvPr/>
        </p:nvSpPr>
        <p:spPr>
          <a:xfrm>
            <a:off x="548640" y="1371600"/>
            <a:ext cx="11338560" cy="3081528"/>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autodiff"/>
          <p:cNvSpPr txBox="1"/>
          <p:nvPr/>
        </p:nvSpPr>
        <p:spPr>
          <a:xfrm>
            <a:off x="731520" y="1554480"/>
            <a:ext cx="10972800" cy="2715768"/>
          </a:xfrm>
          <a:prstGeom prst="rect">
            <a:avLst/>
          </a:prstGeom>
          <a:noFill/>
        </p:spPr>
        <p:txBody>
          <a:bodyPr wrap="none">
            <a:spAutoFit/>
          </a:bodyPr>
          <a:lstStyle/>
          <a:p>
            <a:pPr>
              <a:spcAft>
                <a:spcPts val="100"/>
              </a:spcAft>
            </a:pPr>
            <a:r>
              <a:rPr sz="1600">
                <a:solidFill>
                  <a:srgbClr val="6A9955"/>
                </a:solidFill>
                <a:latin typeface="Consolas"/>
              </a:rPr>
              <a:t>// simulate:</a:t>
            </a:r>
          </a:p>
          <a:p>
            <a:pPr>
              <a:spcAft>
                <a:spcPts val="100"/>
              </a:spcAft>
            </a:pPr>
            <a:r>
              <a:rPr sz="1600">
                <a:solidFill>
                  <a:srgbClr val="569CD6"/>
                </a:solidFill>
                <a:latin typeface="Consolas"/>
              </a:rPr>
              <a:t>auto</a:t>
            </a:r>
            <a:r>
              <a:rPr sz="1600">
                <a:solidFill>
                  <a:srgbClr val="D4D4D4"/>
                </a:solidFill>
                <a:latin typeface="Consolas"/>
              </a:rPr>
              <a:t> sim  = makeODESystem&lt;</a:t>
            </a:r>
            <a:r>
              <a:rPr sz="1600">
                <a:solidFill>
                  <a:srgbClr val="4EC9B0"/>
                </a:solidFill>
                <a:latin typeface="Consolas"/>
              </a:rPr>
              <a:t>double</a:t>
            </a:r>
            <a:r>
              <a:rPr sz="1600">
                <a:solidFill>
                  <a:srgbClr val="D4D4D4"/>
                </a:solidFill>
                <a:latin typeface="Consolas"/>
              </a:rPr>
              <a:t>&gt;(comps...);</a:t>
            </a:r>
          </a:p>
          <a:p>
            <a:pPr>
              <a:spcAft>
                <a:spcPts val="100"/>
              </a:spcAft>
            </a:pPr>
            <a:r>
              <a:rPr sz="1600">
                <a:latin typeface="Consolas"/>
              </a:rPr>
              <a:t> </a:t>
            </a:r>
          </a:p>
          <a:p>
            <a:pPr>
              <a:spcAft>
                <a:spcPts val="100"/>
              </a:spcAft>
            </a:pPr>
            <a:r>
              <a:rPr sz="1600">
                <a:solidFill>
                  <a:srgbClr val="6A9955"/>
                </a:solidFill>
                <a:latin typeface="Consolas"/>
              </a:rPr>
              <a:t>// differentiate — SAME components, different scalar:</a:t>
            </a:r>
          </a:p>
          <a:p>
            <a:pPr>
              <a:spcAft>
                <a:spcPts val="100"/>
              </a:spcAft>
            </a:pPr>
            <a:r>
              <a:rPr sz="1600" b="1">
                <a:solidFill>
                  <a:srgbClr val="569CD6"/>
                </a:solidFill>
                <a:latin typeface="Consolas"/>
              </a:rPr>
              <a:t>using</a:t>
            </a:r>
            <a:r>
              <a:rPr sz="1600" b="1">
                <a:solidFill>
                  <a:srgbClr val="D4D4D4"/>
                </a:solidFill>
                <a:latin typeface="Consolas"/>
              </a:rPr>
              <a:t> D = </a:t>
            </a:r>
            <a:r>
              <a:rPr sz="1600" b="1">
                <a:solidFill>
                  <a:srgbClr val="4EC9B0"/>
                </a:solidFill>
                <a:latin typeface="Consolas"/>
              </a:rPr>
              <a:t>Dual</a:t>
            </a:r>
            <a:r>
              <a:rPr sz="1600" b="1">
                <a:solidFill>
                  <a:srgbClr val="D4D4D4"/>
                </a:solidFill>
                <a:latin typeface="Consolas"/>
              </a:rPr>
              <a:t>&lt;</a:t>
            </a:r>
            <a:r>
              <a:rPr sz="1600" b="1">
                <a:solidFill>
                  <a:srgbClr val="4EC9B0"/>
                </a:solidFill>
                <a:latin typeface="Consolas"/>
              </a:rPr>
              <a:t>double</a:t>
            </a:r>
            <a:r>
              <a:rPr sz="1600" b="1">
                <a:solidFill>
                  <a:srgbClr val="D4D4D4"/>
                </a:solidFill>
                <a:latin typeface="Consolas"/>
              </a:rPr>
              <a:t>, </a:t>
            </a:r>
            <a:r>
              <a:rPr sz="1600" b="1">
                <a:solidFill>
                  <a:srgbClr val="B5CEA8"/>
                </a:solidFill>
                <a:latin typeface="Consolas"/>
              </a:rPr>
              <a:t>14</a:t>
            </a:r>
            <a:r>
              <a:rPr sz="1600" b="1">
                <a:solidFill>
                  <a:srgbClr val="D4D4D4"/>
                </a:solidFill>
                <a:latin typeface="Consolas"/>
              </a:rPr>
              <a:t>&gt;;                  </a:t>
            </a:r>
            <a:r>
              <a:rPr sz="1600" b="1">
                <a:solidFill>
                  <a:srgbClr val="6A9955"/>
                </a:solidFill>
                <a:latin typeface="Consolas"/>
              </a:rPr>
              <a:t>// forward-mode autodiff</a:t>
            </a:r>
          </a:p>
          <a:p>
            <a:pPr>
              <a:spcAft>
                <a:spcPts val="100"/>
              </a:spcAft>
            </a:pPr>
            <a:r>
              <a:rPr sz="1600" b="1">
                <a:solidFill>
                  <a:srgbClr val="569CD6"/>
                </a:solidFill>
                <a:latin typeface="Consolas"/>
              </a:rPr>
              <a:t>auto</a:t>
            </a:r>
            <a:r>
              <a:rPr sz="1600" b="1">
                <a:solidFill>
                  <a:srgbClr val="D4D4D4"/>
                </a:solidFill>
                <a:latin typeface="Consolas"/>
              </a:rPr>
              <a:t> grad = makeODESystem&lt;D&gt;(comps...);</a:t>
            </a:r>
          </a:p>
          <a:p>
            <a:pPr>
              <a:spcAft>
                <a:spcPts val="100"/>
              </a:spcAft>
            </a:pPr>
            <a:r>
              <a:rPr sz="1600">
                <a:solidFill>
                  <a:srgbClr val="569CD6"/>
                </a:solidFill>
                <a:latin typeface="Consolas"/>
              </a:rPr>
              <a:t>auto</a:t>
            </a:r>
            <a:r>
              <a:rPr sz="1600">
                <a:solidFill>
                  <a:srgbClr val="D4D4D4"/>
                </a:solidFill>
                <a:latin typeface="Consolas"/>
              </a:rPr>
              <a:t> J    = computeJacobian(grad, t, state); </a:t>
            </a:r>
            <a:r>
              <a:rPr sz="1600">
                <a:solidFill>
                  <a:srgbClr val="6A9955"/>
                </a:solidFill>
                <a:latin typeface="Consolas"/>
              </a:rPr>
              <a:t>// exact, to machine precision</a:t>
            </a:r>
          </a:p>
          <a:p>
            <a:pPr>
              <a:spcAft>
                <a:spcPts val="100"/>
              </a:spcAft>
            </a:pPr>
            <a:r>
              <a:rPr sz="1600">
                <a:latin typeface="Consolas"/>
              </a:rPr>
              <a:t> </a:t>
            </a:r>
          </a:p>
          <a:p>
            <a:pPr>
              <a:spcAft>
                <a:spcPts val="100"/>
              </a:spcAft>
            </a:pPr>
            <a:r>
              <a:rPr sz="1600">
                <a:solidFill>
                  <a:srgbClr val="6A9955"/>
                </a:solidFill>
                <a:latin typeface="Consolas"/>
              </a:rPr>
              <a:t>// linearize -&gt; LQR gain straight from the nonlinear model</a:t>
            </a:r>
          </a:p>
          <a:p>
            <a:pPr>
              <a:spcAft>
                <a:spcPts val="100"/>
              </a:spcAft>
            </a:pPr>
            <a:r>
              <a:rPr sz="1600">
                <a:solidFill>
                  <a:srgbClr val="569CD6"/>
                </a:solidFill>
                <a:latin typeface="Consolas"/>
              </a:rPr>
              <a:t>auto</a:t>
            </a:r>
            <a:r>
              <a:rPr sz="1600">
                <a:solidFill>
                  <a:srgbClr val="D4D4D4"/>
                </a:solidFill>
                <a:latin typeface="Consolas"/>
              </a:rPr>
              <a:t> K = lqr(J.A, J.B, Q, R);</a:t>
            </a:r>
          </a:p>
        </p:txBody>
      </p:sp>
      <p:sp>
        <p:nvSpPr>
          <p:cNvPr id="6" name="TextBox 5"/>
          <p:cNvSpPr txBox="1"/>
          <p:nvPr/>
        </p:nvSpPr>
        <p:spPr>
          <a:xfrm>
            <a:off x="548640" y="4937760"/>
            <a:ext cx="11064240" cy="4572000"/>
          </a:xfrm>
          <a:prstGeom prst="rect">
            <a:avLst/>
          </a:prstGeom>
          <a:noFill/>
        </p:spPr>
        <p:txBody>
          <a:bodyPr wrap="square">
            <a:spAutoFit/>
          </a:bodyPr>
          <a:lstStyle/>
          <a:p>
            <a:pPr>
              <a:spcAft>
                <a:spcPts val="800"/>
              </a:spcAft>
            </a:pPr>
            <a:r>
              <a:rPr sz="1900">
                <a:solidFill>
                  <a:srgbClr val="35C4E8"/>
                </a:solidFill>
                <a:latin typeface="Segoe UI"/>
              </a:rPr>
              <a:t>•  </a:t>
            </a:r>
            <a:r>
              <a:rPr sz="1900" b="1">
                <a:solidFill>
                  <a:srgbClr val="F2C744"/>
                </a:solidFill>
                <a:latin typeface="Segoe UI"/>
              </a:rPr>
              <a:t>Jacobians without hand-derived math or finite differences</a:t>
            </a:r>
          </a:p>
          <a:p>
            <a:pPr>
              <a:spcAft>
                <a:spcPts val="800"/>
              </a:spcAft>
            </a:pPr>
            <a:r>
              <a:rPr sz="1900">
                <a:solidFill>
                  <a:srgbClr val="35C4E8"/>
                </a:solidFill>
                <a:latin typeface="Segoe UI"/>
              </a:rPr>
              <a:t>•  </a:t>
            </a:r>
            <a:r>
              <a:rPr sz="1900" b="0">
                <a:solidFill>
                  <a:srgbClr val="35C4E8"/>
                </a:solidFill>
                <a:latin typeface="Segoe UI"/>
              </a:rPr>
              <a:t>The controller you'll see in a minute was designed exactly this way</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OPEN IDEAS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Can we go further?</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FFFFF"/>
                </a:solidFill>
                <a:latin typeface="Segoe UI"/>
              </a:rPr>
              <a:t>Frames as types</a:t>
            </a:r>
            <a:r>
              <a:rPr sz="2200" b="0">
                <a:solidFill>
                  <a:srgbClr val="D8E2EC"/>
                </a:solidFill>
                <a:latin typeface="Segoe UI"/>
              </a:rPr>
              <a:t> — body vs ENU vs ECEF: mixing them up should be a compile error too</a:t>
            </a:r>
          </a:p>
          <a:p>
            <a:pPr>
              <a:spcAft>
                <a:spcPts val="800"/>
              </a:spcAft>
            </a:pPr>
            <a:r>
              <a:rPr sz="2200">
                <a:solidFill>
                  <a:srgbClr val="35C4E8"/>
                </a:solidFill>
                <a:latin typeface="Segoe UI"/>
              </a:rPr>
              <a:t>•  </a:t>
            </a:r>
            <a:r>
              <a:rPr sz="2200" b="1">
                <a:solidFill>
                  <a:srgbClr val="FFFFFF"/>
                </a:solidFill>
                <a:latin typeface="Segoe UI"/>
              </a:rPr>
              <a:t>Physical laws as concepts</a:t>
            </a:r>
            <a:r>
              <a:rPr sz="2200" b="0">
                <a:solidFill>
                  <a:srgbClr val="D8E2EC"/>
                </a:solidFill>
                <a:latin typeface="Segoe UI"/>
              </a:rPr>
              <a:t> — 'conserves energy', 'action-reaction pair' as checkable contracts</a:t>
            </a:r>
          </a:p>
          <a:p>
            <a:pPr>
              <a:spcAft>
                <a:spcPts val="800"/>
              </a:spcAft>
            </a:pPr>
            <a:r>
              <a:rPr sz="2200">
                <a:solidFill>
                  <a:srgbClr val="35C4E8"/>
                </a:solidFill>
                <a:latin typeface="Segoe UI"/>
              </a:rPr>
              <a:t>•  </a:t>
            </a:r>
            <a:r>
              <a:rPr sz="2200" b="0">
                <a:solidFill>
                  <a:srgbClr val="D8E2EC"/>
                </a:solidFill>
                <a:latin typeface="Segoe UI"/>
              </a:rPr>
              <a:t>Units in the type system — dimensional analysis at compile time</a:t>
            </a:r>
          </a:p>
        </p:txBody>
      </p:sp>
      <p:sp>
        <p:nvSpPr>
          <p:cNvPr id="5" name="TextBox 4"/>
          <p:cNvSpPr txBox="1"/>
          <p:nvPr/>
        </p:nvSpPr>
        <p:spPr>
          <a:xfrm>
            <a:off x="822960" y="4206240"/>
            <a:ext cx="10515600" cy="492443"/>
          </a:xfrm>
          <a:prstGeom prst="rect">
            <a:avLst/>
          </a:prstGeom>
          <a:noFill/>
        </p:spPr>
        <p:txBody>
          <a:bodyPr wrap="square">
            <a:spAutoFit/>
          </a:bodyPr>
          <a:lstStyle/>
          <a:p>
            <a:r>
              <a:rPr sz="2600" b="1" dirty="0">
                <a:solidFill>
                  <a:srgbClr val="F2C744"/>
                </a:solidFill>
                <a:latin typeface="Segoe UI"/>
              </a:rPr>
              <a:t>The goal, all the way down:  a consistent level of abstraction</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We've been here before</a:t>
            </a:r>
          </a:p>
        </p:txBody>
      </p:sp>
      <p:sp>
        <p:nvSpPr>
          <p:cNvPr id="4" name="Rounded Rectangle 3"/>
          <p:cNvSpPr/>
          <p:nvPr/>
        </p:nvSpPr>
        <p:spPr>
          <a:xfrm>
            <a:off x="1097280" y="1737360"/>
            <a:ext cx="9966960" cy="3108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a:solidFill>
                  <a:srgbClr val="8CA3B8"/>
                </a:solidFill>
                <a:latin typeface="Segoe UI"/>
              </a:rPr>
              <a:t>[ PLACEHOLDER — scan of rocket-control code from a classic textbook
(Zipfel / 1960s–90s Fortran, zero modularity) ]</a:t>
            </a:r>
          </a:p>
        </p:txBody>
      </p:sp>
      <p:sp>
        <p:nvSpPr>
          <p:cNvPr id="5" name="TextBox 4"/>
          <p:cNvSpPr txBox="1"/>
          <p:nvPr/>
        </p:nvSpPr>
        <p:spPr>
          <a:xfrm>
            <a:off x="548640" y="5120640"/>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0">
                <a:solidFill>
                  <a:srgbClr val="D8E2EC"/>
                </a:solidFill>
                <a:latin typeface="Segoe UI"/>
              </a:rPr>
              <a:t>Six decades of rocket code — the math was always modular; the code never was</a:t>
            </a:r>
          </a:p>
          <a:p>
            <a:pPr>
              <a:spcAft>
                <a:spcPts val="800"/>
              </a:spcAft>
            </a:pPr>
            <a:r>
              <a:rPr sz="2000">
                <a:solidFill>
                  <a:srgbClr val="35C4E8"/>
                </a:solidFill>
                <a:latin typeface="Segoe UI"/>
              </a:rPr>
              <a:t>•  </a:t>
            </a:r>
            <a:r>
              <a:rPr sz="2000" b="1">
                <a:solidFill>
                  <a:srgbClr val="F2C744"/>
                </a:solidFill>
                <a:latin typeface="Segoe UI"/>
              </a:rPr>
              <a:t>Not because the engineers were careless — because the languages made them choose</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FUN EXAMPLE — LIVE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One more thing: six pendulums on a cart</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2C744"/>
                </a:solidFill>
                <a:latin typeface="Segoe UI"/>
              </a:rPr>
              <a:t>Inverted 6-pendulum chain</a:t>
            </a:r>
            <a:r>
              <a:rPr sz="2200" b="0">
                <a:solidFill>
                  <a:srgbClr val="D8E2EC"/>
                </a:solidFill>
                <a:latin typeface="Segoe UI"/>
              </a:rPr>
              <a:t> balanced on a moving cart — LQR-stabilized</a:t>
            </a:r>
          </a:p>
          <a:p>
            <a:pPr>
              <a:spcAft>
                <a:spcPts val="800"/>
              </a:spcAft>
            </a:pPr>
            <a:r>
              <a:rPr sz="2200">
                <a:solidFill>
                  <a:srgbClr val="35C4E8"/>
                </a:solidFill>
                <a:latin typeface="Segoe UI"/>
              </a:rPr>
              <a:t>•  </a:t>
            </a:r>
            <a:r>
              <a:rPr sz="2200" b="0">
                <a:solidFill>
                  <a:srgbClr val="D8E2EC"/>
                </a:solidFill>
                <a:latin typeface="Segoe UI"/>
              </a:rPr>
              <a:t>Built from the same components, tags and registry you just saw</a:t>
            </a:r>
          </a:p>
          <a:p>
            <a:pPr>
              <a:spcAft>
                <a:spcPts val="800"/>
              </a:spcAft>
            </a:pPr>
            <a:r>
              <a:rPr sz="2200">
                <a:solidFill>
                  <a:srgbClr val="35C4E8"/>
                </a:solidFill>
                <a:latin typeface="Segoe UI"/>
              </a:rPr>
              <a:t>•  </a:t>
            </a:r>
            <a:r>
              <a:rPr sz="2200" b="0">
                <a:solidFill>
                  <a:srgbClr val="D8E2EC"/>
                </a:solidFill>
                <a:latin typeface="Segoe UI"/>
              </a:rPr>
              <a:t>Linearized with </a:t>
            </a:r>
            <a:r>
              <a:rPr sz="2200" b="0">
                <a:solidFill>
                  <a:srgbClr val="35C4E8"/>
                </a:solidFill>
                <a:latin typeface="Segoe UI"/>
              </a:rPr>
              <a:t>Dual&lt;double, N&gt;</a:t>
            </a:r>
            <a:r>
              <a:rPr sz="2200" b="0">
                <a:solidFill>
                  <a:srgbClr val="D8E2EC"/>
                </a:solidFill>
                <a:latin typeface="Segoe UI"/>
              </a:rPr>
              <a:t> — the autodiff Jacobian from two slides ago</a:t>
            </a:r>
          </a:p>
          <a:p>
            <a:pPr>
              <a:spcAft>
                <a:spcPts val="800"/>
              </a:spcAft>
            </a:pPr>
            <a:r>
              <a:rPr sz="2200">
                <a:solidFill>
                  <a:srgbClr val="35C4E8"/>
                </a:solidFill>
                <a:latin typeface="Segoe UI"/>
              </a:rPr>
              <a:t>•  </a:t>
            </a:r>
            <a:r>
              <a:rPr sz="2200" b="0">
                <a:solidFill>
                  <a:srgbClr val="D8E2EC"/>
                </a:solidFill>
                <a:latin typeface="Segoe UI"/>
              </a:rPr>
              <a:t>Same C++20, compiled to WebAssembly, running in your browser right now:</a:t>
            </a:r>
          </a:p>
          <a:p>
            <a:pPr>
              <a:spcAft>
                <a:spcPts val="800"/>
              </a:spcAft>
            </a:pPr>
            <a:r>
              <a:rPr sz="2200" b="1">
                <a:solidFill>
                  <a:srgbClr val="35C4E8"/>
                </a:solidFill>
                <a:latin typeface="Segoe UI"/>
              </a:rPr>
              <a:t>jedrzejmichalczyk.github.io/sopot</a:t>
            </a:r>
          </a:p>
        </p:txBody>
      </p:sp>
      <p:sp>
        <p:nvSpPr>
          <p:cNvPr id="5" name="Rounded Rectangle 4"/>
          <p:cNvSpPr/>
          <p:nvPr/>
        </p:nvSpPr>
        <p:spPr>
          <a:xfrm>
            <a:off x="4023360" y="4846320"/>
            <a:ext cx="4114800" cy="100584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0B1F33"/>
                </a:solidFill>
                <a:latin typeface="Segoe UI"/>
              </a:rPr>
              <a:t>▶  LIVE DEMO</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IF YOU REMEMBER FOUR THINGS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Takeaways</a:t>
            </a:r>
          </a:p>
        </p:txBody>
      </p:sp>
      <p:sp>
        <p:nvSpPr>
          <p:cNvPr id="4" name="TextBox 3"/>
          <p:cNvSpPr txBox="1"/>
          <p:nvPr/>
        </p:nvSpPr>
        <p:spPr>
          <a:xfrm>
            <a:off x="548640" y="1828800"/>
            <a:ext cx="11064240" cy="4572000"/>
          </a:xfrm>
          <a:prstGeom prst="rect">
            <a:avLst/>
          </a:prstGeom>
          <a:noFill/>
        </p:spPr>
        <p:txBody>
          <a:bodyPr wrap="square">
            <a:spAutoFit/>
          </a:bodyPr>
          <a:lstStyle/>
          <a:p>
            <a:pPr>
              <a:spcAft>
                <a:spcPts val="800"/>
              </a:spcAft>
            </a:pPr>
            <a:r>
              <a:rPr sz="2300">
                <a:solidFill>
                  <a:srgbClr val="35C4E8"/>
                </a:solidFill>
                <a:latin typeface="Segoe UI"/>
              </a:rPr>
              <a:t>•  </a:t>
            </a:r>
            <a:r>
              <a:rPr sz="2300" b="1">
                <a:solidFill>
                  <a:srgbClr val="F2C744"/>
                </a:solidFill>
                <a:latin typeface="Segoe UI"/>
              </a:rPr>
              <a:t>Separation of concerns is achievable at zero cost</a:t>
            </a:r>
            <a:r>
              <a:rPr sz="2300" b="0">
                <a:solidFill>
                  <a:srgbClr val="D8E2EC"/>
                </a:solidFill>
                <a:latin typeface="Segoe UI"/>
              </a:rPr>
              <a:t> in C++20 — measured, not asserted</a:t>
            </a:r>
          </a:p>
          <a:p>
            <a:pPr>
              <a:spcAft>
                <a:spcPts val="800"/>
              </a:spcAft>
            </a:pPr>
            <a:r>
              <a:rPr sz="2300">
                <a:solidFill>
                  <a:srgbClr val="35C4E8"/>
                </a:solidFill>
                <a:latin typeface="Segoe UI"/>
              </a:rPr>
              <a:t>•  </a:t>
            </a:r>
            <a:r>
              <a:rPr sz="2300" b="0">
                <a:solidFill>
                  <a:srgbClr val="D8E2EC"/>
                </a:solidFill>
                <a:latin typeface="Segoe UI"/>
              </a:rPr>
              <a:t>The recipe is small: </a:t>
            </a:r>
            <a:r>
              <a:rPr sz="2300" b="1">
                <a:solidFill>
                  <a:srgbClr val="35C4E8"/>
                </a:solidFill>
                <a:latin typeface="Segoe UI"/>
              </a:rPr>
              <a:t>typed tags + overloaded compute() + a constexpr registry + concepts</a:t>
            </a:r>
          </a:p>
          <a:p>
            <a:pPr lvl="1">
              <a:spcBef>
                <a:spcPts val="0"/>
              </a:spcBef>
              <a:spcAft>
                <a:spcPts val="800"/>
              </a:spcAft>
            </a:pPr>
            <a:r>
              <a:rPr sz="2100">
                <a:solidFill>
                  <a:srgbClr val="8CA3B8"/>
                </a:solidFill>
                <a:latin typeface="Segoe UI"/>
              </a:rPr>
              <a:t>–  </a:t>
            </a:r>
            <a:r>
              <a:rPr sz="2100" b="0">
                <a:solidFill>
                  <a:srgbClr val="D8E2EC"/>
                </a:solidFill>
                <a:latin typeface="Segoe UI"/>
              </a:rPr>
              <a:t>no inheritance, no virtuals, no strings, no codegen</a:t>
            </a:r>
          </a:p>
          <a:p>
            <a:pPr>
              <a:spcAft>
                <a:spcPts val="800"/>
              </a:spcAft>
            </a:pPr>
            <a:r>
              <a:rPr sz="2300">
                <a:solidFill>
                  <a:srgbClr val="35C4E8"/>
                </a:solidFill>
                <a:latin typeface="Segoe UI"/>
              </a:rPr>
              <a:t>•  </a:t>
            </a:r>
            <a:r>
              <a:rPr sz="2300" b="1">
                <a:solidFill>
                  <a:srgbClr val="FFFFFF"/>
                </a:solidFill>
                <a:latin typeface="Segoe UI"/>
              </a:rPr>
              <a:t>Prefer abstractions you can verify</a:t>
            </a:r>
            <a:r>
              <a:rPr sz="2300" b="0">
                <a:solidFill>
                  <a:srgbClr val="D8E2EC"/>
                </a:solidFill>
                <a:latin typeface="Segoe UI"/>
              </a:rPr>
              <a:t> — conservation laws and disassembly are unit tests for architecture</a:t>
            </a:r>
          </a:p>
          <a:p>
            <a:pPr>
              <a:spcAft>
                <a:spcPts val="800"/>
              </a:spcAft>
            </a:pPr>
            <a:r>
              <a:rPr sz="2300">
                <a:solidFill>
                  <a:srgbClr val="35C4E8"/>
                </a:solidFill>
                <a:latin typeface="Segoe UI"/>
              </a:rPr>
              <a:t>•  </a:t>
            </a:r>
            <a:r>
              <a:rPr sz="2300" b="1">
                <a:solidFill>
                  <a:srgbClr val="FFFFFF"/>
                </a:solidFill>
                <a:latin typeface="Segoe UI"/>
              </a:rPr>
              <a:t>Quality vs performance was the false tradeoff</a:t>
            </a:r>
            <a:r>
              <a:rPr sz="2300" b="0">
                <a:solidFill>
                  <a:srgbClr val="D8E2EC"/>
                </a:solidFill>
                <a:latin typeface="Segoe UI"/>
              </a:rPr>
              <a:t> — modern C++ finally lets us refuse it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822960" y="1463040"/>
            <a:ext cx="10515600" cy="1371600"/>
          </a:xfrm>
          <a:prstGeom prst="rect">
            <a:avLst/>
          </a:prstGeom>
          <a:noFill/>
        </p:spPr>
        <p:txBody>
          <a:bodyPr wrap="none">
            <a:spAutoFit/>
          </a:bodyPr>
          <a:lstStyle/>
          <a:p>
            <a:r>
              <a:rPr sz="4800" b="1">
                <a:solidFill>
                  <a:srgbClr val="FFFFFF"/>
                </a:solidFill>
                <a:latin typeface="Segoe UI"/>
              </a:rPr>
              <a:t>Thank you!  Questions?</a:t>
            </a:r>
          </a:p>
        </p:txBody>
      </p:sp>
      <p:sp>
        <p:nvSpPr>
          <p:cNvPr id="3" name="TextBox 2"/>
          <p:cNvSpPr txBox="1"/>
          <p:nvPr/>
        </p:nvSpPr>
        <p:spPr>
          <a:xfrm>
            <a:off x="548640" y="3108960"/>
            <a:ext cx="11064240" cy="1405513"/>
          </a:xfrm>
          <a:prstGeom prst="rect">
            <a:avLst/>
          </a:prstGeom>
          <a:noFill/>
        </p:spPr>
        <p:txBody>
          <a:bodyPr wrap="square">
            <a:spAutoFit/>
          </a:bodyPr>
          <a:lstStyle/>
          <a:p>
            <a:pPr>
              <a:spcAft>
                <a:spcPts val="800"/>
              </a:spcAft>
            </a:pPr>
            <a:r>
              <a:rPr sz="2400" dirty="0">
                <a:solidFill>
                  <a:srgbClr val="35C4E8"/>
                </a:solidFill>
                <a:latin typeface="Segoe UI"/>
              </a:rPr>
              <a:t>•  </a:t>
            </a:r>
            <a:r>
              <a:rPr sz="2400" b="0" dirty="0">
                <a:solidFill>
                  <a:srgbClr val="8CA3B8"/>
                </a:solidFill>
                <a:latin typeface="Segoe UI"/>
              </a:rPr>
              <a:t>Code &amp; slides:  </a:t>
            </a:r>
            <a:r>
              <a:rPr sz="2400" b="1" dirty="0">
                <a:solidFill>
                  <a:srgbClr val="35C4E8"/>
                </a:solidFill>
                <a:latin typeface="Segoe UI"/>
              </a:rPr>
              <a:t>github.com/</a:t>
            </a:r>
            <a:r>
              <a:rPr sz="2400" b="1" dirty="0" err="1">
                <a:solidFill>
                  <a:srgbClr val="35C4E8"/>
                </a:solidFill>
                <a:latin typeface="Segoe UI"/>
              </a:rPr>
              <a:t>jedrzejmichalczyk</a:t>
            </a:r>
            <a:r>
              <a:rPr sz="2400" b="1" dirty="0">
                <a:solidFill>
                  <a:srgbClr val="35C4E8"/>
                </a:solidFill>
                <a:latin typeface="Segoe UI"/>
              </a:rPr>
              <a:t>/</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Live demo:  </a:t>
            </a:r>
            <a:r>
              <a:rPr sz="2400" b="1" dirty="0">
                <a:solidFill>
                  <a:srgbClr val="35C4E8"/>
                </a:solidFill>
                <a:latin typeface="Segoe UI"/>
              </a:rPr>
              <a:t>jedrzejmichalczyk.github.io/</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Email:  </a:t>
            </a:r>
            <a:r>
              <a:rPr sz="2400" b="1" dirty="0" err="1">
                <a:solidFill>
                  <a:srgbClr val="F2C744"/>
                </a:solidFill>
                <a:latin typeface="Segoe UI"/>
              </a:rPr>
              <a:t>jedrzej.michalczyk</a:t>
            </a:r>
            <a:r>
              <a:rPr sz="2400" b="1" dirty="0">
                <a:solidFill>
                  <a:srgbClr val="F2C744"/>
                </a:solidFill>
                <a:latin typeface="Segoe UI"/>
              </a:rPr>
              <a:t>@</a:t>
            </a:r>
            <a:r>
              <a:rPr lang="pl-PL" sz="2400" b="1" dirty="0" err="1">
                <a:solidFill>
                  <a:srgbClr val="F2C744"/>
                </a:solidFill>
                <a:latin typeface="Segoe UI"/>
              </a:rPr>
              <a:t>gmail</a:t>
            </a:r>
            <a:r>
              <a:rPr sz="2400" b="1" dirty="0">
                <a:solidFill>
                  <a:srgbClr val="F2C744"/>
                </a:solidFill>
                <a:latin typeface="Segoe UI"/>
              </a:rPr>
              <a:t>.</a:t>
            </a:r>
            <a:r>
              <a:rPr lang="pl-PL" sz="2400" b="1" dirty="0">
                <a:solidFill>
                  <a:srgbClr val="F2C744"/>
                </a:solidFill>
                <a:latin typeface="Segoe UI"/>
              </a:rPr>
              <a:t>com</a:t>
            </a:r>
            <a:endParaRPr sz="2400" b="1" dirty="0">
              <a:solidFill>
                <a:srgbClr val="F2C744"/>
              </a:solidFill>
              <a:latin typeface="Segoe UI"/>
            </a:endParaRP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D29CFF6-6D0B-402B-815F-A2193F408E05}">
  <we:reference id="wa200010001" version="1.0.0.1" store="pl-PL" storeType="OMEX"/>
  <we:alternateReferences>
    <we:reference id="wa200010001" version="1.0.0.1" store="wa200010001" storeType="OMEX"/>
  </we:alternateReferences>
  <we:properties>
    <we:property name="claude.fileId" value="&quot;37acedce-c1b3-4355-9342-f5a2dc7b9a7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1694</TotalTime>
  <Words>4543</Words>
  <Application>Microsoft Office PowerPoint</Application>
  <PresentationFormat>Panoramiczny</PresentationFormat>
  <Paragraphs>497</Paragraphs>
  <Slides>39</Slides>
  <Notes>38</Notes>
  <HiddenSlides>0</HiddenSlides>
  <MMClips>0</MMClips>
  <ScaleCrop>false</ScaleCrop>
  <HeadingPairs>
    <vt:vector size="6" baseType="variant">
      <vt:variant>
        <vt:lpstr>Używane czcionki</vt:lpstr>
      </vt:variant>
      <vt:variant>
        <vt:i4>4</vt:i4>
      </vt:variant>
      <vt:variant>
        <vt:lpstr>Motyw</vt:lpstr>
      </vt:variant>
      <vt:variant>
        <vt:i4>1</vt:i4>
      </vt:variant>
      <vt:variant>
        <vt:lpstr>Tytuły slajdów</vt:lpstr>
      </vt:variant>
      <vt:variant>
        <vt:i4>39</vt:i4>
      </vt:variant>
    </vt:vector>
  </HeadingPairs>
  <TitlesOfParts>
    <vt:vector size="44" baseType="lpstr">
      <vt:lpstr>Arial</vt:lpstr>
      <vt:lpstr>Calibri</vt:lpstr>
      <vt:lpstr>Consolas</vt:lpstr>
      <vt:lpstr>Segoe UI</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Jędrzej Michalczyk</cp:lastModifiedBy>
  <cp:revision>3</cp:revision>
  <dcterms:created xsi:type="dcterms:W3CDTF">2013-01-27T09:14:16Z</dcterms:created>
  <dcterms:modified xsi:type="dcterms:W3CDTF">2026-06-15T20:37:08Z</dcterms:modified>
  <cp:category/>
</cp:coreProperties>
</file>