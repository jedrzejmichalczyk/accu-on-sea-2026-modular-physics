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26"/>
    <p:sldId id="280" r:id="rId27"/>
    <p:sldId id="281" r:id="rId28"/>
    <p:sldId id="282" r:id="rId29"/>
    <p:sldId id="283" r:id="rId30"/>
    <p:sldId id="297" r:id="rId46"/>
    <p:sldId id="284" r:id="rId31"/>
    <p:sldId id="285" r:id="rId32"/>
    <p:sldId id="286" r:id="rId33"/>
    <p:sldId id="287" r:id="rId34"/>
    <p:sldId id="288" r:id="rId35"/>
    <p:sldId id="289" r:id="rId36"/>
    <p:sldId id="290" r:id="rId37"/>
    <p:sldId id="298" r:id="rId47"/>
    <p:sldId id="299" r:id="rId48"/>
    <p:sldId id="291" r:id="rId38"/>
    <p:sldId id="292" r:id="rId39"/>
    <p:sldId id="293"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2" d="100"/>
          <a:sy n="122" d="100"/>
        </p:scale>
        <p:origin x="11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30.xml"/><Relationship Id="rId47" Type="http://schemas.openxmlformats.org/officeDocument/2006/relationships/slide" Target="slides/slide38.xml"/><Relationship Id="rId48"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accu-on-sea-2026-modular-physics</a:t>
            </a:r>
            <a:endParaRPr lang="en-US" sz="2200" b="0" noProof="0" dirty="0">
              <a:solidFill>
                <a:srgbClr val="35C4E8"/>
              </a:solidFill>
              <a:latin typeface="Segoe UI"/>
            </a:endParaRP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pic>
        <p:nvPicPr>
          <p:cNvPr id="8" name="Perun launch" descr="launch-of-the-perun-suborbital-rocket-over-the-polish-coast.jpg"/>
          <p:cNvPicPr>
            <a:picLocks noChangeAspect="1"/>
          </p:cNvPicPr>
          <p:nvPr/>
        </p:nvPicPr>
        <p:blipFill>
          <a:blip r:embed="rId3"/>
          <a:srcRect l="16250" r="16250"/>
          <a:stretch>
            <a:fillRect/>
          </a:stretch>
        </p:blipFill>
        <p:spPr>
          <a:xfrm>
            <a:off x="8229600" y="1828800"/>
            <a:ext cx="3291840" cy="3657600"/>
          </a:xfrm>
          <a:prstGeom prst="roundRect">
            <a:avLst>
              <a:gd name="adj" fmla="val 5000"/>
            </a:avLst>
          </a:prstGeom>
          <a:ln w="19050">
            <a:solidFill>
              <a:srgbClr val="1E3A55"/>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685800" y="5057919"/>
            <a:ext cx="4072397" cy="461665"/>
          </a:xfrm>
          <a:prstGeom prst="rect">
            <a:avLst/>
          </a:prstGeom>
          <a:noFill/>
        </p:spPr>
        <p:txBody>
          <a:bodyPr wrap="none">
            <a:spAutoFit/>
          </a:bodyPr>
          <a:lstStyle/>
          <a:p>
            <a:r>
              <a:rPr lang="pl-PL" sz="2400" b="1" i="1" dirty="0" err="1">
                <a:solidFill>
                  <a:srgbClr val="F2C744"/>
                </a:solidFill>
                <a:latin typeface="Segoe UI"/>
              </a:rPr>
              <a:t>Sometimes</a:t>
            </a:r>
            <a:r>
              <a:rPr lang="pl-PL" sz="2400" b="1" i="1" dirty="0">
                <a:solidFill>
                  <a:srgbClr val="F2C744"/>
                </a:solidFill>
                <a:latin typeface="Segoe UI"/>
              </a:rPr>
              <a:t> </a:t>
            </a:r>
            <a:r>
              <a:rPr lang="pl-PL" sz="2400" b="1" i="1" dirty="0" err="1">
                <a:solidFill>
                  <a:srgbClr val="F2C744"/>
                </a:solidFill>
                <a:latin typeface="Segoe UI"/>
              </a:rPr>
              <a:t>it</a:t>
            </a:r>
            <a:r>
              <a:rPr lang="pl-PL" sz="2400" b="1" i="1" dirty="0">
                <a:solidFill>
                  <a:srgbClr val="F2C744"/>
                </a:solidFill>
                <a:latin typeface="Segoe UI"/>
              </a:rPr>
              <a:t> </a:t>
            </a:r>
            <a:r>
              <a:rPr lang="pl-PL" sz="2400" b="1" i="1" dirty="0" err="1">
                <a:solidFill>
                  <a:srgbClr val="F2C744"/>
                </a:solidFill>
                <a:latin typeface="Segoe UI"/>
              </a:rPr>
              <a:t>is</a:t>
            </a:r>
            <a:r>
              <a:rPr lang="pl-PL" sz="2400" b="1" i="1" dirty="0">
                <a:solidFill>
                  <a:srgbClr val="F2C744"/>
                </a:solidFill>
                <a:latin typeface="Segoe UI"/>
              </a:rPr>
              <a:t> </a:t>
            </a:r>
            <a:r>
              <a:rPr lang="pl-PL" sz="2400" b="1" i="1" dirty="0" err="1">
                <a:solidFill>
                  <a:srgbClr val="F2C744"/>
                </a:solidFill>
                <a:latin typeface="Segoe UI"/>
              </a:rPr>
              <a:t>an</a:t>
            </a:r>
            <a:r>
              <a:rPr lang="pl-PL" sz="2400" b="1" i="1" dirty="0">
                <a:solidFill>
                  <a:srgbClr val="F2C744"/>
                </a:solidFill>
                <a:latin typeface="Segoe UI"/>
              </a:rPr>
              <a:t> </a:t>
            </a:r>
            <a:r>
              <a:rPr lang="pl-PL" sz="2400" b="1" i="1" dirty="0" err="1">
                <a:solidFill>
                  <a:srgbClr val="F2C744"/>
                </a:solidFill>
                <a:latin typeface="Segoe UI"/>
              </a:rPr>
              <a:t>overkill</a:t>
            </a:r>
            <a:r>
              <a:rPr lang="pl-PL" sz="2400" b="1" i="1" dirty="0">
                <a:solidFill>
                  <a:srgbClr val="F2C744"/>
                </a:solidFill>
                <a:latin typeface="Segoe UI"/>
              </a:rPr>
              <a:t>.</a:t>
            </a:r>
            <a:endParaRPr lang="en-US" sz="2400" b="1" i="1" dirty="0">
              <a:solidFill>
                <a:srgbClr val="F2C744"/>
              </a:solidFill>
              <a:latin typeface="Segoe UI"/>
            </a:endParaRP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derivs(</a:t>
            </a:r>
            <a:r>
              <a:rPr sz="1600">
                <a:solidFill>
                  <a:srgbClr val="4EC9B0"/>
                </a:solidFill>
                <a:latin typeface="Consolas"/>
              </a:rPr>
              <a:t>double</a:t>
            </a:r>
            <a:r>
              <a:rPr sz="1600">
                <a:solidFill>
                  <a:srgbClr val="D4D4D4"/>
                </a:solidFill>
                <a:latin typeface="Consolas"/>
              </a:rPr>
              <a:t> 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y, </a:t>
            </a:r>
            <a:r>
              <a:rPr sz="1600">
                <a:solidFill>
                  <a:srgbClr val="4EC9B0"/>
                </a:solidFill>
                <a:latin typeface="Consolas"/>
              </a:rPr>
              <a:t>double</a:t>
            </a:r>
            <a:r>
              <a:rPr sz="1600">
                <a:solidFill>
                  <a:srgbClr val="D4D4D4"/>
                </a:solidFill>
                <a:latin typeface="Consolas"/>
              </a:rPr>
              <a:t>* dydt) {</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rho = </a:t>
            </a:r>
            <a:r>
              <a:rPr sz="1600">
                <a:solidFill>
                  <a:srgbClr val="B5CEA8"/>
                </a:solidFill>
                <a:latin typeface="Consolas"/>
              </a:rPr>
              <a:t>1.225</a:t>
            </a:r>
            <a:r>
              <a:rPr sz="1600">
                <a:solidFill>
                  <a:srgbClr val="D4D4D4"/>
                </a:solidFill>
                <a:latin typeface="Consolas"/>
              </a:rPr>
              <a:t> * exp(-y[</a:t>
            </a:r>
            <a:r>
              <a:rPr sz="1600">
                <a:solidFill>
                  <a:srgbClr val="B5CEA8"/>
                </a:solidFill>
                <a:latin typeface="Consolas"/>
              </a:rPr>
              <a:t>2</a:t>
            </a:r>
            <a:r>
              <a:rPr sz="1600">
                <a:solidFill>
                  <a:srgbClr val="D4D4D4"/>
                </a:solidFill>
                <a:latin typeface="Consolas"/>
              </a:rPr>
              <a:t>] / </a:t>
            </a:r>
            <a:r>
              <a:rPr sz="1600">
                <a:solidFill>
                  <a:srgbClr val="B5CEA8"/>
                </a:solidFill>
                <a:latin typeface="Consolas"/>
              </a:rPr>
              <a:t>8500.0</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v2  = y[</a:t>
            </a:r>
            <a:r>
              <a:rPr sz="1600">
                <a:solidFill>
                  <a:srgbClr val="B5CEA8"/>
                </a:solidFill>
                <a:latin typeface="Consolas"/>
              </a:rPr>
              <a:t>3</a:t>
            </a:r>
            <a:r>
              <a:rPr sz="1600">
                <a:solidFill>
                  <a:srgbClr val="D4D4D4"/>
                </a:solidFill>
                <a:latin typeface="Consolas"/>
              </a:rPr>
              <a:t>]*y[</a:t>
            </a:r>
            <a:r>
              <a:rPr sz="1600">
                <a:solidFill>
                  <a:srgbClr val="B5CEA8"/>
                </a:solidFill>
                <a:latin typeface="Consolas"/>
              </a:rPr>
              <a:t>3</a:t>
            </a:r>
            <a:r>
              <a:rPr sz="1600">
                <a:solidFill>
                  <a:srgbClr val="D4D4D4"/>
                </a:solidFill>
                <a:latin typeface="Consolas"/>
              </a:rPr>
              <a:t>] + y[</a:t>
            </a:r>
            <a:r>
              <a:rPr sz="1600">
                <a:solidFill>
                  <a:srgbClr val="B5CEA8"/>
                </a:solidFill>
                <a:latin typeface="Consolas"/>
              </a:rPr>
              <a:t>4</a:t>
            </a:r>
            <a:r>
              <a:rPr sz="1600">
                <a:solidFill>
                  <a:srgbClr val="D4D4D4"/>
                </a:solidFill>
                <a:latin typeface="Consolas"/>
              </a:rPr>
              <a:t>]*y[</a:t>
            </a:r>
            <a:r>
              <a:rPr sz="1600">
                <a:solidFill>
                  <a:srgbClr val="B5CEA8"/>
                </a:solidFill>
                <a:latin typeface="Consolas"/>
              </a:rPr>
              <a:t>4</a:t>
            </a:r>
            <a:r>
              <a:rPr sz="1600">
                <a:solidFill>
                  <a:srgbClr val="D4D4D4"/>
                </a:solidFill>
                <a:latin typeface="Consolas"/>
              </a:rPr>
              <a:t>] + y[</a:t>
            </a:r>
            <a:r>
              <a:rPr sz="1600">
                <a:solidFill>
                  <a:srgbClr val="B5CEA8"/>
                </a:solidFill>
                <a:latin typeface="Consolas"/>
              </a:rPr>
              <a:t>5</a:t>
            </a:r>
            <a:r>
              <a:rPr sz="1600">
                <a:solidFill>
                  <a:srgbClr val="D4D4D4"/>
                </a:solidFill>
                <a:latin typeface="Consolas"/>
              </a:rPr>
              <a:t>]*y[</a:t>
            </a:r>
            <a:r>
              <a:rPr sz="1600">
                <a:solidFill>
                  <a:srgbClr val="B5CEA8"/>
                </a:solidFill>
                <a:latin typeface="Consolas"/>
              </a:rPr>
              <a:t>5</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 </a:t>
            </a:r>
            <a:r>
              <a:rPr sz="1600">
                <a:solidFill>
                  <a:srgbClr val="B5CEA8"/>
                </a:solidFill>
                <a:latin typeface="Consolas"/>
              </a:rPr>
              <a:t>0.5</a:t>
            </a:r>
            <a:r>
              <a:rPr sz="1600">
                <a:solidFill>
                  <a:srgbClr val="D4D4D4"/>
                </a:solidFill>
                <a:latin typeface="Consolas"/>
              </a:rPr>
              <a:t> * rho * v2 * CD * AREA;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 thrust_table_lookup(t);                 </a:t>
            </a:r>
            <a:r>
              <a:rPr sz="1600">
                <a:solidFill>
                  <a:srgbClr val="6A9955"/>
                </a:solidFill>
                <a:latin typeface="Consolas"/>
              </a:rPr>
              <a:t>// propulsion</a:t>
            </a:r>
          </a:p>
          <a:p>
            <a:pPr>
              <a:spcAft>
                <a:spcPts val="100"/>
              </a:spcAft>
            </a:pPr>
            <a:r>
              <a:rPr sz="1600">
                <a:solidFill>
                  <a:srgbClr val="D4D4D4"/>
                </a:solidFill>
                <a:latin typeface="Consolas"/>
              </a:rPr>
              <a:t>    dydt[</a:t>
            </a:r>
            <a:r>
              <a:rPr sz="1600">
                <a:solidFill>
                  <a:srgbClr val="B5CEA8"/>
                </a:solidFill>
                <a:latin typeface="Consolas"/>
              </a:rPr>
              <a:t>3</a:t>
            </a:r>
            <a:r>
              <a:rPr sz="1600">
                <a:solidFill>
                  <a:srgbClr val="D4D4D4"/>
                </a:solidFill>
                <a:latin typeface="Consolas"/>
              </a:rPr>
              <a:t>] = (</a:t>
            </a:r>
            <a:r>
              <a:rPr sz="1600">
                <a:solidFill>
                  <a:srgbClr val="4EC9B0"/>
                </a:solidFill>
                <a:latin typeface="Consolas"/>
              </a:rPr>
              <a:t>Ft</a:t>
            </a:r>
            <a:r>
              <a:rPr sz="1600">
                <a:solidFill>
                  <a:srgbClr val="D4D4D4"/>
                </a:solidFill>
                <a:latin typeface="Consolas"/>
              </a:rPr>
              <a:t>*ax(y) - </a:t>
            </a:r>
            <a:r>
              <a:rPr sz="1600">
                <a:solidFill>
                  <a:srgbClr val="4EC9B0"/>
                </a:solidFill>
                <a:latin typeface="Consolas"/>
              </a:rPr>
              <a:t>Fd</a:t>
            </a:r>
            <a:r>
              <a:rPr sz="1600">
                <a:solidFill>
                  <a:srgbClr val="D4D4D4"/>
                </a:solidFill>
                <a:latin typeface="Consolas"/>
              </a:rPr>
              <a:t>*vx_hat(y)) / y[</a:t>
            </a:r>
            <a:r>
              <a:rPr sz="1600">
                <a:solidFill>
                  <a:srgbClr val="B5CEA8"/>
                </a:solidFill>
                <a:latin typeface="Consolas"/>
              </a:rPr>
              <a:t>13</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computeDerivatives(</a:t>
            </a:r>
            <a:r>
              <a:rPr sz="1600">
                <a:solidFill>
                  <a:srgbClr val="4EC9B0"/>
                </a:solidFill>
                <a:latin typeface="Consolas"/>
              </a:rPr>
              <a:t>double</a:t>
            </a:r>
            <a:r>
              <a:rPr sz="1600">
                <a:solidFill>
                  <a:srgbClr val="D4D4D4"/>
                </a:solidFill>
                <a:latin typeface="Consolas"/>
              </a:rPr>
              <a:t> 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state,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dydt) =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getOutput(</a:t>
            </a:r>
            <a:r>
              <a:rPr sz="1600" b="1">
                <a:solidFill>
                  <a:srgbClr val="569CD6"/>
                </a:solidFill>
                <a:latin typeface="Consolas"/>
              </a:rPr>
              <a:t>const</a:t>
            </a:r>
            <a:r>
              <a:rPr sz="1600" b="1">
                <a:solidFill>
                  <a:srgbClr val="D4D4D4"/>
                </a:solidFill>
                <a:latin typeface="Consolas"/>
              </a:rPr>
              <a:t> std::string&amp; name) = </a:t>
            </a:r>
            <a:r>
              <a:rPr sz="1600" b="1">
                <a:solidFill>
                  <a:srgbClr val="B5CEA8"/>
                </a:solidFill>
                <a:latin typeface="Consolas"/>
              </a:rPr>
              <a:t>0</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std::vector&lt;std::unique_ptr&lt;</a:t>
            </a:r>
            <a:r>
              <a:rPr sz="1600">
                <a:solidFill>
                  <a:srgbClr val="4EC9B0"/>
                </a:solidFill>
                <a:latin typeface="Consolas"/>
              </a:rPr>
              <a:t>Component</a:t>
            </a:r>
            <a:r>
              <a:rPr sz="1600">
                <a:solidFill>
                  <a:srgbClr val="D4D4D4"/>
                </a:solidFill>
                <a:latin typeface="Consolas"/>
              </a:rPr>
              <a:t>&gt;&gt; components;</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569CD6"/>
                </a:solidFill>
                <a:latin typeface="Consolas"/>
              </a:rPr>
              <a:t>auto</a:t>
            </a:r>
            <a:r>
              <a:rPr sz="1600" b="1">
                <a:solidFill>
                  <a:srgbClr val="D4D4D4"/>
                </a:solidFill>
                <a:latin typeface="Consolas"/>
              </a:rPr>
              <a:t>&amp; c : components)              </a:t>
            </a:r>
            <a:r>
              <a:rPr sz="1600" b="1">
                <a:solidFill>
                  <a:srgbClr val="6A9955"/>
                </a:solidFill>
                <a:latin typeface="Consolas"/>
              </a:rPr>
              <a:t>// innermost loop of RK4,</a:t>
            </a:r>
          </a:p>
          <a:p>
            <a:pPr>
              <a:spcAft>
                <a:spcPts val="100"/>
              </a:spcAft>
            </a:pPr>
            <a:r>
              <a:rPr sz="1600" b="1">
                <a:solidFill>
                  <a:srgbClr val="D4D4D4"/>
                </a:solidFill>
                <a:latin typeface="Consolas"/>
              </a:rPr>
              <a:t>    c-&gt;computeDerivatives(t, y, dydt);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 </a:t>
            </a:r>
            <a:r>
              <a:rPr sz="1600">
                <a:solidFill>
                  <a:srgbClr val="6A9955"/>
                </a:solidFill>
                <a:latin typeface="Consolas"/>
              </a:rPr>
              <a:t>/* same shape, different types */</a:t>
            </a:r>
            <a:r>
              <a:rPr sz="1600">
                <a:solidFill>
                  <a:srgbClr val="D4D4D4"/>
                </a:solidFill>
                <a:latin typeface="Consolas"/>
              </a:rPr>
              <a:t> };</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 T&gt; {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m_mass;</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derivatives(T 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velocity = </a:t>
            </a:r>
            <a:r>
              <a:rPr sz="1600">
                <a:solidFill>
                  <a:srgbClr val="569CD6"/>
                </a:solidFill>
                <a:latin typeface="Consolas"/>
              </a:rPr>
              <a:t>this</a:t>
            </a:r>
            <a:r>
              <a:rPr sz="1600">
                <a:solidFill>
                  <a:srgbClr val="D4D4D4"/>
                </a:solidFill>
                <a:latin typeface="Consolas"/>
              </a:rPr>
              <a:t>-&gt;localState(state, </a:t>
            </a:r>
            <a:r>
              <a:rPr sz="1600">
                <a:solidFill>
                  <a:srgbClr val="B5CEA8"/>
                </a:solidFill>
                <a:latin typeface="Consolas"/>
              </a:rPr>
              <a:t>1</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T force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{velocity, force / T(m_mass)};             </a:t>
            </a:r>
            <a:r>
              <a:rPr sz="1600">
                <a:solidFill>
                  <a:srgbClr val="6A9955"/>
                </a:solidFill>
                <a:latin typeface="Consolas"/>
              </a:rPr>
              <a:t>// dv/dt = F/m</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            </a:t>
            </a:r>
            <a:r>
              <a:rPr sz="1600">
                <a:solidFill>
                  <a:srgbClr val="6A9955"/>
                </a:solidFill>
                <a:latin typeface="Consolas"/>
              </a:rPr>
              <a:t>// Velocity: same, localState(s, 1)</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 {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-&gt;localState(s, </a:t>
            </a:r>
            <a:r>
              <a:rPr sz="1600">
                <a:solidFill>
                  <a:srgbClr val="B5CEA8"/>
                </a:solidFill>
                <a:latin typeface="Consolas"/>
              </a:rPr>
              <a:t>0</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m_stiffness, m_rest_length;</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T x1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b="1">
                <a:solidFill>
                  <a:srgbClr val="D4D4D4"/>
                </a:solidFill>
                <a:latin typeface="Consolas"/>
              </a:rPr>
              <a:t>        T x2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a:solidFill>
                  <a:srgbClr val="D4D4D4"/>
                </a:solidFill>
                <a:latin typeface="Consolas"/>
              </a:rPr>
              <a:t>        T extension = x1 - x2 - T(m_rest_length);</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-T(m_stiffness) * extension;               </a:t>
            </a:r>
            <a:r>
              <a:rPr sz="1600">
                <a:solidFill>
                  <a:srgbClr val="6A9955"/>
                </a:solidFill>
                <a:latin typeface="Consolas"/>
              </a:rPr>
              <a:t>// Hooke's law</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-query&lt;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&gt;(reg, state);       </a:t>
            </a:r>
            <a:r>
              <a:rPr sz="1600">
                <a:solidFill>
                  <a:srgbClr val="6A9955"/>
                </a:solidFill>
                <a:latin typeface="Consolas"/>
              </a:rPr>
              <a:t>// Newton's 3rd</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compute(system::</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m1 = query&lt;mass1::</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v1 = query&lt;mass1::</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m2 = query&lt;mass2::</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v2 = query&lt;mass2::</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pe = query&lt;spring::</a:t>
            </a:r>
            <a:r>
              <a:rPr sz="1600">
                <a:solidFill>
                  <a:srgbClr val="4EC9B0"/>
                </a:solidFill>
                <a:latin typeface="Consolas"/>
              </a:rPr>
              <a:t>PotentialEnergy</a:t>
            </a:r>
            <a:r>
              <a:rPr sz="1600">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a:t>
            </a:r>
            <a:r>
              <a:rPr sz="1600">
                <a:solidFill>
                  <a:srgbClr val="B5CEA8"/>
                </a:solidFill>
                <a:latin typeface="Consolas"/>
              </a:rPr>
              <a:t>0.5</a:t>
            </a:r>
            <a:r>
              <a:rPr sz="1600">
                <a:solidFill>
                  <a:srgbClr val="D4D4D4"/>
                </a:solidFill>
                <a:latin typeface="Consolas"/>
              </a:rPr>
              <a:t>)*m1*v1*v1 + T(</a:t>
            </a:r>
            <a:r>
              <a:rPr sz="1600">
                <a:solidFill>
                  <a:srgbClr val="B5CEA8"/>
                </a:solidFill>
                <a:latin typeface="Consolas"/>
              </a:rPr>
              <a:t>0.5</a:t>
            </a:r>
            <a:r>
              <a:rPr sz="1600">
                <a:solidFill>
                  <a:srgbClr val="D4D4D4"/>
                </a:solidFill>
                <a:latin typeface="Consolas"/>
              </a:rPr>
              <a:t>)*m2*v2*v2 + pe;</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sys = makeODESystem&lt;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(sys)::hasFunction&lt;system::</a:t>
            </a:r>
            <a:r>
              <a:rPr sz="1600" b="1">
                <a:solidFill>
                  <a:srgbClr val="4EC9B0"/>
                </a:solidFill>
                <a:latin typeface="Consolas"/>
              </a:rPr>
              <a:t>TotalEnergy</a:t>
            </a:r>
            <a:r>
              <a:rPr sz="1600" b="1">
                <a:solidFill>
                  <a:srgbClr val="D4D4D4"/>
                </a:solidFill>
                <a:latin typeface="Consolas"/>
              </a:rPr>
              <a:t>&gt;());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solver;</a:t>
            </a:r>
          </a:p>
          <a:p>
            <a:pPr>
              <a:spcAft>
                <a:spcPts val="100"/>
              </a:spcAft>
            </a:pPr>
            <a:r>
              <a:rPr sz="1600">
                <a:solidFill>
                  <a:srgbClr val="569CD6"/>
                </a:solidFill>
                <a:latin typeface="Consolas"/>
              </a:rPr>
              <a:t>auto</a:t>
            </a:r>
            <a:r>
              <a:rPr sz="1600">
                <a:solidFill>
                  <a:srgbClr val="D4D4D4"/>
                </a:solidFill>
                <a:latin typeface="Consolas"/>
              </a:rPr>
              <a:t> sol = solver.solve(derivs(sys), sys.getStateDimension(),</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 sys.getInitialState());</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E = sys.query&lt;system::</a:t>
            </a:r>
            <a:r>
              <a:rPr sz="1600">
                <a:solidFill>
                  <a:srgbClr val="4EC9B0"/>
                </a:solidFill>
                <a:latin typeface="Consolas"/>
              </a:rPr>
              <a:t>TotalEnergy</a:t>
            </a:r>
            <a:r>
              <a:rPr sz="1600">
                <a:solidFill>
                  <a:srgbClr val="D4D4D4"/>
                </a:solidFill>
                <a:latin typeface="Consolas"/>
              </a:rPr>
              <a:t>&gt;(sol.states.back());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getOutput(                    T compute(mass1::</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std::string&amp; name);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p>
          <a:p>
            <a:pPr>
              <a:spcAft>
                <a:spcPts val="100"/>
              </a:spcAft>
            </a:pPr>
            <a:r>
              <a:rPr sz="1600">
                <a:solidFill>
                  <a:srgbClr val="D4D4D4"/>
                </a:solidFill>
                <a:latin typeface="Consolas"/>
              </a:rPr>
              <a:t>    std::tuple&lt;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&amp;...&gt; m_components;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hasFunction()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 T, </a:t>
            </a:r>
            <a:r>
              <a:rPr sz="1600" b="1">
                <a:solidFill>
                  <a:srgbClr val="4EC9B0"/>
                </a:solidFill>
                <a:latin typeface="Consolas"/>
              </a:rPr>
              <a:t>Registry</a:t>
            </a:r>
            <a:r>
              <a:rPr sz="1600" b="1">
                <a:solidFill>
                  <a:srgbClr val="D4D4D4"/>
                </a:solidFill>
                <a:latin typeface="Consolas"/>
              </a:rPr>
              <a:t>&gt; || ...);</a:t>
            </a:r>
          </a:p>
          <a:p>
            <a:pPr>
              <a:spcAft>
                <a:spcPts val="100"/>
              </a:spcAft>
            </a:pPr>
            <a:r>
              <a:rPr sz="1600">
                <a:solidFill>
                  <a:srgbClr val="D4D4D4"/>
                </a:solidFill>
                <a:latin typeface="Consolas"/>
              </a:rPr>
              <a:t>    }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computeFunction(std::span&lt;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(hasFunction&lt;</a:t>
            </a:r>
            <a:r>
              <a:rPr sz="1600" b="1">
                <a:solidFill>
                  <a:srgbClr val="4EC9B0"/>
                </a:solidFill>
                <a:latin typeface="Consolas"/>
              </a:rPr>
              <a:t>Tag</a:t>
            </a:r>
            <a:r>
              <a:rPr sz="1600" b="1">
                <a:solidFill>
                  <a:srgbClr val="D4D4D4"/>
                </a:solidFill>
                <a:latin typeface="Consolas"/>
              </a:rPr>
              <a:t>&gt;(),</a:t>
            </a:r>
          </a:p>
          <a:p>
            <a:pPr>
              <a:spcAft>
                <a:spcPts val="100"/>
              </a:spcAft>
            </a:pPr>
            <a:r>
              <a:rPr sz="1600" b="1">
                <a:solidFill>
                  <a:srgbClr val="D4D4D4"/>
                </a:solidFill>
                <a:latin typeface="Consolas"/>
              </a:rPr>
              <a:t>                      </a:t>
            </a:r>
            <a:r>
              <a:rPr sz="1600" b="1">
                <a:solidFill>
                  <a:srgbClr val="CE9178"/>
                </a:solidFill>
                <a:latin typeface="Consolas"/>
              </a:rPr>
              <a:t>"No component provides this state function"</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 provider = findProvider&lt;</a:t>
            </a:r>
            <a:r>
              <a:rPr sz="1600">
                <a:solidFill>
                  <a:srgbClr val="4EC9B0"/>
                </a:solidFill>
                <a:latin typeface="Consolas"/>
              </a:rPr>
              <a:t>Tag</a:t>
            </a:r>
            <a:r>
              <a:rPr sz="1600">
                <a:solidFill>
                  <a:srgbClr val="D4D4D4"/>
                </a:solidFill>
                <a:latin typeface="Consolas"/>
              </a:rPr>
              <a:t>&gt;();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provider.compute(</a:t>
            </a:r>
            <a:r>
              <a:rPr sz="1600">
                <a:solidFill>
                  <a:srgbClr val="4EC9B0"/>
                </a:solidFill>
                <a:latin typeface="Consolas"/>
              </a:rPr>
              <a:t>Tag</a:t>
            </a:r>
            <a:r>
              <a:rPr sz="1600">
                <a:solidFill>
                  <a:srgbClr val="D4D4D4"/>
                </a:solidFill>
                <a:latin typeface="Consolas"/>
              </a:rPr>
              <a:t>{}, state, *</a:t>
            </a:r>
            <a:r>
              <a:rPr sz="1600">
                <a:solidFill>
                  <a:srgbClr val="569CD6"/>
                </a:solidFill>
                <a:latin typeface="Consolas"/>
              </a:rPr>
              <a:t>this</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 compute(mass1::</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 f = query&lt;mass1::</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query(</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std::span&lt;</a:t>
            </a:r>
            <a:r>
              <a:rPr sz="1600">
                <a:solidFill>
                  <a:srgbClr val="569CD6"/>
                </a:solidFill>
                <a:latin typeface="Consolas"/>
              </a:rPr>
              <a:t>const</a:t>
            </a:r>
            <a:r>
              <a:rPr sz="1600">
                <a:solidFill>
                  <a:srgbClr val="D4D4D4"/>
                </a:solidFill>
                <a:latin typeface="Consolas"/>
              </a:rPr>
              <a:t> T&gt; s)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reg.computeFunction&lt;</a:t>
            </a:r>
            <a:r>
              <a:rPr sz="1600" b="1">
                <a:solidFill>
                  <a:srgbClr val="4EC9B0"/>
                </a:solidFill>
                <a:latin typeface="Consolas"/>
              </a:rPr>
              <a:t>Tag</a:t>
            </a:r>
            <a:r>
              <a:rPr sz="1600" b="1">
                <a:solidFill>
                  <a:srgbClr val="D4D4D4"/>
                </a:solidFill>
                <a:latin typeface="Consolas"/>
              </a:rPr>
              <a:t>&gt;(s);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a:t>
            </a:r>
          </a:p>
          <a:p>
            <a:pPr>
              <a:spcAft>
                <a:spcPts val="100"/>
              </a:spcAft>
            </a:pPr>
            <a:r>
              <a:rPr sz="1600">
                <a:solidFill>
                  <a:srgbClr val="D4D4D4"/>
                </a:solidFill>
                <a:latin typeface="Consolas"/>
              </a:rPr>
              <a:t>    { C::state_size } -&gt; std::convertible_to&lt;</a:t>
            </a:r>
            <a:r>
              <a:rPr sz="1600">
                <a:solidFill>
                  <a:srgbClr val="4EC9B0"/>
                </a:solidFill>
                <a:latin typeface="Consolas"/>
              </a:rPr>
              <a:t>size_t</a:t>
            </a:r>
            <a:r>
              <a:rPr sz="1600">
                <a:solidFill>
                  <a:srgbClr val="D4D4D4"/>
                </a:solidFill>
                <a:latin typeface="Consolas"/>
              </a:rPr>
              <a:t>&gt;;</a:t>
            </a:r>
          </a:p>
          <a:p>
            <a:pPr>
              <a:spcAft>
                <a:spcPts val="100"/>
              </a:spcAft>
            </a:pPr>
            <a:r>
              <a:rPr sz="1600">
                <a:solidFill>
                  <a:srgbClr val="D4D4D4"/>
                </a:solidFill>
                <a:latin typeface="Consolas"/>
              </a:rPr>
              <a:t>    { c.getInitialLocalState() } -&gt; std::same_as&lt;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&lt;C&gt; &amp;&amp;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 &amp;&amp;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a:t>
            </a:r>
          </a:p>
          <a:p>
            <a:pPr>
              <a:spcAft>
                <a:spcPts val="100"/>
              </a:spcAft>
            </a:pPr>
            <a:r>
              <a:rPr sz="1600">
                <a:solidFill>
                  <a:srgbClr val="D4D4D4"/>
                </a:solidFill>
                <a:latin typeface="Consolas"/>
              </a:rPr>
              <a:t>    { c.compute(</a:t>
            </a:r>
            <a:r>
              <a:rPr sz="1600">
                <a:solidFill>
                  <a:srgbClr val="4EC9B0"/>
                </a:solidFill>
                <a:latin typeface="Consolas"/>
              </a:rPr>
              <a:t>Tag</a:t>
            </a:r>
            <a:r>
              <a:rPr sz="1600">
                <a:solidFill>
                  <a:srgbClr val="D4D4D4"/>
                </a:solidFill>
                <a:latin typeface="Consolas"/>
              </a:rPr>
              <a:t>{}, s, reg); };</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371600"/>
            <a:ext cx="1133856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554480"/>
            <a:ext cx="10972800" cy="3758183"/>
          </a:xfrm>
          <a:prstGeom prst="rect">
            <a:avLst/>
          </a:prstGeom>
          <a:noFill/>
        </p:spPr>
        <p:txBody>
          <a:bodyPr wrap="none">
            <a:spAutoFit/>
          </a:bodyPr>
          <a:lstStyle/>
          <a:p>
            <a:pPr>
              <a:spcAft>
                <a:spcPts val="100"/>
              </a:spcAft>
            </a:pPr>
            <a:r>
              <a:rPr sz="1600">
                <a:solidFill>
                  <a:srgbClr val="DCDCAA"/>
                </a:solidFill>
                <a:latin typeface="Consolas"/>
              </a:rPr>
              <a:t>energy_sopot</a:t>
            </a:r>
            <a:r>
              <a:rPr sz="1600">
                <a:solidFill>
                  <a:srgbClr val="D4D4D4"/>
                </a:solidFill>
                <a:latin typeface="Consolas"/>
              </a:rPr>
              <a:t>(span&lt;const double&gt;):     </a:t>
            </a:r>
            <a:r>
              <a:rPr sz="1600">
                <a:solidFill>
                  <a:srgbClr val="6A9955"/>
                </a:solidFill>
                <a:latin typeface="Consolas"/>
              </a:rPr>
              <a:t>; 4 components, registry dispatch</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r10, [sys+</a:t>
            </a:r>
            <a:r>
              <a:rPr sz="1600">
                <a:solidFill>
                  <a:srgbClr val="B5CEA8"/>
                </a:solidFill>
                <a:latin typeface="Consolas"/>
              </a:rPr>
              <a:t>272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xmm1, [.LC0]        </a:t>
            </a:r>
            <a:r>
              <a:rPr sz="1600">
                <a:solidFill>
                  <a:srgbClr val="6A9955"/>
                </a:solidFill>
                <a:latin typeface="Consolas"/>
              </a:rPr>
              <a:t>; 0.5</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rax, [rcx]</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xmm0, [r10+</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m1        &lt;- runtime parameters,</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xmm3, [rax+rcx*</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v1           loaded once</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0.5*m1*v1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 * v1</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xmm2, [r8+</a:t>
            </a:r>
            <a:r>
              <a:rPr sz="1600">
                <a:solidFill>
                  <a:srgbClr val="B5CEA8"/>
                </a:solidFill>
                <a:latin typeface="Consolas"/>
              </a:rPr>
              <a:t>16</a:t>
            </a:r>
            <a:r>
              <a:rPr sz="1600">
                <a:solidFill>
                  <a:srgbClr val="D4D4D4"/>
                </a:solidFill>
                <a:latin typeface="Consolas"/>
              </a:rPr>
              <a:t>]       </a:t>
            </a:r>
            <a:r>
              <a:rPr sz="1600">
                <a:solidFill>
                  <a:srgbClr val="6A9955"/>
                </a:solidFill>
                <a:latin typeface="Consolas"/>
              </a:rPr>
              <a:t>; x1-x2-L0</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xmm1, xmm2          </a:t>
            </a:r>
            <a:r>
              <a:rPr sz="1600">
                <a:solidFill>
                  <a:srgbClr val="6A9955"/>
                </a:solidFill>
                <a:latin typeface="Consolas"/>
              </a:rPr>
              <a:t>; PE terms</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xmm3</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xmm1          </a:t>
            </a:r>
            <a:r>
              <a:rPr sz="1600">
                <a:solidFill>
                  <a:srgbClr val="6A9955"/>
                </a:solidFill>
                <a:latin typeface="Consolas"/>
              </a:rPr>
              <a:t>; KE1+KE2+PE</a:t>
            </a:r>
          </a:p>
          <a:p>
            <a:pPr>
              <a:spcAft>
                <a:spcPts val="100"/>
              </a:spcAft>
            </a:pPr>
            <a:r>
              <a:rPr sz="1600">
                <a:solidFill>
                  <a:srgbClr val="D4D4D4"/>
                </a:solidFill>
                <a:latin typeface="Consolas"/>
              </a:rPr>
              <a:t>    </a:t>
            </a:r>
            <a:r>
              <a:rPr sz="1600">
                <a:solidFill>
                  <a:srgbClr val="DCDCAA"/>
                </a:solidFill>
                <a:latin typeface="Consolas"/>
              </a:rPr>
              <a:t>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
        <p:nvSpPr>
          <p:cNvPr id="9" name="asm takeaway"/>
          <p:cNvSpPr txBox="1"/>
          <p:nvPr/>
        </p:nvSpPr>
        <p:spPr>
          <a:xfrm>
            <a:off x="731520" y="5678423"/>
            <a:ext cx="10972800" cy="548640"/>
          </a:xfrm>
          <a:prstGeom prst="rect">
            <a:avLst/>
          </a:prstGeom>
          <a:noFill/>
        </p:spPr>
        <p:txBody>
          <a:bodyPr wrap="none">
            <a:spAutoFit/>
          </a:bodyPr>
          <a:lstStyle/>
          <a:p>
            <a:r>
              <a:rPr sz="1900" i="1">
                <a:solidFill>
                  <a:srgbClr val="7EE08A"/>
                </a:solidFill>
                <a:latin typeface="Segoe UI"/>
              </a:rPr>
              <a:t>0 calls · 0 jumps · 0 vtables — straight-line FP, the same shape as the hand-written formula.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…and the derivative? Same story.</a:t>
            </a:r>
          </a:p>
        </p:txBody>
      </p:sp>
      <p:sp>
        <p:nvSpPr>
          <p:cNvPr id="4" name="Rounded Rectangle 3"/>
          <p:cNvSpPr/>
          <p:nvPr/>
        </p:nvSpPr>
        <p:spPr>
          <a:xfrm>
            <a:off x="548640" y="1280160"/>
            <a:ext cx="11338560" cy="442569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463040"/>
            <a:ext cx="10972800" cy="4059936"/>
          </a:xfrm>
          <a:prstGeom prst="rect">
            <a:avLst/>
          </a:prstGeom>
          <a:noFill/>
        </p:spPr>
        <p:txBody>
          <a:bodyPr wrap="none">
            <a:spAutoFit/>
          </a:bodyPr>
          <a:lstStyle/>
          <a:p>
            <a:pPr>
              <a:spcAft>
                <a:spcPts val="100"/>
              </a:spcAft>
            </a:pPr>
            <a:r>
              <a:rPr sz="1600">
                <a:solidFill>
                  <a:srgbClr val="D4D4D4"/>
                </a:solidFill>
                <a:latin typeface="Consolas"/>
              </a:rPr>
              <a:t>mass1_derivative(...):            </a:t>
            </a:r>
            <a:r>
              <a:rPr sz="1600">
                <a:solidFill>
                  <a:srgbClr val="6A9955"/>
                </a:solidFill>
                <a:latin typeface="Consolas"/>
              </a:rPr>
              <a:t>; returns { dx/dt , dv/dt }</a:t>
            </a:r>
          </a:p>
          <a:p>
            <a:pPr>
              <a:spcAft>
                <a:spcPts val="100"/>
              </a:spcAft>
            </a:pPr>
            <a:r>
              <a:rPr sz="1600">
                <a:solidFill>
                  <a:srgbClr val="D4D4D4"/>
                </a:solidFill>
                <a:latin typeface="Consolas"/>
              </a:rPr>
              <a:t>    mov   r9,  [sys+112]          </a:t>
            </a:r>
            <a:r>
              <a:rPr sz="1600">
                <a:solidFill>
                  <a:srgbClr val="6A9955"/>
                </a:solidFill>
                <a:latin typeface="Consolas"/>
              </a:rPr>
              <a:t>; spring component</a:t>
            </a:r>
          </a:p>
          <a:p>
            <a:pPr>
              <a:spcAft>
                <a:spcPts val="100"/>
              </a:spcAft>
            </a:pPr>
            <a:r>
              <a:rPr sz="1600">
                <a:solidFill>
                  <a:srgbClr val="D4D4D4"/>
                </a:solidFill>
                <a:latin typeface="Consolas"/>
              </a:rPr>
              <a:t>    mov   r10, [sys+128]          </a:t>
            </a:r>
            <a:r>
              <a:rPr sz="1600">
                <a:solidFill>
                  <a:srgbClr val="6A9955"/>
                </a:solidFill>
                <a:latin typeface="Consolas"/>
              </a:rPr>
              <a:t>; mass1 component</a:t>
            </a:r>
          </a:p>
          <a:p>
            <a:pPr>
              <a:spcAft>
                <a:spcPts val="100"/>
              </a:spcAft>
            </a:pPr>
            <a:r>
              <a:rPr sz="1600">
                <a:solidFill>
                  <a:srgbClr val="D4D4D4"/>
                </a:solidFill>
                <a:latin typeface="Consolas"/>
              </a:rPr>
              <a:t>    movsd xmm2, [r9+8]            </a:t>
            </a:r>
            <a:r>
              <a:rPr sz="1600">
                <a:solidFill>
                  <a:srgbClr val="6A9955"/>
                </a:solidFill>
                <a:latin typeface="Consolas"/>
              </a:rPr>
              <a:t>; stiffness k, negated -&gt; -k</a:t>
            </a:r>
          </a:p>
          <a:p>
            <a:pPr>
              <a:spcAft>
                <a:spcPts val="100"/>
              </a:spcAft>
            </a:pPr>
            <a:r>
              <a:rPr sz="1600">
                <a:solidFill>
                  <a:srgbClr val="D4D4D4"/>
                </a:solidFill>
                <a:latin typeface="Consolas"/>
              </a:rPr>
              <a:t>    xorpd xmm2, [.LC0]</a:t>
            </a:r>
          </a:p>
          <a:p>
            <a:pPr>
              <a:spcAft>
                <a:spcPts val="100"/>
              </a:spcAft>
            </a:pPr>
            <a:r>
              <a:rPr sz="1600">
                <a:solidFill>
                  <a:srgbClr val="D4D4D4"/>
                </a:solidFill>
                <a:latin typeface="Consolas"/>
              </a:rPr>
              <a:t>    movsd xmm0, [r8+rcx*8]        </a:t>
            </a:r>
            <a:r>
              <a:rPr sz="1600">
                <a:solidFill>
                  <a:srgbClr val="6A9955"/>
                </a:solidFill>
                <a:latin typeface="Consolas"/>
              </a:rPr>
              <a:t>; x1</a:t>
            </a:r>
          </a:p>
          <a:p>
            <a:pPr>
              <a:spcAft>
                <a:spcPts val="100"/>
              </a:spcAft>
            </a:pPr>
            <a:r>
              <a:rPr sz="1600">
                <a:solidFill>
                  <a:srgbClr val="D4D4D4"/>
                </a:solidFill>
                <a:latin typeface="Consolas"/>
              </a:rPr>
              <a:t>    subsd xmm0, [r8+rdx*8]        </a:t>
            </a:r>
            <a:r>
              <a:rPr sz="1600">
                <a:solidFill>
                  <a:srgbClr val="6A9955"/>
                </a:solidFill>
                <a:latin typeface="Consolas"/>
              </a:rPr>
              <a:t>;   - x2</a:t>
            </a:r>
          </a:p>
          <a:p>
            <a:pPr>
              <a:spcAft>
                <a:spcPts val="100"/>
              </a:spcAft>
            </a:pPr>
            <a:r>
              <a:rPr sz="1600">
                <a:solidFill>
                  <a:srgbClr val="D4D4D4"/>
                </a:solidFill>
                <a:latin typeface="Consolas"/>
              </a:rPr>
              <a:t>    subsd xmm0, [r9+16]           </a:t>
            </a:r>
            <a:r>
              <a:rPr sz="1600">
                <a:solidFill>
                  <a:srgbClr val="6A9955"/>
                </a:solidFill>
                <a:latin typeface="Consolas"/>
              </a:rPr>
              <a:t>;   - L0       -&gt; extension</a:t>
            </a:r>
          </a:p>
          <a:p>
            <a:pPr>
              <a:spcAft>
                <a:spcPts val="100"/>
              </a:spcAft>
            </a:pPr>
            <a:r>
              <a:rPr sz="1600">
                <a:solidFill>
                  <a:srgbClr val="D4D4D4"/>
                </a:solidFill>
                <a:latin typeface="Consolas"/>
              </a:rPr>
              <a:t>    movsd xmm1, [r8+rcx*8]        </a:t>
            </a:r>
            <a:r>
              <a:rPr sz="1600">
                <a:solidFill>
                  <a:srgbClr val="6A9955"/>
                </a:solidFill>
                <a:latin typeface="Consolas"/>
              </a:rPr>
              <a:t>; v1           (= dx/dt)</a:t>
            </a:r>
          </a:p>
          <a:p>
            <a:pPr>
              <a:spcAft>
                <a:spcPts val="100"/>
              </a:spcAft>
            </a:pPr>
            <a:r>
              <a:rPr sz="1600">
                <a:solidFill>
                  <a:srgbClr val="D4D4D4"/>
                </a:solidFill>
                <a:latin typeface="Consolas"/>
              </a:rPr>
              <a:t>    mulsd xmm0, xmm2              </a:t>
            </a:r>
            <a:r>
              <a:rPr sz="1600">
                <a:solidFill>
                  <a:srgbClr val="6A9955"/>
                </a:solidFill>
                <a:latin typeface="Consolas"/>
              </a:rPr>
              <a:t>; -k * extension   (spring force)</a:t>
            </a:r>
          </a:p>
          <a:p>
            <a:pPr>
              <a:spcAft>
                <a:spcPts val="100"/>
              </a:spcAft>
            </a:pPr>
            <a:r>
              <a:rPr sz="1600">
                <a:solidFill>
                  <a:srgbClr val="D4D4D4"/>
                </a:solidFill>
                <a:latin typeface="Consolas"/>
              </a:rPr>
              <a:t>    comisd xmm3, 0               </a:t>
            </a:r>
            <a:r>
              <a:rPr sz="1600">
                <a:solidFill>
                  <a:srgbClr val="6A9955"/>
                </a:solidFill>
                <a:latin typeface="Consolas"/>
              </a:rPr>
              <a:t>; if (damping &gt; 0)  - c == 0, so</a:t>
            </a:r>
          </a:p>
          <a:p>
            <a:pPr>
              <a:spcAft>
                <a:spcPts val="100"/>
              </a:spcAft>
            </a:pPr>
            <a:r>
              <a:rPr sz="1600">
                <a:solidFill>
                  <a:srgbClr val="D4D4D4"/>
                </a:solidFill>
                <a:latin typeface="Consolas"/>
              </a:rPr>
              <a:t>    jbe   .Lskip                 </a:t>
            </a:r>
            <a:r>
              <a:rPr sz="1600">
                <a:solidFill>
                  <a:srgbClr val="6A9955"/>
                </a:solidFill>
                <a:latin typeface="Consolas"/>
              </a:rPr>
              <a:t>;   the branch is skipped</a:t>
            </a:r>
          </a:p>
          <a:p>
            <a:pPr>
              <a:spcAft>
                <a:spcPts val="100"/>
              </a:spcAft>
            </a:pPr>
            <a:r>
              <a:rPr sz="1600">
                <a:solidFill>
                  <a:srgbClr val="D4D4D4"/>
                </a:solidFill>
                <a:latin typeface="Consolas"/>
              </a:rPr>
              <a:t>    divsd xmm0, [r10+8]          </a:t>
            </a:r>
            <a:r>
              <a:rPr sz="1600">
                <a:solidFill>
                  <a:srgbClr val="6A9955"/>
                </a:solidFill>
                <a:latin typeface="Consolas"/>
              </a:rPr>
              <a:t>; force / m1   (= dv/dt)</a:t>
            </a:r>
          </a:p>
          <a:p>
            <a:pPr>
              <a:spcAft>
                <a:spcPts val="100"/>
              </a:spcAft>
            </a:pPr>
            <a:r>
              <a:rPr sz="1600">
                <a:solidFill>
                  <a:srgbClr val="D4D4D4"/>
                </a:solidFill>
                <a:latin typeface="Consolas"/>
              </a:rPr>
              <a:t>    unpcklpd xmm1, xmm0          </a:t>
            </a:r>
            <a:r>
              <a:rPr sz="1600">
                <a:solidFill>
                  <a:srgbClr val="6A9955"/>
                </a:solidFill>
                <a:latin typeface="Consolas"/>
              </a:rPr>
              <a:t>; pack { v1, a1 }</a:t>
            </a:r>
          </a:p>
          <a:p>
            <a:pPr>
              <a:spcAft>
                <a:spcPts val="100"/>
              </a:spcAft>
            </a:pPr>
            <a:r>
              <a:rPr sz="1600">
                <a:solidFill>
                  <a:srgbClr val="D4D4D4"/>
                </a:solidFill>
                <a:latin typeface="Consolas"/>
              </a:rPr>
              <a:t>    movups [rax], xmm1</a:t>
            </a:r>
          </a:p>
          <a:p>
            <a:pPr>
              <a:spcAft>
                <a:spcPts val="100"/>
              </a:spcAft>
            </a:pPr>
            <a:r>
              <a:rPr sz="1600">
                <a:solidFill>
                  <a:srgbClr val="D4D4D4"/>
                </a:solidFill>
                <a:latin typeface="Consolas"/>
              </a:rPr>
              <a:t>    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
        <p:nvSpPr>
          <p:cNvPr id="9" name="asm takeaway"/>
          <p:cNvSpPr txBox="1"/>
          <p:nvPr/>
        </p:nvSpPr>
        <p:spPr>
          <a:xfrm>
            <a:off x="731520" y="5833872"/>
            <a:ext cx="11155680" cy="548640"/>
          </a:xfrm>
          <a:prstGeom prst="rect">
            <a:avLst/>
          </a:prstGeom>
          <a:noFill/>
        </p:spPr>
        <p:txBody>
          <a:bodyPr wrap="none">
            <a:spAutoFit/>
          </a:bodyPr>
          <a:lstStyle/>
          <a:p>
            <a:r>
              <a:rPr sz="1900" i="1">
                <a:solidFill>
                  <a:srgbClr val="7EE08A"/>
                </a:solidFill>
                <a:latin typeface="Segoe UI"/>
              </a:rPr>
              <a:t>the whole query chain — spring force, then ÷ mass — is ~15 instructions, no calls.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sz="4000" b="1">
                <a:solidFill>
                  <a:srgbClr val="7EE08A"/>
                </a:solidFill>
                <a:latin typeface="Segoe UI"/>
              </a:rPr>
              <a:t>1000×</a:t>
            </a:r>
            <a:r>
              <a:rPr sz="2000" b="0">
                <a:solidFill>
                  <a:srgbClr val="D8E2EC"/>
                </a:solidFill>
                <a:latin typeface="Segoe UI"/>
              </a:rPr>
              <a:t>   faster than an equivalent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sim  = makeODESystem&lt;</a:t>
            </a:r>
            <a:r>
              <a:rPr sz="1600">
                <a:solidFill>
                  <a:srgbClr val="4EC9B0"/>
                </a:solidFill>
                <a:latin typeface="Consolas"/>
              </a:rPr>
              <a:t>double</a:t>
            </a:r>
            <a:r>
              <a:rPr sz="1600">
                <a:solidFill>
                  <a:srgbClr val="D4D4D4"/>
                </a:solidFill>
                <a:latin typeface="Consolas"/>
              </a:rPr>
              <a:t>&gt;(comps...);</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D =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grad = makeODESystem&lt;D&gt;(comps...);</a:t>
            </a:r>
          </a:p>
          <a:p>
            <a:pPr>
              <a:spcAft>
                <a:spcPts val="100"/>
              </a:spcAft>
            </a:pPr>
            <a:r>
              <a:rPr sz="1600">
                <a:solidFill>
                  <a:srgbClr val="569CD6"/>
                </a:solidFill>
                <a:latin typeface="Consolas"/>
              </a:rPr>
              <a:t>auto</a:t>
            </a:r>
            <a:r>
              <a:rPr sz="1600">
                <a:solidFill>
                  <a:srgbClr val="D4D4D4"/>
                </a:solidFill>
                <a:latin typeface="Consolas"/>
              </a:rPr>
              <a:t> J    = computeJacobian(grad, t, state);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548640" y="1554480"/>
            <a:ext cx="11338560" cy="301752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
        <p:nvSpPr>
          <p:cNvPr id="8" name="zarchan setup"/>
          <p:cNvSpPr txBox="1"/>
          <p:nvPr/>
        </p:nvSpPr>
        <p:spPr>
          <a:xfrm>
            <a:off x="777240" y="1691640"/>
            <a:ext cx="10881360" cy="2743200"/>
          </a:xfrm>
          <a:prstGeom prst="rect">
            <a:avLst/>
          </a:prstGeom>
          <a:noFill/>
        </p:spPr>
        <p:txBody>
          <a:bodyPr wrap="none">
            <a:spAutoFit/>
          </a:bodyPr>
          <a:lstStyle/>
          <a:p>
            <a:pPr>
              <a:spcAft>
                <a:spcPts val="100"/>
              </a:spcAft>
            </a:pPr>
            <a:r>
              <a:rPr sz="1600">
                <a:solidFill>
                  <a:srgbClr val="D4D4D4"/>
                </a:solidFill>
                <a:latin typeface="Consolas"/>
              </a:rPr>
              <a:t>XISP1</a:t>
            </a:r>
            <a:r>
              <a:rPr sz="1600">
                <a:solidFill>
                  <a:srgbClr val="D4D4D4"/>
                </a:solidFill>
                <a:latin typeface="Consolas"/>
              </a:rPr>
              <a:t>=</a:t>
            </a:r>
            <a:r>
              <a:rPr sz="1600">
                <a:solidFill>
                  <a:srgbClr val="B5CEA8"/>
                </a:solidFill>
                <a:latin typeface="Consolas"/>
              </a:rPr>
              <a:t>250.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250.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XMF1</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XMF2</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p>
          <a:p>
            <a:pPr>
              <a:spcAft>
                <a:spcPts val="100"/>
              </a:spcAft>
            </a:pPr>
            <a:r>
              <a:rPr sz="1600">
                <a:solidFill>
                  <a:srgbClr val="D4D4D4"/>
                </a:solidFill>
                <a:latin typeface="Consolas"/>
              </a:rPr>
              <a:t>WPAY</a:t>
            </a:r>
            <a:r>
              <a:rPr sz="1600">
                <a:solidFill>
                  <a:srgbClr val="D4D4D4"/>
                </a:solidFill>
                <a:latin typeface="Consolas"/>
              </a:rPr>
              <a:t>=</a:t>
            </a:r>
            <a:r>
              <a:rPr sz="1600">
                <a:solidFill>
                  <a:srgbClr val="B5CEA8"/>
                </a:solidFill>
                <a:latin typeface="Consolas"/>
              </a:rPr>
              <a:t>100.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DELV</a:t>
            </a:r>
            <a:r>
              <a:rPr sz="1600">
                <a:solidFill>
                  <a:srgbClr val="D4D4D4"/>
                </a:solidFill>
                <a:latin typeface="Consolas"/>
              </a:rPr>
              <a:t>=</a:t>
            </a:r>
            <a:r>
              <a:rPr sz="1600">
                <a:solidFill>
                  <a:srgbClr val="B5CEA8"/>
                </a:solidFill>
                <a:latin typeface="Consolas"/>
              </a:rPr>
              <a:t>20000.</a:t>
            </a:r>
            <a:r>
              <a:rPr sz="1600">
                <a:solidFill>
                  <a:srgbClr val="D4D4D4"/>
                </a:solidFill>
                <a:latin typeface="Consolas"/>
              </a:rPr>
              <a:t>;</a:t>
            </a:r>
          </a:p>
          <a:p>
            <a:pPr>
              <a:spcAft>
                <a:spcPts val="100"/>
              </a:spcAft>
            </a:pPr>
            <a:r>
              <a:rPr sz="1600">
                <a:solidFill>
                  <a:srgbClr val="D4D4D4"/>
                </a:solidFill>
                <a:latin typeface="Consolas"/>
              </a:rPr>
              <a:t>DELV1</a:t>
            </a:r>
            <a:r>
              <a:rPr sz="1600">
                <a:solidFill>
                  <a:srgbClr val="D4D4D4"/>
                </a:solidFill>
                <a:latin typeface="Consolas"/>
              </a:rPr>
              <a:t>=</a:t>
            </a:r>
            <a:r>
              <a:rPr sz="1600">
                <a:solidFill>
                  <a:srgbClr val="B5CEA8"/>
                </a:solidFill>
                <a:latin typeface="Consolas"/>
              </a:rPr>
              <a:t>.3333</a:t>
            </a:r>
            <a:r>
              <a:rPr sz="1600">
                <a:solidFill>
                  <a:srgbClr val="D4D4D4"/>
                </a:solidFill>
                <a:latin typeface="Consolas"/>
              </a:rPr>
              <a:t>*</a:t>
            </a:r>
            <a:r>
              <a:rPr sz="1600">
                <a:solidFill>
                  <a:srgbClr val="D4D4D4"/>
                </a:solidFill>
                <a:latin typeface="Consolas"/>
              </a:rPr>
              <a:t>DELV</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DELV2</a:t>
            </a:r>
            <a:r>
              <a:rPr sz="1600">
                <a:solidFill>
                  <a:srgbClr val="D4D4D4"/>
                </a:solidFill>
                <a:latin typeface="Consolas"/>
              </a:rPr>
              <a:t>=</a:t>
            </a:r>
            <a:r>
              <a:rPr sz="1600">
                <a:solidFill>
                  <a:srgbClr val="B5CEA8"/>
                </a:solidFill>
                <a:latin typeface="Consolas"/>
              </a:rPr>
              <a:t>.6667</a:t>
            </a:r>
            <a:r>
              <a:rPr sz="1600">
                <a:solidFill>
                  <a:srgbClr val="D4D4D4"/>
                </a:solidFill>
                <a:latin typeface="Consolas"/>
              </a:rPr>
              <a:t>*</a:t>
            </a:r>
            <a:r>
              <a:rPr sz="1600">
                <a:solidFill>
                  <a:srgbClr val="D4D4D4"/>
                </a:solidFill>
                <a:latin typeface="Consolas"/>
              </a:rPr>
              <a:t>DELV</a:t>
            </a:r>
            <a:r>
              <a:rPr sz="1600">
                <a:solidFill>
                  <a:srgbClr val="D4D4D4"/>
                </a:solidFill>
                <a:latin typeface="Consolas"/>
              </a:rPr>
              <a:t>;</a:t>
            </a:r>
          </a:p>
          <a:p>
            <a:pPr>
              <a:spcAft>
                <a:spcPts val="100"/>
              </a:spcAft>
            </a:pPr>
            <a:r>
              <a:rPr sz="1600">
                <a:solidFill>
                  <a:srgbClr val="D4D4D4"/>
                </a:solidFill>
                <a:latin typeface="Consolas"/>
              </a:rPr>
              <a:t>AMAX1</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AMAX2</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GAMDEG</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p>
          <a:p>
            <a:pPr>
              <a:spcAft>
                <a:spcPts val="100"/>
              </a:spcAft>
            </a:pPr>
            <a:r>
              <a:rPr sz="1600">
                <a:solidFill>
                  <a:srgbClr val="D4D4D4"/>
                </a:solidFill>
                <a:latin typeface="Consolas"/>
              </a:rPr>
              <a:t>TOP2</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a:t>
            </a:r>
            <a:r>
              <a:rPr sz="1600">
                <a:solidFill>
                  <a:srgbClr val="4EC9B0"/>
                </a:solidFill>
                <a:latin typeface="Consolas"/>
              </a:rPr>
              <a:t>exp</a:t>
            </a:r>
            <a:r>
              <a:rPr sz="1600">
                <a:solidFill>
                  <a:srgbClr val="D4D4D4"/>
                </a:solidFill>
                <a:latin typeface="Consolas"/>
              </a:rPr>
              <a:t>(</a:t>
            </a:r>
            <a:r>
              <a:rPr sz="1600">
                <a:solidFill>
                  <a:srgbClr val="D4D4D4"/>
                </a:solidFill>
                <a:latin typeface="Consolas"/>
              </a:rPr>
              <a:t>DELV2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BOT2</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exp</a:t>
            </a:r>
            <a:r>
              <a:rPr sz="1600">
                <a:solidFill>
                  <a:srgbClr val="D4D4D4"/>
                </a:solidFill>
                <a:latin typeface="Consolas"/>
              </a:rPr>
              <a:t>(</a:t>
            </a:r>
            <a:r>
              <a:rPr sz="1600">
                <a:solidFill>
                  <a:srgbClr val="D4D4D4"/>
                </a:solidFill>
                <a:latin typeface="Consolas"/>
              </a:rPr>
              <a:t>DELV2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WP2</a:t>
            </a:r>
            <a:r>
              <a:rPr sz="1600">
                <a:solidFill>
                  <a:srgbClr val="D4D4D4"/>
                </a:solidFill>
                <a:latin typeface="Consolas"/>
              </a:rPr>
              <a:t>=</a:t>
            </a:r>
            <a:r>
              <a:rPr sz="1600">
                <a:solidFill>
                  <a:srgbClr val="D4D4D4"/>
                </a:solidFill>
                <a:latin typeface="Consolas"/>
              </a:rPr>
              <a:t>TOP2</a:t>
            </a:r>
            <a:r>
              <a:rPr sz="1600">
                <a:solidFill>
                  <a:srgbClr val="D4D4D4"/>
                </a:solidFill>
                <a:latin typeface="Consolas"/>
              </a:rPr>
              <a:t>/</a:t>
            </a:r>
            <a:r>
              <a:rPr sz="1600">
                <a:solidFill>
                  <a:srgbClr val="D4D4D4"/>
                </a:solidFill>
                <a:latin typeface="Consolas"/>
              </a:rPr>
              <a:t>BOT2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WTOT2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p>
          <a:p>
            <a:pPr>
              <a:spcAft>
                <a:spcPts val="100"/>
              </a:spcAft>
            </a:pPr>
            <a:r>
              <a:rPr sz="1600">
                <a:solidFill>
                  <a:srgbClr val="D4D4D4"/>
                </a:solidFill>
                <a:latin typeface="Consolas"/>
              </a:rPr>
              <a:t>TRST2</a:t>
            </a:r>
            <a:r>
              <a:rPr sz="1600">
                <a:solidFill>
                  <a:srgbClr val="D4D4D4"/>
                </a:solidFill>
                <a:latin typeface="Consolas"/>
              </a:rPr>
              <a:t>=</a:t>
            </a:r>
            <a:r>
              <a:rPr sz="1600">
                <a:solidFill>
                  <a:srgbClr val="D4D4D4"/>
                </a:solidFill>
                <a:latin typeface="Consolas"/>
              </a:rPr>
              <a:t>AMAX2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TRST2</a:t>
            </a:r>
            <a:r>
              <a:rPr sz="1600">
                <a:solidFill>
                  <a:srgbClr val="D4D4D4"/>
                </a:solidFill>
                <a:latin typeface="Consolas"/>
              </a:rPr>
              <a:t>;</a:t>
            </a:r>
          </a:p>
          <a:p>
            <a:pPr>
              <a:spcAft>
                <a:spcPts val="100"/>
              </a:spcAft>
            </a:pPr>
            <a:r>
              <a:rPr sz="1600">
                <a:solidFill>
                  <a:srgbClr val="6A9955"/>
                </a:solidFill>
                <a:latin typeface="Consolas"/>
              </a:rPr>
              <a:t>% ... then TOP1,BOT1,WP1,WS1,WTOT,TRST1,TB1 -- same again for stage 1</a:t>
            </a:r>
          </a:p>
        </p:txBody>
      </p:sp>
      <p:sp>
        <p:nvSpPr>
          <p:cNvPr id="9" name="TextBox 8"/>
          <p:cNvSpPr txBox="1"/>
          <p:nvPr/>
        </p:nvSpPr>
        <p:spPr>
          <a:xfrm>
            <a:off x="777240" y="4617720"/>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loop, every variable global</a:t>
            </a:r>
          </a:p>
        </p:txBody>
      </p:sp>
      <p:sp>
        <p:nvSpPr>
          <p:cNvPr id="4" name="Rounded Rectangle 3"/>
          <p:cNvSpPr/>
          <p:nvPr/>
        </p:nvSpPr>
        <p:spPr>
          <a:xfrm>
            <a:off x="548640" y="1463040"/>
            <a:ext cx="11338560" cy="3767328"/>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
        <p:nvSpPr>
          <p:cNvPr id="8" name="zarchan loop"/>
          <p:cNvSpPr txBox="1"/>
          <p:nvPr/>
        </p:nvSpPr>
        <p:spPr>
          <a:xfrm>
            <a:off x="777240" y="1600200"/>
            <a:ext cx="10881360" cy="3566160"/>
          </a:xfrm>
          <a:prstGeom prst="rect">
            <a:avLst/>
          </a:prstGeom>
          <a:noFill/>
        </p:spPr>
        <p:txBody>
          <a:bodyPr wrap="none">
            <a:spAutoFit/>
          </a:bodyPr>
          <a:lstStyle/>
          <a:p>
            <a:pPr>
              <a:spcAft>
                <a:spcPts val="100"/>
              </a:spcAft>
            </a:pPr>
            <a:r>
              <a:rPr sz="1600">
                <a:solidFill>
                  <a:srgbClr val="569CD6"/>
                </a:solidFill>
                <a:latin typeface="Consolas"/>
              </a:rPr>
              <a:t>while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ALT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if</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&lt;</a:t>
            </a:r>
            <a:r>
              <a:rPr sz="1600">
                <a:solidFill>
                  <a:srgbClr val="D4D4D4"/>
                </a:solidFill>
                <a:latin typeface="Consolas"/>
              </a:rPr>
              <a:t>TB1</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WP1</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WTOT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TRST1</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elseif</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&lt;</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WTOT2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TRST2</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else</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B5CEA8"/>
                </a:solidFill>
                <a:latin typeface="Consolas"/>
              </a:rPr>
              <a:t>0.</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end</a:t>
            </a:r>
          </a:p>
          <a:p>
            <a:pPr>
              <a:spcAft>
                <a:spcPts val="100"/>
              </a:spcAft>
            </a:pPr>
            <a:r>
              <a:rPr sz="1600">
                <a:solidFill>
                  <a:srgbClr val="D4D4D4"/>
                </a:solidFill>
                <a:latin typeface="Consolas"/>
              </a:rPr>
              <a:t>    </a:t>
            </a:r>
            <a:r>
              <a:rPr sz="1600">
                <a:solidFill>
                  <a:srgbClr val="D4D4D4"/>
                </a:solidFill>
                <a:latin typeface="Consolas"/>
              </a:rPr>
              <a:t>AT</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VEL</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X1</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Y1</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1.5</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X1D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GM</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a:t>
            </a:r>
            <a:r>
              <a:rPr sz="1600">
                <a:solidFill>
                  <a:srgbClr val="D4D4D4"/>
                </a:solidFill>
                <a:latin typeface="Consolas"/>
              </a:rPr>
              <a:t>*</a:t>
            </a:r>
            <a:r>
              <a:rPr sz="1600">
                <a:solidFill>
                  <a:srgbClr val="D4D4D4"/>
                </a:solidFill>
                <a:latin typeface="Consolas"/>
              </a:rPr>
              <a:t>X1</a:t>
            </a:r>
            <a:r>
              <a:rPr sz="1600">
                <a:solidFill>
                  <a:srgbClr val="D4D4D4"/>
                </a:solidFill>
                <a:latin typeface="Consolas"/>
              </a:rPr>
              <a:t>/</a:t>
            </a:r>
            <a:r>
              <a:rPr sz="1600">
                <a:solidFill>
                  <a:srgbClr val="D4D4D4"/>
                </a:solidFill>
                <a:latin typeface="Consolas"/>
              </a:rPr>
              <a:t>VEL</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Y1D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GM</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a:t>
            </a:r>
            <a:r>
              <a:rPr sz="1600">
                <a:solidFill>
                  <a:srgbClr val="D4D4D4"/>
                </a:solidFill>
                <a:latin typeface="Consolas"/>
              </a:rPr>
              <a:t>*</a:t>
            </a:r>
            <a:r>
              <a:rPr sz="1600">
                <a:solidFill>
                  <a:srgbClr val="D4D4D4"/>
                </a:solidFill>
                <a:latin typeface="Consolas"/>
              </a:rPr>
              <a:t>Y1</a:t>
            </a:r>
            <a:r>
              <a:rPr sz="1600">
                <a:solidFill>
                  <a:srgbClr val="D4D4D4"/>
                </a:solidFill>
                <a:latin typeface="Consolas"/>
              </a:rPr>
              <a:t>/</a:t>
            </a:r>
            <a:r>
              <a:rPr sz="1600">
                <a:solidFill>
                  <a:srgbClr val="D4D4D4"/>
                </a:solidFill>
                <a:latin typeface="Consolas"/>
              </a:rPr>
              <a:t>VEL</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a:t>
            </a:r>
            <a:r>
              <a:rPr sz="1600">
                <a:solidFill>
                  <a:srgbClr val="6A9955"/>
                </a:solidFill>
                <a:latin typeface="Consolas"/>
              </a:rPr>
              <a:t>                          % + Euler step, range/altitude bookkeeping</a:t>
            </a:r>
          </a:p>
          <a:p>
            <a:pPr>
              <a:spcAft>
                <a:spcPts val="100"/>
              </a:spcAft>
            </a:pPr>
            <a:r>
              <a:rPr sz="1600">
                <a:solidFill>
                  <a:srgbClr val="569CD6"/>
                </a:solidFill>
                <a:latin typeface="Consolas"/>
              </a:rPr>
              <a:t>end</a:t>
            </a:r>
          </a:p>
        </p:txBody>
      </p:sp>
      <p:sp>
        <p:nvSpPr>
          <p:cNvPr id="9" name="TextBox 8"/>
          <p:cNvSpPr txBox="1"/>
          <p:nvPr/>
        </p:nvSpPr>
        <p:spPr>
          <a:xfrm>
            <a:off x="777240" y="5340096"/>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
        <p:nvSpPr>
          <p:cNvPr id="10" name="TextBox 9"/>
          <p:cNvSpPr txBox="1"/>
          <p:nvPr/>
        </p:nvSpPr>
        <p:spPr>
          <a:xfrm>
            <a:off x="777240" y="5669280"/>
            <a:ext cx="10972800" cy="457200"/>
          </a:xfrm>
          <a:prstGeom prst="rect">
            <a:avLst/>
          </a:prstGeom>
          <a:noFill/>
        </p:spPr>
        <p:txBody>
          <a:bodyPr wrap="none">
            <a:spAutoFit/>
          </a:bodyPr>
          <a:lstStyle/>
          <a:p>
            <a:r>
              <a:rPr sz="1900" i="1">
                <a:solidFill>
                  <a:srgbClr val="7EE08A"/>
                </a:solidFill>
                <a:latin typeface="Segoe UI"/>
              </a:rPr>
              <a:t>One scope. Every name global. Physics, staging, and the integrator all tangled together.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41</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script — even the plotting and file I/O</a:t>
            </a:r>
          </a:p>
        </p:txBody>
      </p:sp>
      <p:sp>
        <p:nvSpPr>
          <p:cNvPr id="4" name="Rounded Rectangle 3"/>
          <p:cNvSpPr/>
          <p:nvPr/>
        </p:nvSpPr>
        <p:spPr>
          <a:xfrm>
            <a:off x="548640" y="1463040"/>
            <a:ext cx="11338560" cy="352044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
        <p:nvSpPr>
          <p:cNvPr id="8" name="zarchan tail"/>
          <p:cNvSpPr txBox="1"/>
          <p:nvPr/>
        </p:nvSpPr>
        <p:spPr>
          <a:xfrm>
            <a:off x="777240" y="1600200"/>
            <a:ext cx="10881360" cy="3319272"/>
          </a:xfrm>
          <a:prstGeom prst="rect">
            <a:avLst/>
          </a:prstGeom>
          <a:noFill/>
        </p:spPr>
        <p:txBody>
          <a:bodyPr wrap="none">
            <a:spAutoFit/>
          </a:bodyPr>
          <a:lstStyle/>
          <a:p>
            <a:pPr>
              <a:spcAft>
                <a:spcPts val="100"/>
              </a:spcAft>
            </a:pPr>
            <a:r>
              <a:rPr sz="1600">
                <a:solidFill>
                  <a:srgbClr val="D4D4D4"/>
                </a:solidFill>
                <a:latin typeface="Consolas"/>
              </a:rPr>
              <a:t>    </a:t>
            </a:r>
            <a:r>
              <a:rPr sz="1600">
                <a:solidFill>
                  <a:srgbClr val="569CD6"/>
                </a:solidFill>
                <a:latin typeface="Consolas"/>
              </a:rPr>
              <a:t>if</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&gt;=</a:t>
            </a:r>
            <a:r>
              <a:rPr sz="1600">
                <a:solidFill>
                  <a:srgbClr val="B5CEA8"/>
                </a:solidFill>
                <a:latin typeface="Consolas"/>
              </a:rPr>
              <a:t>9.99999</a:t>
            </a:r>
          </a:p>
          <a:p>
            <a:pPr>
              <a:spcAft>
                <a:spcPts val="100"/>
              </a:spcAft>
            </a:pPr>
            <a:r>
              <a:rPr sz="1600">
                <a:solidFill>
                  <a:srgbClr val="D4D4D4"/>
                </a:solidFill>
                <a:latin typeface="Consolas"/>
              </a:rPr>
              <a:t>        </a:t>
            </a:r>
            <a:r>
              <a:rPr sz="1600">
                <a:solidFill>
                  <a:srgbClr val="D4D4D4"/>
                </a:solidFill>
                <a:latin typeface="Consolas"/>
              </a:rPr>
              <a:t>R</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RF</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XFIRST</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YFIRST</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BETA</a:t>
            </a:r>
            <a:r>
              <a:rPr sz="1600">
                <a:solidFill>
                  <a:srgbClr val="D4D4D4"/>
                </a:solidFill>
                <a:latin typeface="Consolas"/>
              </a:rPr>
              <a:t>=</a:t>
            </a:r>
            <a:r>
              <a:rPr sz="1600">
                <a:solidFill>
                  <a:srgbClr val="4EC9B0"/>
                </a:solidFill>
                <a:latin typeface="Consolas"/>
              </a:rPr>
              <a:t>acos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D4D4D4"/>
                </a:solidFill>
                <a:latin typeface="Consolas"/>
              </a:rPr>
              <a:t>XFIRST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YFIRST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R</a:t>
            </a:r>
            <a:r>
              <a:rPr sz="1600">
                <a:solidFill>
                  <a:srgbClr val="D4D4D4"/>
                </a:solidFill>
                <a:latin typeface="Consolas"/>
              </a:rPr>
              <a:t>*</a:t>
            </a:r>
            <a:r>
              <a:rPr sz="1600">
                <a:solidFill>
                  <a:srgbClr val="D4D4D4"/>
                </a:solidFill>
                <a:latin typeface="Consolas"/>
              </a:rPr>
              <a:t>RF</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DISTNM</a:t>
            </a:r>
            <a:r>
              <a:rPr sz="1600">
                <a:solidFill>
                  <a:srgbClr val="D4D4D4"/>
                </a:solidFill>
                <a:latin typeface="Consolas"/>
              </a:rPr>
              <a:t>=</a:t>
            </a:r>
            <a:r>
              <a:rPr sz="1600">
                <a:solidFill>
                  <a:srgbClr val="D4D4D4"/>
                </a:solidFill>
                <a:latin typeface="Consolas"/>
              </a:rPr>
              <a:t>A</a:t>
            </a:r>
            <a:r>
              <a:rPr sz="1600">
                <a:solidFill>
                  <a:srgbClr val="D4D4D4"/>
                </a:solidFill>
                <a:latin typeface="Consolas"/>
              </a:rPr>
              <a:t>*</a:t>
            </a:r>
            <a:r>
              <a:rPr sz="1600">
                <a:solidFill>
                  <a:srgbClr val="D4D4D4"/>
                </a:solidFill>
                <a:latin typeface="Consolas"/>
              </a:rPr>
              <a:t>BETA</a:t>
            </a:r>
            <a:r>
              <a:rPr sz="1600">
                <a:solidFill>
                  <a:srgbClr val="D4D4D4"/>
                </a:solidFill>
                <a:latin typeface="Consolas"/>
              </a:rPr>
              <a:t>/</a:t>
            </a:r>
            <a:r>
              <a:rPr sz="1600">
                <a:solidFill>
                  <a:srgbClr val="B5CEA8"/>
                </a:solidFill>
                <a:latin typeface="Consolas"/>
              </a:rPr>
              <a:t>6076.</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ALTNM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a:t>
            </a:r>
            <a:r>
              <a:rPr sz="1600">
                <a:solidFill>
                  <a:srgbClr val="D4D4D4"/>
                </a:solidFill>
                <a:latin typeface="Consolas"/>
              </a:rPr>
              <a:t>)</a:t>
            </a:r>
            <a:r>
              <a:rPr sz="1600">
                <a:solidFill>
                  <a:srgbClr val="D4D4D4"/>
                </a:solidFill>
                <a:latin typeface="Consolas"/>
              </a:rPr>
              <a:t>/</a:t>
            </a:r>
            <a:r>
              <a:rPr sz="1600">
                <a:solidFill>
                  <a:srgbClr val="B5CEA8"/>
                </a:solidFill>
                <a:latin typeface="Consolas"/>
              </a:rPr>
              <a:t>6076.</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count</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ArrayT</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ArrayDISTNM</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DISTNM</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ArrayALTNM</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ALTNM</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end</a:t>
            </a:r>
          </a:p>
          <a:p>
            <a:pPr>
              <a:spcAft>
                <a:spcPts val="100"/>
              </a:spcAft>
            </a:pPr>
            <a:r>
              <a:rPr sz="1600">
                <a:solidFill>
                  <a:srgbClr val="569CD6"/>
                </a:solidFill>
                <a:latin typeface="Consolas"/>
              </a:rPr>
              <a:t>end</a:t>
            </a:r>
          </a:p>
          <a:p>
            <a:pPr>
              <a:spcAft>
                <a:spcPts val="100"/>
              </a:spcAft>
            </a:pPr>
            <a:r>
              <a:rPr sz="1600">
                <a:solidFill>
                  <a:srgbClr val="4EC9B0"/>
                </a:solidFill>
                <a:latin typeface="Consolas"/>
              </a:rPr>
              <a:t>figure</a:t>
            </a:r>
          </a:p>
          <a:p>
            <a:pPr>
              <a:spcAft>
                <a:spcPts val="100"/>
              </a:spcAft>
            </a:pPr>
            <a:r>
              <a:rPr sz="1600">
                <a:solidFill>
                  <a:srgbClr val="4EC9B0"/>
                </a:solidFill>
                <a:latin typeface="Consolas"/>
              </a:rPr>
              <a:t>plot</a:t>
            </a:r>
            <a:r>
              <a:rPr sz="1600">
                <a:solidFill>
                  <a:srgbClr val="D4D4D4"/>
                </a:solidFill>
                <a:latin typeface="Consolas"/>
              </a:rPr>
              <a:t>(</a:t>
            </a:r>
            <a:r>
              <a:rPr sz="1600">
                <a:solidFill>
                  <a:srgbClr val="D4D4D4"/>
                </a:solidFill>
                <a:latin typeface="Consolas"/>
              </a:rPr>
              <a:t>ArrayDISTNM</a:t>
            </a:r>
            <a:r>
              <a:rPr sz="1600">
                <a:solidFill>
                  <a:srgbClr val="D4D4D4"/>
                </a:solidFill>
                <a:latin typeface="Consolas"/>
              </a:rPr>
              <a:t>,</a:t>
            </a:r>
            <a:r>
              <a:rPr sz="1600">
                <a:solidFill>
                  <a:srgbClr val="D4D4D4"/>
                </a:solidFill>
                <a:latin typeface="Consolas"/>
              </a:rPr>
              <a:t>ArrayALTNM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grid</a:t>
            </a:r>
          </a:p>
          <a:p>
            <a:pPr>
              <a:spcAft>
                <a:spcPts val="100"/>
              </a:spcAft>
            </a:pPr>
            <a:r>
              <a:rPr sz="1600">
                <a:solidFill>
                  <a:srgbClr val="4EC9B0"/>
                </a:solidFill>
                <a:latin typeface="Consolas"/>
              </a:rPr>
              <a:t>xlabel</a:t>
            </a:r>
            <a:r>
              <a:rPr sz="1600">
                <a:solidFill>
                  <a:srgbClr val="D4D4D4"/>
                </a:solidFill>
                <a:latin typeface="Consolas"/>
              </a:rPr>
              <a:t>(</a:t>
            </a:r>
            <a:r>
              <a:rPr sz="1600">
                <a:solidFill>
                  <a:srgbClr val="CE9178"/>
                </a:solidFill>
                <a:latin typeface="Consolas"/>
              </a:rPr>
              <a:t>'</a:t>
            </a:r>
            <a:r>
              <a:rPr sz="1600">
                <a:solidFill>
                  <a:srgbClr val="CE9178"/>
                </a:solidFill>
                <a:latin typeface="Consolas"/>
              </a:rPr>
              <a:t>Downrange (Nmi)'</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ylabel</a:t>
            </a:r>
            <a:r>
              <a:rPr sz="1600">
                <a:solidFill>
                  <a:srgbClr val="D4D4D4"/>
                </a:solidFill>
                <a:latin typeface="Consolas"/>
              </a:rPr>
              <a:t>(</a:t>
            </a:r>
            <a:r>
              <a:rPr sz="1600">
                <a:solidFill>
                  <a:srgbClr val="CE9178"/>
                </a:solidFill>
                <a:latin typeface="Consolas"/>
              </a:rPr>
              <a:t>'</a:t>
            </a:r>
            <a:r>
              <a:rPr sz="1600">
                <a:solidFill>
                  <a:srgbClr val="CE9178"/>
                </a:solidFill>
                <a:latin typeface="Consolas"/>
              </a:rPr>
              <a:t>Altitude (Nmi)'</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save</a:t>
            </a:r>
            <a:r>
              <a:rPr sz="1600">
                <a:solidFill>
                  <a:srgbClr val="D4D4D4"/>
                </a:solidFill>
                <a:latin typeface="Consolas"/>
              </a:rPr>
              <a:t> </a:t>
            </a:r>
            <a:r>
              <a:rPr sz="1600">
                <a:solidFill>
                  <a:srgbClr val="CE9178"/>
                </a:solidFill>
                <a:latin typeface="Consolas"/>
              </a:rPr>
              <a:t>datfil</a:t>
            </a:r>
            <a:r>
              <a:rPr sz="1600">
                <a:solidFill>
                  <a:srgbClr val="D4D4D4"/>
                </a:solidFill>
                <a:latin typeface="Consolas"/>
              </a:rPr>
              <a:t> </a:t>
            </a:r>
            <a:r>
              <a:rPr sz="1600">
                <a:solidFill>
                  <a:srgbClr val="CE9178"/>
                </a:solidFill>
                <a:latin typeface="Consolas"/>
              </a:rPr>
              <a:t>output</a:t>
            </a:r>
            <a:r>
              <a:rPr sz="1600">
                <a:solidFill>
                  <a:srgbClr val="D4D4D4"/>
                </a:solidFill>
                <a:latin typeface="Consolas"/>
              </a:rPr>
              <a:t> </a:t>
            </a:r>
            <a:r>
              <a:rPr sz="1600">
                <a:solidFill>
                  <a:srgbClr val="D4D4D4"/>
                </a:solidFill>
                <a:latin typeface="Consolas"/>
              </a:rPr>
              <a:t>/</a:t>
            </a:r>
            <a:r>
              <a:rPr sz="1600">
                <a:solidFill>
                  <a:srgbClr val="4EC9B0"/>
                </a:solidFill>
                <a:latin typeface="Consolas"/>
              </a:rPr>
              <a:t>ascii</a:t>
            </a:r>
          </a:p>
          <a:p>
            <a:pPr>
              <a:spcAft>
                <a:spcPts val="100"/>
              </a:spcAft>
            </a:pPr>
            <a:r>
              <a:rPr sz="1600">
                <a:solidFill>
                  <a:srgbClr val="4EC9B0"/>
                </a:solidFill>
                <a:latin typeface="Consolas"/>
              </a:rPr>
              <a:t>disp</a:t>
            </a:r>
            <a:r>
              <a:rPr sz="1600">
                <a:solidFill>
                  <a:srgbClr val="D4D4D4"/>
                </a:solidFill>
                <a:latin typeface="Consolas"/>
              </a:rPr>
              <a:t> </a:t>
            </a:r>
            <a:r>
              <a:rPr sz="1600">
                <a:solidFill>
                  <a:srgbClr val="CE9178"/>
                </a:solidFill>
                <a:latin typeface="Consolas"/>
              </a:rPr>
              <a:t>'</a:t>
            </a:r>
            <a:r>
              <a:rPr sz="1600">
                <a:solidFill>
                  <a:srgbClr val="CE9178"/>
                </a:solidFill>
                <a:latin typeface="Consolas"/>
              </a:rPr>
              <a:t>simulation finished'</a:t>
            </a:r>
          </a:p>
        </p:txBody>
      </p:sp>
      <p:sp>
        <p:nvSpPr>
          <p:cNvPr id="9" name="TextBox 8"/>
          <p:cNvSpPr txBox="1"/>
          <p:nvPr/>
        </p:nvSpPr>
        <p:spPr>
          <a:xfrm>
            <a:off x="777240" y="5093208"/>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
        <p:nvSpPr>
          <p:cNvPr id="10" name="TextBox 9"/>
          <p:cNvSpPr txBox="1"/>
          <p:nvPr/>
        </p:nvSpPr>
        <p:spPr>
          <a:xfrm>
            <a:off x="777240" y="5422392"/>
            <a:ext cx="10972800" cy="457200"/>
          </a:xfrm>
          <a:prstGeom prst="rect">
            <a:avLst/>
          </a:prstGeom>
          <a:noFill/>
        </p:spPr>
        <p:txBody>
          <a:bodyPr wrap="none">
            <a:spAutoFit/>
          </a:bodyPr>
          <a:lstStyle/>
          <a:p>
            <a:r>
              <a:rPr sz="1900" i="1">
                <a:solidFill>
                  <a:srgbClr val="7EE08A"/>
                </a:solidFill>
                <a:latin typeface="Segoe UI"/>
              </a:rPr>
              <a:t>No boundary between simulation, analysis, and I/O — every concern in one scope.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1694</TotalTime>
  <Words>4543</Words>
  <Application>Microsoft Office PowerPoint</Application>
  <PresentationFormat>Panoramiczny</PresentationFormat>
  <Paragraphs>497</Paragraphs>
  <Slides>39</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39</vt:i4>
      </vt:variant>
    </vt:vector>
  </HeadingPairs>
  <TitlesOfParts>
    <vt:vector size="44"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3</cp:revision>
  <dcterms:created xsi:type="dcterms:W3CDTF">2013-01-27T09:14:16Z</dcterms:created>
  <dcterms:modified xsi:type="dcterms:W3CDTF">2026-06-15T20:37:08Z</dcterms:modified>
  <cp:category/>
</cp:coreProperties>
</file>