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300">
                <a:solidFill>
                  <a:srgbClr val="6A9955"/>
                </a:solidFill>
                <a:latin typeface="Consolas"/>
              </a:rPr>
              <a:t>// derivs.cpp — all of physics in one function</a:t>
            </a:r>
          </a:p>
          <a:p>
            <a:pPr>
              <a:spcAft>
                <a:spcPts val="100"/>
              </a:spcAft>
            </a:pPr>
            <a:r>
              <a:rPr sz="1300">
                <a:solidFill>
                  <a:srgbClr val="4EC9B0"/>
                </a:solidFill>
                <a:latin typeface="Consolas"/>
              </a:rPr>
              <a:t>void</a:t>
            </a:r>
            <a:r>
              <a:rPr sz="1300">
                <a:solidFill>
                  <a:srgbClr val="D4D4D4"/>
                </a:solidFill>
                <a:latin typeface="Consolas"/>
              </a:rPr>
              <a:t> </a:t>
            </a:r>
            <a:r>
              <a:rPr sz="1300">
                <a:solidFill>
                  <a:srgbClr val="D4D4D4"/>
                </a:solidFill>
                <a:latin typeface="Consolas"/>
              </a:rPr>
              <a:t>derivs</a:t>
            </a:r>
            <a:r>
              <a:rPr sz="1300">
                <a:solidFill>
                  <a:srgbClr val="D4D4D4"/>
                </a:solidFill>
                <a:latin typeface="Consolas"/>
              </a:rPr>
              <a:t>(</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dydt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6A9955"/>
                </a:solidFill>
                <a:latin typeface="Consolas"/>
              </a:rPr>
              <a:t>// y[0..2] pos, y[3..5] vel, y[6..9] quat, y[10..12] omega, y[13] mass</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rho</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1.225</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exp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2</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8500.0</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atmosphere</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4</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4</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5</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4EC9B0"/>
                </a:solidFill>
                <a:latin typeface="Consolas"/>
              </a:rPr>
              <a:t>Fd</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B5CEA8"/>
                </a:solidFill>
                <a:latin typeface="Consolas"/>
              </a:rPr>
              <a:t>0.5</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rho</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CD</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AREA</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aero drag</a:t>
            </a:r>
          </a:p>
          <a:p>
            <a:pPr>
              <a:spcAft>
                <a:spcPts val="100"/>
              </a:spcAft>
            </a:pP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 </a:t>
            </a:r>
            <a:r>
              <a:rPr sz="1300">
                <a:solidFill>
                  <a:srgbClr val="4EC9B0"/>
                </a:solidFill>
                <a:latin typeface="Consolas"/>
              </a:rPr>
              <a:t>Ft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thrust_table_lookup</a:t>
            </a:r>
            <a:r>
              <a:rPr sz="1300">
                <a:solidFill>
                  <a:srgbClr val="D4D4D4"/>
                </a:solidFill>
                <a:latin typeface="Consolas"/>
              </a:rPr>
              <a:t>(</a:t>
            </a:r>
            <a:r>
              <a:rPr sz="1300">
                <a:solidFill>
                  <a:srgbClr val="D4D4D4"/>
                </a:solidFill>
                <a:latin typeface="Consolas"/>
              </a:rPr>
              <a:t>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propulsion</a:t>
            </a:r>
          </a:p>
          <a:p>
            <a:pPr>
              <a:spcAft>
                <a:spcPts val="100"/>
              </a:spcAft>
            </a:pPr>
            <a:r>
              <a:rPr sz="1300">
                <a:solidFill>
                  <a:srgbClr val="D4D4D4"/>
                </a:solidFill>
                <a:latin typeface="Consolas"/>
              </a:rPr>
              <a:t>    </a:t>
            </a:r>
            <a:r>
              <a:rPr sz="1300">
                <a:solidFill>
                  <a:srgbClr val="D4D4D4"/>
                </a:solidFill>
                <a:latin typeface="Consolas"/>
              </a:rPr>
              <a:t>dydt</a:t>
            </a:r>
            <a:r>
              <a:rPr sz="1300">
                <a:solidFill>
                  <a:srgbClr val="D4D4D4"/>
                </a:solidFill>
                <a:latin typeface="Consolas"/>
              </a:rPr>
              <a:t>[</a:t>
            </a:r>
            <a:r>
              <a:rPr sz="1300">
                <a:solidFill>
                  <a:srgbClr val="B5CEA8"/>
                </a:solidFill>
                <a:latin typeface="Consolas"/>
              </a:rPr>
              <a:t>3</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4EC9B0"/>
                </a:solidFill>
                <a:latin typeface="Consolas"/>
              </a:rPr>
              <a:t>Ft</a:t>
            </a:r>
            <a:r>
              <a:rPr sz="1300">
                <a:solidFill>
                  <a:srgbClr val="D4D4D4"/>
                </a:solidFill>
                <a:latin typeface="Consolas"/>
              </a:rPr>
              <a:t>*</a:t>
            </a:r>
            <a:r>
              <a:rPr sz="1300">
                <a:solidFill>
                  <a:srgbClr val="D4D4D4"/>
                </a:solidFill>
                <a:latin typeface="Consolas"/>
              </a:rPr>
              <a:t>ax</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Fd</a:t>
            </a:r>
            <a:r>
              <a:rPr sz="1300">
                <a:solidFill>
                  <a:srgbClr val="D4D4D4"/>
                </a:solidFill>
                <a:latin typeface="Consolas"/>
              </a:rPr>
              <a:t>*</a:t>
            </a:r>
            <a:r>
              <a:rPr sz="1300">
                <a:solidFill>
                  <a:srgbClr val="D4D4D4"/>
                </a:solidFill>
                <a:latin typeface="Consolas"/>
              </a:rPr>
              <a:t>vx_hat</a:t>
            </a:r>
            <a:r>
              <a:rPr sz="1300">
                <a:solidFill>
                  <a:srgbClr val="D4D4D4"/>
                </a:solidFill>
                <a:latin typeface="Consolas"/>
              </a:rPr>
              <a:t>(</a:t>
            </a:r>
            <a:r>
              <a:rPr sz="1300">
                <a:solidFill>
                  <a:srgbClr val="D4D4D4"/>
                </a:solidFill>
                <a:latin typeface="Consolas"/>
              </a:rPr>
              <a:t>y</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y</a:t>
            </a:r>
            <a:r>
              <a:rPr sz="1300">
                <a:solidFill>
                  <a:srgbClr val="D4D4D4"/>
                </a:solidFill>
                <a:latin typeface="Consolas"/>
              </a:rPr>
              <a:t>[</a:t>
            </a:r>
            <a:r>
              <a:rPr sz="1300">
                <a:solidFill>
                  <a:srgbClr val="B5CEA8"/>
                </a:solidFill>
                <a:latin typeface="Consolas"/>
              </a:rPr>
              <a:t>13</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dynamics</a:t>
            </a:r>
          </a:p>
          <a:p>
            <a:pPr>
              <a:spcAft>
                <a:spcPts val="100"/>
              </a:spcAft>
            </a:pPr>
            <a:r>
              <a:rPr sz="1300">
                <a:solidFill>
                  <a:srgbClr val="D4D4D4"/>
                </a:solidFill>
                <a:latin typeface="Consolas"/>
              </a:rPr>
              <a:t>    </a:t>
            </a:r>
            <a:r>
              <a:rPr sz="1300">
                <a:solidFill>
                  <a:srgbClr val="6A9955"/>
                </a:solidFill>
                <a:latin typeface="Consolas"/>
              </a:rPr>
              <a:t>/* ... 400 more lines, every subsystem interleaved ... */</a:t>
            </a:r>
          </a:p>
          <a:p>
            <a:pPr>
              <a:spcAft>
                <a:spcPts val="100"/>
              </a:spcAft>
            </a:pP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2000">
                <a:solidFill>
                  <a:srgbClr val="569CD6"/>
                </a:solidFill>
                <a:latin typeface="Consolas"/>
              </a:rPr>
              <a:t>struct</a:t>
            </a:r>
            <a:r>
              <a:rPr sz="2000">
                <a:solidFill>
                  <a:srgbClr val="D4D4D4"/>
                </a:solidFill>
                <a:latin typeface="Consolas"/>
              </a:rPr>
              <a:t> </a:t>
            </a:r>
            <a:r>
              <a:rPr sz="2000">
                <a:solidFill>
                  <a:srgbClr val="4EC9B0"/>
                </a:solidFill>
                <a:latin typeface="Consolas"/>
              </a:rPr>
              <a:t>Component</a:t>
            </a:r>
            <a:r>
              <a:rPr sz="2000">
                <a:solidFill>
                  <a:srgbClr val="D4D4D4"/>
                </a:solidFill>
                <a:latin typeface="Consolas"/>
              </a:rPr>
              <a:t> </a:t>
            </a:r>
            <a:r>
              <a:rPr sz="2000">
                <a:solidFill>
                  <a:srgbClr val="D4D4D4"/>
                </a:solidFill>
                <a:latin typeface="Consolas"/>
              </a:rPr>
              <a:t>{</a:t>
            </a:r>
          </a:p>
          <a:p>
            <a:pPr>
              <a:spcAft>
                <a:spcPts val="100"/>
              </a:spcAft>
            </a:pPr>
            <a:r>
              <a:rPr sz="2000">
                <a:solidFill>
                  <a:srgbClr val="D4D4D4"/>
                </a:solidFill>
                <a:latin typeface="Consolas"/>
              </a:rPr>
              <a:t>    </a:t>
            </a:r>
            <a:r>
              <a:rPr sz="2000">
                <a:solidFill>
                  <a:srgbClr val="569CD6"/>
                </a:solidFill>
                <a:latin typeface="Consolas"/>
              </a:rPr>
              <a:t>virtual</a:t>
            </a:r>
            <a:r>
              <a:rPr sz="2000">
                <a:solidFill>
                  <a:srgbClr val="D4D4D4"/>
                </a:solidFill>
                <a:latin typeface="Consolas"/>
              </a:rPr>
              <a:t> </a:t>
            </a:r>
            <a:r>
              <a:rPr sz="2000">
                <a:solidFill>
                  <a:srgbClr val="4EC9B0"/>
                </a:solidFill>
                <a:latin typeface="Consolas"/>
              </a:rPr>
              <a:t>void</a:t>
            </a:r>
            <a:r>
              <a:rPr sz="2000">
                <a:solidFill>
                  <a:srgbClr val="D4D4D4"/>
                </a:solidFill>
                <a:latin typeface="Consolas"/>
              </a:rPr>
              <a:t> </a:t>
            </a:r>
            <a:r>
              <a:rPr sz="2000">
                <a:solidFill>
                  <a:srgbClr val="D4D4D4"/>
                </a:solidFill>
                <a:latin typeface="Consolas"/>
              </a:rPr>
              <a:t>computeDerivatives</a:t>
            </a:r>
            <a:r>
              <a:rPr sz="2000">
                <a:solidFill>
                  <a:srgbClr val="D4D4D4"/>
                </a:solidFill>
                <a:latin typeface="Consolas"/>
              </a:rPr>
              <a:t>(</a:t>
            </a:r>
            <a:r>
              <a:rPr sz="2000">
                <a:solidFill>
                  <a:srgbClr val="4EC9B0"/>
                </a:solidFill>
                <a:latin typeface="Consolas"/>
              </a:rPr>
              <a:t>double</a:t>
            </a:r>
            <a:r>
              <a:rPr sz="2000">
                <a:solidFill>
                  <a:srgbClr val="D4D4D4"/>
                </a:solidFill>
                <a:latin typeface="Consolas"/>
              </a:rPr>
              <a:t> </a:t>
            </a:r>
            <a:r>
              <a:rPr sz="2000">
                <a:solidFill>
                  <a:srgbClr val="D4D4D4"/>
                </a:solidFill>
                <a:latin typeface="Consolas"/>
              </a:rPr>
              <a:t>t</a:t>
            </a:r>
            <a:r>
              <a:rPr sz="2000">
                <a:solidFill>
                  <a:srgbClr val="D4D4D4"/>
                </a:solidFill>
                <a:latin typeface="Consolas"/>
              </a:rPr>
              <a:t>,</a:t>
            </a:r>
          </a:p>
          <a:p>
            <a:pPr>
              <a:spcAft>
                <a:spcPts val="100"/>
              </a:spcAft>
            </a:pPr>
            <a:r>
              <a:rPr sz="2000">
                <a:solidFill>
                  <a:srgbClr val="D4D4D4"/>
                </a:solidFill>
                <a:latin typeface="Consolas"/>
              </a:rPr>
              <a:t>                                    </a:t>
            </a:r>
            <a:r>
              <a:rPr sz="2000">
                <a:solidFill>
                  <a:srgbClr val="569CD6"/>
                </a:solidFill>
                <a:latin typeface="Consolas"/>
              </a:rPr>
              <a:t>const</a:t>
            </a:r>
            <a:r>
              <a:rPr sz="2000">
                <a:solidFill>
                  <a:srgbClr val="D4D4D4"/>
                </a:solidFill>
                <a:latin typeface="Consolas"/>
              </a:rPr>
              <a:t> </a:t>
            </a:r>
            <a:r>
              <a:rPr sz="2000">
                <a:solidFill>
                  <a:srgbClr val="4EC9B0"/>
                </a:solidFill>
                <a:latin typeface="Consolas"/>
              </a:rPr>
              <a:t>double</a:t>
            </a:r>
            <a:r>
              <a:rPr sz="2000">
                <a:solidFill>
                  <a:srgbClr val="D4D4D4"/>
                </a:solidFill>
                <a:latin typeface="Consolas"/>
              </a:rPr>
              <a:t>*</a:t>
            </a:r>
            <a:r>
              <a:rPr sz="2000">
                <a:solidFill>
                  <a:srgbClr val="D4D4D4"/>
                </a:solidFill>
                <a:latin typeface="Consolas"/>
              </a:rPr>
              <a:t> </a:t>
            </a:r>
            <a:r>
              <a:rPr sz="2000">
                <a:solidFill>
                  <a:srgbClr val="D4D4D4"/>
                </a:solidFill>
                <a:latin typeface="Consolas"/>
              </a:rPr>
              <a:t>state</a:t>
            </a:r>
            <a:r>
              <a:rPr sz="2000">
                <a:solidFill>
                  <a:srgbClr val="D4D4D4"/>
                </a:solidFill>
                <a:latin typeface="Consolas"/>
              </a:rPr>
              <a:t>,</a:t>
            </a:r>
          </a:p>
          <a:p>
            <a:pPr>
              <a:spcAft>
                <a:spcPts val="100"/>
              </a:spcAft>
            </a:pPr>
            <a:r>
              <a:rPr sz="2000">
                <a:solidFill>
                  <a:srgbClr val="D4D4D4"/>
                </a:solidFill>
                <a:latin typeface="Consolas"/>
              </a:rPr>
              <a:t>                                    </a:t>
            </a:r>
            <a:r>
              <a:rPr sz="2000">
                <a:solidFill>
                  <a:srgbClr val="4EC9B0"/>
                </a:solidFill>
                <a:latin typeface="Consolas"/>
              </a:rPr>
              <a:t>double</a:t>
            </a:r>
            <a:r>
              <a:rPr sz="2000">
                <a:solidFill>
                  <a:srgbClr val="D4D4D4"/>
                </a:solidFill>
                <a:latin typeface="Consolas"/>
              </a:rPr>
              <a:t>*</a:t>
            </a:r>
            <a:r>
              <a:rPr sz="2000">
                <a:solidFill>
                  <a:srgbClr val="D4D4D4"/>
                </a:solidFill>
                <a:latin typeface="Consolas"/>
              </a:rPr>
              <a:t> </a:t>
            </a:r>
            <a:r>
              <a:rPr sz="2000">
                <a:solidFill>
                  <a:srgbClr val="D4D4D4"/>
                </a:solidFill>
                <a:latin typeface="Consolas"/>
              </a:rPr>
              <a:t>dydt</a:t>
            </a:r>
            <a:r>
              <a:rPr sz="2000">
                <a:solidFill>
                  <a:srgbClr val="D4D4D4"/>
                </a:solidFill>
                <a:latin typeface="Consolas"/>
              </a:rPr>
              <a:t>)</a:t>
            </a:r>
            <a:r>
              <a:rPr sz="2000">
                <a:solidFill>
                  <a:srgbClr val="D4D4D4"/>
                </a:solidFill>
                <a:latin typeface="Consolas"/>
              </a:rPr>
              <a:t> </a:t>
            </a:r>
            <a:r>
              <a:rPr sz="2000">
                <a:solidFill>
                  <a:srgbClr val="D4D4D4"/>
                </a:solidFill>
                <a:latin typeface="Consolas"/>
              </a:rPr>
              <a:t>=</a:t>
            </a:r>
            <a:r>
              <a:rPr sz="2000">
                <a:solidFill>
                  <a:srgbClr val="D4D4D4"/>
                </a:solidFill>
                <a:latin typeface="Consolas"/>
              </a:rPr>
              <a:t> </a:t>
            </a:r>
            <a:r>
              <a:rPr sz="2000">
                <a:solidFill>
                  <a:srgbClr val="B5CEA8"/>
                </a:solidFill>
                <a:latin typeface="Consolas"/>
              </a:rPr>
              <a:t>0</a:t>
            </a:r>
            <a:r>
              <a:rPr sz="2000">
                <a:solidFill>
                  <a:srgbClr val="D4D4D4"/>
                </a:solidFill>
                <a:latin typeface="Consolas"/>
              </a:rPr>
              <a:t>;</a:t>
            </a:r>
          </a:p>
          <a:p>
            <a:pPr>
              <a:spcAft>
                <a:spcPts val="100"/>
              </a:spcAft>
            </a:pPr>
            <a:r>
              <a:rPr sz="2000" b="1">
                <a:solidFill>
                  <a:srgbClr val="D4D4D4"/>
                </a:solidFill>
                <a:latin typeface="Consolas"/>
              </a:rPr>
              <a:t>    </a:t>
            </a:r>
            <a:r>
              <a:rPr sz="2000" b="1">
                <a:solidFill>
                  <a:srgbClr val="569CD6"/>
                </a:solidFill>
                <a:latin typeface="Consolas"/>
              </a:rPr>
              <a:t>virtual</a:t>
            </a:r>
            <a:r>
              <a:rPr sz="2000" b="1">
                <a:solidFill>
                  <a:srgbClr val="D4D4D4"/>
                </a:solidFill>
                <a:latin typeface="Consolas"/>
              </a:rPr>
              <a:t> </a:t>
            </a:r>
            <a:r>
              <a:rPr sz="2000" b="1">
                <a:solidFill>
                  <a:srgbClr val="4EC9B0"/>
                </a:solidFill>
                <a:latin typeface="Consolas"/>
              </a:rPr>
              <a:t>double</a:t>
            </a:r>
            <a:r>
              <a:rPr sz="2000" b="1">
                <a:solidFill>
                  <a:srgbClr val="D4D4D4"/>
                </a:solidFill>
                <a:latin typeface="Consolas"/>
              </a:rPr>
              <a:t> </a:t>
            </a:r>
            <a:r>
              <a:rPr sz="2000" b="1">
                <a:solidFill>
                  <a:srgbClr val="D4D4D4"/>
                </a:solidFill>
                <a:latin typeface="Consolas"/>
              </a:rPr>
              <a:t>getOutput</a:t>
            </a:r>
            <a:r>
              <a:rPr sz="2000" b="1">
                <a:solidFill>
                  <a:srgbClr val="D4D4D4"/>
                </a:solidFill>
                <a:latin typeface="Consolas"/>
              </a:rPr>
              <a:t>(</a:t>
            </a:r>
            <a:r>
              <a:rPr sz="2000" b="1">
                <a:solidFill>
                  <a:srgbClr val="569CD6"/>
                </a:solidFill>
                <a:latin typeface="Consolas"/>
              </a:rPr>
              <a:t>const</a:t>
            </a:r>
            <a:r>
              <a:rPr sz="2000" b="1">
                <a:solidFill>
                  <a:srgbClr val="D4D4D4"/>
                </a:solidFill>
                <a:latin typeface="Consolas"/>
              </a:rPr>
              <a:t> </a:t>
            </a:r>
            <a:r>
              <a:rPr sz="2000" b="1">
                <a:solidFill>
                  <a:srgbClr val="D4D4D4"/>
                </a:solidFill>
                <a:latin typeface="Consolas"/>
              </a:rPr>
              <a:t>std</a:t>
            </a:r>
            <a:r>
              <a:rPr sz="2000" b="1">
                <a:solidFill>
                  <a:srgbClr val="D4D4D4"/>
                </a:solidFill>
                <a:latin typeface="Consolas"/>
              </a:rPr>
              <a:t>:</a:t>
            </a:r>
            <a:r>
              <a:rPr sz="2000" b="1">
                <a:solidFill>
                  <a:srgbClr val="D4D4D4"/>
                </a:solidFill>
                <a:latin typeface="Consolas"/>
              </a:rPr>
              <a:t>:</a:t>
            </a:r>
            <a:r>
              <a:rPr sz="2000" b="1">
                <a:solidFill>
                  <a:srgbClr val="D4D4D4"/>
                </a:solidFill>
                <a:latin typeface="Consolas"/>
              </a:rPr>
              <a:t>string</a:t>
            </a:r>
            <a:r>
              <a:rPr sz="2000" b="1">
                <a:solidFill>
                  <a:srgbClr val="D4D4D4"/>
                </a:solidFill>
                <a:latin typeface="Consolas"/>
              </a:rPr>
              <a:t>&amp;</a:t>
            </a:r>
            <a:r>
              <a:rPr sz="2000" b="1">
                <a:solidFill>
                  <a:srgbClr val="D4D4D4"/>
                </a:solidFill>
                <a:latin typeface="Consolas"/>
              </a:rPr>
              <a:t> </a:t>
            </a:r>
            <a:r>
              <a:rPr sz="2000" b="1">
                <a:solidFill>
                  <a:srgbClr val="D4D4D4"/>
                </a:solidFill>
                <a:latin typeface="Consolas"/>
              </a:rPr>
              <a:t>name</a:t>
            </a:r>
            <a:r>
              <a:rPr sz="2000" b="1">
                <a:solidFill>
                  <a:srgbClr val="D4D4D4"/>
                </a:solidFill>
                <a:latin typeface="Consolas"/>
              </a:rPr>
              <a:t>)</a:t>
            </a:r>
            <a:r>
              <a:rPr sz="2000" b="1">
                <a:solidFill>
                  <a:srgbClr val="D4D4D4"/>
                </a:solidFill>
                <a:latin typeface="Consolas"/>
              </a:rPr>
              <a:t> </a:t>
            </a:r>
            <a:r>
              <a:rPr sz="2000" b="1">
                <a:solidFill>
                  <a:srgbClr val="D4D4D4"/>
                </a:solidFill>
                <a:latin typeface="Consolas"/>
              </a:rPr>
              <a:t>=</a:t>
            </a:r>
            <a:r>
              <a:rPr sz="2000" b="1">
                <a:solidFill>
                  <a:srgbClr val="D4D4D4"/>
                </a:solidFill>
                <a:latin typeface="Consolas"/>
              </a:rPr>
              <a:t> </a:t>
            </a:r>
            <a:r>
              <a:rPr sz="2000" b="1">
                <a:solidFill>
                  <a:srgbClr val="B5CEA8"/>
                </a:solidFill>
                <a:latin typeface="Consolas"/>
              </a:rPr>
              <a:t>0</a:t>
            </a:r>
            <a:r>
              <a:rPr sz="2000" b="1">
                <a:solidFill>
                  <a:srgbClr val="D4D4D4"/>
                </a:solidFill>
                <a:latin typeface="Consolas"/>
              </a:rPr>
              <a:t>;</a:t>
            </a:r>
            <a:r>
              <a:rPr sz="2000" b="1">
                <a:solidFill>
                  <a:srgbClr val="D4D4D4"/>
                </a:solidFill>
                <a:latin typeface="Consolas"/>
              </a:rPr>
              <a:t>  </a:t>
            </a:r>
            <a:r>
              <a:rPr sz="2000" b="1">
                <a:solidFill>
                  <a:srgbClr val="6A9955"/>
                </a:solidFill>
                <a:latin typeface="Consolas"/>
              </a:rPr>
              <a:t>// !!</a:t>
            </a:r>
          </a:p>
          <a:p>
            <a:pPr>
              <a:spcAft>
                <a:spcPts val="100"/>
              </a:spcAft>
            </a:pPr>
            <a:r>
              <a:rPr sz="2000">
                <a:solidFill>
                  <a:srgbClr val="D4D4D4"/>
                </a:solidFill>
                <a:latin typeface="Consolas"/>
              </a:rPr>
              <a:t>    </a:t>
            </a:r>
            <a:r>
              <a:rPr sz="2000">
                <a:solidFill>
                  <a:srgbClr val="569CD6"/>
                </a:solidFill>
                <a:latin typeface="Consolas"/>
              </a:rPr>
              <a:t>virtual</a:t>
            </a:r>
            <a:r>
              <a:rPr sz="2000">
                <a:solidFill>
                  <a:srgbClr val="D4D4D4"/>
                </a:solidFill>
                <a:latin typeface="Consolas"/>
              </a:rPr>
              <a:t> </a:t>
            </a:r>
            <a:r>
              <a:rPr sz="2000">
                <a:solidFill>
                  <a:srgbClr val="D4D4D4"/>
                </a:solidFill>
                <a:latin typeface="Consolas"/>
              </a:rPr>
              <a:t>~</a:t>
            </a:r>
            <a:r>
              <a:rPr sz="2000">
                <a:solidFill>
                  <a:srgbClr val="4EC9B0"/>
                </a:solidFill>
                <a:latin typeface="Consolas"/>
              </a:rPr>
              <a:t>Component</a:t>
            </a:r>
            <a:r>
              <a:rPr sz="2000">
                <a:solidFill>
                  <a:srgbClr val="D4D4D4"/>
                </a:solidFill>
                <a:latin typeface="Consolas"/>
              </a:rPr>
              <a:t>(</a:t>
            </a:r>
            <a:r>
              <a:rPr sz="2000">
                <a:solidFill>
                  <a:srgbClr val="D4D4D4"/>
                </a:solidFill>
                <a:latin typeface="Consolas"/>
              </a:rPr>
              <a:t>)</a:t>
            </a:r>
            <a:r>
              <a:rPr sz="2000">
                <a:solidFill>
                  <a:srgbClr val="D4D4D4"/>
                </a:solidFill>
                <a:latin typeface="Consolas"/>
              </a:rPr>
              <a:t> </a:t>
            </a:r>
            <a:r>
              <a:rPr sz="2000">
                <a:solidFill>
                  <a:srgbClr val="D4D4D4"/>
                </a:solidFill>
                <a:latin typeface="Consolas"/>
              </a:rPr>
              <a:t>=</a:t>
            </a:r>
            <a:r>
              <a:rPr sz="2000">
                <a:solidFill>
                  <a:srgbClr val="D4D4D4"/>
                </a:solidFill>
                <a:latin typeface="Consolas"/>
              </a:rPr>
              <a:t> </a:t>
            </a:r>
            <a:r>
              <a:rPr sz="2000">
                <a:solidFill>
                  <a:srgbClr val="569CD6"/>
                </a:solidFill>
                <a:latin typeface="Consolas"/>
              </a:rPr>
              <a:t>default</a:t>
            </a:r>
            <a:r>
              <a:rPr sz="2000">
                <a:solidFill>
                  <a:srgbClr val="D4D4D4"/>
                </a:solidFill>
                <a:latin typeface="Consolas"/>
              </a:rPr>
              <a:t>;</a:t>
            </a:r>
          </a:p>
          <a:p>
            <a:pPr>
              <a:spcAft>
                <a:spcPts val="100"/>
              </a:spcAft>
            </a:pPr>
            <a:r>
              <a:rPr sz="2000">
                <a:solidFill>
                  <a:srgbClr val="D4D4D4"/>
                </a:solidFill>
                <a:latin typeface="Consolas"/>
              </a:rPr>
              <a:t>}</a:t>
            </a:r>
            <a:r>
              <a:rPr sz="2000">
                <a:solidFill>
                  <a:srgbClr val="D4D4D4"/>
                </a:solidFill>
                <a:latin typeface="Consolas"/>
              </a:rPr>
              <a:t>;</a:t>
            </a:r>
          </a:p>
          <a:p>
            <a:pPr>
              <a:spcAft>
                <a:spcPts val="100"/>
              </a:spcAft>
            </a:pPr>
            <a:r>
              <a:rPr sz="2000">
                <a:solidFill>
                  <a:srgbClr val="D4D4D4"/>
                </a:solidFill>
                <a:latin typeface="Consolas"/>
              </a:rPr>
              <a:t> </a:t>
            </a:r>
          </a:p>
          <a:p>
            <a:pPr>
              <a:spcAft>
                <a:spcPts val="100"/>
              </a:spcAft>
            </a:pPr>
            <a:r>
              <a:rPr sz="2000">
                <a:solidFill>
                  <a:srgbClr val="D4D4D4"/>
                </a:solidFill>
                <a:latin typeface="Consolas"/>
              </a:rPr>
              <a:t>std</a:t>
            </a:r>
            <a:r>
              <a:rPr sz="2000">
                <a:solidFill>
                  <a:srgbClr val="D4D4D4"/>
                </a:solidFill>
                <a:latin typeface="Consolas"/>
              </a:rPr>
              <a:t>:</a:t>
            </a:r>
            <a:r>
              <a:rPr sz="2000">
                <a:solidFill>
                  <a:srgbClr val="D4D4D4"/>
                </a:solidFill>
                <a:latin typeface="Consolas"/>
              </a:rPr>
              <a:t>:</a:t>
            </a:r>
            <a:r>
              <a:rPr sz="2000">
                <a:solidFill>
                  <a:srgbClr val="D4D4D4"/>
                </a:solidFill>
                <a:latin typeface="Consolas"/>
              </a:rPr>
              <a:t>vector</a:t>
            </a:r>
            <a:r>
              <a:rPr sz="2000">
                <a:solidFill>
                  <a:srgbClr val="D4D4D4"/>
                </a:solidFill>
                <a:latin typeface="Consolas"/>
              </a:rPr>
              <a:t>&lt;</a:t>
            </a:r>
            <a:r>
              <a:rPr sz="2000">
                <a:solidFill>
                  <a:srgbClr val="D4D4D4"/>
                </a:solidFill>
                <a:latin typeface="Consolas"/>
              </a:rPr>
              <a:t>std</a:t>
            </a:r>
            <a:r>
              <a:rPr sz="2000">
                <a:solidFill>
                  <a:srgbClr val="D4D4D4"/>
                </a:solidFill>
                <a:latin typeface="Consolas"/>
              </a:rPr>
              <a:t>:</a:t>
            </a:r>
            <a:r>
              <a:rPr sz="2000">
                <a:solidFill>
                  <a:srgbClr val="D4D4D4"/>
                </a:solidFill>
                <a:latin typeface="Consolas"/>
              </a:rPr>
              <a:t>:</a:t>
            </a:r>
            <a:r>
              <a:rPr sz="2000">
                <a:solidFill>
                  <a:srgbClr val="D4D4D4"/>
                </a:solidFill>
                <a:latin typeface="Consolas"/>
              </a:rPr>
              <a:t>unique_ptr</a:t>
            </a:r>
            <a:r>
              <a:rPr sz="2000">
                <a:solidFill>
                  <a:srgbClr val="D4D4D4"/>
                </a:solidFill>
                <a:latin typeface="Consolas"/>
              </a:rPr>
              <a:t>&lt;</a:t>
            </a:r>
            <a:r>
              <a:rPr sz="2000">
                <a:solidFill>
                  <a:srgbClr val="4EC9B0"/>
                </a:solidFill>
                <a:latin typeface="Consolas"/>
              </a:rPr>
              <a:t>Component</a:t>
            </a:r>
            <a:r>
              <a:rPr sz="2000">
                <a:solidFill>
                  <a:srgbClr val="D4D4D4"/>
                </a:solidFill>
                <a:latin typeface="Consolas"/>
              </a:rPr>
              <a:t>&gt;</a:t>
            </a:r>
            <a:r>
              <a:rPr sz="2000">
                <a:solidFill>
                  <a:srgbClr val="D4D4D4"/>
                </a:solidFill>
                <a:latin typeface="Consolas"/>
              </a:rPr>
              <a:t>&gt;</a:t>
            </a:r>
            <a:r>
              <a:rPr sz="2000">
                <a:solidFill>
                  <a:srgbClr val="D4D4D4"/>
                </a:solidFill>
                <a:latin typeface="Consolas"/>
              </a:rPr>
              <a:t> </a:t>
            </a:r>
            <a:r>
              <a:rPr sz="2000">
                <a:solidFill>
                  <a:srgbClr val="D4D4D4"/>
                </a:solidFill>
                <a:latin typeface="Consolas"/>
              </a:rPr>
              <a:t>components</a:t>
            </a:r>
            <a:r>
              <a:rPr sz="2000">
                <a:solidFill>
                  <a:srgbClr val="D4D4D4"/>
                </a:solidFill>
                <a:latin typeface="Consolas"/>
              </a:rPr>
              <a:t>;</a:t>
            </a:r>
          </a:p>
          <a:p>
            <a:pPr>
              <a:spcAft>
                <a:spcPts val="100"/>
              </a:spcAft>
            </a:pPr>
            <a:r>
              <a:rPr sz="2000" b="1">
                <a:solidFill>
                  <a:srgbClr val="569CD6"/>
                </a:solidFill>
                <a:latin typeface="Consolas"/>
              </a:rPr>
              <a:t>for</a:t>
            </a:r>
            <a:r>
              <a:rPr sz="2000" b="1">
                <a:solidFill>
                  <a:srgbClr val="D4D4D4"/>
                </a:solidFill>
                <a:latin typeface="Consolas"/>
              </a:rPr>
              <a:t> </a:t>
            </a:r>
            <a:r>
              <a:rPr sz="2000" b="1">
                <a:solidFill>
                  <a:srgbClr val="D4D4D4"/>
                </a:solidFill>
                <a:latin typeface="Consolas"/>
              </a:rPr>
              <a:t>(</a:t>
            </a:r>
            <a:r>
              <a:rPr sz="2000" b="1">
                <a:solidFill>
                  <a:srgbClr val="569CD6"/>
                </a:solidFill>
                <a:latin typeface="Consolas"/>
              </a:rPr>
              <a:t>auto</a:t>
            </a:r>
            <a:r>
              <a:rPr sz="2000" b="1">
                <a:solidFill>
                  <a:srgbClr val="D4D4D4"/>
                </a:solidFill>
                <a:latin typeface="Consolas"/>
              </a:rPr>
              <a:t>&amp;</a:t>
            </a:r>
            <a:r>
              <a:rPr sz="2000" b="1">
                <a:solidFill>
                  <a:srgbClr val="D4D4D4"/>
                </a:solidFill>
                <a:latin typeface="Consolas"/>
              </a:rPr>
              <a:t> </a:t>
            </a:r>
            <a:r>
              <a:rPr sz="2000" b="1">
                <a:solidFill>
                  <a:srgbClr val="D4D4D4"/>
                </a:solidFill>
                <a:latin typeface="Consolas"/>
              </a:rPr>
              <a:t>c</a:t>
            </a:r>
            <a:r>
              <a:rPr sz="2000" b="1">
                <a:solidFill>
                  <a:srgbClr val="D4D4D4"/>
                </a:solidFill>
                <a:latin typeface="Consolas"/>
              </a:rPr>
              <a:t> </a:t>
            </a:r>
            <a:r>
              <a:rPr sz="2000" b="1">
                <a:solidFill>
                  <a:srgbClr val="D4D4D4"/>
                </a:solidFill>
                <a:latin typeface="Consolas"/>
              </a:rPr>
              <a:t>:</a:t>
            </a:r>
            <a:r>
              <a:rPr sz="2000" b="1">
                <a:solidFill>
                  <a:srgbClr val="D4D4D4"/>
                </a:solidFill>
                <a:latin typeface="Consolas"/>
              </a:rPr>
              <a:t> </a:t>
            </a:r>
            <a:r>
              <a:rPr sz="2000" b="1">
                <a:solidFill>
                  <a:srgbClr val="D4D4D4"/>
                </a:solidFill>
                <a:latin typeface="Consolas"/>
              </a:rPr>
              <a:t>components</a:t>
            </a:r>
            <a:r>
              <a:rPr sz="2000" b="1">
                <a:solidFill>
                  <a:srgbClr val="D4D4D4"/>
                </a:solidFill>
                <a:latin typeface="Consolas"/>
              </a:rPr>
              <a:t>)</a:t>
            </a:r>
            <a:r>
              <a:rPr sz="2000" b="1">
                <a:solidFill>
                  <a:srgbClr val="D4D4D4"/>
                </a:solidFill>
                <a:latin typeface="Consolas"/>
              </a:rPr>
              <a:t>              </a:t>
            </a:r>
            <a:r>
              <a:rPr sz="2000" b="1">
                <a:solidFill>
                  <a:srgbClr val="6A9955"/>
                </a:solidFill>
                <a:latin typeface="Consolas"/>
              </a:rPr>
              <a:t>// innermost loop of RK4,</a:t>
            </a:r>
          </a:p>
          <a:p>
            <a:pPr>
              <a:spcAft>
                <a:spcPts val="100"/>
              </a:spcAft>
            </a:pPr>
            <a:r>
              <a:rPr sz="2000" b="1">
                <a:solidFill>
                  <a:srgbClr val="D4D4D4"/>
                </a:solidFill>
                <a:latin typeface="Consolas"/>
              </a:rPr>
              <a:t>    </a:t>
            </a:r>
            <a:r>
              <a:rPr sz="2000" b="1">
                <a:solidFill>
                  <a:srgbClr val="D4D4D4"/>
                </a:solidFill>
                <a:latin typeface="Consolas"/>
              </a:rPr>
              <a:t>c</a:t>
            </a:r>
            <a:r>
              <a:rPr sz="2000" b="1">
                <a:solidFill>
                  <a:srgbClr val="D4D4D4"/>
                </a:solidFill>
                <a:latin typeface="Consolas"/>
              </a:rPr>
              <a:t>-</a:t>
            </a:r>
            <a:r>
              <a:rPr sz="2000" b="1">
                <a:solidFill>
                  <a:srgbClr val="D4D4D4"/>
                </a:solidFill>
                <a:latin typeface="Consolas"/>
              </a:rPr>
              <a:t>&gt;</a:t>
            </a:r>
            <a:r>
              <a:rPr sz="2000" b="1">
                <a:solidFill>
                  <a:srgbClr val="D4D4D4"/>
                </a:solidFill>
                <a:latin typeface="Consolas"/>
              </a:rPr>
              <a:t>computeDerivatives</a:t>
            </a:r>
            <a:r>
              <a:rPr sz="2000" b="1">
                <a:solidFill>
                  <a:srgbClr val="D4D4D4"/>
                </a:solidFill>
                <a:latin typeface="Consolas"/>
              </a:rPr>
              <a:t>(</a:t>
            </a:r>
            <a:r>
              <a:rPr sz="2000" b="1">
                <a:solidFill>
                  <a:srgbClr val="D4D4D4"/>
                </a:solidFill>
                <a:latin typeface="Consolas"/>
              </a:rPr>
              <a:t>t</a:t>
            </a:r>
            <a:r>
              <a:rPr sz="2000" b="1">
                <a:solidFill>
                  <a:srgbClr val="D4D4D4"/>
                </a:solidFill>
                <a:latin typeface="Consolas"/>
              </a:rPr>
              <a:t>,</a:t>
            </a:r>
            <a:r>
              <a:rPr sz="2000" b="1">
                <a:solidFill>
                  <a:srgbClr val="D4D4D4"/>
                </a:solidFill>
                <a:latin typeface="Consolas"/>
              </a:rPr>
              <a:t> </a:t>
            </a:r>
            <a:r>
              <a:rPr sz="2000" b="1">
                <a:solidFill>
                  <a:srgbClr val="D4D4D4"/>
                </a:solidFill>
                <a:latin typeface="Consolas"/>
              </a:rPr>
              <a:t>y</a:t>
            </a:r>
            <a:r>
              <a:rPr sz="2000" b="1">
                <a:solidFill>
                  <a:srgbClr val="D4D4D4"/>
                </a:solidFill>
                <a:latin typeface="Consolas"/>
              </a:rPr>
              <a:t>,</a:t>
            </a:r>
            <a:r>
              <a:rPr sz="2000" b="1">
                <a:solidFill>
                  <a:srgbClr val="D4D4D4"/>
                </a:solidFill>
                <a:latin typeface="Consolas"/>
              </a:rPr>
              <a:t> </a:t>
            </a:r>
            <a:r>
              <a:rPr sz="2000" b="1">
                <a:solidFill>
                  <a:srgbClr val="D4D4D4"/>
                </a:solidFill>
                <a:latin typeface="Consolas"/>
              </a:rPr>
              <a:t>dydt</a:t>
            </a:r>
            <a:r>
              <a:rPr sz="2000" b="1">
                <a:solidFill>
                  <a:srgbClr val="D4D4D4"/>
                </a:solidFill>
                <a:latin typeface="Consolas"/>
              </a:rPr>
              <a:t>)</a:t>
            </a:r>
            <a:r>
              <a:rPr sz="2000" b="1">
                <a:solidFill>
                  <a:srgbClr val="D4D4D4"/>
                </a:solidFill>
                <a:latin typeface="Consolas"/>
              </a:rPr>
              <a:t>;</a:t>
            </a:r>
            <a:r>
              <a:rPr sz="2000" b="1">
                <a:solidFill>
                  <a:srgbClr val="D4D4D4"/>
                </a:solidFill>
                <a:latin typeface="Consolas"/>
              </a:rPr>
              <a:t>  </a:t>
            </a:r>
            <a:r>
              <a:rPr sz="20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Position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empty types — pure compile-time keys</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Velocity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Force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same shape, different types */</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namespace</a:t>
            </a:r>
            <a:r>
              <a:rPr sz="1400">
                <a:solidFill>
                  <a:srgbClr val="D4D4D4"/>
                </a:solidFill>
                <a:latin typeface="Consolas"/>
              </a:rPr>
              <a:t> </a:t>
            </a:r>
            <a:r>
              <a:rPr sz="1400">
                <a:solidFill>
                  <a:srgbClr val="4EC9B0"/>
                </a:solidFill>
                <a:latin typeface="Consolas"/>
              </a:rPr>
              <a:t>spring</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Extension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PotentialEnergy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11384280" cy="470001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713232" y="1627632"/>
            <a:ext cx="10930128"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PointMass</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2 states: [x, v]</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m_mass</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4EC9B0"/>
                </a:solidFill>
                <a:latin typeface="Consolas"/>
              </a:rPr>
              <a:t>LocalDerivative</a:t>
            </a:r>
            <a:r>
              <a:rPr sz="1250">
                <a:solidFill>
                  <a:srgbClr val="D4D4D4"/>
                </a:solidFill>
                <a:latin typeface="Consolas"/>
              </a:rPr>
              <a:t> </a:t>
            </a:r>
            <a:r>
              <a:rPr sz="1250">
                <a:solidFill>
                  <a:srgbClr val="D4D4D4"/>
                </a:solidFill>
                <a:latin typeface="Consolas"/>
              </a:rPr>
              <a:t>derivatives</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velocity</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dx/dt = v</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force</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Force</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force</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m_mass</a:t>
            </a:r>
            <a:r>
              <a:rPr sz="1250">
                <a:solidFill>
                  <a:srgbClr val="D4D4D4"/>
                </a:solidFill>
                <a:latin typeface="Consolas"/>
              </a:rPr>
              <a: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dv/dt = F/m</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Position</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1124712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713232" y="1627632"/>
            <a:ext cx="10837084"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Spring</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 states!</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m_rest_length</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x1</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TagSet1</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Position</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b="1">
                <a:solidFill>
                  <a:srgbClr val="D4D4D4"/>
                </a:solidFill>
                <a:latin typeface="Consolas"/>
              </a:rPr>
              <a:t>        </a:t>
            </a:r>
            <a:r>
              <a:rPr sz="1250" b="1">
                <a:solidFill>
                  <a:srgbClr val="D4D4D4"/>
                </a:solidFill>
                <a:latin typeface="Consolas"/>
              </a:rPr>
              <a:t>T</a:t>
            </a:r>
            <a:r>
              <a:rPr sz="1250" b="1">
                <a:solidFill>
                  <a:srgbClr val="D4D4D4"/>
                </a:solidFill>
                <a:latin typeface="Consolas"/>
              </a:rPr>
              <a:t> </a:t>
            </a:r>
            <a:r>
              <a:rPr sz="1250" b="1">
                <a:solidFill>
                  <a:srgbClr val="D4D4D4"/>
                </a:solidFill>
                <a:latin typeface="Consolas"/>
              </a:rPr>
              <a:t>x2</a:t>
            </a:r>
            <a:r>
              <a:rPr sz="1250" b="1">
                <a:solidFill>
                  <a:srgbClr val="D4D4D4"/>
                </a:solidFill>
                <a:latin typeface="Consolas"/>
              </a:rPr>
              <a:t> </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query</a:t>
            </a:r>
            <a:r>
              <a:rPr sz="1250" b="1">
                <a:solidFill>
                  <a:srgbClr val="D4D4D4"/>
                </a:solidFill>
                <a:latin typeface="Consolas"/>
              </a:rPr>
              <a:t>&lt;</a:t>
            </a:r>
            <a:r>
              <a:rPr sz="1250" b="1">
                <a:solidFill>
                  <a:srgbClr val="569CD6"/>
                </a:solidFill>
                <a:latin typeface="Consolas"/>
              </a:rPr>
              <a:t>typename</a:t>
            </a:r>
            <a:r>
              <a:rPr sz="1250" b="1">
                <a:solidFill>
                  <a:srgbClr val="D4D4D4"/>
                </a:solidFill>
                <a:latin typeface="Consolas"/>
              </a:rPr>
              <a:t> </a:t>
            </a:r>
            <a:r>
              <a:rPr sz="1250" b="1">
                <a:solidFill>
                  <a:srgbClr val="4EC9B0"/>
                </a:solidFill>
                <a:latin typeface="Consolas"/>
              </a:rPr>
              <a:t>TagSet2</a:t>
            </a:r>
            <a:r>
              <a:rPr sz="1250" b="1">
                <a:solidFill>
                  <a:srgbClr val="D4D4D4"/>
                </a:solidFill>
                <a:latin typeface="Consolas"/>
              </a:rPr>
              <a:t>:</a:t>
            </a:r>
            <a:r>
              <a:rPr sz="1250" b="1">
                <a:solidFill>
                  <a:srgbClr val="D4D4D4"/>
                </a:solidFill>
                <a:latin typeface="Consolas"/>
              </a:rPr>
              <a:t>:</a:t>
            </a:r>
            <a:r>
              <a:rPr sz="1250" b="1">
                <a:solidFill>
                  <a:srgbClr val="4EC9B0"/>
                </a:solidFill>
                <a:latin typeface="Consolas"/>
              </a:rPr>
              <a:t>Position</a:t>
            </a:r>
            <a:r>
              <a:rPr sz="1250" b="1">
                <a:solidFill>
                  <a:srgbClr val="D4D4D4"/>
                </a:solidFill>
                <a:latin typeface="Consolas"/>
              </a:rPr>
              <a:t>&gt;</a:t>
            </a:r>
            <a:r>
              <a:rPr sz="1250" b="1">
                <a:solidFill>
                  <a:srgbClr val="D4D4D4"/>
                </a:solidFill>
                <a:latin typeface="Consolas"/>
              </a:rPr>
              <a:t>(</a:t>
            </a:r>
            <a:r>
              <a:rPr sz="1250" b="1">
                <a:solidFill>
                  <a:srgbClr val="D4D4D4"/>
                </a:solidFill>
                <a:latin typeface="Consolas"/>
              </a:rPr>
              <a:t>registry</a:t>
            </a:r>
            <a:r>
              <a:rPr sz="1250" b="1">
                <a:solidFill>
                  <a:srgbClr val="D4D4D4"/>
                </a:solidFill>
                <a:latin typeface="Consolas"/>
              </a:rPr>
              <a:t>,</a:t>
            </a:r>
            <a:r>
              <a:rPr sz="1250" b="1">
                <a:solidFill>
                  <a:srgbClr val="D4D4D4"/>
                </a:solidFill>
                <a:latin typeface="Consolas"/>
              </a:rPr>
              <a:t> </a:t>
            </a:r>
            <a:r>
              <a:rPr sz="1250" b="1">
                <a:solidFill>
                  <a:srgbClr val="D4D4D4"/>
                </a:solidFill>
                <a:latin typeface="Consolas"/>
              </a:rPr>
              <a:t>state</a:t>
            </a:r>
            <a:r>
              <a:rPr sz="1250" b="1">
                <a:solidFill>
                  <a:srgbClr val="D4D4D4"/>
                </a:solidFill>
                <a:latin typeface="Consolas"/>
              </a:rPr>
              <a:t>)</a:t>
            </a:r>
            <a:r>
              <a:rPr sz="1250" b="1">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x1</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x2</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m_rest_length</a:t>
            </a:r>
            <a:r>
              <a:rPr sz="1250">
                <a:solidFill>
                  <a:srgbClr val="D4D4D4"/>
                </a:solidFill>
                <a:latin typeface="Consolas"/>
              </a:rPr>
              <a:t>)</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Hooke's law</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query</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Newton's 3rd</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1124712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673352"/>
            <a:ext cx="10788957" cy="3059812"/>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Scalar</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EnergyMonitor</a:t>
            </a:r>
            <a:r>
              <a:rPr sz="1300">
                <a:solidFill>
                  <a:srgbClr val="D4D4D4"/>
                </a:solidFill>
                <a:latin typeface="Consolas"/>
              </a:rPr>
              <a:t> </a:t>
            </a:r>
            <a:r>
              <a:rPr sz="1300">
                <a:solidFill>
                  <a:srgbClr val="569CD6"/>
                </a:solidFill>
                <a:latin typeface="Consolas"/>
              </a:rPr>
              <a:t>final</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public</a:t>
            </a:r>
            <a:r>
              <a:rPr sz="1300">
                <a:solidFill>
                  <a:srgbClr val="D4D4D4"/>
                </a:solidFill>
                <a:latin typeface="Consolas"/>
              </a:rPr>
              <a:t> </a:t>
            </a:r>
            <a:r>
              <a:rPr sz="1300">
                <a:solidFill>
                  <a:srgbClr val="4EC9B0"/>
                </a:solidFill>
                <a:latin typeface="Consolas"/>
              </a:rPr>
              <a:t>Component</a:t>
            </a:r>
            <a:r>
              <a:rPr sz="1300">
                <a:solidFill>
                  <a:srgbClr val="D4D4D4"/>
                </a:solidFill>
                <a:latin typeface="Consolas"/>
              </a:rPr>
              <a:t>&lt;</a:t>
            </a:r>
            <a:r>
              <a:rPr sz="1300">
                <a:solidFill>
                  <a:srgbClr val="B5CEA8"/>
                </a:solidFill>
                <a:latin typeface="Consolas"/>
              </a:rPr>
              <a:t>0</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a:t>
            </a:r>
          </a:p>
          <a:p>
            <a:pPr>
              <a:spcAft>
                <a:spcPts val="100"/>
              </a:spcAft>
            </a:pPr>
            <a:r>
              <a:rPr sz="1300">
                <a:solidFill>
                  <a:srgbClr val="569CD6"/>
                </a:solidFill>
                <a:latin typeface="Consolas"/>
              </a:rPr>
              <a:t>public</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system</a:t>
            </a:r>
            <a:r>
              <a:rPr sz="1300">
                <a:solidFill>
                  <a:srgbClr val="D4D4D4"/>
                </a:solidFill>
                <a:latin typeface="Consolas"/>
              </a:rPr>
              <a:t>:</a:t>
            </a:r>
            <a:r>
              <a:rPr sz="1300">
                <a:solidFill>
                  <a:srgbClr val="D4D4D4"/>
                </a:solidFill>
                <a:latin typeface="Consolas"/>
              </a:rPr>
              <a:t>:</a:t>
            </a:r>
            <a:r>
              <a:rPr sz="1300">
                <a:solidFill>
                  <a:srgbClr val="4EC9B0"/>
                </a:solidFill>
                <a:latin typeface="Consolas"/>
              </a:rPr>
              <a:t>TotalEnergy</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spring</a:t>
            </a:r>
            <a:r>
              <a:rPr sz="1300">
                <a:solidFill>
                  <a:srgbClr val="D4D4D4"/>
                </a:solidFill>
                <a:latin typeface="Consolas"/>
              </a:rPr>
              <a:t>:</a:t>
            </a:r>
            <a:r>
              <a:rPr sz="1300">
                <a:solidFill>
                  <a:srgbClr val="D4D4D4"/>
                </a:solidFill>
                <a:latin typeface="Consolas"/>
              </a:rPr>
              <a:t>:</a:t>
            </a:r>
            <a:r>
              <a:rPr sz="1300">
                <a:solidFill>
                  <a:srgbClr val="4EC9B0"/>
                </a:solidFill>
                <a:latin typeface="Consolas"/>
              </a:rPr>
              <a:t>PotentialEnergy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1124712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673352"/>
            <a:ext cx="10827459" cy="3503523"/>
          </a:xfrm>
          <a:prstGeom prst="rect">
            <a:avLst/>
          </a:prstGeom>
          <a:noFill/>
        </p:spPr>
        <p:txBody>
          <a:bodyPr wrap="none">
            <a:spAutoFit/>
          </a:bodyPr>
          <a:lstStyle/>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Spring12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EnergyMonitor</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6A9955"/>
                </a:solidFill>
                <a:latin typeface="Consolas"/>
              </a:rPr>
              <a:t>// the wiring is CHECKED at compile time:</a:t>
            </a:r>
          </a:p>
          <a:p>
            <a:pPr>
              <a:spcAft>
                <a:spcPts val="100"/>
              </a:spcAft>
            </a:pPr>
            <a:r>
              <a:rPr sz="1400" b="1">
                <a:solidFill>
                  <a:srgbClr val="569CD6"/>
                </a:solidFill>
                <a:latin typeface="Consolas"/>
              </a:rPr>
              <a:t>static_assert</a:t>
            </a:r>
            <a:r>
              <a:rPr sz="1400" b="1">
                <a:solidFill>
                  <a:srgbClr val="D4D4D4"/>
                </a:solidFill>
                <a:latin typeface="Consolas"/>
              </a:rPr>
              <a:t>(</a:t>
            </a:r>
            <a:r>
              <a:rPr sz="1400" b="1">
                <a:solidFill>
                  <a:srgbClr val="569CD6"/>
                </a:solidFill>
                <a:latin typeface="Consolas"/>
              </a:rPr>
              <a:t>decltype</a:t>
            </a:r>
            <a:r>
              <a:rPr sz="1400" b="1">
                <a:solidFill>
                  <a:srgbClr val="D4D4D4"/>
                </a:solidFill>
                <a:latin typeface="Consolas"/>
              </a:rPr>
              <a:t>(</a:t>
            </a:r>
            <a:r>
              <a:rPr sz="1400" b="1">
                <a:solidFill>
                  <a:srgbClr val="D4D4D4"/>
                </a:solidFill>
                <a:latin typeface="Consolas"/>
              </a:rPr>
              <a:t>sys</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hasFunction</a:t>
            </a:r>
            <a:r>
              <a:rPr sz="1400" b="1">
                <a:solidFill>
                  <a:srgbClr val="D4D4D4"/>
                </a:solidFill>
                <a:latin typeface="Consolas"/>
              </a:rPr>
              <a:t>&lt;</a:t>
            </a:r>
            <a:r>
              <a:rPr sz="1400" b="1">
                <a:solidFill>
                  <a:srgbClr val="D4D4D4"/>
                </a:solidFill>
                <a:latin typeface="Consolas"/>
              </a:rPr>
              <a:t>system</a:t>
            </a:r>
            <a:r>
              <a:rPr sz="1400" b="1">
                <a:solidFill>
                  <a:srgbClr val="D4D4D4"/>
                </a:solidFill>
                <a:latin typeface="Consolas"/>
              </a:rPr>
              <a:t>:</a:t>
            </a:r>
            <a:r>
              <a:rPr sz="1400" b="1">
                <a:solidFill>
                  <a:srgbClr val="D4D4D4"/>
                </a:solidFill>
                <a:latin typeface="Consolas"/>
              </a:rPr>
              <a:t>:</a:t>
            </a:r>
            <a:r>
              <a:rPr sz="1400" b="1">
                <a:solidFill>
                  <a:srgbClr val="4EC9B0"/>
                </a:solidFill>
                <a:latin typeface="Consolas"/>
              </a:rPr>
              <a:t>TotalEnergy</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RK4Solver</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sol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r>
              <a:rPr sz="1400">
                <a:solidFill>
                  <a:srgbClr val="D4D4D4"/>
                </a:solidFill>
                <a:latin typeface="Consolas"/>
              </a:rPr>
              <a:t>solve</a:t>
            </a:r>
            <a:r>
              <a:rPr sz="1400">
                <a:solidFill>
                  <a:srgbClr val="D4D4D4"/>
                </a:solidFill>
                <a:latin typeface="Consolas"/>
              </a:rPr>
              <a:t>(</a:t>
            </a:r>
            <a:r>
              <a:rPr sz="1400">
                <a:solidFill>
                  <a:srgbClr val="D4D4D4"/>
                </a:solidFill>
                <a:latin typeface="Consolas"/>
              </a:rPr>
              <a:t>derivs</a:t>
            </a:r>
            <a:r>
              <a:rPr sz="1400">
                <a:solidFill>
                  <a:srgbClr val="D4D4D4"/>
                </a:solidFill>
                <a:latin typeface="Consolas"/>
              </a:rPr>
              <a:t>(</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getStateDimension</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getInitialState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query</a:t>
            </a:r>
            <a:r>
              <a:rPr sz="1400">
                <a:solidFill>
                  <a:srgbClr val="D4D4D4"/>
                </a:solidFill>
                <a:latin typeface="Consolas"/>
              </a:rPr>
              <a:t>&lt;</a:t>
            </a:r>
            <a:r>
              <a:rPr sz="1400">
                <a:solidFill>
                  <a:srgbClr val="D4D4D4"/>
                </a:solidFill>
                <a:latin typeface="Consolas"/>
              </a:rPr>
              <a:t>system</a:t>
            </a:r>
            <a:r>
              <a:rPr sz="1400">
                <a:solidFill>
                  <a:srgbClr val="D4D4D4"/>
                </a:solidFill>
                <a:latin typeface="Consolas"/>
              </a:rPr>
              <a:t>:</a:t>
            </a:r>
            <a:r>
              <a:rPr sz="1400">
                <a:solidFill>
                  <a:srgbClr val="D4D4D4"/>
                </a:solidFill>
                <a:latin typeface="Consolas"/>
              </a:rPr>
              <a:t>:</a:t>
            </a:r>
            <a:r>
              <a:rPr sz="1400">
                <a:solidFill>
                  <a:srgbClr val="4EC9B0"/>
                </a:solidFill>
                <a:latin typeface="Consolas"/>
              </a:rPr>
              <a:t>TotalEnergy</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sol</a:t>
            </a:r>
            <a:r>
              <a:rPr sz="1400">
                <a:solidFill>
                  <a:srgbClr val="D4D4D4"/>
                </a:solidFill>
                <a:latin typeface="Consolas"/>
              </a:rPr>
              <a:t>.</a:t>
            </a:r>
            <a:r>
              <a:rPr sz="1400">
                <a:solidFill>
                  <a:srgbClr val="D4D4D4"/>
                </a:solidFill>
                <a:latin typeface="Consolas"/>
              </a:rPr>
              <a:t>states</a:t>
            </a:r>
            <a:r>
              <a:rPr sz="1400">
                <a:solidFill>
                  <a:srgbClr val="D4D4D4"/>
                </a:solidFill>
                <a:latin typeface="Consolas"/>
              </a:rPr>
              <a:t>.</a:t>
            </a:r>
            <a:r>
              <a:rPr sz="1400">
                <a:solidFill>
                  <a:srgbClr val="D4D4D4"/>
                </a:solidFill>
                <a:latin typeface="Consolas"/>
              </a:rPr>
              <a:t>back</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4D4D4"/>
                </a:solidFill>
                <a:latin typeface="Consolas"/>
              </a:rPr>
              <a:t>getOutput</a:t>
            </a:r>
            <a:r>
              <a:rPr sz="1500">
                <a:solidFill>
                  <a:srgbClr val="D4D4D4"/>
                </a:solidFill>
                <a:latin typeface="Consolas"/>
              </a:rPr>
              <a:t>(</a:t>
            </a:r>
            <a:r>
              <a:rPr sz="1500">
                <a:solidFill>
                  <a:srgbClr val="D4D4D4"/>
                </a:solidFill>
                <a:latin typeface="Consolas"/>
              </a:rPr>
              <a:t>                    </a:t>
            </a:r>
            <a:r>
              <a:rPr sz="1500">
                <a:solidFill>
                  <a:srgbClr val="D4D4D4"/>
                </a:solidFill>
                <a:latin typeface="Consolas"/>
              </a:rPr>
              <a:t>T</a:t>
            </a:r>
            <a:r>
              <a:rPr sz="1500">
                <a:solidFill>
                  <a:srgbClr val="D4D4D4"/>
                </a:solidFill>
                <a:latin typeface="Consolas"/>
              </a:rPr>
              <a:t> </a:t>
            </a:r>
            <a:r>
              <a:rPr sz="1500">
                <a:solidFill>
                  <a:srgbClr val="D4D4D4"/>
                </a:solidFill>
                <a:latin typeface="Consolas"/>
              </a:rPr>
              <a:t>compute</a:t>
            </a:r>
            <a:r>
              <a:rPr sz="1500">
                <a:solidFill>
                  <a:srgbClr val="D4D4D4"/>
                </a:solidFill>
                <a:latin typeface="Consolas"/>
              </a:rPr>
              <a:t>(</a:t>
            </a:r>
            <a:r>
              <a:rPr sz="1500">
                <a:solidFill>
                  <a:srgbClr val="D4D4D4"/>
                </a:solidFill>
                <a:latin typeface="Consolas"/>
              </a:rPr>
              <a:t>mass1</a:t>
            </a:r>
            <a:r>
              <a:rPr sz="1500">
                <a:solidFill>
                  <a:srgbClr val="D4D4D4"/>
                </a:solidFill>
                <a:latin typeface="Consolas"/>
              </a:rPr>
              <a:t>:</a:t>
            </a:r>
            <a:r>
              <a:rPr sz="1500">
                <a:solidFill>
                  <a:srgbClr val="D4D4D4"/>
                </a:solidFill>
                <a:latin typeface="Consolas"/>
              </a:rPr>
              <a:t>:</a:t>
            </a:r>
            <a:r>
              <a:rPr sz="1500">
                <a:solidFill>
                  <a:srgbClr val="4EC9B0"/>
                </a:solidFill>
                <a:latin typeface="Consolas"/>
              </a:rPr>
              <a:t>Position</a:t>
            </a:r>
            <a:r>
              <a:rPr sz="1500">
                <a:solidFill>
                  <a:srgbClr val="D4D4D4"/>
                </a:solidFill>
                <a:latin typeface="Consolas"/>
              </a:rPr>
              <a:t>,</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a:t>
            </a:r>
            <a:r>
              <a:rPr sz="1500">
                <a:solidFill>
                  <a:srgbClr val="D4D4D4"/>
                </a:solidFill>
                <a:latin typeface="Consolas"/>
              </a:rPr>
              <a:t>std</a:t>
            </a:r>
            <a:r>
              <a:rPr sz="1500">
                <a:solidFill>
                  <a:srgbClr val="D4D4D4"/>
                </a:solidFill>
                <a:latin typeface="Consolas"/>
              </a:rPr>
              <a:t>:</a:t>
            </a:r>
            <a:r>
              <a:rPr sz="1500">
                <a:solidFill>
                  <a:srgbClr val="D4D4D4"/>
                </a:solidFill>
                <a:latin typeface="Consolas"/>
              </a:rPr>
              <a:t>:</a:t>
            </a:r>
            <a:r>
              <a:rPr sz="1500">
                <a:solidFill>
                  <a:srgbClr val="D4D4D4"/>
                </a:solidFill>
                <a:latin typeface="Consolas"/>
              </a:rPr>
              <a:t>string</a:t>
            </a:r>
            <a:r>
              <a:rPr sz="1500">
                <a:solidFill>
                  <a:srgbClr val="D4D4D4"/>
                </a:solidFill>
                <a:latin typeface="Consolas"/>
              </a:rPr>
              <a:t>&amp;</a:t>
            </a:r>
            <a:r>
              <a:rPr sz="1500">
                <a:solidFill>
                  <a:srgbClr val="D4D4D4"/>
                </a:solidFill>
                <a:latin typeface="Consolas"/>
              </a:rPr>
              <a:t> </a:t>
            </a:r>
            <a:r>
              <a:rPr sz="1500">
                <a:solidFill>
                  <a:srgbClr val="D4D4D4"/>
                </a:solidFill>
                <a:latin typeface="Consolas"/>
              </a:rPr>
              <a:t>name</a:t>
            </a:r>
            <a:r>
              <a:rPr sz="1500">
                <a:solidFill>
                  <a:srgbClr val="D4D4D4"/>
                </a:solidFill>
                <a:latin typeface="Consolas"/>
              </a:rPr>
              <a:t>)</a:t>
            </a:r>
            <a:r>
              <a:rPr sz="1500">
                <a:solidFill>
                  <a:srgbClr val="D4D4D4"/>
                </a:solidFill>
                <a:latin typeface="Consolas"/>
              </a:rPr>
              <a:t>;</a:t>
            </a:r>
            <a:r>
              <a:rPr sz="1500">
                <a:solidFill>
                  <a:srgbClr val="D4D4D4"/>
                </a:solidFill>
                <a:latin typeface="Consolas"/>
              </a:rPr>
              <a:t>            </a:t>
            </a:r>
            <a:r>
              <a:rPr sz="1500">
                <a:solidFill>
                  <a:srgbClr val="D4D4D4"/>
                </a:solidFill>
                <a:latin typeface="Consolas"/>
              </a:rPr>
              <a:t>std</a:t>
            </a:r>
            <a:r>
              <a:rPr sz="1500">
                <a:solidFill>
                  <a:srgbClr val="D4D4D4"/>
                </a:solidFill>
                <a:latin typeface="Consolas"/>
              </a:rPr>
              <a:t>:</a:t>
            </a:r>
            <a:r>
              <a:rPr sz="1500">
                <a:solidFill>
                  <a:srgbClr val="D4D4D4"/>
                </a:solidFill>
                <a:latin typeface="Consolas"/>
              </a:rPr>
              <a:t>:</a:t>
            </a:r>
            <a:r>
              <a:rPr sz="1500">
                <a:solidFill>
                  <a:srgbClr val="D4D4D4"/>
                </a:solidFill>
                <a:latin typeface="Consolas"/>
              </a:rPr>
              <a:t>span</a:t>
            </a:r>
            <a:r>
              <a:rPr sz="1500">
                <a:solidFill>
                  <a:srgbClr val="D4D4D4"/>
                </a:solidFill>
                <a:latin typeface="Consolas"/>
              </a:rPr>
              <a:t>&lt;</a:t>
            </a:r>
            <a:r>
              <a:rPr sz="1500">
                <a:solidFill>
                  <a:srgbClr val="569CD6"/>
                </a:solidFill>
                <a:latin typeface="Consolas"/>
              </a:rPr>
              <a:t>const</a:t>
            </a:r>
            <a:r>
              <a:rPr sz="1500">
                <a:solidFill>
                  <a:srgbClr val="D4D4D4"/>
                </a:solidFill>
                <a:latin typeface="Consolas"/>
              </a:rPr>
              <a:t> </a:t>
            </a:r>
            <a:r>
              <a:rPr sz="1500">
                <a:solidFill>
                  <a:srgbClr val="D4D4D4"/>
                </a:solidFill>
                <a:latin typeface="Consolas"/>
              </a:rPr>
              <a:t>T</a:t>
            </a:r>
            <a:r>
              <a:rPr sz="1500">
                <a:solidFill>
                  <a:srgbClr val="D4D4D4"/>
                </a:solidFill>
                <a:latin typeface="Consolas"/>
              </a:rPr>
              <a:t>&gt;</a:t>
            </a:r>
            <a:r>
              <a:rPr sz="1500">
                <a:solidFill>
                  <a:srgbClr val="D4D4D4"/>
                </a:solidFill>
                <a:latin typeface="Consolas"/>
              </a:rPr>
              <a:t> </a:t>
            </a:r>
            <a:r>
              <a:rPr sz="1500">
                <a:solidFill>
                  <a:srgbClr val="D4D4D4"/>
                </a:solidFill>
                <a:latin typeface="Consolas"/>
              </a:rPr>
              <a:t>state</a:t>
            </a:r>
            <a:r>
              <a:rPr sz="1500">
                <a:solidFill>
                  <a:srgbClr val="D4D4D4"/>
                </a:solidFill>
                <a:latin typeface="Consolas"/>
              </a:rPr>
              <a:t>)</a:t>
            </a: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a:t>
            </a:r>
          </a:p>
          <a:p>
            <a:pPr>
              <a:spcAft>
                <a:spcPts val="100"/>
              </a:spcAft>
            </a:pPr>
            <a:r>
              <a:rPr sz="1500">
                <a:solidFill>
                  <a:srgbClr val="D4D4D4"/>
                </a:solidFill>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39" y="1508760"/>
            <a:ext cx="11300059"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ComponentConcept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tuple</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&amp;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m_components</a:t>
            </a:r>
            <a:r>
              <a:rPr sz="1300">
                <a:solidFill>
                  <a:srgbClr val="D4D4D4"/>
                </a:solidFill>
                <a:latin typeface="Consolas"/>
              </a:rPr>
              <a:t>;</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a:t>
            </a:r>
            <a:r>
              <a:rPr sz="1300">
                <a:solidFill>
                  <a:srgbClr val="D4D4D4"/>
                </a:solidFill>
                <a:latin typeface="Consolas"/>
              </a:rPr>
              <a:t>hasFunction</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D4D4D4"/>
                </a:solidFill>
                <a:latin typeface="Consolas"/>
              </a:rPr>
              <a:t>        </a:t>
            </a:r>
            <a:r>
              <a:rPr sz="1300" b="1">
                <a:solidFill>
                  <a:srgbClr val="569CD6"/>
                </a:solidFill>
                <a:latin typeface="Consolas"/>
              </a:rPr>
              <a:t>return</a:t>
            </a:r>
            <a:r>
              <a:rPr sz="1300" b="1">
                <a:solidFill>
                  <a:srgbClr val="D4D4D4"/>
                </a:solidFill>
                <a:latin typeface="Consolas"/>
              </a:rPr>
              <a:t> </a:t>
            </a:r>
            <a:r>
              <a:rPr sz="1300" b="1">
                <a:solidFill>
                  <a:srgbClr val="D4D4D4"/>
                </a:solidFill>
                <a:latin typeface="Consolas"/>
              </a:rPr>
              <a:t>(</a:t>
            </a:r>
            <a:r>
              <a:rPr sz="1300" b="1">
                <a:solidFill>
                  <a:srgbClr val="4EC9B0"/>
                </a:solidFill>
                <a:latin typeface="Consolas"/>
              </a:rPr>
              <a:t>ProvidesStateFunction</a:t>
            </a:r>
            <a:r>
              <a:rPr sz="1300" b="1">
                <a:solidFill>
                  <a:srgbClr val="D4D4D4"/>
                </a:solidFill>
                <a:latin typeface="Consolas"/>
              </a:rPr>
              <a:t>&lt;</a:t>
            </a:r>
            <a:r>
              <a:rPr sz="1300" b="1">
                <a:solidFill>
                  <a:srgbClr val="4EC9B0"/>
                </a:solidFill>
                <a:latin typeface="Consolas"/>
              </a:rPr>
              <a:t>Components</a:t>
            </a:r>
            <a:r>
              <a:rPr sz="1300" b="1">
                <a:solidFill>
                  <a:srgbClr val="D4D4D4"/>
                </a:solidFill>
                <a:latin typeface="Consolas"/>
              </a:rPr>
              <a:t>,</a:t>
            </a:r>
            <a:r>
              <a:rPr sz="1300" b="1">
                <a:solidFill>
                  <a:srgbClr val="D4D4D4"/>
                </a:solidFill>
                <a:latin typeface="Consolas"/>
              </a:rPr>
              <a:t> </a:t>
            </a:r>
            <a:r>
              <a:rPr sz="1300" b="1">
                <a:solidFill>
                  <a:srgbClr val="4EC9B0"/>
                </a:solidFill>
                <a:latin typeface="Consolas"/>
              </a:rPr>
              <a:t>Tag</a:t>
            </a:r>
            <a:r>
              <a:rPr sz="1300" b="1">
                <a:solidFill>
                  <a:srgbClr val="D4D4D4"/>
                </a:solidFill>
                <a:latin typeface="Consolas"/>
              </a:rPr>
              <a:t>,</a:t>
            </a:r>
            <a:r>
              <a:rPr sz="1300" b="1">
                <a:solidFill>
                  <a:srgbClr val="D4D4D4"/>
                </a:solidFill>
                <a:latin typeface="Consolas"/>
              </a:rPr>
              <a:t> </a:t>
            </a:r>
            <a:r>
              <a:rPr sz="1300" b="1">
                <a:solidFill>
                  <a:srgbClr val="D4D4D4"/>
                </a:solidFill>
                <a:latin typeface="Consolas"/>
              </a:rPr>
              <a:t>T</a:t>
            </a:r>
            <a:r>
              <a:rPr sz="1300" b="1">
                <a:solidFill>
                  <a:srgbClr val="D4D4D4"/>
                </a:solidFill>
                <a:latin typeface="Consolas"/>
              </a:rPr>
              <a:t>,</a:t>
            </a:r>
            <a:r>
              <a:rPr sz="1300" b="1">
                <a:solidFill>
                  <a:srgbClr val="D4D4D4"/>
                </a:solidFill>
                <a:latin typeface="Consolas"/>
              </a:rPr>
              <a:t> </a:t>
            </a:r>
            <a:r>
              <a:rPr sz="1300" b="1">
                <a:solidFill>
                  <a:srgbClr val="4EC9B0"/>
                </a:solidFill>
                <a:latin typeface="Consolas"/>
              </a:rPr>
              <a:t>Registry</a:t>
            </a:r>
            <a:r>
              <a:rPr sz="1300" b="1">
                <a:solidFill>
                  <a:srgbClr val="D4D4D4"/>
                </a:solidFill>
                <a:latin typeface="Consolas"/>
              </a:rPr>
              <a:t>&gt;</a:t>
            </a:r>
            <a:r>
              <a:rPr sz="1300" b="1">
                <a:solidFill>
                  <a:srgbClr val="D4D4D4"/>
                </a:solidFill>
                <a:latin typeface="Consolas"/>
              </a:rPr>
              <a:t> </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 </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a:t>
            </a:r>
            <a:r>
              <a:rPr sz="1300">
                <a:solidFill>
                  <a:srgbClr val="D4D4D4"/>
                </a:solidFill>
                <a:latin typeface="Consolas"/>
              </a:rPr>
              <a:t>computeFunction</a:t>
            </a:r>
            <a:r>
              <a:rPr sz="1300">
                <a:solidFill>
                  <a:srgbClr val="D4D4D4"/>
                </a:solidFill>
                <a:latin typeface="Consolas"/>
              </a:rPr>
              <a:t>(</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D4D4D4"/>
                </a:solidFill>
                <a:latin typeface="Consolas"/>
              </a:rPr>
              <a:t>        </a:t>
            </a:r>
            <a:r>
              <a:rPr sz="1300" b="1">
                <a:solidFill>
                  <a:srgbClr val="569CD6"/>
                </a:solidFill>
                <a:latin typeface="Consolas"/>
              </a:rPr>
              <a:t>static_assert</a:t>
            </a:r>
            <a:r>
              <a:rPr sz="1300" b="1">
                <a:solidFill>
                  <a:srgbClr val="D4D4D4"/>
                </a:solidFill>
                <a:latin typeface="Consolas"/>
              </a:rPr>
              <a:t>(</a:t>
            </a:r>
            <a:r>
              <a:rPr sz="1300" b="1">
                <a:solidFill>
                  <a:srgbClr val="D4D4D4"/>
                </a:solidFill>
                <a:latin typeface="Consolas"/>
              </a:rPr>
              <a:t>hasFunction</a:t>
            </a:r>
            <a:r>
              <a:rPr sz="1300" b="1">
                <a:solidFill>
                  <a:srgbClr val="D4D4D4"/>
                </a:solidFill>
                <a:latin typeface="Consolas"/>
              </a:rPr>
              <a:t>&lt;</a:t>
            </a:r>
            <a:r>
              <a:rPr sz="1300" b="1">
                <a:solidFill>
                  <a:srgbClr val="4EC9B0"/>
                </a:solidFill>
                <a:latin typeface="Consolas"/>
              </a:rPr>
              <a:t>Tag</a:t>
            </a:r>
            <a:r>
              <a:rPr sz="1300" b="1">
                <a:solidFill>
                  <a:srgbClr val="D4D4D4"/>
                </a:solidFill>
                <a:latin typeface="Consolas"/>
              </a:rPr>
              <a:t>&gt;</a:t>
            </a:r>
            <a:r>
              <a:rPr sz="1300" b="1">
                <a:solidFill>
                  <a:srgbClr val="D4D4D4"/>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b="1">
                <a:solidFill>
                  <a:srgbClr val="D4D4D4"/>
                </a:solidFill>
                <a:latin typeface="Consolas"/>
              </a:rPr>
              <a:t>                      </a:t>
            </a:r>
            <a:r>
              <a:rPr sz="1300" b="1">
                <a:solidFill>
                  <a:srgbClr val="CE9178"/>
                </a:solidFill>
                <a:latin typeface="Consolas"/>
              </a:rPr>
              <a:t>"</a:t>
            </a:r>
            <a:r>
              <a:rPr sz="1300" b="1">
                <a:solidFill>
                  <a:srgbClr val="CE9178"/>
                </a:solidFill>
                <a:latin typeface="Consolas"/>
              </a:rPr>
              <a:t>No component provides this state function</a:t>
            </a:r>
            <a:r>
              <a:rPr sz="1300" b="1">
                <a:solidFill>
                  <a:srgbClr val="CE9178"/>
                </a:solidFill>
                <a:latin typeface="Consolas"/>
              </a:rPr>
              <a:t>"</a:t>
            </a:r>
            <a:r>
              <a:rPr sz="1300" b="1">
                <a:solidFill>
                  <a:srgbClr val="D4D4D4"/>
                </a:solidFill>
                <a:latin typeface="Consolas"/>
              </a:rPr>
              <a:t>)</a:t>
            </a:r>
            <a:r>
              <a:rPr sz="1300" b="1">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findProvider</a:t>
            </a:r>
            <a:r>
              <a:rPr sz="1300">
                <a:solidFill>
                  <a:srgbClr val="D4D4D4"/>
                </a:solidFill>
                <a:latin typeface="Consolas"/>
              </a:rPr>
              <a:t>&lt;</a:t>
            </a:r>
            <a:r>
              <a:rPr sz="1300">
                <a:solidFill>
                  <a:srgbClr val="4EC9B0"/>
                </a:solidFill>
                <a:latin typeface="Consolas"/>
              </a:rPr>
              <a:t>Tag</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a:t>
            </a:r>
            <a:r>
              <a:rPr sz="1300">
                <a:solidFill>
                  <a:srgbClr val="D4D4D4"/>
                </a:solidFill>
                <a:latin typeface="Consolas"/>
              </a:rPr>
              <a:t>compute</a:t>
            </a:r>
            <a:r>
              <a:rPr sz="1300">
                <a:solidFill>
                  <a:srgbClr val="D4D4D4"/>
                </a:solidFill>
                <a:latin typeface="Consolas"/>
              </a:rPr>
              <a:t>(</a:t>
            </a:r>
            <a:r>
              <a:rPr sz="1300">
                <a:solidFill>
                  <a:srgbClr val="4EC9B0"/>
                </a:solidFill>
                <a:latin typeface="Consolas"/>
              </a:rPr>
              <a:t>Tag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569CD6"/>
                </a:solidFill>
                <a:latin typeface="Consolas"/>
              </a:rPr>
              <a:t>this</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59"/>
            <a:ext cx="11247120" cy="4516655"/>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673352"/>
            <a:ext cx="10671048" cy="2590453"/>
          </a:xfrm>
          <a:prstGeom prst="rect">
            <a:avLst/>
          </a:prstGeom>
          <a:noFill/>
        </p:spPr>
        <p:txBody>
          <a:bodyPr wrap="none">
            <a:spAutoFit/>
          </a:bodyPr>
          <a:lstStyle/>
          <a:p>
            <a:pPr>
              <a:spcAft>
                <a:spcPts val="100"/>
              </a:spcAft>
            </a:pPr>
            <a:r>
              <a:rPr sz="1400">
                <a:solidFill>
                  <a:srgbClr val="6A9955"/>
                </a:solidFill>
                <a:latin typeface="Consolas"/>
              </a:rPr>
              <a:t>// what a component IS:</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state_size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convertible_to</a:t>
            </a:r>
            <a:r>
              <a:rPr sz="1400">
                <a:solidFill>
                  <a:srgbClr val="D4D4D4"/>
                </a:solidFill>
                <a:latin typeface="Consolas"/>
              </a:rPr>
              <a:t>&lt;</a:t>
            </a:r>
            <a:r>
              <a:rPr sz="1400">
                <a:solidFill>
                  <a:srgbClr val="4EC9B0"/>
                </a:solidFill>
                <a:latin typeface="Consolas"/>
              </a:rPr>
              <a:t>size_t</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getInitialLocalState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same_as</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a:t>
            </a:r>
            <a:r>
              <a:rPr sz="1400">
                <a:solidFill>
                  <a:srgbClr val="4EC9B0"/>
                </a:solidFill>
                <a:latin typeface="Consolas"/>
              </a:rPr>
              <a:t>LocalState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what it PROVIDES (a quantity, selected by tag):</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ProvidesStateFunction</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&lt;</a:t>
            </a:r>
            <a:r>
              <a:rPr sz="1400">
                <a:solidFill>
                  <a:srgbClr val="D4D4D4"/>
                </a:solidFill>
                <a:latin typeface="Consolas"/>
              </a:rPr>
              <a:t>C</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r>
              <a:rPr sz="1400">
                <a:solidFill>
                  <a:srgbClr val="D4D4D4"/>
                </a:solidFill>
                <a:latin typeface="Consolas"/>
              </a:rPr>
              <a:t> </a:t>
            </a:r>
            <a:r>
              <a:rPr sz="1400">
                <a:solidFill>
                  <a:srgbClr val="4EC9B0"/>
                </a:solidFill>
                <a:latin typeface="Consolas"/>
              </a:rPr>
              <a:t>StateTagConcept</a:t>
            </a:r>
            <a:r>
              <a:rPr sz="1400">
                <a:solidFill>
                  <a:srgbClr val="D4D4D4"/>
                </a:solidFill>
                <a:latin typeface="Consolas"/>
              </a:rPr>
              <a:t>&lt;</a:t>
            </a:r>
            <a:r>
              <a:rPr sz="1400">
                <a:solidFill>
                  <a:srgbClr val="4EC9B0"/>
                </a:solidFill>
                <a:latin typeface="Consolas"/>
              </a:rPr>
              <a:t>Tag</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p>
          <a:p>
            <a:pPr>
              <a:spcAft>
                <a:spcPts val="100"/>
              </a:spcAft>
            </a:pP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span</a:t>
            </a:r>
            <a:r>
              <a:rPr sz="1400">
                <a:solidFill>
                  <a:srgbClr val="D4D4D4"/>
                </a:solidFill>
                <a:latin typeface="Consolas"/>
              </a:rPr>
              <a:t>&lt;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compute</a:t>
            </a:r>
            <a:r>
              <a:rPr sz="1400">
                <a:solidFill>
                  <a:srgbClr val="D4D4D4"/>
                </a:solidFill>
                <a:latin typeface="Consolas"/>
              </a:rPr>
              <a:t>(</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sim</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comps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569CD6"/>
                </a:solidFill>
                <a:latin typeface="Consolas"/>
              </a:rPr>
              <a:t>using</a:t>
            </a:r>
            <a:r>
              <a:rPr sz="1400" b="1">
                <a:solidFill>
                  <a:srgbClr val="D4D4D4"/>
                </a:solidFill>
                <a:latin typeface="Consolas"/>
              </a:rPr>
              <a:t> </a:t>
            </a:r>
            <a:r>
              <a:rPr sz="1400" b="1">
                <a:solidFill>
                  <a:srgbClr val="D4D4D4"/>
                </a:solidFill>
                <a:latin typeface="Consolas"/>
              </a:rPr>
              <a:t>D</a:t>
            </a:r>
            <a:r>
              <a:rPr sz="1400" b="1">
                <a:solidFill>
                  <a:srgbClr val="D4D4D4"/>
                </a:solidFill>
                <a:latin typeface="Consolas"/>
              </a:rPr>
              <a:t> </a:t>
            </a:r>
            <a:r>
              <a:rPr sz="1400" b="1">
                <a:solidFill>
                  <a:srgbClr val="D4D4D4"/>
                </a:solidFill>
                <a:latin typeface="Consolas"/>
              </a:rPr>
              <a:t>=</a:t>
            </a:r>
            <a:r>
              <a:rPr sz="1400" b="1">
                <a:solidFill>
                  <a:srgbClr val="D4D4D4"/>
                </a:solidFill>
                <a:latin typeface="Consolas"/>
              </a:rPr>
              <a:t> </a:t>
            </a:r>
            <a:r>
              <a:rPr sz="1400" b="1">
                <a:solidFill>
                  <a:srgbClr val="4EC9B0"/>
                </a:solidFill>
                <a:latin typeface="Consolas"/>
              </a:rPr>
              <a:t>Dual</a:t>
            </a:r>
            <a:r>
              <a:rPr sz="1400" b="1">
                <a:solidFill>
                  <a:srgbClr val="D4D4D4"/>
                </a:solidFill>
                <a:latin typeface="Consolas"/>
              </a:rPr>
              <a:t>&lt;</a:t>
            </a:r>
            <a:r>
              <a:rPr sz="1400" b="1">
                <a:solidFill>
                  <a:srgbClr val="4EC9B0"/>
                </a:solidFill>
                <a:latin typeface="Consolas"/>
              </a:rPr>
              <a:t>double</a:t>
            </a:r>
            <a:r>
              <a:rPr sz="1400" b="1">
                <a:solidFill>
                  <a:srgbClr val="D4D4D4"/>
                </a:solidFill>
                <a:latin typeface="Consolas"/>
              </a:rPr>
              <a:t>,</a:t>
            </a:r>
            <a:r>
              <a:rPr sz="1400" b="1">
                <a:solidFill>
                  <a:srgbClr val="D4D4D4"/>
                </a:solidFill>
                <a:latin typeface="Consolas"/>
              </a:rPr>
              <a:t> </a:t>
            </a:r>
            <a:r>
              <a:rPr sz="1400" b="1">
                <a:solidFill>
                  <a:srgbClr val="B5CEA8"/>
                </a:solidFill>
                <a:latin typeface="Consolas"/>
              </a:rPr>
              <a:t>14</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                  </a:t>
            </a:r>
            <a:r>
              <a:rPr sz="1400" b="1">
                <a:solidFill>
                  <a:srgbClr val="6A9955"/>
                </a:solidFill>
                <a:latin typeface="Consolas"/>
              </a:rPr>
              <a:t>// forward-mode autodiff</a:t>
            </a:r>
          </a:p>
          <a:p>
            <a:pPr>
              <a:spcAft>
                <a:spcPts val="100"/>
              </a:spcAft>
            </a:pPr>
            <a:r>
              <a:rPr sz="1400" b="1">
                <a:solidFill>
                  <a:srgbClr val="569CD6"/>
                </a:solidFill>
                <a:latin typeface="Consolas"/>
              </a:rPr>
              <a:t>auto</a:t>
            </a:r>
            <a:r>
              <a:rPr sz="1400" b="1">
                <a:solidFill>
                  <a:srgbClr val="D4D4D4"/>
                </a:solidFill>
                <a:latin typeface="Consolas"/>
              </a:rPr>
              <a:t> </a:t>
            </a:r>
            <a:r>
              <a:rPr sz="1400" b="1">
                <a:solidFill>
                  <a:srgbClr val="D4D4D4"/>
                </a:solidFill>
                <a:latin typeface="Consolas"/>
              </a:rPr>
              <a:t>grad</a:t>
            </a:r>
            <a:r>
              <a:rPr sz="1400" b="1">
                <a:solidFill>
                  <a:srgbClr val="D4D4D4"/>
                </a:solidFill>
                <a:latin typeface="Consolas"/>
              </a:rPr>
              <a:t> </a:t>
            </a:r>
            <a:r>
              <a:rPr sz="1400" b="1">
                <a:solidFill>
                  <a:srgbClr val="D4D4D4"/>
                </a:solidFill>
                <a:latin typeface="Consolas"/>
              </a:rPr>
              <a:t>=</a:t>
            </a:r>
            <a:r>
              <a:rPr sz="1400" b="1">
                <a:solidFill>
                  <a:srgbClr val="D4D4D4"/>
                </a:solidFill>
                <a:latin typeface="Consolas"/>
              </a:rPr>
              <a:t> </a:t>
            </a:r>
            <a:r>
              <a:rPr sz="1400" b="1">
                <a:solidFill>
                  <a:srgbClr val="D4D4D4"/>
                </a:solidFill>
                <a:latin typeface="Consolas"/>
              </a:rPr>
              <a:t>makeODESystem</a:t>
            </a:r>
            <a:r>
              <a:rPr sz="1400" b="1">
                <a:solidFill>
                  <a:srgbClr val="D4D4D4"/>
                </a:solidFill>
                <a:latin typeface="Consolas"/>
              </a:rPr>
              <a:t>&lt;</a:t>
            </a:r>
            <a:r>
              <a:rPr sz="1400" b="1">
                <a:solidFill>
                  <a:srgbClr val="D4D4D4"/>
                </a:solidFill>
                <a:latin typeface="Consolas"/>
              </a:rPr>
              <a:t>D</a:t>
            </a:r>
            <a:r>
              <a:rPr sz="1400" b="1">
                <a:solidFill>
                  <a:srgbClr val="D4D4D4"/>
                </a:solidFill>
                <a:latin typeface="Consolas"/>
              </a:rPr>
              <a:t>&gt;</a:t>
            </a:r>
            <a:r>
              <a:rPr sz="1400" b="1">
                <a:solidFill>
                  <a:srgbClr val="D4D4D4"/>
                </a:solidFill>
                <a:latin typeface="Consolas"/>
              </a:rPr>
              <a:t>(</a:t>
            </a:r>
            <a:r>
              <a:rPr sz="1400" b="1">
                <a:solidFill>
                  <a:srgbClr val="D4D4D4"/>
                </a:solidFill>
                <a:latin typeface="Consolas"/>
              </a:rPr>
              <a:t>comps</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r>
              <a:rPr sz="1400" b="1">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computeJacobian</a:t>
            </a:r>
            <a:r>
              <a:rPr sz="1400">
                <a:solidFill>
                  <a:srgbClr val="D4D4D4"/>
                </a:solidFill>
                <a:latin typeface="Consolas"/>
              </a:rPr>
              <a:t>(</a:t>
            </a:r>
            <a:r>
              <a:rPr sz="1400">
                <a:solidFill>
                  <a:srgbClr val="D4D4D4"/>
                </a:solidFill>
                <a:latin typeface="Consolas"/>
              </a:rPr>
              <a:t>grad</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K</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lqr</a:t>
            </a:r>
            <a:r>
              <a:rPr sz="1400">
                <a:solidFill>
                  <a:srgbClr val="D4D4D4"/>
                </a:solidFill>
                <a:latin typeface="Consolas"/>
              </a:rPr>
              <a:t>(</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A</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B</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Q</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