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square">
            <a:spAutoFit/>
          </a:bodyPr>
          <a:lstStyle/>
          <a:p>
            <a:pPr>
              <a:spcAft>
                <a:spcPts val="100"/>
              </a:spcAft>
            </a:pPr>
            <a:r>
              <a:rPr dirty="0">
                <a:solidFill>
                  <a:srgbClr val="6A9955"/>
                </a:solidFill>
                <a:latin typeface="Consolas"/>
              </a:rPr>
              <a:t>// derivs.cpp — all of physics in one function</a:t>
            </a:r>
          </a:p>
          <a:p>
            <a:pPr>
              <a:spcAft>
                <a:spcPts val="100"/>
              </a:spcAft>
            </a:pPr>
            <a:r>
              <a:rPr dirty="0">
                <a:solidFill>
                  <a:srgbClr val="4EC9B0"/>
                </a:solidFill>
                <a:latin typeface="Consolas"/>
              </a:rPr>
              <a:t>void</a:t>
            </a:r>
            <a:r>
              <a:rPr dirty="0">
                <a:solidFill>
                  <a:srgbClr val="D4D4D4"/>
                </a:solidFill>
                <a:latin typeface="Consolas"/>
              </a:rPr>
              <a:t> </a:t>
            </a:r>
            <a:r>
              <a:rPr dirty="0" err="1">
                <a:solidFill>
                  <a:srgbClr val="DCDCAA"/>
                </a:solidFill>
                <a:latin typeface="Consolas"/>
              </a:rPr>
              <a:t>derivs</a:t>
            </a:r>
            <a:r>
              <a:rPr dirty="0">
                <a:solidFill>
                  <a:srgbClr val="D4D4D4"/>
                </a:solidFill>
                <a:latin typeface="Consolas"/>
              </a:rPr>
              <a:t>(</a:t>
            </a:r>
            <a:r>
              <a:rPr dirty="0">
                <a:solidFill>
                  <a:srgbClr val="4EC9B0"/>
                </a:solidFill>
                <a:latin typeface="Consolas"/>
              </a:rPr>
              <a:t>double</a:t>
            </a:r>
            <a:r>
              <a:rPr dirty="0">
                <a:solidFill>
                  <a:srgbClr val="D4D4D4"/>
                </a:solidFill>
                <a:latin typeface="Consolas"/>
              </a:rPr>
              <a:t> t, </a:t>
            </a:r>
            <a:r>
              <a:rPr dirty="0">
                <a:solidFill>
                  <a:srgbClr val="569CD6"/>
                </a:solidFill>
                <a:latin typeface="Consolas"/>
              </a:rPr>
              <a:t>const</a:t>
            </a: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y,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 {</a:t>
            </a:r>
          </a:p>
          <a:p>
            <a:pPr>
              <a:spcAft>
                <a:spcPts val="100"/>
              </a:spcAft>
            </a:pPr>
            <a:r>
              <a:rPr dirty="0">
                <a:solidFill>
                  <a:srgbClr val="D4D4D4"/>
                </a:solidFill>
                <a:latin typeface="Consolas"/>
              </a:rPr>
              <a:t>    </a:t>
            </a:r>
            <a:r>
              <a:rPr dirty="0">
                <a:solidFill>
                  <a:srgbClr val="6A9955"/>
                </a:solidFill>
                <a:latin typeface="Consolas"/>
              </a:rPr>
              <a:t>// y[0..2] pos, y[3..5] vel, y[6..9] quat, y[10..12] omega, y[13] mass</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rho = </a:t>
            </a:r>
            <a:r>
              <a:rPr dirty="0">
                <a:solidFill>
                  <a:srgbClr val="B5CEA8"/>
                </a:solidFill>
                <a:latin typeface="Consolas"/>
              </a:rPr>
              <a:t>1.225</a:t>
            </a:r>
            <a:r>
              <a:rPr dirty="0">
                <a:solidFill>
                  <a:srgbClr val="D4D4D4"/>
                </a:solidFill>
                <a:latin typeface="Consolas"/>
              </a:rPr>
              <a:t> * exp(-y[</a:t>
            </a:r>
            <a:r>
              <a:rPr dirty="0">
                <a:solidFill>
                  <a:srgbClr val="B5CEA8"/>
                </a:solidFill>
                <a:latin typeface="Consolas"/>
              </a:rPr>
              <a:t>2</a:t>
            </a:r>
            <a:r>
              <a:rPr dirty="0">
                <a:solidFill>
                  <a:srgbClr val="D4D4D4"/>
                </a:solidFill>
                <a:latin typeface="Consolas"/>
              </a:rPr>
              <a:t>] / </a:t>
            </a:r>
            <a:r>
              <a:rPr dirty="0">
                <a:solidFill>
                  <a:srgbClr val="B5CEA8"/>
                </a:solidFill>
                <a:latin typeface="Consolas"/>
              </a:rPr>
              <a:t>8500.0</a:t>
            </a:r>
            <a:r>
              <a:rPr dirty="0">
                <a:solidFill>
                  <a:srgbClr val="D4D4D4"/>
                </a:solidFill>
                <a:latin typeface="Consolas"/>
              </a:rPr>
              <a:t>);            </a:t>
            </a:r>
            <a:r>
              <a:rPr dirty="0">
                <a:solidFill>
                  <a:srgbClr val="6A9955"/>
                </a:solidFill>
                <a:latin typeface="Consolas"/>
              </a:rPr>
              <a:t>// atmosphere</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v2  = y[</a:t>
            </a:r>
            <a:r>
              <a:rPr dirty="0">
                <a:solidFill>
                  <a:srgbClr val="B5CEA8"/>
                </a:solidFill>
                <a:latin typeface="Consolas"/>
              </a:rPr>
              <a:t>3</a:t>
            </a:r>
            <a:r>
              <a:rPr dirty="0">
                <a:solidFill>
                  <a:srgbClr val="D4D4D4"/>
                </a:solidFill>
                <a:latin typeface="Consolas"/>
              </a:rPr>
              <a:t>]*y[</a:t>
            </a:r>
            <a:r>
              <a:rPr dirty="0">
                <a:solidFill>
                  <a:srgbClr val="B5CEA8"/>
                </a:solidFill>
                <a:latin typeface="Consolas"/>
              </a:rPr>
              <a:t>3</a:t>
            </a:r>
            <a:r>
              <a:rPr dirty="0">
                <a:solidFill>
                  <a:srgbClr val="D4D4D4"/>
                </a:solidFill>
                <a:latin typeface="Consolas"/>
              </a:rPr>
              <a:t>] + y[</a:t>
            </a:r>
            <a:r>
              <a:rPr dirty="0">
                <a:solidFill>
                  <a:srgbClr val="B5CEA8"/>
                </a:solidFill>
                <a:latin typeface="Consolas"/>
              </a:rPr>
              <a:t>4</a:t>
            </a:r>
            <a:r>
              <a:rPr dirty="0">
                <a:solidFill>
                  <a:srgbClr val="D4D4D4"/>
                </a:solidFill>
                <a:latin typeface="Consolas"/>
              </a:rPr>
              <a:t>]*y[</a:t>
            </a:r>
            <a:r>
              <a:rPr dirty="0">
                <a:solidFill>
                  <a:srgbClr val="B5CEA8"/>
                </a:solidFill>
                <a:latin typeface="Consolas"/>
              </a:rPr>
              <a:t>4</a:t>
            </a:r>
            <a:r>
              <a:rPr dirty="0">
                <a:solidFill>
                  <a:srgbClr val="D4D4D4"/>
                </a:solidFill>
                <a:latin typeface="Consolas"/>
              </a:rPr>
              <a:t>] + y[</a:t>
            </a:r>
            <a:r>
              <a:rPr dirty="0">
                <a:solidFill>
                  <a:srgbClr val="B5CEA8"/>
                </a:solidFill>
                <a:latin typeface="Consolas"/>
              </a:rPr>
              <a:t>5</a:t>
            </a:r>
            <a:r>
              <a:rPr dirty="0">
                <a:solidFill>
                  <a:srgbClr val="D4D4D4"/>
                </a:solidFill>
                <a:latin typeface="Consolas"/>
              </a:rPr>
              <a:t>]*y[</a:t>
            </a:r>
            <a:r>
              <a:rPr dirty="0">
                <a:solidFill>
                  <a:srgbClr val="B5CEA8"/>
                </a:solidFill>
                <a:latin typeface="Consolas"/>
              </a:rPr>
              <a:t>5</a:t>
            </a:r>
            <a:r>
              <a:rPr dirty="0">
                <a:solidFill>
                  <a:srgbClr val="D4D4D4"/>
                </a:solidFill>
                <a:latin typeface="Consolas"/>
              </a:rPr>
              <a:t>];</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Fd</a:t>
            </a:r>
            <a:r>
              <a:rPr dirty="0">
                <a:solidFill>
                  <a:srgbClr val="D4D4D4"/>
                </a:solidFill>
                <a:latin typeface="Consolas"/>
              </a:rPr>
              <a:t>  = </a:t>
            </a:r>
            <a:r>
              <a:rPr dirty="0">
                <a:solidFill>
                  <a:srgbClr val="B5CEA8"/>
                </a:solidFill>
                <a:latin typeface="Consolas"/>
              </a:rPr>
              <a:t>0.5</a:t>
            </a:r>
            <a:r>
              <a:rPr dirty="0">
                <a:solidFill>
                  <a:srgbClr val="D4D4D4"/>
                </a:solidFill>
                <a:latin typeface="Consolas"/>
              </a:rPr>
              <a:t> * rho * v2 * CD * AREA;             </a:t>
            </a:r>
            <a:r>
              <a:rPr dirty="0">
                <a:solidFill>
                  <a:srgbClr val="6A9955"/>
                </a:solidFill>
                <a:latin typeface="Consolas"/>
              </a:rPr>
              <a:t>// aero drag</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Ft  = </a:t>
            </a:r>
            <a:r>
              <a:rPr dirty="0" err="1">
                <a:solidFill>
                  <a:srgbClr val="D4D4D4"/>
                </a:solidFill>
                <a:latin typeface="Consolas"/>
              </a:rPr>
              <a:t>thrust_table_lookup</a:t>
            </a:r>
            <a:r>
              <a:rPr dirty="0">
                <a:solidFill>
                  <a:srgbClr val="D4D4D4"/>
                </a:solidFill>
                <a:latin typeface="Consolas"/>
              </a:rPr>
              <a:t>(t);                 </a:t>
            </a:r>
            <a:r>
              <a:rPr dirty="0">
                <a:solidFill>
                  <a:srgbClr val="6A9955"/>
                </a:solidFill>
                <a:latin typeface="Consolas"/>
              </a:rPr>
              <a:t>// propulsion</a:t>
            </a:r>
          </a:p>
          <a:p>
            <a:pPr>
              <a:spcAft>
                <a:spcPts val="100"/>
              </a:spcAft>
            </a:pP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a:t>
            </a:r>
            <a:r>
              <a:rPr dirty="0">
                <a:solidFill>
                  <a:srgbClr val="B5CEA8"/>
                </a:solidFill>
                <a:latin typeface="Consolas"/>
              </a:rPr>
              <a:t>3</a:t>
            </a:r>
            <a:r>
              <a:rPr dirty="0">
                <a:solidFill>
                  <a:srgbClr val="D4D4D4"/>
                </a:solidFill>
                <a:latin typeface="Consolas"/>
              </a:rPr>
              <a:t>] = (Ft*ax(y) - </a:t>
            </a:r>
            <a:r>
              <a:rPr dirty="0" err="1">
                <a:solidFill>
                  <a:srgbClr val="D4D4D4"/>
                </a:solidFill>
                <a:latin typeface="Consolas"/>
              </a:rPr>
              <a:t>Fd</a:t>
            </a:r>
            <a:r>
              <a:rPr dirty="0">
                <a:solidFill>
                  <a:srgbClr val="D4D4D4"/>
                </a:solidFill>
                <a:latin typeface="Consolas"/>
              </a:rPr>
              <a:t>*</a:t>
            </a:r>
            <a:r>
              <a:rPr dirty="0" err="1">
                <a:solidFill>
                  <a:srgbClr val="D4D4D4"/>
                </a:solidFill>
                <a:latin typeface="Consolas"/>
              </a:rPr>
              <a:t>vx_hat</a:t>
            </a:r>
            <a:r>
              <a:rPr dirty="0">
                <a:solidFill>
                  <a:srgbClr val="D4D4D4"/>
                </a:solidFill>
                <a:latin typeface="Consolas"/>
              </a:rPr>
              <a:t>(y)) / y[</a:t>
            </a:r>
            <a:r>
              <a:rPr dirty="0">
                <a:solidFill>
                  <a:srgbClr val="B5CEA8"/>
                </a:solidFill>
                <a:latin typeface="Consolas"/>
              </a:rPr>
              <a:t>13</a:t>
            </a:r>
            <a:r>
              <a:rPr dirty="0">
                <a:solidFill>
                  <a:srgbClr val="D4D4D4"/>
                </a:solidFill>
                <a:latin typeface="Consolas"/>
              </a:rPr>
              <a:t>];         </a:t>
            </a:r>
            <a:r>
              <a:rPr dirty="0">
                <a:solidFill>
                  <a:srgbClr val="6A9955"/>
                </a:solidFill>
                <a:latin typeface="Consolas"/>
              </a:rPr>
              <a:t>// dynamics</a:t>
            </a:r>
          </a:p>
          <a:p>
            <a:pPr>
              <a:spcAft>
                <a:spcPts val="100"/>
              </a:spcAft>
            </a:pPr>
            <a:r>
              <a:rPr dirty="0">
                <a:solidFill>
                  <a:srgbClr val="D4D4D4"/>
                </a:solidFill>
                <a:latin typeface="Consolas"/>
              </a:rPr>
              <a:t>    </a:t>
            </a:r>
            <a:r>
              <a:rPr dirty="0">
                <a:solidFill>
                  <a:srgbClr val="6A9955"/>
                </a:solidFill>
                <a:latin typeface="Consolas"/>
              </a:rPr>
              <a:t>/* ... 400 more lines, every subsystem interleaved ... */</a:t>
            </a:r>
          </a:p>
          <a:p>
            <a:pPr>
              <a:spcAft>
                <a:spcPts val="100"/>
              </a:spcAft>
            </a:pPr>
            <a:r>
              <a:rPr sz="13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square">
            <a:spAutoFit/>
          </a:bodyPr>
          <a:lstStyle/>
          <a:p>
            <a:pPr>
              <a:spcAft>
                <a:spcPts val="100"/>
              </a:spcAft>
            </a:pPr>
            <a:r>
              <a:rPr sz="2000" dirty="0">
                <a:solidFill>
                  <a:srgbClr val="569CD6"/>
                </a:solidFill>
                <a:latin typeface="Consolas"/>
              </a:rPr>
              <a:t>struct</a:t>
            </a:r>
            <a:r>
              <a:rPr sz="2000" dirty="0">
                <a:solidFill>
                  <a:srgbClr val="D4D4D4"/>
                </a:solidFill>
                <a:latin typeface="Consolas"/>
              </a:rPr>
              <a:t> </a:t>
            </a:r>
            <a:r>
              <a:rPr sz="2000" dirty="0">
                <a:solidFill>
                  <a:srgbClr val="4EC9B0"/>
                </a:solidFill>
                <a:latin typeface="Consolas"/>
              </a:rPr>
              <a:t>Component</a:t>
            </a:r>
            <a:r>
              <a:rPr sz="2000" dirty="0">
                <a:solidFill>
                  <a:srgbClr val="D4D4D4"/>
                </a:solidFill>
                <a:latin typeface="Consolas"/>
              </a:rPr>
              <a:t>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a:t>
            </a:r>
            <a:r>
              <a:rPr sz="2000" dirty="0">
                <a:solidFill>
                  <a:srgbClr val="4EC9B0"/>
                </a:solidFill>
                <a:latin typeface="Consolas"/>
              </a:rPr>
              <a:t>void</a:t>
            </a:r>
            <a:r>
              <a:rPr sz="2000" dirty="0">
                <a:solidFill>
                  <a:srgbClr val="D4D4D4"/>
                </a:solidFill>
                <a:latin typeface="Consolas"/>
              </a:rPr>
              <a:t> </a:t>
            </a:r>
            <a:r>
              <a:rPr sz="2000" dirty="0" err="1">
                <a:solidFill>
                  <a:srgbClr val="DCDCAA"/>
                </a:solidFill>
                <a:latin typeface="Consolas"/>
              </a:rPr>
              <a:t>computeDerivatives</a:t>
            </a:r>
            <a:r>
              <a:rPr sz="2000" dirty="0">
                <a:solidFill>
                  <a:srgbClr val="D4D4D4"/>
                </a:solidFill>
                <a:latin typeface="Consolas"/>
              </a:rPr>
              <a:t>(</a:t>
            </a:r>
            <a:r>
              <a:rPr sz="2000" dirty="0">
                <a:solidFill>
                  <a:srgbClr val="4EC9B0"/>
                </a:solidFill>
                <a:latin typeface="Consolas"/>
              </a:rPr>
              <a:t>double</a:t>
            </a:r>
            <a:r>
              <a:rPr sz="2000" dirty="0">
                <a:solidFill>
                  <a:srgbClr val="D4D4D4"/>
                </a:solidFill>
                <a:latin typeface="Consolas"/>
              </a:rPr>
              <a:t> t,</a:t>
            </a:r>
          </a:p>
          <a:p>
            <a:pPr>
              <a:spcAft>
                <a:spcPts val="100"/>
              </a:spcAft>
            </a:pPr>
            <a:r>
              <a:rPr sz="2000" dirty="0">
                <a:solidFill>
                  <a:srgbClr val="D4D4D4"/>
                </a:solidFill>
                <a:latin typeface="Consolas"/>
              </a:rPr>
              <a:t>                                    </a:t>
            </a:r>
            <a:r>
              <a:rPr sz="2000" dirty="0">
                <a:solidFill>
                  <a:srgbClr val="569CD6"/>
                </a:solidFill>
                <a:latin typeface="Consolas"/>
              </a:rPr>
              <a:t>const</a:t>
            </a: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state,</a:t>
            </a:r>
          </a:p>
          <a:p>
            <a:pPr>
              <a:spcAft>
                <a:spcPts val="100"/>
              </a:spcAft>
            </a:pP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a:t>
            </a:r>
            <a:r>
              <a:rPr sz="2000" dirty="0" err="1">
                <a:solidFill>
                  <a:srgbClr val="D4D4D4"/>
                </a:solidFill>
                <a:latin typeface="Consolas"/>
              </a:rPr>
              <a:t>dydt</a:t>
            </a:r>
            <a:r>
              <a:rPr sz="2000" dirty="0">
                <a:solidFill>
                  <a:srgbClr val="D4D4D4"/>
                </a:solidFill>
                <a:latin typeface="Consolas"/>
              </a:rPr>
              <a:t>) = </a:t>
            </a:r>
            <a:r>
              <a:rPr sz="2000" dirty="0">
                <a:solidFill>
                  <a:srgbClr val="B5CEA8"/>
                </a:solidFill>
                <a:latin typeface="Consolas"/>
              </a:rPr>
              <a:t>0</a:t>
            </a:r>
            <a:r>
              <a:rPr sz="2000" dirty="0">
                <a:solidFill>
                  <a:srgbClr val="D4D4D4"/>
                </a:solidFill>
                <a:latin typeface="Consolas"/>
              </a:rPr>
              <a:t>;</a:t>
            </a:r>
          </a:p>
          <a:p>
            <a:pPr>
              <a:spcAft>
                <a:spcPts val="100"/>
              </a:spcAft>
            </a:pPr>
            <a:r>
              <a:rPr sz="2000" b="1" dirty="0">
                <a:solidFill>
                  <a:srgbClr val="F2C744"/>
                </a:solidFill>
                <a:latin typeface="Consolas"/>
              </a:rPr>
              <a:t>    virtual double </a:t>
            </a:r>
            <a:r>
              <a:rPr sz="2000" b="1" dirty="0" err="1">
                <a:solidFill>
                  <a:srgbClr val="F2C744"/>
                </a:solidFill>
                <a:latin typeface="Consolas"/>
              </a:rPr>
              <a:t>getOutput</a:t>
            </a:r>
            <a:r>
              <a:rPr sz="2000" b="1" dirty="0">
                <a:solidFill>
                  <a:srgbClr val="F2C744"/>
                </a:solidFill>
                <a:latin typeface="Consolas"/>
              </a:rPr>
              <a:t>(const std::string&amp; name) = 0;  //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~Component() = </a:t>
            </a:r>
            <a:r>
              <a:rPr sz="2000" dirty="0">
                <a:solidFill>
                  <a:srgbClr val="569CD6"/>
                </a:solidFill>
                <a:latin typeface="Consolas"/>
              </a:rPr>
              <a:t>default</a:t>
            </a:r>
            <a:r>
              <a:rPr sz="2000" dirty="0">
                <a:solidFill>
                  <a:srgbClr val="D4D4D4"/>
                </a:solidFill>
                <a:latin typeface="Consolas"/>
              </a:rPr>
              <a:t>;</a:t>
            </a:r>
          </a:p>
          <a:p>
            <a:pPr>
              <a:spcAft>
                <a:spcPts val="100"/>
              </a:spcAft>
            </a:pPr>
            <a:r>
              <a:rPr sz="2000" dirty="0">
                <a:solidFill>
                  <a:srgbClr val="D4D4D4"/>
                </a:solidFill>
                <a:latin typeface="Consolas"/>
              </a:rPr>
              <a:t>};</a:t>
            </a:r>
          </a:p>
          <a:p>
            <a:pPr>
              <a:spcAft>
                <a:spcPts val="100"/>
              </a:spcAft>
            </a:pPr>
            <a:r>
              <a:rPr sz="2000" dirty="0">
                <a:latin typeface="Consolas"/>
              </a:rPr>
              <a:t> </a:t>
            </a:r>
          </a:p>
          <a:p>
            <a:pPr>
              <a:spcAft>
                <a:spcPts val="100"/>
              </a:spcAft>
            </a:pPr>
            <a:r>
              <a:rPr sz="2000" dirty="0">
                <a:solidFill>
                  <a:srgbClr val="D4D4D4"/>
                </a:solidFill>
                <a:latin typeface="Consolas"/>
              </a:rPr>
              <a:t>std::vector&lt;std::</a:t>
            </a:r>
            <a:r>
              <a:rPr sz="2000" dirty="0" err="1">
                <a:solidFill>
                  <a:srgbClr val="D4D4D4"/>
                </a:solidFill>
                <a:latin typeface="Consolas"/>
              </a:rPr>
              <a:t>unique_ptr</a:t>
            </a:r>
            <a:r>
              <a:rPr sz="2000" dirty="0">
                <a:solidFill>
                  <a:srgbClr val="D4D4D4"/>
                </a:solidFill>
                <a:latin typeface="Consolas"/>
              </a:rPr>
              <a:t>&lt;Component&gt;&gt; components;</a:t>
            </a:r>
          </a:p>
          <a:p>
            <a:pPr>
              <a:spcAft>
                <a:spcPts val="100"/>
              </a:spcAft>
            </a:pPr>
            <a:r>
              <a:rPr sz="2000" b="1" dirty="0">
                <a:solidFill>
                  <a:srgbClr val="F2C744"/>
                </a:solidFill>
                <a:latin typeface="Consolas"/>
              </a:rPr>
              <a:t>for (auto&amp; c : components)              // innermost loop of RK4,</a:t>
            </a:r>
          </a:p>
          <a:p>
            <a:pPr>
              <a:spcAft>
                <a:spcPts val="100"/>
              </a:spcAft>
            </a:pPr>
            <a:r>
              <a:rPr sz="2000" b="1" dirty="0">
                <a:solidFill>
                  <a:srgbClr val="F2C744"/>
                </a:solidFill>
                <a:latin typeface="Consolas"/>
              </a:rPr>
              <a:t>    c-&gt;</a:t>
            </a:r>
            <a:r>
              <a:rPr sz="2000" b="1" dirty="0" err="1">
                <a:solidFill>
                  <a:srgbClr val="F2C744"/>
                </a:solidFill>
                <a:latin typeface="Consolas"/>
              </a:rPr>
              <a:t>computeDerivatives</a:t>
            </a:r>
            <a:r>
              <a:rPr sz="2000" b="1" dirty="0">
                <a:solidFill>
                  <a:srgbClr val="F2C744"/>
                </a:solidFill>
                <a:latin typeface="Consolas"/>
              </a:rPr>
              <a:t>(t, y, </a:t>
            </a:r>
            <a:r>
              <a:rPr sz="2000" b="1" dirty="0" err="1">
                <a:solidFill>
                  <a:srgbClr val="F2C744"/>
                </a:solidFill>
                <a:latin typeface="Consolas"/>
              </a:rPr>
              <a:t>dydt</a:t>
            </a:r>
            <a:r>
              <a:rPr sz="2000" b="1" dirty="0">
                <a:solidFill>
                  <a:srgbClr val="F2C744"/>
                </a:solidFill>
                <a:latin typeface="Consolas"/>
              </a:rPr>
              <a:t>);  //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930128" cy="3503523"/>
          </a:xfrm>
          <a:prstGeom prst="rect">
            <a:avLst/>
          </a:prstGeom>
          <a:noFill/>
        </p:spPr>
        <p:txBody>
          <a:bodyPr wrap="square">
            <a:spAutoFit/>
          </a:bodyPr>
          <a:lstStyle/>
          <a:p>
            <a:pPr>
              <a:spcAft>
                <a:spcPts val="100"/>
              </a:spcAft>
            </a:pP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mass1</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Position</a:t>
            </a:r>
            <a:r>
              <a:rPr sz="1400" dirty="0">
                <a:solidFill>
                  <a:srgbClr val="D4D4D4"/>
                </a:solidFill>
                <a:latin typeface="Consolas"/>
              </a:rPr>
              <a:t> : categories::Kinematics {</a:t>
            </a:r>
          </a:p>
          <a:p>
            <a:pPr>
              <a:spcAft>
                <a:spcPts val="100"/>
              </a:spcAft>
            </a:pPr>
            <a:r>
              <a:rPr sz="1400" dirty="0">
                <a:solidFill>
                  <a:srgbClr val="D4D4D4"/>
                </a:solidFill>
                <a:latin typeface="Consolas"/>
              </a:rPr>
              <a:t>        </a:t>
            </a:r>
            <a:r>
              <a:rPr sz="1400" dirty="0">
                <a:solidFill>
                  <a:srgbClr val="569CD6"/>
                </a:solidFill>
                <a:latin typeface="Consolas"/>
              </a:rPr>
              <a:t>static</a:t>
            </a:r>
            <a:r>
              <a:rPr sz="1400" dirty="0">
                <a:solidFill>
                  <a:srgbClr val="D4D4D4"/>
                </a:solidFill>
                <a:latin typeface="Consolas"/>
              </a:rPr>
              <a:t> </a:t>
            </a:r>
            <a:r>
              <a:rPr sz="1400" dirty="0" err="1">
                <a:solidFill>
                  <a:srgbClr val="569CD6"/>
                </a:solidFill>
                <a:latin typeface="Consolas"/>
              </a:rPr>
              <a:t>constexpr</a:t>
            </a:r>
            <a:r>
              <a:rPr sz="1400" dirty="0">
                <a:solidFill>
                  <a:srgbClr val="D4D4D4"/>
                </a:solidFill>
                <a:latin typeface="Consolas"/>
              </a:rPr>
              <a:t> std::</a:t>
            </a:r>
            <a:r>
              <a:rPr sz="1400" dirty="0" err="1">
                <a:solidFill>
                  <a:srgbClr val="D4D4D4"/>
                </a:solidFill>
                <a:latin typeface="Consolas"/>
              </a:rPr>
              <a:t>string_view</a:t>
            </a:r>
            <a:r>
              <a:rPr sz="1400" dirty="0">
                <a:solidFill>
                  <a:srgbClr val="D4D4D4"/>
                </a:solidFill>
                <a:latin typeface="Consolas"/>
              </a:rPr>
              <a:t> </a:t>
            </a:r>
            <a:r>
              <a:rPr sz="1400" dirty="0">
                <a:solidFill>
                  <a:srgbClr val="DCDCAA"/>
                </a:solidFill>
                <a:latin typeface="Consolas"/>
              </a:rPr>
              <a:t>name</a:t>
            </a:r>
            <a:r>
              <a:rPr sz="1400" dirty="0">
                <a:solidFill>
                  <a:srgbClr val="D4D4D4"/>
                </a:solidFill>
                <a:latin typeface="Consolas"/>
              </a:rPr>
              <a:t>() { </a:t>
            </a:r>
            <a:r>
              <a:rPr sz="1400" dirty="0">
                <a:solidFill>
                  <a:srgbClr val="569CD6"/>
                </a:solidFill>
                <a:latin typeface="Consolas"/>
              </a:rPr>
              <a:t>return</a:t>
            </a:r>
            <a:r>
              <a:rPr sz="1400" dirty="0">
                <a:solidFill>
                  <a:srgbClr val="D4D4D4"/>
                </a:solidFill>
                <a:latin typeface="Consolas"/>
              </a:rPr>
              <a:t> </a:t>
            </a:r>
            <a:r>
              <a:rPr sz="1400" dirty="0">
                <a:solidFill>
                  <a:srgbClr val="CE9178"/>
                </a:solidFill>
                <a:latin typeface="Consolas"/>
              </a:rPr>
              <a:t>"mass1_position"</a:t>
            </a:r>
            <a:r>
              <a:rPr sz="1400" dirty="0">
                <a:solidFill>
                  <a:srgbClr val="D4D4D4"/>
                </a:solidFill>
                <a:latin typeface="Consolas"/>
              </a:rPr>
              <a:t>; }</a:t>
            </a:r>
          </a:p>
          <a:p>
            <a:pPr>
              <a:spcAft>
                <a:spcPts val="100"/>
              </a:spcAft>
            </a:pP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Velocity</a:t>
            </a:r>
            <a:r>
              <a:rPr sz="1400" dirty="0">
                <a:solidFill>
                  <a:srgbClr val="D4D4D4"/>
                </a:solidFill>
                <a:latin typeface="Consolas"/>
              </a:rPr>
              <a:t> : categories::Kinematics { </a:t>
            </a:r>
            <a:r>
              <a:rPr sz="1400" dirty="0">
                <a:solidFill>
                  <a:srgbClr val="6A9955"/>
                </a:solidFill>
                <a:latin typeface="Consolas"/>
              </a:rPr>
              <a:t>/* ... */</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Force</a:t>
            </a:r>
            <a:r>
              <a:rPr sz="1400" dirty="0">
                <a:solidFill>
                  <a:srgbClr val="D4D4D4"/>
                </a:solidFill>
                <a:latin typeface="Consolas"/>
              </a:rPr>
              <a:t>    : categories::Dynamics   { </a:t>
            </a:r>
            <a:r>
              <a:rPr sz="1400" dirty="0">
                <a:solidFill>
                  <a:srgbClr val="6A9955"/>
                </a:solidFill>
                <a:latin typeface="Consolas"/>
              </a:rPr>
              <a:t>/* ... */</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Mass</a:t>
            </a:r>
            <a:r>
              <a:rPr sz="1400" dirty="0">
                <a:solidFill>
                  <a:srgbClr val="D4D4D4"/>
                </a:solidFill>
                <a:latin typeface="Consolas"/>
              </a:rPr>
              <a:t>     : categories::Dynamics   { </a:t>
            </a:r>
            <a:r>
              <a:rPr sz="1400" dirty="0">
                <a:solidFill>
                  <a:srgbClr val="6A9955"/>
                </a:solidFill>
                <a:latin typeface="Consolas"/>
              </a:rPr>
              <a:t>/* ... */</a:t>
            </a:r>
            <a:r>
              <a:rPr sz="1400" dirty="0">
                <a:solidFill>
                  <a:srgbClr val="D4D4D4"/>
                </a:solidFill>
                <a:latin typeface="Consolas"/>
              </a:rPr>
              <a:t> };</a:t>
            </a:r>
          </a:p>
          <a:p>
            <a:pPr>
              <a:spcAft>
                <a:spcPts val="100"/>
              </a:spcAft>
            </a:pPr>
            <a:r>
              <a:rPr sz="1400" dirty="0">
                <a:solidFill>
                  <a:srgbClr val="D4D4D4"/>
                </a:solidFill>
                <a:latin typeface="Consolas"/>
              </a:rPr>
              <a:t>};</a:t>
            </a:r>
          </a:p>
          <a:p>
            <a:pPr>
              <a:spcAft>
                <a:spcPts val="100"/>
              </a:spcAft>
            </a:pPr>
            <a:r>
              <a:rPr sz="1400" dirty="0">
                <a:latin typeface="Consolas"/>
              </a:rPr>
              <a:t> </a:t>
            </a:r>
          </a:p>
          <a:p>
            <a:pPr>
              <a:spcAft>
                <a:spcPts val="100"/>
              </a:spcAft>
            </a:pP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mass2</a:t>
            </a:r>
            <a:r>
              <a:rPr sz="1400" dirty="0">
                <a:solidFill>
                  <a:srgbClr val="D4D4D4"/>
                </a:solidFill>
                <a:latin typeface="Consolas"/>
              </a:rPr>
              <a:t> { </a:t>
            </a:r>
            <a:r>
              <a:rPr sz="1400" dirty="0">
                <a:solidFill>
                  <a:srgbClr val="6A9955"/>
                </a:solidFill>
                <a:latin typeface="Consolas"/>
              </a:rPr>
              <a:t>/* same shape, different types */</a:t>
            </a:r>
            <a:r>
              <a:rPr sz="1400" dirty="0">
                <a:solidFill>
                  <a:srgbClr val="D4D4D4"/>
                </a:solidFill>
                <a:latin typeface="Consolas"/>
              </a:rPr>
              <a:t> };</a:t>
            </a:r>
          </a:p>
          <a:p>
            <a:pPr>
              <a:spcAft>
                <a:spcPts val="100"/>
              </a:spcAft>
            </a:pPr>
            <a:r>
              <a:rPr sz="1400" dirty="0">
                <a:latin typeface="Consolas"/>
              </a:rPr>
              <a:t> </a:t>
            </a:r>
          </a:p>
          <a:p>
            <a:pPr>
              <a:spcAft>
                <a:spcPts val="100"/>
              </a:spcAft>
            </a:pPr>
            <a:r>
              <a:rPr sz="1400" dirty="0">
                <a:solidFill>
                  <a:srgbClr val="569CD6"/>
                </a:solidFill>
                <a:latin typeface="Consolas"/>
              </a:rPr>
              <a:t>namespace</a:t>
            </a:r>
            <a:r>
              <a:rPr sz="1400" dirty="0">
                <a:solidFill>
                  <a:srgbClr val="D4D4D4"/>
                </a:solidFill>
                <a:latin typeface="Consolas"/>
              </a:rPr>
              <a:t> </a:t>
            </a:r>
            <a:r>
              <a:rPr sz="1400" dirty="0">
                <a:solidFill>
                  <a:srgbClr val="4EC9B0"/>
                </a:solidFill>
                <a:latin typeface="Consolas"/>
              </a:rPr>
              <a:t>spring</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a:solidFill>
                  <a:srgbClr val="4EC9B0"/>
                </a:solidFill>
                <a:latin typeface="Consolas"/>
              </a:rPr>
              <a:t>Extension</a:t>
            </a:r>
            <a:r>
              <a:rPr sz="1400" dirty="0">
                <a:solidFill>
                  <a:srgbClr val="D4D4D4"/>
                </a:solidFill>
                <a:latin typeface="Consolas"/>
              </a:rPr>
              <a:t>       : categories::Analysis { </a:t>
            </a:r>
            <a:r>
              <a:rPr sz="1400" dirty="0">
                <a:solidFill>
                  <a:srgbClr val="6A9955"/>
                </a:solidFill>
                <a:latin typeface="Consolas"/>
              </a:rPr>
              <a:t>/* ... */</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struct</a:t>
            </a:r>
            <a:r>
              <a:rPr sz="1400" dirty="0">
                <a:solidFill>
                  <a:srgbClr val="D4D4D4"/>
                </a:solidFill>
                <a:latin typeface="Consolas"/>
              </a:rPr>
              <a:t> </a:t>
            </a:r>
            <a:r>
              <a:rPr sz="1400" dirty="0" err="1">
                <a:solidFill>
                  <a:srgbClr val="4EC9B0"/>
                </a:solidFill>
                <a:latin typeface="Consolas"/>
              </a:rPr>
              <a:t>PotentialEnergy</a:t>
            </a:r>
            <a:r>
              <a:rPr sz="1400" dirty="0">
                <a:solidFill>
                  <a:srgbClr val="D4D4D4"/>
                </a:solidFill>
                <a:latin typeface="Consolas"/>
              </a:rPr>
              <a:t> : categories::Analysis { </a:t>
            </a:r>
            <a:r>
              <a:rPr sz="1400" dirty="0">
                <a:solidFill>
                  <a:srgbClr val="6A9955"/>
                </a:solidFill>
                <a:latin typeface="Consolas"/>
              </a:rPr>
              <a:t>/* ... */</a:t>
            </a:r>
            <a:r>
              <a:rPr sz="1400" dirty="0">
                <a:solidFill>
                  <a:srgbClr val="D4D4D4"/>
                </a:solidFill>
                <a:latin typeface="Consolas"/>
              </a:rPr>
              <a:t> };</a:t>
            </a:r>
          </a:p>
          <a:p>
            <a:pPr>
              <a:spcAft>
                <a:spcPts val="100"/>
              </a:spcAft>
            </a:pPr>
            <a:r>
              <a:rPr sz="14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11384280" cy="470001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10930128" cy="3978012"/>
          </a:xfrm>
          <a:prstGeom prst="rect">
            <a:avLst/>
          </a:prstGeom>
          <a:noFill/>
        </p:spPr>
        <p:txBody>
          <a:bodyPr wrap="square">
            <a:spAutoFit/>
          </a:bodyPr>
          <a:lstStyle/>
          <a:p>
            <a:pPr>
              <a:spcAft>
                <a:spcPts val="100"/>
              </a:spcAft>
            </a:pPr>
            <a:r>
              <a:rPr sz="1250" dirty="0">
                <a:solidFill>
                  <a:srgbClr val="569CD6"/>
                </a:solidFill>
                <a:latin typeface="Consolas"/>
              </a:rPr>
              <a:t>template</a:t>
            </a:r>
            <a:r>
              <a:rPr sz="1250" dirty="0">
                <a:solidFill>
                  <a:srgbClr val="D4D4D4"/>
                </a:solidFill>
                <a:latin typeface="Consolas"/>
              </a:rPr>
              <a:t>&lt;</a:t>
            </a:r>
            <a:r>
              <a:rPr sz="1250" dirty="0" err="1">
                <a:solidFill>
                  <a:srgbClr val="569CD6"/>
                </a:solidFill>
                <a:latin typeface="Consolas"/>
              </a:rPr>
              <a:t>typename</a:t>
            </a:r>
            <a:r>
              <a:rPr sz="1250" dirty="0">
                <a:solidFill>
                  <a:srgbClr val="D4D4D4"/>
                </a:solidFill>
                <a:latin typeface="Consolas"/>
              </a:rPr>
              <a:t> </a:t>
            </a:r>
            <a:r>
              <a:rPr sz="1250" dirty="0" err="1">
                <a:solidFill>
                  <a:srgbClr val="4EC9B0"/>
                </a:solidFill>
                <a:latin typeface="Consolas"/>
              </a:rPr>
              <a:t>TagSet</a:t>
            </a:r>
            <a:r>
              <a:rPr sz="1250" dirty="0">
                <a:solidFill>
                  <a:srgbClr val="D4D4D4"/>
                </a:solidFill>
                <a:latin typeface="Consolas"/>
              </a:rPr>
              <a:t>, Scalar T = </a:t>
            </a:r>
            <a:r>
              <a:rPr sz="1250" dirty="0">
                <a:solidFill>
                  <a:srgbClr val="4EC9B0"/>
                </a:solidFill>
                <a:latin typeface="Consolas"/>
              </a:rPr>
              <a:t>double</a:t>
            </a:r>
            <a:r>
              <a:rPr sz="1250" dirty="0">
                <a:solidFill>
                  <a:srgbClr val="D4D4D4"/>
                </a:solidFill>
                <a:latin typeface="Consolas"/>
              </a:rPr>
              <a:t>&gt;</a:t>
            </a:r>
          </a:p>
          <a:p>
            <a:pPr>
              <a:spcAft>
                <a:spcPts val="100"/>
              </a:spcAft>
            </a:pPr>
            <a:r>
              <a:rPr sz="1250" dirty="0">
                <a:solidFill>
                  <a:srgbClr val="569CD6"/>
                </a:solidFill>
                <a:latin typeface="Consolas"/>
              </a:rPr>
              <a:t>class</a:t>
            </a:r>
            <a:r>
              <a:rPr sz="1250" dirty="0">
                <a:solidFill>
                  <a:srgbClr val="D4D4D4"/>
                </a:solidFill>
                <a:latin typeface="Consolas"/>
              </a:rPr>
              <a:t> </a:t>
            </a:r>
            <a:r>
              <a:rPr sz="1250" dirty="0" err="1">
                <a:solidFill>
                  <a:srgbClr val="4EC9B0"/>
                </a:solidFill>
                <a:latin typeface="Consolas"/>
              </a:rPr>
              <a:t>PointMass</a:t>
            </a:r>
            <a:r>
              <a:rPr sz="1250" dirty="0">
                <a:solidFill>
                  <a:srgbClr val="D4D4D4"/>
                </a:solidFill>
                <a:latin typeface="Consolas"/>
              </a:rPr>
              <a:t> </a:t>
            </a:r>
            <a:r>
              <a:rPr sz="1250" dirty="0">
                <a:solidFill>
                  <a:srgbClr val="569CD6"/>
                </a:solidFill>
                <a:latin typeface="Consolas"/>
              </a:rPr>
              <a:t>final</a:t>
            </a:r>
            <a:r>
              <a:rPr sz="1250" dirty="0">
                <a:solidFill>
                  <a:srgbClr val="D4D4D4"/>
                </a:solidFill>
                <a:latin typeface="Consolas"/>
              </a:rPr>
              <a:t> : </a:t>
            </a:r>
            <a:r>
              <a:rPr sz="1250" dirty="0">
                <a:solidFill>
                  <a:srgbClr val="569CD6"/>
                </a:solidFill>
                <a:latin typeface="Consolas"/>
              </a:rPr>
              <a:t>public</a:t>
            </a:r>
            <a:r>
              <a:rPr sz="1250" dirty="0">
                <a:solidFill>
                  <a:srgbClr val="D4D4D4"/>
                </a:solidFill>
                <a:latin typeface="Consolas"/>
              </a:rPr>
              <a:t> </a:t>
            </a:r>
            <a:r>
              <a:rPr sz="1250" dirty="0" err="1">
                <a:solidFill>
                  <a:srgbClr val="D4D4D4"/>
                </a:solidFill>
                <a:latin typeface="Consolas"/>
              </a:rPr>
              <a:t>TypedComponent</a:t>
            </a:r>
            <a:r>
              <a:rPr sz="1250" dirty="0">
                <a:solidFill>
                  <a:srgbClr val="D4D4D4"/>
                </a:solidFill>
                <a:latin typeface="Consolas"/>
              </a:rPr>
              <a:t>&lt;</a:t>
            </a:r>
            <a:r>
              <a:rPr sz="1250" dirty="0">
                <a:solidFill>
                  <a:srgbClr val="B5CEA8"/>
                </a:solidFill>
                <a:latin typeface="Consolas"/>
              </a:rPr>
              <a:t>2</a:t>
            </a:r>
            <a:r>
              <a:rPr sz="1250" dirty="0">
                <a:solidFill>
                  <a:srgbClr val="D4D4D4"/>
                </a:solidFill>
                <a:latin typeface="Consolas"/>
              </a:rPr>
              <a:t>, T&gt; {   </a:t>
            </a:r>
            <a:r>
              <a:rPr sz="1250" dirty="0">
                <a:solidFill>
                  <a:srgbClr val="6A9955"/>
                </a:solidFill>
                <a:latin typeface="Consolas"/>
              </a:rPr>
              <a:t>// 2 states: [x, v]</a:t>
            </a:r>
          </a:p>
          <a:p>
            <a:pPr>
              <a:spcAft>
                <a:spcPts val="100"/>
              </a:spcAft>
            </a:pPr>
            <a:r>
              <a:rPr sz="1250" dirty="0">
                <a:solidFill>
                  <a:srgbClr val="D4D4D4"/>
                </a:solidFill>
                <a:latin typeface="Consolas"/>
              </a:rPr>
              <a:t>    </a:t>
            </a:r>
            <a:r>
              <a:rPr sz="1250" dirty="0">
                <a:solidFill>
                  <a:srgbClr val="4EC9B0"/>
                </a:solidFill>
                <a:latin typeface="Consolas"/>
              </a:rPr>
              <a:t>double</a:t>
            </a:r>
            <a:r>
              <a:rPr sz="1250" dirty="0">
                <a:solidFill>
                  <a:srgbClr val="D4D4D4"/>
                </a:solidFill>
                <a:latin typeface="Consolas"/>
              </a:rPr>
              <a:t> </a:t>
            </a:r>
            <a:r>
              <a:rPr sz="1250" dirty="0" err="1">
                <a:solidFill>
                  <a:srgbClr val="D4D4D4"/>
                </a:solidFill>
                <a:latin typeface="Consolas"/>
              </a:rPr>
              <a:t>m_mass</a:t>
            </a:r>
            <a:r>
              <a:rPr sz="1250" dirty="0">
                <a:solidFill>
                  <a:srgbClr val="D4D4D4"/>
                </a:solidFill>
                <a:latin typeface="Consolas"/>
              </a:rPr>
              <a:t>;</a:t>
            </a:r>
          </a:p>
          <a:p>
            <a:pPr>
              <a:spcAft>
                <a:spcPts val="100"/>
              </a:spcAft>
            </a:pPr>
            <a:r>
              <a:rPr sz="1250" dirty="0">
                <a:solidFill>
                  <a:srgbClr val="569CD6"/>
                </a:solidFill>
                <a:latin typeface="Consolas"/>
              </a:rPr>
              <a:t>public</a:t>
            </a:r>
            <a:r>
              <a:rPr sz="1250" dirty="0">
                <a:solidFill>
                  <a:srgbClr val="D4D4D4"/>
                </a:solidFill>
                <a:latin typeface="Consolas"/>
              </a:rPr>
              <a:t>:</a:t>
            </a:r>
          </a:p>
          <a:p>
            <a:pPr>
              <a:spcAft>
                <a:spcPts val="100"/>
              </a:spcAft>
            </a:pPr>
            <a:r>
              <a:rPr sz="1250" dirty="0">
                <a:solidFill>
                  <a:srgbClr val="D4D4D4"/>
                </a:solidFill>
                <a:latin typeface="Consolas"/>
              </a:rPr>
              <a:t>    </a:t>
            </a:r>
            <a:r>
              <a:rPr sz="1250" dirty="0">
                <a:solidFill>
                  <a:srgbClr val="569CD6"/>
                </a:solidFill>
                <a:latin typeface="Consolas"/>
              </a:rPr>
              <a:t>template</a:t>
            </a:r>
            <a:r>
              <a:rPr sz="1250" dirty="0">
                <a:solidFill>
                  <a:srgbClr val="D4D4D4"/>
                </a:solidFill>
                <a:latin typeface="Consolas"/>
              </a:rPr>
              <a:t>&lt;</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Registry</a:t>
            </a:r>
            <a:r>
              <a:rPr sz="1250" dirty="0">
                <a:solidFill>
                  <a:srgbClr val="D4D4D4"/>
                </a:solidFill>
                <a:latin typeface="Consolas"/>
              </a:rPr>
              <a:t>&gt;</a:t>
            </a:r>
          </a:p>
          <a:p>
            <a:pPr>
              <a:spcAft>
                <a:spcPts val="100"/>
              </a:spcAft>
            </a:pPr>
            <a:r>
              <a:rPr sz="1250" dirty="0">
                <a:solidFill>
                  <a:srgbClr val="D4D4D4"/>
                </a:solidFill>
                <a:latin typeface="Consolas"/>
              </a:rPr>
              <a:t>    </a:t>
            </a:r>
            <a:r>
              <a:rPr sz="1250" dirty="0" err="1">
                <a:solidFill>
                  <a:srgbClr val="D4D4D4"/>
                </a:solidFill>
                <a:latin typeface="Consolas"/>
              </a:rPr>
              <a:t>LocalDerivative</a:t>
            </a:r>
            <a:r>
              <a:rPr sz="1250" dirty="0">
                <a:solidFill>
                  <a:srgbClr val="D4D4D4"/>
                </a:solidFill>
                <a:latin typeface="Consolas"/>
              </a:rPr>
              <a:t> derivatives(T </a:t>
            </a:r>
            <a:r>
              <a:rPr sz="1250" dirty="0" err="1">
                <a:solidFill>
                  <a:srgbClr val="D4D4D4"/>
                </a:solidFill>
                <a:latin typeface="Consolas"/>
              </a:rPr>
              <a:t>t</a:t>
            </a:r>
            <a:r>
              <a:rPr sz="1250" dirty="0">
                <a:solidFill>
                  <a:srgbClr val="D4D4D4"/>
                </a:solidFill>
                <a:latin typeface="Consolas"/>
              </a:rPr>
              <a:t>, std::span&lt;</a:t>
            </a:r>
            <a:r>
              <a:rPr sz="1250" dirty="0">
                <a:solidFill>
                  <a:srgbClr val="569CD6"/>
                </a:solidFill>
                <a:latin typeface="Consolas"/>
              </a:rPr>
              <a:t>const</a:t>
            </a:r>
            <a:r>
              <a:rPr sz="1250" dirty="0">
                <a:solidFill>
                  <a:srgbClr val="D4D4D4"/>
                </a:solidFill>
                <a:latin typeface="Consolas"/>
              </a:rPr>
              <a:t> T&gt; local,</a:t>
            </a:r>
          </a:p>
          <a:p>
            <a:pPr>
              <a:spcAft>
                <a:spcPts val="100"/>
              </a:spcAft>
            </a:pPr>
            <a:r>
              <a:rPr sz="1250" dirty="0">
                <a:solidFill>
                  <a:srgbClr val="D4D4D4"/>
                </a:solidFill>
                <a:latin typeface="Consolas"/>
              </a:rPr>
              <a:t>                                std::span&lt;</a:t>
            </a:r>
            <a:r>
              <a:rPr sz="1250" dirty="0">
                <a:solidFill>
                  <a:srgbClr val="569CD6"/>
                </a:solidFill>
                <a:latin typeface="Consolas"/>
              </a:rPr>
              <a:t>const</a:t>
            </a:r>
            <a:r>
              <a:rPr sz="1250" dirty="0">
                <a:solidFill>
                  <a:srgbClr val="D4D4D4"/>
                </a:solidFill>
                <a:latin typeface="Consolas"/>
              </a:rPr>
              <a:t> T&gt; global,</a:t>
            </a:r>
          </a:p>
          <a:p>
            <a:pPr>
              <a:spcAft>
                <a:spcPts val="100"/>
              </a:spcAft>
            </a:pPr>
            <a:r>
              <a:rPr sz="1250" dirty="0">
                <a:solidFill>
                  <a:srgbClr val="D4D4D4"/>
                </a:solidFill>
                <a:latin typeface="Consolas"/>
              </a:rPr>
              <a:t>                                </a:t>
            </a:r>
            <a:r>
              <a:rPr sz="1250" dirty="0">
                <a:solidFill>
                  <a:srgbClr val="569CD6"/>
                </a:solidFill>
                <a:latin typeface="Consolas"/>
              </a:rPr>
              <a:t>const</a:t>
            </a:r>
            <a:r>
              <a:rPr sz="1250" dirty="0">
                <a:solidFill>
                  <a:srgbClr val="D4D4D4"/>
                </a:solidFill>
                <a:latin typeface="Consolas"/>
              </a:rPr>
              <a:t> Registry&amp; registry) </a:t>
            </a:r>
            <a:r>
              <a:rPr sz="1250" dirty="0">
                <a:solidFill>
                  <a:srgbClr val="569CD6"/>
                </a:solidFill>
                <a:latin typeface="Consolas"/>
              </a:rPr>
              <a:t>const</a:t>
            </a:r>
            <a:r>
              <a:rPr sz="1250" dirty="0">
                <a:solidFill>
                  <a:srgbClr val="D4D4D4"/>
                </a:solidFill>
                <a:latin typeface="Consolas"/>
              </a:rPr>
              <a:t> {</a:t>
            </a:r>
          </a:p>
          <a:p>
            <a:pPr>
              <a:spcAft>
                <a:spcPts val="100"/>
              </a:spcAft>
            </a:pPr>
            <a:r>
              <a:rPr sz="1250" dirty="0">
                <a:solidFill>
                  <a:srgbClr val="D4D4D4"/>
                </a:solidFill>
                <a:latin typeface="Consolas"/>
              </a:rPr>
              <a:t>        T velocity = local[</a:t>
            </a:r>
            <a:r>
              <a:rPr sz="1250" dirty="0">
                <a:solidFill>
                  <a:srgbClr val="B5CEA8"/>
                </a:solidFill>
                <a:latin typeface="Consolas"/>
              </a:rPr>
              <a:t>1</a:t>
            </a:r>
            <a:r>
              <a:rPr sz="1250" dirty="0">
                <a:solidFill>
                  <a:srgbClr val="D4D4D4"/>
                </a:solidFill>
                <a:latin typeface="Consolas"/>
              </a:rPr>
              <a:t>];                            </a:t>
            </a:r>
            <a:r>
              <a:rPr sz="1250" dirty="0">
                <a:solidFill>
                  <a:srgbClr val="6A9955"/>
                </a:solidFill>
                <a:latin typeface="Consolas"/>
              </a:rPr>
              <a:t>// dx/dt = v</a:t>
            </a:r>
          </a:p>
          <a:p>
            <a:pPr>
              <a:spcAft>
                <a:spcPts val="100"/>
              </a:spcAft>
            </a:pPr>
            <a:r>
              <a:rPr sz="1250" b="1" dirty="0">
                <a:solidFill>
                  <a:srgbClr val="F2C744"/>
                </a:solidFill>
                <a:latin typeface="Consolas"/>
              </a:rPr>
              <a:t>        T force = </a:t>
            </a:r>
            <a:r>
              <a:rPr sz="1250" b="1" dirty="0" err="1">
                <a:solidFill>
                  <a:srgbClr val="F2C744"/>
                </a:solidFill>
                <a:latin typeface="Consolas"/>
              </a:rPr>
              <a:t>registry.template</a:t>
            </a:r>
            <a:endParaRPr sz="1250" b="1" dirty="0">
              <a:solidFill>
                <a:srgbClr val="F2C744"/>
              </a:solidFill>
              <a:latin typeface="Consolas"/>
            </a:endParaRPr>
          </a:p>
          <a:p>
            <a:pPr>
              <a:spcAft>
                <a:spcPts val="100"/>
              </a:spcAft>
            </a:pPr>
            <a:r>
              <a:rPr sz="1250" b="1" dirty="0">
                <a:solidFill>
                  <a:srgbClr val="F2C744"/>
                </a:solidFill>
                <a:latin typeface="Consolas"/>
              </a:rPr>
              <a:t>                      </a:t>
            </a:r>
            <a:r>
              <a:rPr sz="1250" b="1" dirty="0" err="1">
                <a:solidFill>
                  <a:srgbClr val="F2C744"/>
                </a:solidFill>
                <a:latin typeface="Consolas"/>
              </a:rPr>
              <a:t>computeFunction</a:t>
            </a:r>
            <a:r>
              <a:rPr sz="1250" b="1" dirty="0">
                <a:solidFill>
                  <a:srgbClr val="F2C744"/>
                </a:solidFill>
                <a:latin typeface="Consolas"/>
              </a:rPr>
              <a:t>&lt;</a:t>
            </a:r>
            <a:r>
              <a:rPr sz="1250" b="1" dirty="0" err="1">
                <a:solidFill>
                  <a:srgbClr val="F2C744"/>
                </a:solidFill>
                <a:latin typeface="Consolas"/>
              </a:rPr>
              <a:t>typename</a:t>
            </a:r>
            <a:r>
              <a:rPr sz="1250" b="1" dirty="0">
                <a:solidFill>
                  <a:srgbClr val="F2C744"/>
                </a:solidFill>
                <a:latin typeface="Consolas"/>
              </a:rPr>
              <a:t> </a:t>
            </a:r>
            <a:r>
              <a:rPr sz="1250" b="1" dirty="0" err="1">
                <a:solidFill>
                  <a:srgbClr val="F2C744"/>
                </a:solidFill>
                <a:latin typeface="Consolas"/>
              </a:rPr>
              <a:t>TagSet</a:t>
            </a:r>
            <a:r>
              <a:rPr sz="1250" b="1" dirty="0">
                <a:solidFill>
                  <a:srgbClr val="F2C744"/>
                </a:solidFill>
                <a:latin typeface="Consolas"/>
              </a:rPr>
              <a:t>::Force&gt;(global);</a:t>
            </a:r>
          </a:p>
          <a:p>
            <a:pPr>
              <a:spcAft>
                <a:spcPts val="100"/>
              </a:spcAft>
            </a:pPr>
            <a:r>
              <a:rPr sz="1250" dirty="0">
                <a:solidFill>
                  <a:srgbClr val="D4D4D4"/>
                </a:solidFill>
                <a:latin typeface="Consolas"/>
              </a:rPr>
              <a:t>        </a:t>
            </a:r>
            <a:r>
              <a:rPr sz="1250" dirty="0">
                <a:solidFill>
                  <a:srgbClr val="569CD6"/>
                </a:solidFill>
                <a:latin typeface="Consolas"/>
              </a:rPr>
              <a:t>return</a:t>
            </a:r>
            <a:r>
              <a:rPr sz="1250" dirty="0">
                <a:solidFill>
                  <a:srgbClr val="D4D4D4"/>
                </a:solidFill>
                <a:latin typeface="Consolas"/>
              </a:rPr>
              <a:t> {velocity, force / T(</a:t>
            </a:r>
            <a:r>
              <a:rPr sz="1250" dirty="0" err="1">
                <a:solidFill>
                  <a:srgbClr val="D4D4D4"/>
                </a:solidFill>
                <a:latin typeface="Consolas"/>
              </a:rPr>
              <a:t>m_mass</a:t>
            </a:r>
            <a:r>
              <a:rPr sz="1250" dirty="0">
                <a:solidFill>
                  <a:srgbClr val="D4D4D4"/>
                </a:solidFill>
                <a:latin typeface="Consolas"/>
              </a:rPr>
              <a:t>)};             </a:t>
            </a:r>
            <a:r>
              <a:rPr sz="1250" dirty="0">
                <a:solidFill>
                  <a:srgbClr val="6A9955"/>
                </a:solidFill>
                <a:latin typeface="Consolas"/>
              </a:rPr>
              <a:t>// dv/dt = F/m</a:t>
            </a:r>
          </a:p>
          <a:p>
            <a:pPr>
              <a:spcAft>
                <a:spcPts val="100"/>
              </a:spcAft>
            </a:pPr>
            <a:r>
              <a:rPr sz="1250" dirty="0">
                <a:solidFill>
                  <a:srgbClr val="D4D4D4"/>
                </a:solidFill>
                <a:latin typeface="Consolas"/>
              </a:rPr>
              <a:t>    }</a:t>
            </a:r>
          </a:p>
          <a:p>
            <a:pPr>
              <a:spcAft>
                <a:spcPts val="100"/>
              </a:spcAft>
            </a:pPr>
            <a:r>
              <a:rPr sz="1250" dirty="0">
                <a:latin typeface="Consolas"/>
              </a:rPr>
              <a:t> </a:t>
            </a:r>
          </a:p>
          <a:p>
            <a:pPr>
              <a:spcAft>
                <a:spcPts val="100"/>
              </a:spcAft>
            </a:pPr>
            <a:r>
              <a:rPr sz="1250" dirty="0">
                <a:solidFill>
                  <a:srgbClr val="D4D4D4"/>
                </a:solidFill>
                <a:latin typeface="Consolas"/>
              </a:rPr>
              <a:t>    T compute(</a:t>
            </a:r>
            <a:r>
              <a:rPr sz="1250" dirty="0" err="1">
                <a:solidFill>
                  <a:srgbClr val="569CD6"/>
                </a:solidFill>
                <a:latin typeface="Consolas"/>
              </a:rPr>
              <a:t>typename</a:t>
            </a:r>
            <a:r>
              <a:rPr sz="1250" dirty="0">
                <a:solidFill>
                  <a:srgbClr val="D4D4D4"/>
                </a:solidFill>
                <a:latin typeface="Consolas"/>
              </a:rPr>
              <a:t> </a:t>
            </a:r>
            <a:r>
              <a:rPr sz="1250" dirty="0" err="1">
                <a:solidFill>
                  <a:srgbClr val="4EC9B0"/>
                </a:solidFill>
                <a:latin typeface="Consolas"/>
              </a:rPr>
              <a:t>TagSet</a:t>
            </a:r>
            <a:r>
              <a:rPr sz="1250" dirty="0">
                <a:solidFill>
                  <a:srgbClr val="D4D4D4"/>
                </a:solidFill>
                <a:latin typeface="Consolas"/>
              </a:rPr>
              <a:t>::Position, std::span&lt;</a:t>
            </a:r>
            <a:r>
              <a:rPr sz="1250" dirty="0">
                <a:solidFill>
                  <a:srgbClr val="569CD6"/>
                </a:solidFill>
                <a:latin typeface="Consolas"/>
              </a:rPr>
              <a:t>const</a:t>
            </a:r>
            <a:r>
              <a:rPr sz="1250" dirty="0">
                <a:solidFill>
                  <a:srgbClr val="D4D4D4"/>
                </a:solidFill>
                <a:latin typeface="Consolas"/>
              </a:rPr>
              <a:t> T&gt; s) </a:t>
            </a:r>
            <a:r>
              <a:rPr sz="1250" dirty="0">
                <a:solidFill>
                  <a:srgbClr val="569CD6"/>
                </a:solidFill>
                <a:latin typeface="Consolas"/>
              </a:rPr>
              <a:t>const</a:t>
            </a:r>
          </a:p>
          <a:p>
            <a:pPr>
              <a:spcAft>
                <a:spcPts val="100"/>
              </a:spcAft>
            </a:pPr>
            <a:r>
              <a:rPr sz="1250" dirty="0">
                <a:solidFill>
                  <a:srgbClr val="D4D4D4"/>
                </a:solidFill>
                <a:latin typeface="Consolas"/>
              </a:rPr>
              <a:t>    { </a:t>
            </a:r>
            <a:r>
              <a:rPr sz="1250" dirty="0">
                <a:solidFill>
                  <a:srgbClr val="569CD6"/>
                </a:solidFill>
                <a:latin typeface="Consolas"/>
              </a:rPr>
              <a:t>return</a:t>
            </a:r>
            <a:r>
              <a:rPr sz="1250" dirty="0">
                <a:solidFill>
                  <a:srgbClr val="D4D4D4"/>
                </a:solidFill>
                <a:latin typeface="Consolas"/>
              </a:rPr>
              <a:t> </a:t>
            </a:r>
            <a:r>
              <a:rPr sz="1250" dirty="0">
                <a:solidFill>
                  <a:srgbClr val="569CD6"/>
                </a:solidFill>
                <a:latin typeface="Consolas"/>
              </a:rPr>
              <a:t>this</a:t>
            </a:r>
            <a:r>
              <a:rPr sz="1250" dirty="0">
                <a:solidFill>
                  <a:srgbClr val="D4D4D4"/>
                </a:solidFill>
                <a:latin typeface="Consolas"/>
              </a:rPr>
              <a:t>-&gt;</a:t>
            </a:r>
            <a:r>
              <a:rPr sz="1250" dirty="0" err="1">
                <a:solidFill>
                  <a:srgbClr val="D4D4D4"/>
                </a:solidFill>
                <a:latin typeface="Consolas"/>
              </a:rPr>
              <a:t>getGlobalState</a:t>
            </a:r>
            <a:r>
              <a:rPr sz="1250" dirty="0">
                <a:solidFill>
                  <a:srgbClr val="D4D4D4"/>
                </a:solidFill>
                <a:latin typeface="Consolas"/>
              </a:rPr>
              <a:t>(s, </a:t>
            </a:r>
            <a:r>
              <a:rPr sz="1250" dirty="0">
                <a:solidFill>
                  <a:srgbClr val="B5CEA8"/>
                </a:solidFill>
                <a:latin typeface="Consolas"/>
              </a:rPr>
              <a:t>0</a:t>
            </a:r>
            <a:r>
              <a:rPr sz="1250" dirty="0">
                <a:solidFill>
                  <a:srgbClr val="D4D4D4"/>
                </a:solidFill>
                <a:latin typeface="Consolas"/>
              </a:rPr>
              <a:t>); }</a:t>
            </a:r>
          </a:p>
          <a:p>
            <a:pPr>
              <a:spcAft>
                <a:spcPts val="100"/>
              </a:spcAft>
            </a:pPr>
            <a:r>
              <a:rPr sz="1250" dirty="0">
                <a:solidFill>
                  <a:srgbClr val="D4D4D4"/>
                </a:solidFill>
                <a:latin typeface="Consolas"/>
              </a:rPr>
              <a:t>    T compute(</a:t>
            </a:r>
            <a:r>
              <a:rPr sz="1250" dirty="0" err="1">
                <a:solidFill>
                  <a:srgbClr val="569CD6"/>
                </a:solidFill>
                <a:latin typeface="Consolas"/>
              </a:rPr>
              <a:t>typename</a:t>
            </a:r>
            <a:r>
              <a:rPr sz="1250" dirty="0">
                <a:solidFill>
                  <a:srgbClr val="D4D4D4"/>
                </a:solidFill>
                <a:latin typeface="Consolas"/>
              </a:rPr>
              <a:t> </a:t>
            </a:r>
            <a:r>
              <a:rPr sz="1250" dirty="0" err="1">
                <a:solidFill>
                  <a:srgbClr val="4EC9B0"/>
                </a:solidFill>
                <a:latin typeface="Consolas"/>
              </a:rPr>
              <a:t>TagSet</a:t>
            </a:r>
            <a:r>
              <a:rPr sz="1250" dirty="0">
                <a:solidFill>
                  <a:srgbClr val="D4D4D4"/>
                </a:solidFill>
                <a:latin typeface="Consolas"/>
              </a:rPr>
              <a:t>::Velocity, std::span&lt;</a:t>
            </a:r>
            <a:r>
              <a:rPr sz="1250" dirty="0">
                <a:solidFill>
                  <a:srgbClr val="569CD6"/>
                </a:solidFill>
                <a:latin typeface="Consolas"/>
              </a:rPr>
              <a:t>const</a:t>
            </a:r>
            <a:r>
              <a:rPr sz="1250" dirty="0">
                <a:solidFill>
                  <a:srgbClr val="D4D4D4"/>
                </a:solidFill>
                <a:latin typeface="Consolas"/>
              </a:rPr>
              <a:t> T&gt; s) </a:t>
            </a:r>
            <a:r>
              <a:rPr sz="1250" dirty="0">
                <a:solidFill>
                  <a:srgbClr val="569CD6"/>
                </a:solidFill>
                <a:latin typeface="Consolas"/>
              </a:rPr>
              <a:t>const</a:t>
            </a:r>
          </a:p>
          <a:p>
            <a:pPr>
              <a:spcAft>
                <a:spcPts val="100"/>
              </a:spcAft>
            </a:pPr>
            <a:r>
              <a:rPr sz="1250" dirty="0">
                <a:solidFill>
                  <a:srgbClr val="D4D4D4"/>
                </a:solidFill>
                <a:latin typeface="Consolas"/>
              </a:rPr>
              <a:t>    { </a:t>
            </a:r>
            <a:r>
              <a:rPr sz="1250" dirty="0">
                <a:solidFill>
                  <a:srgbClr val="569CD6"/>
                </a:solidFill>
                <a:latin typeface="Consolas"/>
              </a:rPr>
              <a:t>return</a:t>
            </a:r>
            <a:r>
              <a:rPr sz="1250" dirty="0">
                <a:solidFill>
                  <a:srgbClr val="D4D4D4"/>
                </a:solidFill>
                <a:latin typeface="Consolas"/>
              </a:rPr>
              <a:t> </a:t>
            </a:r>
            <a:r>
              <a:rPr sz="1250" dirty="0">
                <a:solidFill>
                  <a:srgbClr val="569CD6"/>
                </a:solidFill>
                <a:latin typeface="Consolas"/>
              </a:rPr>
              <a:t>this</a:t>
            </a:r>
            <a:r>
              <a:rPr sz="1250" dirty="0">
                <a:solidFill>
                  <a:srgbClr val="D4D4D4"/>
                </a:solidFill>
                <a:latin typeface="Consolas"/>
              </a:rPr>
              <a:t>-&gt;</a:t>
            </a:r>
            <a:r>
              <a:rPr sz="1250" dirty="0" err="1">
                <a:solidFill>
                  <a:srgbClr val="D4D4D4"/>
                </a:solidFill>
                <a:latin typeface="Consolas"/>
              </a:rPr>
              <a:t>getGlobalState</a:t>
            </a:r>
            <a:r>
              <a:rPr sz="1250" dirty="0">
                <a:solidFill>
                  <a:srgbClr val="D4D4D4"/>
                </a:solidFill>
                <a:latin typeface="Consolas"/>
              </a:rPr>
              <a:t>(s, </a:t>
            </a:r>
            <a:r>
              <a:rPr sz="1250" dirty="0">
                <a:solidFill>
                  <a:srgbClr val="B5CEA8"/>
                </a:solidFill>
                <a:latin typeface="Consolas"/>
              </a:rPr>
              <a:t>1</a:t>
            </a:r>
            <a:r>
              <a:rPr sz="1250" dirty="0">
                <a:solidFill>
                  <a:srgbClr val="D4D4D4"/>
                </a:solidFill>
                <a:latin typeface="Consolas"/>
              </a:rPr>
              <a:t>); }</a:t>
            </a:r>
          </a:p>
          <a:p>
            <a:pPr>
              <a:spcAft>
                <a:spcPts val="100"/>
              </a:spcAft>
            </a:pPr>
            <a:r>
              <a:rPr sz="125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1124712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10837084" cy="3978012"/>
          </a:xfrm>
          <a:prstGeom prst="rect">
            <a:avLst/>
          </a:prstGeom>
          <a:noFill/>
        </p:spPr>
        <p:txBody>
          <a:bodyPr wrap="square">
            <a:spAutoFit/>
          </a:bodyPr>
          <a:lstStyle/>
          <a:p>
            <a:pPr>
              <a:spcAft>
                <a:spcPts val="100"/>
              </a:spcAft>
            </a:pPr>
            <a:r>
              <a:rPr sz="1250" dirty="0">
                <a:solidFill>
                  <a:srgbClr val="569CD6"/>
                </a:solidFill>
                <a:latin typeface="Consolas"/>
              </a:rPr>
              <a:t>template</a:t>
            </a:r>
            <a:r>
              <a:rPr sz="1250" dirty="0">
                <a:solidFill>
                  <a:srgbClr val="D4D4D4"/>
                </a:solidFill>
                <a:latin typeface="Consolas"/>
              </a:rPr>
              <a:t>&lt;</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TagSet1</a:t>
            </a:r>
            <a:r>
              <a:rPr sz="1250" dirty="0">
                <a:solidFill>
                  <a:srgbClr val="D4D4D4"/>
                </a:solidFill>
                <a:latin typeface="Consolas"/>
              </a:rPr>
              <a:t>, </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TagSet2</a:t>
            </a:r>
            <a:r>
              <a:rPr sz="1250" dirty="0">
                <a:solidFill>
                  <a:srgbClr val="D4D4D4"/>
                </a:solidFill>
                <a:latin typeface="Consolas"/>
              </a:rPr>
              <a:t>, Scalar T = </a:t>
            </a:r>
            <a:r>
              <a:rPr sz="1250" dirty="0">
                <a:solidFill>
                  <a:srgbClr val="4EC9B0"/>
                </a:solidFill>
                <a:latin typeface="Consolas"/>
              </a:rPr>
              <a:t>double</a:t>
            </a:r>
            <a:r>
              <a:rPr sz="1250" dirty="0">
                <a:solidFill>
                  <a:srgbClr val="D4D4D4"/>
                </a:solidFill>
                <a:latin typeface="Consolas"/>
              </a:rPr>
              <a:t>&gt;</a:t>
            </a:r>
          </a:p>
          <a:p>
            <a:pPr>
              <a:spcAft>
                <a:spcPts val="100"/>
              </a:spcAft>
            </a:pPr>
            <a:r>
              <a:rPr sz="1250" dirty="0">
                <a:solidFill>
                  <a:srgbClr val="569CD6"/>
                </a:solidFill>
                <a:latin typeface="Consolas"/>
              </a:rPr>
              <a:t>class</a:t>
            </a:r>
            <a:r>
              <a:rPr sz="1250" dirty="0">
                <a:solidFill>
                  <a:srgbClr val="D4D4D4"/>
                </a:solidFill>
                <a:latin typeface="Consolas"/>
              </a:rPr>
              <a:t> </a:t>
            </a:r>
            <a:r>
              <a:rPr sz="1250" dirty="0">
                <a:solidFill>
                  <a:srgbClr val="4EC9B0"/>
                </a:solidFill>
                <a:latin typeface="Consolas"/>
              </a:rPr>
              <a:t>Spring</a:t>
            </a:r>
            <a:r>
              <a:rPr sz="1250" dirty="0">
                <a:solidFill>
                  <a:srgbClr val="D4D4D4"/>
                </a:solidFill>
                <a:latin typeface="Consolas"/>
              </a:rPr>
              <a:t> </a:t>
            </a:r>
            <a:r>
              <a:rPr sz="1250" dirty="0">
                <a:solidFill>
                  <a:srgbClr val="569CD6"/>
                </a:solidFill>
                <a:latin typeface="Consolas"/>
              </a:rPr>
              <a:t>final</a:t>
            </a:r>
            <a:r>
              <a:rPr sz="1250" dirty="0">
                <a:solidFill>
                  <a:srgbClr val="D4D4D4"/>
                </a:solidFill>
                <a:latin typeface="Consolas"/>
              </a:rPr>
              <a:t> : </a:t>
            </a:r>
            <a:r>
              <a:rPr sz="1250" dirty="0">
                <a:solidFill>
                  <a:srgbClr val="569CD6"/>
                </a:solidFill>
                <a:latin typeface="Consolas"/>
              </a:rPr>
              <a:t>public</a:t>
            </a:r>
            <a:r>
              <a:rPr sz="1250" dirty="0">
                <a:solidFill>
                  <a:srgbClr val="D4D4D4"/>
                </a:solidFill>
                <a:latin typeface="Consolas"/>
              </a:rPr>
              <a:t> </a:t>
            </a:r>
            <a:r>
              <a:rPr sz="1250" dirty="0" err="1">
                <a:solidFill>
                  <a:srgbClr val="D4D4D4"/>
                </a:solidFill>
                <a:latin typeface="Consolas"/>
              </a:rPr>
              <a:t>TypedComponent</a:t>
            </a:r>
            <a:r>
              <a:rPr sz="1250" dirty="0">
                <a:solidFill>
                  <a:srgbClr val="D4D4D4"/>
                </a:solidFill>
                <a:latin typeface="Consolas"/>
              </a:rPr>
              <a:t>&lt;</a:t>
            </a:r>
            <a:r>
              <a:rPr sz="1250" dirty="0">
                <a:solidFill>
                  <a:srgbClr val="B5CEA8"/>
                </a:solidFill>
                <a:latin typeface="Consolas"/>
              </a:rPr>
              <a:t>0</a:t>
            </a:r>
            <a:r>
              <a:rPr sz="1250" dirty="0">
                <a:solidFill>
                  <a:srgbClr val="D4D4D4"/>
                </a:solidFill>
                <a:latin typeface="Consolas"/>
              </a:rPr>
              <a:t>, T&gt; {        </a:t>
            </a:r>
            <a:r>
              <a:rPr sz="1250" dirty="0">
                <a:solidFill>
                  <a:srgbClr val="6A9955"/>
                </a:solidFill>
                <a:latin typeface="Consolas"/>
              </a:rPr>
              <a:t>// 0 states!</a:t>
            </a:r>
          </a:p>
          <a:p>
            <a:pPr>
              <a:spcAft>
                <a:spcPts val="100"/>
              </a:spcAft>
            </a:pPr>
            <a:r>
              <a:rPr sz="1250" dirty="0">
                <a:solidFill>
                  <a:srgbClr val="D4D4D4"/>
                </a:solidFill>
                <a:latin typeface="Consolas"/>
              </a:rPr>
              <a:t>    </a:t>
            </a:r>
            <a:r>
              <a:rPr sz="1250" dirty="0">
                <a:solidFill>
                  <a:srgbClr val="4EC9B0"/>
                </a:solidFill>
                <a:latin typeface="Consolas"/>
              </a:rPr>
              <a:t>double</a:t>
            </a:r>
            <a:r>
              <a:rPr sz="1250" dirty="0">
                <a:solidFill>
                  <a:srgbClr val="D4D4D4"/>
                </a:solidFill>
                <a:latin typeface="Consolas"/>
              </a:rPr>
              <a:t> </a:t>
            </a:r>
            <a:r>
              <a:rPr sz="1250" dirty="0" err="1">
                <a:solidFill>
                  <a:srgbClr val="D4D4D4"/>
                </a:solidFill>
                <a:latin typeface="Consolas"/>
              </a:rPr>
              <a:t>m_stiffness</a:t>
            </a:r>
            <a:r>
              <a:rPr sz="1250" dirty="0">
                <a:solidFill>
                  <a:srgbClr val="D4D4D4"/>
                </a:solidFill>
                <a:latin typeface="Consolas"/>
              </a:rPr>
              <a:t>, </a:t>
            </a:r>
            <a:r>
              <a:rPr sz="1250" dirty="0" err="1">
                <a:solidFill>
                  <a:srgbClr val="D4D4D4"/>
                </a:solidFill>
                <a:latin typeface="Consolas"/>
              </a:rPr>
              <a:t>m_rest_length</a:t>
            </a:r>
            <a:r>
              <a:rPr sz="1250" dirty="0">
                <a:solidFill>
                  <a:srgbClr val="D4D4D4"/>
                </a:solidFill>
                <a:latin typeface="Consolas"/>
              </a:rPr>
              <a:t>;</a:t>
            </a:r>
          </a:p>
          <a:p>
            <a:pPr>
              <a:spcAft>
                <a:spcPts val="100"/>
              </a:spcAft>
            </a:pPr>
            <a:r>
              <a:rPr sz="1250" dirty="0">
                <a:solidFill>
                  <a:srgbClr val="569CD6"/>
                </a:solidFill>
                <a:latin typeface="Consolas"/>
              </a:rPr>
              <a:t>public</a:t>
            </a:r>
            <a:r>
              <a:rPr sz="1250" dirty="0">
                <a:solidFill>
                  <a:srgbClr val="D4D4D4"/>
                </a:solidFill>
                <a:latin typeface="Consolas"/>
              </a:rPr>
              <a:t>:</a:t>
            </a:r>
          </a:p>
          <a:p>
            <a:pPr>
              <a:spcAft>
                <a:spcPts val="100"/>
              </a:spcAft>
            </a:pPr>
            <a:r>
              <a:rPr sz="1250" dirty="0">
                <a:solidFill>
                  <a:srgbClr val="D4D4D4"/>
                </a:solidFill>
                <a:latin typeface="Consolas"/>
              </a:rPr>
              <a:t>    </a:t>
            </a:r>
            <a:r>
              <a:rPr sz="1250" dirty="0">
                <a:solidFill>
                  <a:srgbClr val="569CD6"/>
                </a:solidFill>
                <a:latin typeface="Consolas"/>
              </a:rPr>
              <a:t>template</a:t>
            </a:r>
            <a:r>
              <a:rPr sz="1250" dirty="0">
                <a:solidFill>
                  <a:srgbClr val="D4D4D4"/>
                </a:solidFill>
                <a:latin typeface="Consolas"/>
              </a:rPr>
              <a:t>&lt;</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Registry</a:t>
            </a:r>
            <a:r>
              <a:rPr sz="1250" dirty="0">
                <a:solidFill>
                  <a:srgbClr val="D4D4D4"/>
                </a:solidFill>
                <a:latin typeface="Consolas"/>
              </a:rPr>
              <a:t>&gt;</a:t>
            </a:r>
          </a:p>
          <a:p>
            <a:pPr>
              <a:spcAft>
                <a:spcPts val="100"/>
              </a:spcAft>
            </a:pPr>
            <a:r>
              <a:rPr sz="1250" dirty="0">
                <a:solidFill>
                  <a:srgbClr val="D4D4D4"/>
                </a:solidFill>
                <a:latin typeface="Consolas"/>
              </a:rPr>
              <a:t>    T compute(</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TagSet1</a:t>
            </a:r>
            <a:r>
              <a:rPr sz="1250" dirty="0">
                <a:solidFill>
                  <a:srgbClr val="D4D4D4"/>
                </a:solidFill>
                <a:latin typeface="Consolas"/>
              </a:rPr>
              <a:t>::Force,</a:t>
            </a:r>
          </a:p>
          <a:p>
            <a:pPr>
              <a:spcAft>
                <a:spcPts val="100"/>
              </a:spcAft>
            </a:pPr>
            <a:r>
              <a:rPr sz="1250" dirty="0">
                <a:solidFill>
                  <a:srgbClr val="D4D4D4"/>
                </a:solidFill>
                <a:latin typeface="Consolas"/>
              </a:rPr>
              <a:t>              std::span&lt;</a:t>
            </a:r>
            <a:r>
              <a:rPr sz="1250" dirty="0">
                <a:solidFill>
                  <a:srgbClr val="569CD6"/>
                </a:solidFill>
                <a:latin typeface="Consolas"/>
              </a:rPr>
              <a:t>const</a:t>
            </a:r>
            <a:r>
              <a:rPr sz="1250" dirty="0">
                <a:solidFill>
                  <a:srgbClr val="D4D4D4"/>
                </a:solidFill>
                <a:latin typeface="Consolas"/>
              </a:rPr>
              <a:t> T&gt; state, </a:t>
            </a:r>
            <a:r>
              <a:rPr sz="1250" dirty="0">
                <a:solidFill>
                  <a:srgbClr val="569CD6"/>
                </a:solidFill>
                <a:latin typeface="Consolas"/>
              </a:rPr>
              <a:t>const</a:t>
            </a:r>
            <a:r>
              <a:rPr sz="1250" dirty="0">
                <a:solidFill>
                  <a:srgbClr val="D4D4D4"/>
                </a:solidFill>
                <a:latin typeface="Consolas"/>
              </a:rPr>
              <a:t> Registry&amp; registry) </a:t>
            </a:r>
            <a:r>
              <a:rPr sz="1250" dirty="0">
                <a:solidFill>
                  <a:srgbClr val="569CD6"/>
                </a:solidFill>
                <a:latin typeface="Consolas"/>
              </a:rPr>
              <a:t>const</a:t>
            </a:r>
            <a:r>
              <a:rPr sz="1250" dirty="0">
                <a:solidFill>
                  <a:srgbClr val="D4D4D4"/>
                </a:solidFill>
                <a:latin typeface="Consolas"/>
              </a:rPr>
              <a:t> {</a:t>
            </a:r>
          </a:p>
          <a:p>
            <a:pPr>
              <a:spcAft>
                <a:spcPts val="100"/>
              </a:spcAft>
            </a:pPr>
            <a:r>
              <a:rPr sz="1250" b="1" dirty="0">
                <a:solidFill>
                  <a:srgbClr val="F2C744"/>
                </a:solidFill>
                <a:latin typeface="Consolas"/>
              </a:rPr>
              <a:t>        T x1 = </a:t>
            </a:r>
            <a:r>
              <a:rPr sz="1250" b="1" dirty="0" err="1">
                <a:solidFill>
                  <a:srgbClr val="F2C744"/>
                </a:solidFill>
                <a:latin typeface="Consolas"/>
              </a:rPr>
              <a:t>registry.template</a:t>
            </a:r>
            <a:r>
              <a:rPr sz="1250" b="1" dirty="0">
                <a:solidFill>
                  <a:srgbClr val="F2C744"/>
                </a:solidFill>
                <a:latin typeface="Consolas"/>
              </a:rPr>
              <a:t> </a:t>
            </a:r>
            <a:r>
              <a:rPr sz="1250" b="1" dirty="0" err="1">
                <a:solidFill>
                  <a:srgbClr val="F2C744"/>
                </a:solidFill>
                <a:latin typeface="Consolas"/>
              </a:rPr>
              <a:t>computeFunction</a:t>
            </a:r>
            <a:r>
              <a:rPr sz="1250" b="1" dirty="0">
                <a:solidFill>
                  <a:srgbClr val="F2C744"/>
                </a:solidFill>
                <a:latin typeface="Consolas"/>
              </a:rPr>
              <a:t>&lt;</a:t>
            </a:r>
            <a:r>
              <a:rPr sz="1250" b="1" dirty="0" err="1">
                <a:solidFill>
                  <a:srgbClr val="F2C744"/>
                </a:solidFill>
                <a:latin typeface="Consolas"/>
              </a:rPr>
              <a:t>typename</a:t>
            </a:r>
            <a:r>
              <a:rPr sz="1250" b="1" dirty="0">
                <a:solidFill>
                  <a:srgbClr val="F2C744"/>
                </a:solidFill>
                <a:latin typeface="Consolas"/>
              </a:rPr>
              <a:t> TagSet1::Position&gt;(state);</a:t>
            </a:r>
          </a:p>
          <a:p>
            <a:pPr>
              <a:spcAft>
                <a:spcPts val="100"/>
              </a:spcAft>
            </a:pPr>
            <a:r>
              <a:rPr sz="1250" b="1" dirty="0">
                <a:solidFill>
                  <a:srgbClr val="F2C744"/>
                </a:solidFill>
                <a:latin typeface="Consolas"/>
              </a:rPr>
              <a:t>        T x2 = </a:t>
            </a:r>
            <a:r>
              <a:rPr sz="1250" b="1" dirty="0" err="1">
                <a:solidFill>
                  <a:srgbClr val="F2C744"/>
                </a:solidFill>
                <a:latin typeface="Consolas"/>
              </a:rPr>
              <a:t>registry.template</a:t>
            </a:r>
            <a:r>
              <a:rPr sz="1250" b="1" dirty="0">
                <a:solidFill>
                  <a:srgbClr val="F2C744"/>
                </a:solidFill>
                <a:latin typeface="Consolas"/>
              </a:rPr>
              <a:t> </a:t>
            </a:r>
            <a:r>
              <a:rPr sz="1250" b="1" dirty="0" err="1">
                <a:solidFill>
                  <a:srgbClr val="F2C744"/>
                </a:solidFill>
                <a:latin typeface="Consolas"/>
              </a:rPr>
              <a:t>computeFunction</a:t>
            </a:r>
            <a:r>
              <a:rPr sz="1250" b="1" dirty="0">
                <a:solidFill>
                  <a:srgbClr val="F2C744"/>
                </a:solidFill>
                <a:latin typeface="Consolas"/>
              </a:rPr>
              <a:t>&lt;</a:t>
            </a:r>
            <a:r>
              <a:rPr sz="1250" b="1" dirty="0" err="1">
                <a:solidFill>
                  <a:srgbClr val="F2C744"/>
                </a:solidFill>
                <a:latin typeface="Consolas"/>
              </a:rPr>
              <a:t>typename</a:t>
            </a:r>
            <a:r>
              <a:rPr sz="1250" b="1" dirty="0">
                <a:solidFill>
                  <a:srgbClr val="F2C744"/>
                </a:solidFill>
                <a:latin typeface="Consolas"/>
              </a:rPr>
              <a:t> TagSet2::Position&gt;(state);</a:t>
            </a:r>
          </a:p>
          <a:p>
            <a:pPr>
              <a:spcAft>
                <a:spcPts val="100"/>
              </a:spcAft>
            </a:pPr>
            <a:r>
              <a:rPr sz="1250" dirty="0">
                <a:solidFill>
                  <a:srgbClr val="D4D4D4"/>
                </a:solidFill>
                <a:latin typeface="Consolas"/>
              </a:rPr>
              <a:t>        T extension = x1 - x2 - T(</a:t>
            </a:r>
            <a:r>
              <a:rPr sz="1250" dirty="0" err="1">
                <a:solidFill>
                  <a:srgbClr val="D4D4D4"/>
                </a:solidFill>
                <a:latin typeface="Consolas"/>
              </a:rPr>
              <a:t>m_rest_length</a:t>
            </a:r>
            <a:r>
              <a:rPr sz="1250" dirty="0">
                <a:solidFill>
                  <a:srgbClr val="D4D4D4"/>
                </a:solidFill>
                <a:latin typeface="Consolas"/>
              </a:rPr>
              <a:t>);</a:t>
            </a:r>
          </a:p>
          <a:p>
            <a:pPr>
              <a:spcAft>
                <a:spcPts val="100"/>
              </a:spcAft>
            </a:pPr>
            <a:r>
              <a:rPr sz="1250" dirty="0">
                <a:solidFill>
                  <a:srgbClr val="D4D4D4"/>
                </a:solidFill>
                <a:latin typeface="Consolas"/>
              </a:rPr>
              <a:t>        </a:t>
            </a:r>
            <a:r>
              <a:rPr sz="1250" dirty="0">
                <a:solidFill>
                  <a:srgbClr val="569CD6"/>
                </a:solidFill>
                <a:latin typeface="Consolas"/>
              </a:rPr>
              <a:t>return</a:t>
            </a:r>
            <a:r>
              <a:rPr sz="1250" dirty="0">
                <a:solidFill>
                  <a:srgbClr val="D4D4D4"/>
                </a:solidFill>
                <a:latin typeface="Consolas"/>
              </a:rPr>
              <a:t> -T(</a:t>
            </a:r>
            <a:r>
              <a:rPr sz="1250" dirty="0" err="1">
                <a:solidFill>
                  <a:srgbClr val="D4D4D4"/>
                </a:solidFill>
                <a:latin typeface="Consolas"/>
              </a:rPr>
              <a:t>m_stiffness</a:t>
            </a:r>
            <a:r>
              <a:rPr sz="1250" dirty="0">
                <a:solidFill>
                  <a:srgbClr val="D4D4D4"/>
                </a:solidFill>
                <a:latin typeface="Consolas"/>
              </a:rPr>
              <a:t>) * extension;               </a:t>
            </a:r>
            <a:r>
              <a:rPr sz="1250" dirty="0">
                <a:solidFill>
                  <a:srgbClr val="6A9955"/>
                </a:solidFill>
                <a:latin typeface="Consolas"/>
              </a:rPr>
              <a:t>// Hooke's law</a:t>
            </a:r>
          </a:p>
          <a:p>
            <a:pPr>
              <a:spcAft>
                <a:spcPts val="100"/>
              </a:spcAft>
            </a:pPr>
            <a:r>
              <a:rPr sz="1250" dirty="0">
                <a:solidFill>
                  <a:srgbClr val="D4D4D4"/>
                </a:solidFill>
                <a:latin typeface="Consolas"/>
              </a:rPr>
              <a:t>    }</a:t>
            </a:r>
          </a:p>
          <a:p>
            <a:pPr>
              <a:spcAft>
                <a:spcPts val="100"/>
              </a:spcAft>
            </a:pPr>
            <a:r>
              <a:rPr sz="1250" dirty="0">
                <a:latin typeface="Consolas"/>
              </a:rPr>
              <a:t> </a:t>
            </a:r>
          </a:p>
          <a:p>
            <a:pPr>
              <a:spcAft>
                <a:spcPts val="100"/>
              </a:spcAft>
            </a:pPr>
            <a:r>
              <a:rPr sz="1250" dirty="0">
                <a:solidFill>
                  <a:srgbClr val="D4D4D4"/>
                </a:solidFill>
                <a:latin typeface="Consolas"/>
              </a:rPr>
              <a:t>    </a:t>
            </a:r>
            <a:r>
              <a:rPr sz="1250" dirty="0">
                <a:solidFill>
                  <a:srgbClr val="569CD6"/>
                </a:solidFill>
                <a:latin typeface="Consolas"/>
              </a:rPr>
              <a:t>template</a:t>
            </a:r>
            <a:r>
              <a:rPr sz="1250" dirty="0">
                <a:solidFill>
                  <a:srgbClr val="D4D4D4"/>
                </a:solidFill>
                <a:latin typeface="Consolas"/>
              </a:rPr>
              <a:t>&lt;</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Registry</a:t>
            </a:r>
            <a:r>
              <a:rPr sz="1250" dirty="0">
                <a:solidFill>
                  <a:srgbClr val="D4D4D4"/>
                </a:solidFill>
                <a:latin typeface="Consolas"/>
              </a:rPr>
              <a:t>&gt;</a:t>
            </a:r>
          </a:p>
          <a:p>
            <a:pPr>
              <a:spcAft>
                <a:spcPts val="100"/>
              </a:spcAft>
            </a:pPr>
            <a:r>
              <a:rPr sz="1250" dirty="0">
                <a:solidFill>
                  <a:srgbClr val="D4D4D4"/>
                </a:solidFill>
                <a:latin typeface="Consolas"/>
              </a:rPr>
              <a:t>    T compute(</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TagSet2</a:t>
            </a:r>
            <a:r>
              <a:rPr sz="1250" dirty="0">
                <a:solidFill>
                  <a:srgbClr val="D4D4D4"/>
                </a:solidFill>
                <a:latin typeface="Consolas"/>
              </a:rPr>
              <a:t>::Force,</a:t>
            </a:r>
          </a:p>
          <a:p>
            <a:pPr>
              <a:spcAft>
                <a:spcPts val="100"/>
              </a:spcAft>
            </a:pPr>
            <a:r>
              <a:rPr sz="1250" dirty="0">
                <a:solidFill>
                  <a:srgbClr val="D4D4D4"/>
                </a:solidFill>
                <a:latin typeface="Consolas"/>
              </a:rPr>
              <a:t>              std::span&lt;</a:t>
            </a:r>
            <a:r>
              <a:rPr sz="1250" dirty="0">
                <a:solidFill>
                  <a:srgbClr val="569CD6"/>
                </a:solidFill>
                <a:latin typeface="Consolas"/>
              </a:rPr>
              <a:t>const</a:t>
            </a:r>
            <a:r>
              <a:rPr sz="1250" dirty="0">
                <a:solidFill>
                  <a:srgbClr val="D4D4D4"/>
                </a:solidFill>
                <a:latin typeface="Consolas"/>
              </a:rPr>
              <a:t> T&gt; state, </a:t>
            </a:r>
            <a:r>
              <a:rPr sz="1250" dirty="0">
                <a:solidFill>
                  <a:srgbClr val="569CD6"/>
                </a:solidFill>
                <a:latin typeface="Consolas"/>
              </a:rPr>
              <a:t>const</a:t>
            </a:r>
            <a:r>
              <a:rPr sz="1250" dirty="0">
                <a:solidFill>
                  <a:srgbClr val="D4D4D4"/>
                </a:solidFill>
                <a:latin typeface="Consolas"/>
              </a:rPr>
              <a:t> Registry&amp; reg) </a:t>
            </a:r>
            <a:r>
              <a:rPr sz="1250" dirty="0">
                <a:solidFill>
                  <a:srgbClr val="569CD6"/>
                </a:solidFill>
                <a:latin typeface="Consolas"/>
              </a:rPr>
              <a:t>const</a:t>
            </a:r>
            <a:r>
              <a:rPr sz="1250" dirty="0">
                <a:solidFill>
                  <a:srgbClr val="D4D4D4"/>
                </a:solidFill>
                <a:latin typeface="Consolas"/>
              </a:rPr>
              <a:t> {</a:t>
            </a:r>
          </a:p>
          <a:p>
            <a:pPr>
              <a:spcAft>
                <a:spcPts val="100"/>
              </a:spcAft>
            </a:pPr>
            <a:r>
              <a:rPr sz="1250" dirty="0">
                <a:solidFill>
                  <a:srgbClr val="D4D4D4"/>
                </a:solidFill>
                <a:latin typeface="Consolas"/>
              </a:rPr>
              <a:t>        </a:t>
            </a:r>
            <a:r>
              <a:rPr sz="1250" dirty="0">
                <a:solidFill>
                  <a:srgbClr val="569CD6"/>
                </a:solidFill>
                <a:latin typeface="Consolas"/>
              </a:rPr>
              <a:t>return</a:t>
            </a:r>
            <a:r>
              <a:rPr sz="1250" dirty="0">
                <a:solidFill>
                  <a:srgbClr val="D4D4D4"/>
                </a:solidFill>
                <a:latin typeface="Consolas"/>
              </a:rPr>
              <a:t> -compute(</a:t>
            </a:r>
            <a:r>
              <a:rPr sz="1250" dirty="0" err="1">
                <a:solidFill>
                  <a:srgbClr val="569CD6"/>
                </a:solidFill>
                <a:latin typeface="Consolas"/>
              </a:rPr>
              <a:t>typename</a:t>
            </a:r>
            <a:r>
              <a:rPr sz="1250" dirty="0">
                <a:solidFill>
                  <a:srgbClr val="D4D4D4"/>
                </a:solidFill>
                <a:latin typeface="Consolas"/>
              </a:rPr>
              <a:t> </a:t>
            </a:r>
            <a:r>
              <a:rPr sz="1250" dirty="0">
                <a:solidFill>
                  <a:srgbClr val="4EC9B0"/>
                </a:solidFill>
                <a:latin typeface="Consolas"/>
              </a:rPr>
              <a:t>TagSet1</a:t>
            </a:r>
            <a:r>
              <a:rPr sz="1250" dirty="0">
                <a:solidFill>
                  <a:srgbClr val="D4D4D4"/>
                </a:solidFill>
                <a:latin typeface="Consolas"/>
              </a:rPr>
              <a:t>::Force{}, state, reg);  </a:t>
            </a:r>
            <a:r>
              <a:rPr sz="1250" dirty="0">
                <a:solidFill>
                  <a:srgbClr val="6A9955"/>
                </a:solidFill>
                <a:latin typeface="Consolas"/>
              </a:rPr>
              <a:t>// Newton's 3rd</a:t>
            </a:r>
          </a:p>
          <a:p>
            <a:pPr>
              <a:spcAft>
                <a:spcPts val="100"/>
              </a:spcAft>
            </a:pPr>
            <a:r>
              <a:rPr sz="1250" dirty="0">
                <a:solidFill>
                  <a:srgbClr val="D4D4D4"/>
                </a:solidFill>
                <a:latin typeface="Consolas"/>
              </a:rPr>
              <a:t>    }</a:t>
            </a:r>
          </a:p>
          <a:p>
            <a:pPr>
              <a:spcAft>
                <a:spcPts val="100"/>
              </a:spcAft>
            </a:pPr>
            <a:r>
              <a:rPr sz="125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1124712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10788957" cy="3059812"/>
          </a:xfrm>
          <a:prstGeom prst="rect">
            <a:avLst/>
          </a:prstGeom>
          <a:noFill/>
        </p:spPr>
        <p:txBody>
          <a:bodyPr wrap="square">
            <a:spAutoFit/>
          </a:bodyPr>
          <a:lstStyle/>
          <a:p>
            <a:pPr>
              <a:spcAft>
                <a:spcPts val="100"/>
              </a:spcAft>
            </a:pPr>
            <a:r>
              <a:rPr sz="1300" dirty="0">
                <a:solidFill>
                  <a:srgbClr val="569CD6"/>
                </a:solidFill>
                <a:latin typeface="Consolas"/>
              </a:rPr>
              <a:t>template</a:t>
            </a:r>
            <a:r>
              <a:rPr sz="1300" dirty="0">
                <a:solidFill>
                  <a:srgbClr val="D4D4D4"/>
                </a:solidFill>
                <a:latin typeface="Consolas"/>
              </a:rPr>
              <a:t>&lt;Scalar T = </a:t>
            </a:r>
            <a:r>
              <a:rPr sz="1300" dirty="0">
                <a:solidFill>
                  <a:srgbClr val="4EC9B0"/>
                </a:solidFill>
                <a:latin typeface="Consolas"/>
              </a:rPr>
              <a:t>double</a:t>
            </a:r>
            <a:r>
              <a:rPr sz="1300" dirty="0">
                <a:solidFill>
                  <a:srgbClr val="D4D4D4"/>
                </a:solidFill>
                <a:latin typeface="Consolas"/>
              </a:rPr>
              <a:t>&gt;</a:t>
            </a:r>
          </a:p>
          <a:p>
            <a:pPr>
              <a:spcAft>
                <a:spcPts val="100"/>
              </a:spcAft>
            </a:pPr>
            <a:r>
              <a:rPr sz="1300" dirty="0">
                <a:solidFill>
                  <a:srgbClr val="569CD6"/>
                </a:solidFill>
                <a:latin typeface="Consolas"/>
              </a:rPr>
              <a:t>class</a:t>
            </a:r>
            <a:r>
              <a:rPr sz="1300" dirty="0">
                <a:solidFill>
                  <a:srgbClr val="D4D4D4"/>
                </a:solidFill>
                <a:latin typeface="Consolas"/>
              </a:rPr>
              <a:t> </a:t>
            </a:r>
            <a:r>
              <a:rPr sz="1300" dirty="0" err="1">
                <a:solidFill>
                  <a:srgbClr val="4EC9B0"/>
                </a:solidFill>
                <a:latin typeface="Consolas"/>
              </a:rPr>
              <a:t>EnergyMonitor</a:t>
            </a:r>
            <a:r>
              <a:rPr sz="1300" dirty="0">
                <a:solidFill>
                  <a:srgbClr val="D4D4D4"/>
                </a:solidFill>
                <a:latin typeface="Consolas"/>
              </a:rPr>
              <a:t> </a:t>
            </a:r>
            <a:r>
              <a:rPr sz="1300" dirty="0">
                <a:solidFill>
                  <a:srgbClr val="569CD6"/>
                </a:solidFill>
                <a:latin typeface="Consolas"/>
              </a:rPr>
              <a:t>final</a:t>
            </a:r>
            <a:r>
              <a:rPr sz="1300" dirty="0">
                <a:solidFill>
                  <a:srgbClr val="D4D4D4"/>
                </a:solidFill>
                <a:latin typeface="Consolas"/>
              </a:rPr>
              <a:t> : </a:t>
            </a:r>
            <a:r>
              <a:rPr sz="1300" dirty="0">
                <a:solidFill>
                  <a:srgbClr val="569CD6"/>
                </a:solidFill>
                <a:latin typeface="Consolas"/>
              </a:rPr>
              <a:t>public</a:t>
            </a:r>
            <a:r>
              <a:rPr sz="1300" dirty="0">
                <a:solidFill>
                  <a:srgbClr val="D4D4D4"/>
                </a:solidFill>
                <a:latin typeface="Consolas"/>
              </a:rPr>
              <a:t> </a:t>
            </a:r>
            <a:r>
              <a:rPr sz="1300" dirty="0" err="1">
                <a:solidFill>
                  <a:srgbClr val="D4D4D4"/>
                </a:solidFill>
                <a:latin typeface="Consolas"/>
              </a:rPr>
              <a:t>TypedComponent</a:t>
            </a:r>
            <a:r>
              <a:rPr sz="1300" dirty="0">
                <a:solidFill>
                  <a:srgbClr val="D4D4D4"/>
                </a:solidFill>
                <a:latin typeface="Consolas"/>
              </a:rPr>
              <a:t>&lt;</a:t>
            </a:r>
            <a:r>
              <a:rPr sz="1300" dirty="0">
                <a:solidFill>
                  <a:srgbClr val="B5CEA8"/>
                </a:solidFill>
                <a:latin typeface="Consolas"/>
              </a:rPr>
              <a:t>0</a:t>
            </a:r>
            <a:r>
              <a:rPr sz="1300" dirty="0">
                <a:solidFill>
                  <a:srgbClr val="D4D4D4"/>
                </a:solidFill>
                <a:latin typeface="Consolas"/>
              </a:rPr>
              <a:t>, T&gt; {</a:t>
            </a:r>
          </a:p>
          <a:p>
            <a:pPr>
              <a:spcAft>
                <a:spcPts val="100"/>
              </a:spcAft>
            </a:pPr>
            <a:r>
              <a:rPr sz="1300" dirty="0">
                <a:solidFill>
                  <a:srgbClr val="569CD6"/>
                </a:solidFill>
                <a:latin typeface="Consolas"/>
              </a:rPr>
              <a:t>public</a:t>
            </a:r>
            <a:r>
              <a:rPr sz="1300" dirty="0">
                <a:solidFill>
                  <a:srgbClr val="D4D4D4"/>
                </a:solidFill>
                <a:latin typeface="Consolas"/>
              </a:rPr>
              <a:t>:</a:t>
            </a:r>
          </a:p>
          <a:p>
            <a:pPr>
              <a:spcAft>
                <a:spcPts val="100"/>
              </a:spcAft>
            </a:pPr>
            <a:r>
              <a:rPr sz="1300" dirty="0">
                <a:solidFill>
                  <a:srgbClr val="D4D4D4"/>
                </a:solidFill>
                <a:latin typeface="Consolas"/>
              </a:rPr>
              <a:t>    </a:t>
            </a:r>
            <a:r>
              <a:rPr sz="1300" dirty="0">
                <a:solidFill>
                  <a:srgbClr val="569CD6"/>
                </a:solidFill>
                <a:latin typeface="Consolas"/>
              </a:rPr>
              <a:t>template</a:t>
            </a:r>
            <a:r>
              <a:rPr sz="1300" dirty="0">
                <a:solidFill>
                  <a:srgbClr val="D4D4D4"/>
                </a:solidFill>
                <a:latin typeface="Consolas"/>
              </a:rPr>
              <a:t>&lt;</a:t>
            </a:r>
            <a:r>
              <a:rPr sz="1300" dirty="0" err="1">
                <a:solidFill>
                  <a:srgbClr val="569CD6"/>
                </a:solidFill>
                <a:latin typeface="Consolas"/>
              </a:rPr>
              <a:t>typename</a:t>
            </a:r>
            <a:r>
              <a:rPr sz="1300" dirty="0">
                <a:solidFill>
                  <a:srgbClr val="D4D4D4"/>
                </a:solidFill>
                <a:latin typeface="Consolas"/>
              </a:rPr>
              <a:t> </a:t>
            </a:r>
            <a:r>
              <a:rPr sz="1300" dirty="0">
                <a:solidFill>
                  <a:srgbClr val="4EC9B0"/>
                </a:solidFill>
                <a:latin typeface="Consolas"/>
              </a:rPr>
              <a:t>Registry</a:t>
            </a:r>
            <a:r>
              <a:rPr sz="1300" dirty="0">
                <a:solidFill>
                  <a:srgbClr val="D4D4D4"/>
                </a:solidFill>
                <a:latin typeface="Consolas"/>
              </a:rPr>
              <a:t>&gt;</a:t>
            </a:r>
          </a:p>
          <a:p>
            <a:pPr>
              <a:spcAft>
                <a:spcPts val="100"/>
              </a:spcAft>
            </a:pPr>
            <a:r>
              <a:rPr sz="1300" dirty="0">
                <a:solidFill>
                  <a:srgbClr val="D4D4D4"/>
                </a:solidFill>
                <a:latin typeface="Consolas"/>
              </a:rPr>
              <a:t>    T compute(system::</a:t>
            </a:r>
            <a:r>
              <a:rPr sz="1300" dirty="0" err="1">
                <a:solidFill>
                  <a:srgbClr val="D4D4D4"/>
                </a:solidFill>
                <a:latin typeface="Consolas"/>
              </a:rPr>
              <a:t>TotalEnergy</a:t>
            </a:r>
            <a:r>
              <a:rPr sz="1300" dirty="0">
                <a:solidFill>
                  <a:srgbClr val="D4D4D4"/>
                </a:solidFill>
                <a:latin typeface="Consolas"/>
              </a:rPr>
              <a:t>,</a:t>
            </a:r>
          </a:p>
          <a:p>
            <a:pPr>
              <a:spcAft>
                <a:spcPts val="100"/>
              </a:spcAft>
            </a:pPr>
            <a:r>
              <a:rPr sz="1300" dirty="0">
                <a:solidFill>
                  <a:srgbClr val="D4D4D4"/>
                </a:solidFill>
                <a:latin typeface="Consolas"/>
              </a:rPr>
              <a:t>              std::span&lt;</a:t>
            </a:r>
            <a:r>
              <a:rPr sz="1300" dirty="0">
                <a:solidFill>
                  <a:srgbClr val="569CD6"/>
                </a:solidFill>
                <a:latin typeface="Consolas"/>
              </a:rPr>
              <a:t>const</a:t>
            </a:r>
            <a:r>
              <a:rPr sz="1300" dirty="0">
                <a:solidFill>
                  <a:srgbClr val="D4D4D4"/>
                </a:solidFill>
                <a:latin typeface="Consolas"/>
              </a:rPr>
              <a:t> T&gt; state, </a:t>
            </a:r>
            <a:r>
              <a:rPr sz="1300" dirty="0">
                <a:solidFill>
                  <a:srgbClr val="569CD6"/>
                </a:solidFill>
                <a:latin typeface="Consolas"/>
              </a:rPr>
              <a:t>const</a:t>
            </a:r>
            <a:r>
              <a:rPr sz="1300" dirty="0">
                <a:solidFill>
                  <a:srgbClr val="D4D4D4"/>
                </a:solidFill>
                <a:latin typeface="Consolas"/>
              </a:rPr>
              <a:t> Registry&amp; registry) </a:t>
            </a:r>
            <a:r>
              <a:rPr sz="1300" dirty="0">
                <a:solidFill>
                  <a:srgbClr val="569CD6"/>
                </a:solidFill>
                <a:latin typeface="Consolas"/>
              </a:rPr>
              <a:t>const</a:t>
            </a:r>
            <a:r>
              <a:rPr sz="1300" dirty="0">
                <a:solidFill>
                  <a:srgbClr val="D4D4D4"/>
                </a:solidFill>
                <a:latin typeface="Consolas"/>
              </a:rPr>
              <a:t> {</a:t>
            </a:r>
          </a:p>
          <a:p>
            <a:pPr>
              <a:spcAft>
                <a:spcPts val="100"/>
              </a:spcAft>
            </a:pPr>
            <a:r>
              <a:rPr sz="1300" dirty="0">
                <a:solidFill>
                  <a:srgbClr val="D4D4D4"/>
                </a:solidFill>
                <a:latin typeface="Consolas"/>
              </a:rPr>
              <a:t>        T m1 = </a:t>
            </a:r>
            <a:r>
              <a:rPr sz="1300" dirty="0" err="1">
                <a:solidFill>
                  <a:srgbClr val="D4D4D4"/>
                </a:solidFill>
                <a:latin typeface="Consolas"/>
              </a:rPr>
              <a:t>registry.</a:t>
            </a:r>
            <a:r>
              <a:rPr sz="1300" dirty="0" err="1">
                <a:solidFill>
                  <a:srgbClr val="569CD6"/>
                </a:solidFill>
                <a:latin typeface="Consolas"/>
              </a:rPr>
              <a:t>template</a:t>
            </a:r>
            <a:r>
              <a:rPr sz="1300" dirty="0">
                <a:solidFill>
                  <a:srgbClr val="D4D4D4"/>
                </a:solidFill>
                <a:latin typeface="Consolas"/>
              </a:rPr>
              <a:t> </a:t>
            </a:r>
            <a:r>
              <a:rPr sz="1300" dirty="0" err="1">
                <a:solidFill>
                  <a:srgbClr val="D4D4D4"/>
                </a:solidFill>
                <a:latin typeface="Consolas"/>
              </a:rPr>
              <a:t>computeFunction</a:t>
            </a:r>
            <a:r>
              <a:rPr sz="1300" dirty="0">
                <a:solidFill>
                  <a:srgbClr val="D4D4D4"/>
                </a:solidFill>
                <a:latin typeface="Consolas"/>
              </a:rPr>
              <a:t>&lt;mass1::Mass&gt;(state);</a:t>
            </a:r>
          </a:p>
          <a:p>
            <a:pPr>
              <a:spcAft>
                <a:spcPts val="100"/>
              </a:spcAft>
            </a:pPr>
            <a:r>
              <a:rPr sz="1300" dirty="0">
                <a:solidFill>
                  <a:srgbClr val="D4D4D4"/>
                </a:solidFill>
                <a:latin typeface="Consolas"/>
              </a:rPr>
              <a:t>        T v1 = </a:t>
            </a:r>
            <a:r>
              <a:rPr sz="1300" dirty="0" err="1">
                <a:solidFill>
                  <a:srgbClr val="D4D4D4"/>
                </a:solidFill>
                <a:latin typeface="Consolas"/>
              </a:rPr>
              <a:t>registry.</a:t>
            </a:r>
            <a:r>
              <a:rPr sz="1300" dirty="0" err="1">
                <a:solidFill>
                  <a:srgbClr val="569CD6"/>
                </a:solidFill>
                <a:latin typeface="Consolas"/>
              </a:rPr>
              <a:t>template</a:t>
            </a:r>
            <a:r>
              <a:rPr sz="1300" dirty="0">
                <a:solidFill>
                  <a:srgbClr val="D4D4D4"/>
                </a:solidFill>
                <a:latin typeface="Consolas"/>
              </a:rPr>
              <a:t> </a:t>
            </a:r>
            <a:r>
              <a:rPr sz="1300" dirty="0" err="1">
                <a:solidFill>
                  <a:srgbClr val="D4D4D4"/>
                </a:solidFill>
                <a:latin typeface="Consolas"/>
              </a:rPr>
              <a:t>computeFunction</a:t>
            </a:r>
            <a:r>
              <a:rPr sz="1300" dirty="0">
                <a:solidFill>
                  <a:srgbClr val="D4D4D4"/>
                </a:solidFill>
                <a:latin typeface="Consolas"/>
              </a:rPr>
              <a:t>&lt;mass1::Velocity&gt;(state);</a:t>
            </a:r>
          </a:p>
          <a:p>
            <a:pPr>
              <a:spcAft>
                <a:spcPts val="100"/>
              </a:spcAft>
            </a:pPr>
            <a:r>
              <a:rPr sz="1300" dirty="0">
                <a:solidFill>
                  <a:srgbClr val="D4D4D4"/>
                </a:solidFill>
                <a:latin typeface="Consolas"/>
              </a:rPr>
              <a:t>        T m2 = </a:t>
            </a:r>
            <a:r>
              <a:rPr sz="1300" dirty="0" err="1">
                <a:solidFill>
                  <a:srgbClr val="D4D4D4"/>
                </a:solidFill>
                <a:latin typeface="Consolas"/>
              </a:rPr>
              <a:t>registry.</a:t>
            </a:r>
            <a:r>
              <a:rPr sz="1300" dirty="0" err="1">
                <a:solidFill>
                  <a:srgbClr val="569CD6"/>
                </a:solidFill>
                <a:latin typeface="Consolas"/>
              </a:rPr>
              <a:t>template</a:t>
            </a:r>
            <a:r>
              <a:rPr sz="1300" dirty="0">
                <a:solidFill>
                  <a:srgbClr val="D4D4D4"/>
                </a:solidFill>
                <a:latin typeface="Consolas"/>
              </a:rPr>
              <a:t> </a:t>
            </a:r>
            <a:r>
              <a:rPr sz="1300" dirty="0" err="1">
                <a:solidFill>
                  <a:srgbClr val="D4D4D4"/>
                </a:solidFill>
                <a:latin typeface="Consolas"/>
              </a:rPr>
              <a:t>computeFunction</a:t>
            </a:r>
            <a:r>
              <a:rPr sz="1300" dirty="0">
                <a:solidFill>
                  <a:srgbClr val="D4D4D4"/>
                </a:solidFill>
                <a:latin typeface="Consolas"/>
              </a:rPr>
              <a:t>&lt;mass2::Mass&gt;(state);</a:t>
            </a:r>
          </a:p>
          <a:p>
            <a:pPr>
              <a:spcAft>
                <a:spcPts val="100"/>
              </a:spcAft>
            </a:pPr>
            <a:r>
              <a:rPr sz="1300" dirty="0">
                <a:solidFill>
                  <a:srgbClr val="D4D4D4"/>
                </a:solidFill>
                <a:latin typeface="Consolas"/>
              </a:rPr>
              <a:t>        T v2 = </a:t>
            </a:r>
            <a:r>
              <a:rPr sz="1300" dirty="0" err="1">
                <a:solidFill>
                  <a:srgbClr val="D4D4D4"/>
                </a:solidFill>
                <a:latin typeface="Consolas"/>
              </a:rPr>
              <a:t>registry.</a:t>
            </a:r>
            <a:r>
              <a:rPr sz="1300" dirty="0" err="1">
                <a:solidFill>
                  <a:srgbClr val="569CD6"/>
                </a:solidFill>
                <a:latin typeface="Consolas"/>
              </a:rPr>
              <a:t>template</a:t>
            </a:r>
            <a:r>
              <a:rPr sz="1300" dirty="0">
                <a:solidFill>
                  <a:srgbClr val="D4D4D4"/>
                </a:solidFill>
                <a:latin typeface="Consolas"/>
              </a:rPr>
              <a:t> </a:t>
            </a:r>
            <a:r>
              <a:rPr sz="1300" dirty="0" err="1">
                <a:solidFill>
                  <a:srgbClr val="D4D4D4"/>
                </a:solidFill>
                <a:latin typeface="Consolas"/>
              </a:rPr>
              <a:t>computeFunction</a:t>
            </a:r>
            <a:r>
              <a:rPr sz="1300" dirty="0">
                <a:solidFill>
                  <a:srgbClr val="D4D4D4"/>
                </a:solidFill>
                <a:latin typeface="Consolas"/>
              </a:rPr>
              <a:t>&lt;mass2::Velocity&gt;(state);</a:t>
            </a:r>
          </a:p>
          <a:p>
            <a:pPr>
              <a:spcAft>
                <a:spcPts val="100"/>
              </a:spcAft>
            </a:pPr>
            <a:r>
              <a:rPr sz="1300" dirty="0">
                <a:solidFill>
                  <a:srgbClr val="D4D4D4"/>
                </a:solidFill>
                <a:latin typeface="Consolas"/>
              </a:rPr>
              <a:t>        T pe = </a:t>
            </a:r>
            <a:r>
              <a:rPr sz="1300" dirty="0" err="1">
                <a:solidFill>
                  <a:srgbClr val="D4D4D4"/>
                </a:solidFill>
                <a:latin typeface="Consolas"/>
              </a:rPr>
              <a:t>registry.</a:t>
            </a:r>
            <a:r>
              <a:rPr sz="1300" dirty="0" err="1">
                <a:solidFill>
                  <a:srgbClr val="569CD6"/>
                </a:solidFill>
                <a:latin typeface="Consolas"/>
              </a:rPr>
              <a:t>template</a:t>
            </a:r>
            <a:r>
              <a:rPr sz="1300" dirty="0">
                <a:solidFill>
                  <a:srgbClr val="D4D4D4"/>
                </a:solidFill>
                <a:latin typeface="Consolas"/>
              </a:rPr>
              <a:t> </a:t>
            </a:r>
            <a:r>
              <a:rPr sz="1300" dirty="0" err="1">
                <a:solidFill>
                  <a:srgbClr val="D4D4D4"/>
                </a:solidFill>
                <a:latin typeface="Consolas"/>
              </a:rPr>
              <a:t>computeFunction</a:t>
            </a:r>
            <a:r>
              <a:rPr sz="1300" dirty="0">
                <a:solidFill>
                  <a:srgbClr val="D4D4D4"/>
                </a:solidFill>
                <a:latin typeface="Consolas"/>
              </a:rPr>
              <a:t>&lt;spring::</a:t>
            </a:r>
            <a:r>
              <a:rPr sz="1300" dirty="0" err="1">
                <a:solidFill>
                  <a:srgbClr val="D4D4D4"/>
                </a:solidFill>
                <a:latin typeface="Consolas"/>
              </a:rPr>
              <a:t>PotentialEnergy</a:t>
            </a:r>
            <a:r>
              <a:rPr sz="1300" dirty="0">
                <a:solidFill>
                  <a:srgbClr val="D4D4D4"/>
                </a:solidFill>
                <a:latin typeface="Consolas"/>
              </a:rPr>
              <a:t>&gt;(state);</a:t>
            </a:r>
          </a:p>
          <a:p>
            <a:pPr>
              <a:spcAft>
                <a:spcPts val="100"/>
              </a:spcAft>
            </a:pPr>
            <a:r>
              <a:rPr sz="1300" dirty="0">
                <a:solidFill>
                  <a:srgbClr val="D4D4D4"/>
                </a:solidFill>
                <a:latin typeface="Consolas"/>
              </a:rPr>
              <a:t>        </a:t>
            </a:r>
            <a:r>
              <a:rPr sz="1300" dirty="0">
                <a:solidFill>
                  <a:srgbClr val="569CD6"/>
                </a:solidFill>
                <a:latin typeface="Consolas"/>
              </a:rPr>
              <a:t>return</a:t>
            </a:r>
            <a:r>
              <a:rPr sz="1300" dirty="0">
                <a:solidFill>
                  <a:srgbClr val="D4D4D4"/>
                </a:solidFill>
                <a:latin typeface="Consolas"/>
              </a:rPr>
              <a:t> T(</a:t>
            </a:r>
            <a:r>
              <a:rPr sz="1300" dirty="0">
                <a:solidFill>
                  <a:srgbClr val="B5CEA8"/>
                </a:solidFill>
                <a:latin typeface="Consolas"/>
              </a:rPr>
              <a:t>0.5</a:t>
            </a:r>
            <a:r>
              <a:rPr sz="1300" dirty="0">
                <a:solidFill>
                  <a:srgbClr val="D4D4D4"/>
                </a:solidFill>
                <a:latin typeface="Consolas"/>
              </a:rPr>
              <a:t>)*m1*v1*v1 + T(</a:t>
            </a:r>
            <a:r>
              <a:rPr sz="1300" dirty="0">
                <a:solidFill>
                  <a:srgbClr val="B5CEA8"/>
                </a:solidFill>
                <a:latin typeface="Consolas"/>
              </a:rPr>
              <a:t>0.5</a:t>
            </a:r>
            <a:r>
              <a:rPr sz="1300" dirty="0">
                <a:solidFill>
                  <a:srgbClr val="D4D4D4"/>
                </a:solidFill>
                <a:latin typeface="Consolas"/>
              </a:rPr>
              <a:t>)*m2*v2*v2 + pe;</a:t>
            </a:r>
          </a:p>
          <a:p>
            <a:pPr>
              <a:spcAft>
                <a:spcPts val="100"/>
              </a:spcAft>
            </a:pPr>
            <a:r>
              <a:rPr sz="1300" dirty="0">
                <a:solidFill>
                  <a:srgbClr val="D4D4D4"/>
                </a:solidFill>
                <a:latin typeface="Consolas"/>
              </a:rPr>
              <a:t>    }</a:t>
            </a:r>
          </a:p>
          <a:p>
            <a:pPr>
              <a:spcAft>
                <a:spcPts val="100"/>
              </a:spcAft>
            </a:pPr>
            <a:r>
              <a:rPr sz="13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1124712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10827459" cy="3503523"/>
          </a:xfrm>
          <a:prstGeom prst="rect">
            <a:avLst/>
          </a:prstGeom>
          <a:noFill/>
        </p:spPr>
        <p:txBody>
          <a:bodyPr wrap="square">
            <a:spAutoFit/>
          </a:bodyPr>
          <a:lstStyle/>
          <a:p>
            <a:pPr>
              <a:spcAft>
                <a:spcPts val="100"/>
              </a:spcAft>
            </a:pPr>
            <a:r>
              <a:rPr sz="1400">
                <a:solidFill>
                  <a:srgbClr val="569CD6"/>
                </a:solidFill>
                <a:latin typeface="Consolas"/>
              </a:rPr>
              <a:t>auto</a:t>
            </a:r>
            <a:r>
              <a:rPr sz="1400">
                <a:solidFill>
                  <a:srgbClr val="D4D4D4"/>
                </a:solidFill>
                <a:latin typeface="Consolas"/>
              </a:rPr>
              <a:t> sys = makeTypedODESystem&lt;</a:t>
            </a:r>
            <a:r>
              <a:rPr sz="1400">
                <a:solidFill>
                  <a:srgbClr val="4EC9B0"/>
                </a:solidFill>
                <a:latin typeface="Consolas"/>
              </a:rPr>
              <a:t>double</a:t>
            </a:r>
            <a:r>
              <a:rPr sz="1400">
                <a:solidFill>
                  <a:srgbClr val="D4D4D4"/>
                </a:solidFill>
                <a:latin typeface="Consolas"/>
              </a:rPr>
              <a:t>&gt;(</a:t>
            </a:r>
          </a:p>
          <a:p>
            <a:pPr>
              <a:spcAft>
                <a:spcPts val="100"/>
              </a:spcAft>
            </a:pPr>
            <a:r>
              <a:rPr sz="1400">
                <a:solidFill>
                  <a:srgbClr val="D4D4D4"/>
                </a:solidFill>
                <a:latin typeface="Consolas"/>
              </a:rPr>
              <a:t>    Mass1&lt;</a:t>
            </a:r>
            <a:r>
              <a:rPr sz="1400">
                <a:solidFill>
                  <a:srgbClr val="4EC9B0"/>
                </a:solidFill>
                <a:latin typeface="Consolas"/>
              </a:rPr>
              <a:t>double</a:t>
            </a:r>
            <a:r>
              <a:rPr sz="1400">
                <a:solidFill>
                  <a:srgbClr val="D4D4D4"/>
                </a:solidFill>
                <a:latin typeface="Consolas"/>
              </a:rPr>
              <a:t>&gt;(</a:t>
            </a:r>
            <a:r>
              <a:rPr sz="1400">
                <a:solidFill>
                  <a:srgbClr val="B5CEA8"/>
                </a:solidFill>
                <a:latin typeface="Consolas"/>
              </a:rPr>
              <a:t>1.0</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p>
          <a:p>
            <a:pPr>
              <a:spcAft>
                <a:spcPts val="100"/>
              </a:spcAft>
            </a:pPr>
            <a:r>
              <a:rPr sz="1400">
                <a:solidFill>
                  <a:srgbClr val="D4D4D4"/>
                </a:solidFill>
                <a:latin typeface="Consolas"/>
              </a:rPr>
              <a:t>    Mass2&lt;</a:t>
            </a:r>
            <a:r>
              <a:rPr sz="1400">
                <a:solidFill>
                  <a:srgbClr val="4EC9B0"/>
                </a:solidFill>
                <a:latin typeface="Consolas"/>
              </a:rPr>
              <a:t>double</a:t>
            </a:r>
            <a:r>
              <a:rPr sz="1400">
                <a:solidFill>
                  <a:srgbClr val="D4D4D4"/>
                </a:solidFill>
                <a:latin typeface="Consolas"/>
              </a:rPr>
              <a:t>&gt;(</a:t>
            </a:r>
            <a:r>
              <a:rPr sz="1400">
                <a:solidFill>
                  <a:srgbClr val="B5CEA8"/>
                </a:solidFill>
                <a:latin typeface="Consolas"/>
              </a:rPr>
              <a:t>1.0</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p>
          <a:p>
            <a:pPr>
              <a:spcAft>
                <a:spcPts val="100"/>
              </a:spcAft>
            </a:pPr>
            <a:r>
              <a:rPr sz="1400">
                <a:solidFill>
                  <a:srgbClr val="D4D4D4"/>
                </a:solidFill>
                <a:latin typeface="Consolas"/>
              </a:rPr>
              <a:t>    Spring12&lt;</a:t>
            </a:r>
            <a:r>
              <a:rPr sz="1400">
                <a:solidFill>
                  <a:srgbClr val="4EC9B0"/>
                </a:solidFill>
                <a:latin typeface="Consolas"/>
              </a:rPr>
              <a:t>double</a:t>
            </a:r>
            <a:r>
              <a:rPr sz="1400">
                <a:solidFill>
                  <a:srgbClr val="D4D4D4"/>
                </a:solidFill>
                <a:latin typeface="Consolas"/>
              </a:rPr>
              <a:t>&gt;(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p>
          <a:p>
            <a:pPr>
              <a:spcAft>
                <a:spcPts val="100"/>
              </a:spcAft>
            </a:pPr>
            <a:r>
              <a:rPr sz="1400">
                <a:solidFill>
                  <a:srgbClr val="D4D4D4"/>
                </a:solidFill>
                <a:latin typeface="Consolas"/>
              </a:rPr>
              <a:t>    EnergyMonitor&lt;</a:t>
            </a:r>
            <a:r>
              <a:rPr sz="1400">
                <a:solidFill>
                  <a:srgbClr val="4EC9B0"/>
                </a:solidFill>
                <a:latin typeface="Consolas"/>
              </a:rPr>
              <a:t>double</a:t>
            </a:r>
            <a:r>
              <a:rPr sz="1400">
                <a:solidFill>
                  <a:srgbClr val="D4D4D4"/>
                </a:solidFill>
                <a:latin typeface="Consolas"/>
              </a:rPr>
              <a:t>&gt;()</a:t>
            </a:r>
          </a:p>
          <a:p>
            <a:pPr>
              <a:spcAft>
                <a:spcPts val="100"/>
              </a:spcAft>
            </a:pP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F2C744"/>
                </a:solidFill>
                <a:latin typeface="Consolas"/>
              </a:rPr>
              <a:t>// the wiring is CHECKED at compile time:</a:t>
            </a:r>
          </a:p>
          <a:p>
            <a:pPr>
              <a:spcAft>
                <a:spcPts val="100"/>
              </a:spcAft>
            </a:pPr>
            <a:r>
              <a:rPr sz="1400" b="1">
                <a:solidFill>
                  <a:srgbClr val="F2C744"/>
                </a:solidFill>
                <a:latin typeface="Consolas"/>
              </a:rPr>
              <a:t>static_assert(decltype(sys)::hasFunction&lt;system::TotalEnergy&gt;());</a:t>
            </a:r>
          </a:p>
          <a:p>
            <a:pPr>
              <a:spcAft>
                <a:spcPts val="100"/>
              </a:spcAft>
            </a:pPr>
            <a:r>
              <a:rPr sz="1400">
                <a:latin typeface="Consolas"/>
              </a:rPr>
              <a:t> </a:t>
            </a:r>
          </a:p>
          <a:p>
            <a:pPr>
              <a:spcAft>
                <a:spcPts val="100"/>
              </a:spcAft>
            </a:pPr>
            <a:r>
              <a:rPr sz="1400">
                <a:solidFill>
                  <a:srgbClr val="D4D4D4"/>
                </a:solidFill>
                <a:latin typeface="Consolas"/>
              </a:rPr>
              <a:t>RK4Solver solver;</a:t>
            </a:r>
          </a:p>
          <a:p>
            <a:pPr>
              <a:spcAft>
                <a:spcPts val="100"/>
              </a:spcAft>
            </a:pPr>
            <a:r>
              <a:rPr sz="1400">
                <a:solidFill>
                  <a:srgbClr val="569CD6"/>
                </a:solidFill>
                <a:latin typeface="Consolas"/>
              </a:rPr>
              <a:t>auto</a:t>
            </a:r>
            <a:r>
              <a:rPr sz="1400">
                <a:solidFill>
                  <a:srgbClr val="D4D4D4"/>
                </a:solidFill>
                <a:latin typeface="Consolas"/>
              </a:rPr>
              <a:t> sol = solver.solve(derivs(sys), sys.getStateDimension(),</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 sys.getInitialState());</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E = sys.computeStateFunction&lt;system::TotalEnergy&gt;(sol.states.back());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CDCAA"/>
                </a:solidFill>
                <a:latin typeface="Consolas"/>
              </a:rPr>
              <a:t>getOutput</a:t>
            </a:r>
            <a:r>
              <a:rPr sz="1500">
                <a:solidFill>
                  <a:srgbClr val="D4D4D4"/>
                </a:solidFill>
                <a:latin typeface="Consolas"/>
              </a:rPr>
              <a:t>(                    T compute(mass1::Position,</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std::string&amp; name);            std::span&lt;</a:t>
            </a:r>
            <a:r>
              <a:rPr sz="1500">
                <a:solidFill>
                  <a:srgbClr val="569CD6"/>
                </a:solidFill>
                <a:latin typeface="Consolas"/>
              </a:rPr>
              <a:t>const</a:t>
            </a:r>
            <a:r>
              <a:rPr sz="1500">
                <a:solidFill>
                  <a:srgbClr val="D4D4D4"/>
                </a:solidFill>
                <a:latin typeface="Consolas"/>
              </a:rPr>
              <a:t> T&gt; state) </a:t>
            </a:r>
            <a:r>
              <a:rPr sz="1500">
                <a:solidFill>
                  <a:srgbClr val="569CD6"/>
                </a:solidFill>
                <a:latin typeface="Consolas"/>
              </a:rPr>
              <a:t>const</a:t>
            </a:r>
            <a:r>
              <a:rPr sz="1500">
                <a:solidFill>
                  <a:srgbClr val="D4D4D4"/>
                </a:solidFill>
                <a:latin typeface="Consolas"/>
              </a:rPr>
              <a:t>;</a:t>
            </a:r>
          </a:p>
          <a:p>
            <a:pPr>
              <a:spcAft>
                <a:spcPts val="100"/>
              </a:spcAft>
            </a:pPr>
            <a:r>
              <a:rPr sz="1500">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39" y="1508760"/>
            <a:ext cx="11300059"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 </a:t>
            </a:r>
            <a:r>
              <a:rPr sz="1300">
                <a:solidFill>
                  <a:srgbClr val="569CD6"/>
                </a:solidFill>
                <a:latin typeface="Consolas"/>
              </a:rPr>
              <a:t>typename</a:t>
            </a:r>
            <a:r>
              <a:rPr sz="1300">
                <a:solidFill>
                  <a:srgbClr val="D4D4D4"/>
                </a:solidFill>
                <a:latin typeface="Consolas"/>
              </a:rPr>
              <a:t>... Components&gt;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TypedRegistry</a:t>
            </a:r>
            <a:r>
              <a:rPr sz="1300">
                <a:solidFill>
                  <a:srgbClr val="D4D4D4"/>
                </a:solidFill>
                <a:latin typeface="Consolas"/>
              </a:rPr>
              <a:t> {</a:t>
            </a:r>
          </a:p>
          <a:p>
            <a:pPr>
              <a:spcAft>
                <a:spcPts val="100"/>
              </a:spcAft>
            </a:pPr>
            <a:r>
              <a:rPr sz="1300">
                <a:solidFill>
                  <a:srgbClr val="D4D4D4"/>
                </a:solidFill>
                <a:latin typeface="Consolas"/>
              </a:rPr>
              <a:t>    std::tuple&lt;Components...&gt; m_components;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&lt;StateTagConcept Tag&gt;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hasFunction() {</a:t>
            </a:r>
          </a:p>
          <a:p>
            <a:pPr>
              <a:spcAft>
                <a:spcPts val="100"/>
              </a:spcAft>
            </a:pPr>
            <a:r>
              <a:rPr sz="1300" b="1">
                <a:solidFill>
                  <a:srgbClr val="F2C744"/>
                </a:solidFill>
                <a:latin typeface="Consolas"/>
              </a:rPr>
              <a:t>        return (TypedProvidesStateFunction&lt;Components, Tag, T&gt; || ...);</a:t>
            </a:r>
          </a:p>
          <a:p>
            <a:pPr>
              <a:spcAft>
                <a:spcPts val="100"/>
              </a:spcAft>
            </a:pPr>
            <a:r>
              <a:rPr sz="1300">
                <a:solidFill>
                  <a:srgbClr val="D4D4D4"/>
                </a:solidFill>
                <a:latin typeface="Consolas"/>
              </a:rPr>
              <a:t>    }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&lt;StateTagConcept Tag&gt;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computeFunction(std::span&lt;</a:t>
            </a:r>
            <a:r>
              <a:rPr sz="1300">
                <a:solidFill>
                  <a:srgbClr val="569CD6"/>
                </a:solidFill>
                <a:latin typeface="Consolas"/>
              </a:rPr>
              <a:t>const</a:t>
            </a:r>
            <a:r>
              <a:rPr sz="1300">
                <a:solidFill>
                  <a:srgbClr val="D4D4D4"/>
                </a:solidFill>
                <a:latin typeface="Consolas"/>
              </a:rPr>
              <a:t> T&gt; state) </a:t>
            </a:r>
            <a:r>
              <a:rPr sz="1300">
                <a:solidFill>
                  <a:srgbClr val="569CD6"/>
                </a:solidFill>
                <a:latin typeface="Consolas"/>
              </a:rPr>
              <a:t>const</a:t>
            </a:r>
            <a:r>
              <a:rPr sz="1300">
                <a:solidFill>
                  <a:srgbClr val="D4D4D4"/>
                </a:solidFill>
                <a:latin typeface="Consolas"/>
              </a:rPr>
              <a:t> {</a:t>
            </a:r>
          </a:p>
          <a:p>
            <a:pPr>
              <a:spcAft>
                <a:spcPts val="100"/>
              </a:spcAft>
            </a:pPr>
            <a:r>
              <a:rPr sz="1300" b="1">
                <a:solidFill>
                  <a:srgbClr val="F2C744"/>
                </a:solidFill>
                <a:latin typeface="Consolas"/>
              </a:rPr>
              <a:t>        static_assert(hasFunction&lt;Tag&gt;(),</a:t>
            </a:r>
          </a:p>
          <a:p>
            <a:pPr>
              <a:spcAft>
                <a:spcPts val="100"/>
              </a:spcAft>
            </a:pPr>
            <a:r>
              <a:rPr sz="1300" b="1">
                <a:solidFill>
                  <a:srgbClr val="F2C744"/>
                </a:solidFill>
                <a:latin typeface="Consolas"/>
              </a:rPr>
              <a:t>                      "No component provides this state function");</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 provider = findProvider&lt;Tag&gt;();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provider.compute(Tag{}, state, *</a:t>
            </a:r>
            <a:r>
              <a:rPr sz="1300">
                <a:solidFill>
                  <a:srgbClr val="569CD6"/>
                </a:solidFill>
                <a:latin typeface="Consolas"/>
              </a:rPr>
              <a:t>this</a:t>
            </a:r>
            <a:r>
              <a:rPr sz="1300">
                <a:solidFill>
                  <a:srgbClr val="D4D4D4"/>
                </a:solidFill>
                <a:latin typeface="Consolas"/>
              </a:rPr>
              <a:t>);</a:t>
            </a:r>
          </a:p>
          <a:p>
            <a:pPr>
              <a:spcAft>
                <a:spcPts val="100"/>
              </a:spcAft>
            </a:pPr>
            <a:r>
              <a:rPr sz="1300">
                <a:solidFill>
                  <a:srgbClr val="D4D4D4"/>
                </a:solidFill>
                <a:latin typeface="Consolas"/>
              </a:rPr>
              <a:t>    }</a:t>
            </a:r>
          </a:p>
          <a:p>
            <a:pPr>
              <a:spcAft>
                <a:spcPts val="100"/>
              </a:spcAft>
            </a:pP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59"/>
            <a:ext cx="11247120" cy="4516655"/>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671048" cy="2590453"/>
          </a:xfrm>
          <a:prstGeom prst="rect">
            <a:avLst/>
          </a:prstGeom>
          <a:noFill/>
        </p:spPr>
        <p:txBody>
          <a:bodyPr wrap="square">
            <a:spAutoFit/>
          </a:bodyPr>
          <a:lstStyle/>
          <a:p>
            <a:pPr>
              <a:spcAft>
                <a:spcPts val="100"/>
              </a:spcAft>
            </a:pPr>
            <a:r>
              <a:rPr sz="1400" dirty="0">
                <a:solidFill>
                  <a:srgbClr val="569CD6"/>
                </a:solidFill>
                <a:latin typeface="Consolas"/>
              </a:rPr>
              <a:t>template</a:t>
            </a:r>
            <a:r>
              <a:rPr sz="1400" dirty="0">
                <a:solidFill>
                  <a:srgbClr val="D4D4D4"/>
                </a:solidFill>
                <a:latin typeface="Consolas"/>
              </a:rPr>
              <a:t>&lt;</a:t>
            </a:r>
            <a:r>
              <a:rPr sz="1400" dirty="0" err="1">
                <a:solidFill>
                  <a:srgbClr val="569CD6"/>
                </a:solidFill>
                <a:latin typeface="Consolas"/>
              </a:rPr>
              <a:t>typename</a:t>
            </a:r>
            <a:r>
              <a:rPr sz="1400" dirty="0">
                <a:solidFill>
                  <a:srgbClr val="D4D4D4"/>
                </a:solidFill>
                <a:latin typeface="Consolas"/>
              </a:rPr>
              <a:t> </a:t>
            </a:r>
            <a:r>
              <a:rPr sz="1400" dirty="0">
                <a:solidFill>
                  <a:srgbClr val="4EC9B0"/>
                </a:solidFill>
                <a:latin typeface="Consolas"/>
              </a:rPr>
              <a:t>Component</a:t>
            </a:r>
            <a:r>
              <a:rPr sz="1400" dirty="0">
                <a:solidFill>
                  <a:srgbClr val="D4D4D4"/>
                </a:solidFill>
                <a:latin typeface="Consolas"/>
              </a:rPr>
              <a:t>, </a:t>
            </a:r>
            <a:r>
              <a:rPr sz="1400" dirty="0" err="1">
                <a:solidFill>
                  <a:srgbClr val="569CD6"/>
                </a:solidFill>
                <a:latin typeface="Consolas"/>
              </a:rPr>
              <a:t>typename</a:t>
            </a:r>
            <a:r>
              <a:rPr sz="1400" dirty="0">
                <a:solidFill>
                  <a:srgbClr val="D4D4D4"/>
                </a:solidFill>
                <a:latin typeface="Consolas"/>
              </a:rPr>
              <a:t> </a:t>
            </a:r>
            <a:r>
              <a:rPr sz="1400" dirty="0">
                <a:solidFill>
                  <a:srgbClr val="4EC9B0"/>
                </a:solidFill>
                <a:latin typeface="Consolas"/>
              </a:rPr>
              <a:t>Tag</a:t>
            </a:r>
            <a:r>
              <a:rPr sz="1400" dirty="0">
                <a:solidFill>
                  <a:srgbClr val="D4D4D4"/>
                </a:solidFill>
                <a:latin typeface="Consolas"/>
              </a:rPr>
              <a:t>, </a:t>
            </a:r>
            <a:r>
              <a:rPr sz="1400" dirty="0" err="1">
                <a:solidFill>
                  <a:srgbClr val="569CD6"/>
                </a:solidFill>
                <a:latin typeface="Consolas"/>
              </a:rPr>
              <a:t>typename</a:t>
            </a:r>
            <a:r>
              <a:rPr sz="1400" dirty="0">
                <a:solidFill>
                  <a:srgbClr val="D4D4D4"/>
                </a:solidFill>
                <a:latin typeface="Consolas"/>
              </a:rPr>
              <a:t> </a:t>
            </a:r>
            <a:r>
              <a:rPr sz="1400" dirty="0">
                <a:solidFill>
                  <a:srgbClr val="4EC9B0"/>
                </a:solidFill>
                <a:latin typeface="Consolas"/>
              </a:rPr>
              <a:t>T</a:t>
            </a:r>
            <a:r>
              <a:rPr sz="1400" dirty="0">
                <a:solidFill>
                  <a:srgbClr val="D4D4D4"/>
                </a:solidFill>
                <a:latin typeface="Consolas"/>
              </a:rPr>
              <a:t>&gt;</a:t>
            </a:r>
          </a:p>
          <a:p>
            <a:pPr>
              <a:spcAft>
                <a:spcPts val="100"/>
              </a:spcAft>
            </a:pPr>
            <a:r>
              <a:rPr sz="1400" dirty="0">
                <a:solidFill>
                  <a:srgbClr val="569CD6"/>
                </a:solidFill>
                <a:latin typeface="Consolas"/>
              </a:rPr>
              <a:t>concept</a:t>
            </a:r>
            <a:r>
              <a:rPr sz="1400" dirty="0">
                <a:solidFill>
                  <a:srgbClr val="D4D4D4"/>
                </a:solidFill>
                <a:latin typeface="Consolas"/>
              </a:rPr>
              <a:t> </a:t>
            </a:r>
            <a:r>
              <a:rPr sz="1400" dirty="0" err="1">
                <a:solidFill>
                  <a:srgbClr val="4EC9B0"/>
                </a:solidFill>
                <a:latin typeface="Consolas"/>
              </a:rPr>
              <a:t>TypedProvidesStateFunction</a:t>
            </a:r>
            <a:r>
              <a:rPr sz="1400" dirty="0">
                <a:solidFill>
                  <a:srgbClr val="D4D4D4"/>
                </a:solidFill>
                <a:latin typeface="Consolas"/>
              </a:rPr>
              <a:t> =</a:t>
            </a:r>
          </a:p>
          <a:p>
            <a:pPr>
              <a:spcAft>
                <a:spcPts val="100"/>
              </a:spcAft>
            </a:pPr>
            <a:r>
              <a:rPr sz="1400" dirty="0">
                <a:solidFill>
                  <a:srgbClr val="D4D4D4"/>
                </a:solidFill>
                <a:latin typeface="Consolas"/>
              </a:rPr>
              <a:t>    </a:t>
            </a:r>
            <a:r>
              <a:rPr sz="1400" dirty="0">
                <a:solidFill>
                  <a:srgbClr val="569CD6"/>
                </a:solidFill>
                <a:latin typeface="Consolas"/>
              </a:rPr>
              <a:t>requires</a:t>
            </a:r>
            <a:r>
              <a:rPr sz="1400" dirty="0">
                <a:solidFill>
                  <a:srgbClr val="D4D4D4"/>
                </a:solidFill>
                <a:latin typeface="Consolas"/>
              </a:rPr>
              <a:t>(</a:t>
            </a:r>
            <a:r>
              <a:rPr sz="1400" dirty="0">
                <a:solidFill>
                  <a:srgbClr val="569CD6"/>
                </a:solidFill>
                <a:latin typeface="Consolas"/>
              </a:rPr>
              <a:t>const</a:t>
            </a:r>
            <a:r>
              <a:rPr sz="1400" dirty="0">
                <a:solidFill>
                  <a:srgbClr val="D4D4D4"/>
                </a:solidFill>
                <a:latin typeface="Consolas"/>
              </a:rPr>
              <a:t> Component&amp; c, std::span&lt;</a:t>
            </a:r>
            <a:r>
              <a:rPr sz="1400" dirty="0">
                <a:solidFill>
                  <a:srgbClr val="569CD6"/>
                </a:solidFill>
                <a:latin typeface="Consolas"/>
              </a:rPr>
              <a:t>const</a:t>
            </a:r>
            <a:r>
              <a:rPr sz="1400" dirty="0">
                <a:solidFill>
                  <a:srgbClr val="D4D4D4"/>
                </a:solidFill>
                <a:latin typeface="Consolas"/>
              </a:rPr>
              <a:t> T&gt; state) {</a:t>
            </a:r>
          </a:p>
          <a:p>
            <a:pPr>
              <a:spcAft>
                <a:spcPts val="100"/>
              </a:spcAft>
            </a:pPr>
            <a:r>
              <a:rPr sz="1400" dirty="0">
                <a:solidFill>
                  <a:srgbClr val="D4D4D4"/>
                </a:solidFill>
                <a:latin typeface="Consolas"/>
              </a:rPr>
              <a:t>        </a:t>
            </a:r>
            <a:r>
              <a:rPr sz="1400" dirty="0" err="1">
                <a:solidFill>
                  <a:srgbClr val="D4D4D4"/>
                </a:solidFill>
                <a:latin typeface="Consolas"/>
              </a:rPr>
              <a:t>c.compute</a:t>
            </a:r>
            <a:r>
              <a:rPr sz="1400" dirty="0">
                <a:solidFill>
                  <a:srgbClr val="D4D4D4"/>
                </a:solidFill>
                <a:latin typeface="Consolas"/>
              </a:rPr>
              <a:t>(Tag{}, state);</a:t>
            </a:r>
          </a:p>
          <a:p>
            <a:pPr>
              <a:spcAft>
                <a:spcPts val="100"/>
              </a:spcAft>
            </a:pPr>
            <a:r>
              <a:rPr sz="1400" dirty="0">
                <a:solidFill>
                  <a:srgbClr val="D4D4D4"/>
                </a:solidFill>
                <a:latin typeface="Consolas"/>
              </a:rPr>
              <a:t>    };</a:t>
            </a:r>
          </a:p>
          <a:p>
            <a:pPr>
              <a:spcAft>
                <a:spcPts val="100"/>
              </a:spcAft>
            </a:pPr>
            <a:r>
              <a:rPr sz="1400" dirty="0">
                <a:latin typeface="Consolas"/>
              </a:rPr>
              <a:t> </a:t>
            </a:r>
          </a:p>
          <a:p>
            <a:pPr>
              <a:spcAft>
                <a:spcPts val="100"/>
              </a:spcAft>
            </a:pPr>
            <a:r>
              <a:rPr sz="1400" dirty="0">
                <a:solidFill>
                  <a:srgbClr val="569CD6"/>
                </a:solidFill>
                <a:latin typeface="Consolas"/>
              </a:rPr>
              <a:t>template</a:t>
            </a:r>
            <a:r>
              <a:rPr sz="1400" dirty="0">
                <a:solidFill>
                  <a:srgbClr val="D4D4D4"/>
                </a:solidFill>
                <a:latin typeface="Consolas"/>
              </a:rPr>
              <a:t>&lt;</a:t>
            </a:r>
            <a:r>
              <a:rPr sz="1400" dirty="0" err="1">
                <a:solidFill>
                  <a:srgbClr val="569CD6"/>
                </a:solidFill>
                <a:latin typeface="Consolas"/>
              </a:rPr>
              <a:t>typename</a:t>
            </a:r>
            <a:r>
              <a:rPr sz="1400" dirty="0">
                <a:solidFill>
                  <a:srgbClr val="D4D4D4"/>
                </a:solidFill>
                <a:latin typeface="Consolas"/>
              </a:rPr>
              <a:t> </a:t>
            </a:r>
            <a:r>
              <a:rPr sz="1400" dirty="0">
                <a:solidFill>
                  <a:srgbClr val="4EC9B0"/>
                </a:solidFill>
                <a:latin typeface="Consolas"/>
              </a:rPr>
              <a:t>Component</a:t>
            </a:r>
            <a:r>
              <a:rPr sz="1400" dirty="0">
                <a:solidFill>
                  <a:srgbClr val="D4D4D4"/>
                </a:solidFill>
                <a:latin typeface="Consolas"/>
              </a:rPr>
              <a:t>, </a:t>
            </a:r>
            <a:r>
              <a:rPr sz="1400" dirty="0" err="1">
                <a:solidFill>
                  <a:srgbClr val="569CD6"/>
                </a:solidFill>
                <a:latin typeface="Consolas"/>
              </a:rPr>
              <a:t>typename</a:t>
            </a:r>
            <a:r>
              <a:rPr sz="1400" dirty="0">
                <a:solidFill>
                  <a:srgbClr val="D4D4D4"/>
                </a:solidFill>
                <a:latin typeface="Consolas"/>
              </a:rPr>
              <a:t> </a:t>
            </a:r>
            <a:r>
              <a:rPr sz="1400" dirty="0">
                <a:solidFill>
                  <a:srgbClr val="4EC9B0"/>
                </a:solidFill>
                <a:latin typeface="Consolas"/>
              </a:rPr>
              <a:t>T</a:t>
            </a:r>
            <a:r>
              <a:rPr sz="1400" dirty="0">
                <a:solidFill>
                  <a:srgbClr val="D4D4D4"/>
                </a:solidFill>
                <a:latin typeface="Consolas"/>
              </a:rPr>
              <a:t>&gt;</a:t>
            </a:r>
          </a:p>
          <a:p>
            <a:pPr>
              <a:spcAft>
                <a:spcPts val="100"/>
              </a:spcAft>
            </a:pPr>
            <a:r>
              <a:rPr sz="1400" dirty="0">
                <a:solidFill>
                  <a:srgbClr val="569CD6"/>
                </a:solidFill>
                <a:latin typeface="Consolas"/>
              </a:rPr>
              <a:t>concept</a:t>
            </a:r>
            <a:r>
              <a:rPr sz="1400" dirty="0">
                <a:solidFill>
                  <a:srgbClr val="D4D4D4"/>
                </a:solidFill>
                <a:latin typeface="Consolas"/>
              </a:rPr>
              <a:t> </a:t>
            </a:r>
            <a:r>
              <a:rPr sz="1400" dirty="0" err="1">
                <a:solidFill>
                  <a:srgbClr val="4EC9B0"/>
                </a:solidFill>
                <a:latin typeface="Consolas"/>
              </a:rPr>
              <a:t>CompleteTypedComponent</a:t>
            </a:r>
            <a:r>
              <a:rPr sz="1400" dirty="0">
                <a:solidFill>
                  <a:srgbClr val="D4D4D4"/>
                </a:solidFill>
                <a:latin typeface="Consolas"/>
              </a:rPr>
              <a:t> =</a:t>
            </a:r>
          </a:p>
          <a:p>
            <a:pPr>
              <a:spcAft>
                <a:spcPts val="100"/>
              </a:spcAft>
            </a:pPr>
            <a:r>
              <a:rPr sz="1400" dirty="0">
                <a:solidFill>
                  <a:srgbClr val="D4D4D4"/>
                </a:solidFill>
                <a:latin typeface="Consolas"/>
              </a:rPr>
              <a:t>    </a:t>
            </a:r>
            <a:r>
              <a:rPr sz="1400" dirty="0" err="1">
                <a:solidFill>
                  <a:srgbClr val="D4D4D4"/>
                </a:solidFill>
                <a:latin typeface="Consolas"/>
              </a:rPr>
              <a:t>HasInitialState</a:t>
            </a:r>
            <a:r>
              <a:rPr sz="1400" dirty="0">
                <a:solidFill>
                  <a:srgbClr val="D4D4D4"/>
                </a:solidFill>
                <a:latin typeface="Consolas"/>
              </a:rPr>
              <a:t>&lt;Component, T&gt; &amp;&amp;</a:t>
            </a:r>
          </a:p>
          <a:p>
            <a:pPr>
              <a:spcAft>
                <a:spcPts val="100"/>
              </a:spcAft>
            </a:pPr>
            <a:r>
              <a:rPr sz="1400" dirty="0">
                <a:solidFill>
                  <a:srgbClr val="D4D4D4"/>
                </a:solidFill>
                <a:latin typeface="Consolas"/>
              </a:rPr>
              <a:t>    </a:t>
            </a:r>
            <a:r>
              <a:rPr sz="1400" dirty="0" err="1">
                <a:solidFill>
                  <a:srgbClr val="D4D4D4"/>
                </a:solidFill>
                <a:latin typeface="Consolas"/>
              </a:rPr>
              <a:t>HasIdentification</a:t>
            </a:r>
            <a:r>
              <a:rPr sz="1400" dirty="0">
                <a:solidFill>
                  <a:srgbClr val="D4D4D4"/>
                </a:solidFill>
                <a:latin typeface="Consolas"/>
              </a:rPr>
              <a:t>&lt;Component&gt; &amp;&amp;</a:t>
            </a:r>
          </a:p>
          <a:p>
            <a:pPr>
              <a:spcAft>
                <a:spcPts val="100"/>
              </a:spcAft>
            </a:pPr>
            <a:r>
              <a:rPr sz="1400" dirty="0">
                <a:solidFill>
                  <a:srgbClr val="D4D4D4"/>
                </a:solidFill>
                <a:latin typeface="Consolas"/>
              </a:rPr>
              <a:t>    </a:t>
            </a:r>
            <a:r>
              <a:rPr sz="1400" dirty="0" err="1">
                <a:solidFill>
                  <a:srgbClr val="D4D4D4"/>
                </a:solidFill>
                <a:latin typeface="Consolas"/>
              </a:rPr>
              <a:t>HasDerivativesMethod</a:t>
            </a:r>
            <a:r>
              <a:rPr sz="1400" dirty="0">
                <a:solidFill>
                  <a:srgbClr val="D4D4D4"/>
                </a:solidFill>
                <a:latin typeface="Consolas"/>
              </a:rPr>
              <a:t>&lt;Component, T&gt;;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sim  = makeTypedODESystem&lt;</a:t>
            </a:r>
            <a:r>
              <a:rPr sz="1400">
                <a:solidFill>
                  <a:srgbClr val="4EC9B0"/>
                </a:solidFill>
                <a:latin typeface="Consolas"/>
              </a:rPr>
              <a:t>double</a:t>
            </a:r>
            <a:r>
              <a:rPr sz="1400">
                <a:solidFill>
                  <a:srgbClr val="D4D4D4"/>
                </a:solidFill>
                <a:latin typeface="Consolas"/>
              </a:rPr>
              <a:t>&gt;(comps...);</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F2C744"/>
                </a:solidFill>
                <a:latin typeface="Consolas"/>
              </a:rPr>
              <a:t>using D = Dual&lt;double, 14&gt;;                  // forward-mode autodiff</a:t>
            </a:r>
          </a:p>
          <a:p>
            <a:pPr>
              <a:spcAft>
                <a:spcPts val="100"/>
              </a:spcAft>
            </a:pPr>
            <a:r>
              <a:rPr sz="1400" b="1">
                <a:solidFill>
                  <a:srgbClr val="F2C744"/>
                </a:solidFill>
                <a:latin typeface="Consolas"/>
              </a:rPr>
              <a:t>auto grad = makeTypedODESystem&lt;D&gt;(comps...);</a:t>
            </a:r>
          </a:p>
          <a:p>
            <a:pPr>
              <a:spcAft>
                <a:spcPts val="100"/>
              </a:spcAft>
            </a:pPr>
            <a:r>
              <a:rPr sz="1400">
                <a:solidFill>
                  <a:srgbClr val="569CD6"/>
                </a:solidFill>
                <a:latin typeface="Consolas"/>
              </a:rPr>
              <a:t>auto</a:t>
            </a:r>
            <a:r>
              <a:rPr sz="1400">
                <a:solidFill>
                  <a:srgbClr val="D4D4D4"/>
                </a:solidFill>
                <a:latin typeface="Consolas"/>
              </a:rPr>
              <a:t> J    = computeJacobian(grad, t, state);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