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94" r:id="rId5"/>
    <p:sldId id="260" r:id="rId6"/>
    <p:sldId id="295"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96" r:id="rId26"/>
    <p:sldId id="280" r:id="rId27"/>
    <p:sldId id="281" r:id="rId28"/>
    <p:sldId id="282" r:id="rId29"/>
    <p:sldId id="283" r:id="rId30"/>
    <p:sldId id="297" r:id="rId46"/>
    <p:sldId id="284" r:id="rId31"/>
    <p:sldId id="285" r:id="rId32"/>
    <p:sldId id="286" r:id="rId33"/>
    <p:sldId id="287" r:id="rId34"/>
    <p:sldId id="288" r:id="rId35"/>
    <p:sldId id="289" r:id="rId36"/>
    <p:sldId id="290" r:id="rId37"/>
    <p:sldId id="298" r:id="rId47"/>
    <p:sldId id="291" r:id="rId38"/>
    <p:sldId id="292" r:id="rId39"/>
    <p:sldId id="293"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2" d="100"/>
          <a:sy n="122" d="100"/>
        </p:scale>
        <p:origin x="11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openxmlformats.org/officeDocument/2006/relationships/slide" Target="slides/slide30.xml"/><Relationship Id="rId47"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57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Title slide uses the conference card. Hook: 'This talk is about refusing a tradeoff.'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the submitted outline. ~5 min.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~7 min.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~8 min. Running example for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table of the talk. Spend time here. 'Provides' and 'Queries' are the typed interface.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~12 min. All code from the public repo, lightly trimmed.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spring.hpp (trimmed: damping &amp; repulsion elided). Point at the two registry calls: that IS the whole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energy_monitor.hpp. 'Doesn't know there's a spring' — the abstract promised exactly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~10 min.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core/typed_component.hpp (simplified). The registry is the only 'framework' there is. Emphasize: provider chosen at compile time → calls inline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~6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7. ~7 min.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down. One breath per bullet.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Picture 1" descr="separation of concerns.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lang="en-US" sz="1300" b="1" noProof="0" dirty="0">
                <a:solidFill>
                  <a:srgbClr val="F2C744"/>
                </a:solidFill>
                <a:latin typeface="Segoe UI"/>
              </a:rPr>
              <a:t>BEFORE WE START</a:t>
            </a:r>
          </a:p>
        </p:txBody>
      </p:sp>
      <p:sp>
        <p:nvSpPr>
          <p:cNvPr id="3" name="TextBox 2"/>
          <p:cNvSpPr txBox="1"/>
          <p:nvPr/>
        </p:nvSpPr>
        <p:spPr>
          <a:xfrm>
            <a:off x="457200" y="694944"/>
            <a:ext cx="2037737" cy="569387"/>
          </a:xfrm>
          <a:prstGeom prst="rect">
            <a:avLst/>
          </a:prstGeom>
          <a:noFill/>
        </p:spPr>
        <p:txBody>
          <a:bodyPr wrap="none">
            <a:spAutoFit/>
          </a:bodyPr>
          <a:lstStyle/>
          <a:p>
            <a:r>
              <a:rPr lang="en-US" sz="3100" b="1" noProof="0" dirty="0">
                <a:solidFill>
                  <a:srgbClr val="FFFFFF"/>
                </a:solidFill>
                <a:latin typeface="Segoe UI"/>
              </a:rPr>
              <a:t>About me</a:t>
            </a:r>
          </a:p>
        </p:txBody>
      </p:sp>
      <p:sp>
        <p:nvSpPr>
          <p:cNvPr id="4" name="TextBox 3"/>
          <p:cNvSpPr txBox="1"/>
          <p:nvPr/>
        </p:nvSpPr>
        <p:spPr>
          <a:xfrm>
            <a:off x="548640" y="1828800"/>
            <a:ext cx="7498079" cy="2472472"/>
          </a:xfrm>
          <a:prstGeom prst="rect">
            <a:avLst/>
          </a:prstGeom>
          <a:noFill/>
        </p:spPr>
        <p:txBody>
          <a:bodyPr wrap="square">
            <a:spAutoFit/>
          </a:bodyPr>
          <a:lstStyle/>
          <a:p>
            <a:pPr>
              <a:spcAft>
                <a:spcPts val="800"/>
              </a:spcAft>
            </a:pPr>
            <a:r>
              <a:rPr lang="en-US" sz="2200" noProof="0" dirty="0">
                <a:solidFill>
                  <a:srgbClr val="35C4E8"/>
                </a:solidFill>
                <a:latin typeface="Segoe UI"/>
              </a:rPr>
              <a:t>•  </a:t>
            </a:r>
            <a:r>
              <a:rPr lang="en-US" sz="2200" b="1" noProof="0" dirty="0">
                <a:solidFill>
                  <a:srgbClr val="F2C744"/>
                </a:solidFill>
                <a:latin typeface="Segoe UI"/>
              </a:rPr>
              <a:t>Jędrzej Michalczyk</a:t>
            </a:r>
            <a:r>
              <a:rPr lang="en-US" sz="2200" b="0" noProof="0" dirty="0">
                <a:solidFill>
                  <a:srgbClr val="D8E2EC"/>
                </a:solidFill>
                <a:latin typeface="Segoe UI"/>
              </a:rPr>
              <a:t>  —  </a:t>
            </a:r>
            <a:r>
              <a:rPr lang="en-US" sz="2200" noProof="0" dirty="0">
                <a:solidFill>
                  <a:srgbClr val="D8E2EC"/>
                </a:solidFill>
                <a:latin typeface="Segoe UI"/>
              </a:rPr>
              <a:t>R&amp;D Engineer</a:t>
            </a:r>
            <a:endParaRPr lang="en-US" sz="2200" b="0" noProof="0" dirty="0">
              <a:solidFill>
                <a:srgbClr val="D8E2EC"/>
              </a:solidFill>
              <a:latin typeface="Segoe UI"/>
            </a:endParaRPr>
          </a:p>
          <a:p>
            <a:pPr>
              <a:spcAft>
                <a:spcPts val="800"/>
              </a:spcAft>
            </a:pPr>
            <a:r>
              <a:rPr lang="en-US" sz="2200" noProof="0" dirty="0">
                <a:solidFill>
                  <a:srgbClr val="35C4E8"/>
                </a:solidFill>
                <a:latin typeface="Segoe UI"/>
              </a:rPr>
              <a:t>•  </a:t>
            </a:r>
            <a:r>
              <a:rPr lang="en-US" sz="2200" b="1" noProof="0" dirty="0" err="1">
                <a:solidFill>
                  <a:srgbClr val="35C4E8"/>
                </a:solidFill>
                <a:latin typeface="Segoe UI"/>
              </a:rPr>
              <a:t>SpaceForest</a:t>
            </a:r>
            <a:r>
              <a:rPr lang="en-US" sz="2200" b="0" noProof="0" dirty="0">
                <a:solidFill>
                  <a:srgbClr val="D8E2EC"/>
                </a:solidFill>
                <a:latin typeface="Segoe UI"/>
              </a:rPr>
              <a:t>  (Gdynia, Poland)</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PERUN — single-stage suborbital launch vehicle</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guidance, navigation &amp; control software in modern C++</a:t>
            </a:r>
          </a:p>
          <a:p>
            <a:pPr>
              <a:spcAft>
                <a:spcPts val="800"/>
              </a:spcAft>
            </a:pPr>
            <a:r>
              <a:rPr lang="en-US" sz="2200" noProof="0" dirty="0">
                <a:solidFill>
                  <a:srgbClr val="35C4E8"/>
                </a:solidFill>
                <a:latin typeface="Segoe UI"/>
              </a:rPr>
              <a:t>•  </a:t>
            </a:r>
            <a:r>
              <a:rPr lang="en-US" sz="2200" b="0" noProof="0" dirty="0">
                <a:solidFill>
                  <a:srgbClr val="D8E2EC"/>
                </a:solidFill>
                <a:latin typeface="Segoe UI"/>
              </a:rPr>
              <a:t>The code in this talk is </a:t>
            </a:r>
            <a:r>
              <a:rPr lang="en-US" sz="2200" noProof="0" dirty="0">
                <a:solidFill>
                  <a:srgbClr val="D8E2EC"/>
                </a:solidFill>
                <a:latin typeface="Segoe UI"/>
              </a:rPr>
              <a:t>roughly </a:t>
            </a:r>
            <a:r>
              <a:rPr lang="en-US" sz="2200" b="0" noProof="0" dirty="0">
                <a:solidFill>
                  <a:srgbClr val="D8E2EC"/>
                </a:solidFill>
                <a:latin typeface="Segoe UI"/>
              </a:rPr>
              <a:t>: </a:t>
            </a:r>
            <a:r>
              <a:rPr lang="en-US" sz="2200" b="0" noProof="0" dirty="0">
                <a:solidFill>
                  <a:srgbClr val="35C4E8"/>
                </a:solidFill>
                <a:latin typeface="Segoe UI"/>
              </a:rPr>
              <a:t>github.com/</a:t>
            </a:r>
            <a:r>
              <a:rPr lang="en-US" sz="2200" b="0" noProof="0" dirty="0" err="1">
                <a:solidFill>
                  <a:srgbClr val="35C4E8"/>
                </a:solidFill>
                <a:latin typeface="Segoe UI"/>
              </a:rPr>
              <a:t>jedrzejmichalczyk</a:t>
            </a:r>
            <a:r>
              <a:rPr lang="en-US" sz="2200" b="0" noProof="0" dirty="0">
                <a:solidFill>
                  <a:srgbClr val="35C4E8"/>
                </a:solidFill>
                <a:latin typeface="Segoe UI"/>
              </a:rPr>
              <a:t>/</a:t>
            </a:r>
            <a:r>
              <a:rPr lang="en-US" sz="2200" b="0" noProof="0" dirty="0" err="1">
                <a:solidFill>
                  <a:srgbClr val="35C4E8"/>
                </a:solidFill>
                <a:latin typeface="Segoe UI"/>
              </a:rPr>
              <a:t>accu-on-sea-2026-modular-physics</a:t>
            </a:r>
            <a:endParaRPr lang="en-US" sz="2200" b="0" noProof="0" dirty="0">
              <a:solidFill>
                <a:srgbClr val="35C4E8"/>
              </a:solidFill>
              <a:latin typeface="Segoe UI"/>
            </a:endParaRPr>
          </a:p>
        </p:txBody>
      </p:sp>
      <p:sp>
        <p:nvSpPr>
          <p:cNvPr id="6" name="TextBox 5"/>
          <p:cNvSpPr txBox="1"/>
          <p:nvPr/>
        </p:nvSpPr>
        <p:spPr>
          <a:xfrm>
            <a:off x="411480" y="6446520"/>
            <a:ext cx="10058400" cy="320040"/>
          </a:xfrm>
          <a:prstGeom prst="rect">
            <a:avLst/>
          </a:prstGeom>
          <a:noFill/>
        </p:spPr>
        <p:txBody>
          <a:bodyPr wrap="none">
            <a:spAutoFit/>
          </a:bodyPr>
          <a:lstStyle/>
          <a:p>
            <a:r>
              <a:rPr lang="en-US" sz="1000" noProof="0" dirty="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lang="en-US" sz="1000" noProof="0" dirty="0">
                <a:solidFill>
                  <a:srgbClr val="8CA3B8"/>
                </a:solidFill>
                <a:latin typeface="Segoe UI"/>
              </a:rPr>
              <a:t>2</a:t>
            </a:r>
          </a:p>
        </p:txBody>
      </p:sp>
      <p:pic>
        <p:nvPicPr>
          <p:cNvPr id="8" name="Perun launch" descr="launch-of-the-perun-suborbital-rocket-over-the-polish-coast.jpg"/>
          <p:cNvPicPr>
            <a:picLocks noChangeAspect="1"/>
          </p:cNvPicPr>
          <p:nvPr/>
        </p:nvPicPr>
        <p:blipFill>
          <a:blip r:embed="rId3"/>
          <a:srcRect l="16250" r="16250"/>
          <a:stretch>
            <a:fillRect/>
          </a:stretch>
        </p:blipFill>
        <p:spPr>
          <a:xfrm>
            <a:off x="8229600" y="1828800"/>
            <a:ext cx="3291840" cy="3657600"/>
          </a:xfrm>
          <a:prstGeom prst="roundRect">
            <a:avLst>
              <a:gd name="adj" fmla="val 5000"/>
            </a:avLst>
          </a:prstGeom>
          <a:ln w="19050">
            <a:solidFill>
              <a:srgbClr val="1E3A55"/>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3200876"/>
          </a:xfrm>
          <a:prstGeom prst="rect">
            <a:avLst/>
          </a:prstGeom>
          <a:noFill/>
        </p:spPr>
        <p:txBody>
          <a:bodyPr wrap="square">
            <a:spAutoFit/>
          </a:bodyPr>
          <a:lstStyle/>
          <a:p>
            <a:pPr>
              <a:spcAft>
                <a:spcPts val="800"/>
              </a:spcAft>
            </a:pPr>
            <a:r>
              <a:rPr lang="pl-PL" sz="2100" dirty="0">
                <a:solidFill>
                  <a:srgbClr val="35C4E8"/>
                </a:solidFill>
                <a:latin typeface="Segoe UI"/>
              </a:rPr>
              <a:t>•  </a:t>
            </a:r>
            <a:r>
              <a:rPr lang="pl-PL" sz="2100" b="0" dirty="0" err="1">
                <a:solidFill>
                  <a:srgbClr val="D8E2EC"/>
                </a:solidFill>
                <a:latin typeface="Segoe UI"/>
              </a:rPr>
              <a:t>Simulate</a:t>
            </a:r>
            <a:r>
              <a:rPr lang="pl-PL" sz="2100" b="0" dirty="0">
                <a:solidFill>
                  <a:srgbClr val="D8E2EC"/>
                </a:solidFill>
                <a:latin typeface="Segoe UI"/>
              </a:rPr>
              <a:t> a </a:t>
            </a:r>
            <a:r>
              <a:rPr lang="pl-PL" sz="2100" b="0" dirty="0" err="1">
                <a:solidFill>
                  <a:srgbClr val="D8E2EC"/>
                </a:solidFill>
                <a:latin typeface="Segoe UI"/>
              </a:rPr>
              <a:t>rocket</a:t>
            </a:r>
            <a:r>
              <a:rPr lang="pl-PL" sz="2100" b="0" dirty="0">
                <a:solidFill>
                  <a:srgbClr val="D8E2EC"/>
                </a:solidFill>
                <a:latin typeface="Segoe UI"/>
              </a:rPr>
              <a:t>: </a:t>
            </a:r>
            <a:r>
              <a:rPr lang="pl-PL" sz="2100" b="1" dirty="0">
                <a:solidFill>
                  <a:srgbClr val="FFFFFF"/>
                </a:solidFill>
                <a:latin typeface="Segoe UI"/>
              </a:rPr>
              <a:t>6-DOF dynamics + </a:t>
            </a:r>
            <a:r>
              <a:rPr lang="pl-PL" sz="2100" b="1" dirty="0" err="1">
                <a:solidFill>
                  <a:srgbClr val="FFFFFF"/>
                </a:solidFill>
                <a:latin typeface="Segoe UI"/>
              </a:rPr>
              <a:t>aerodynamics</a:t>
            </a:r>
            <a:r>
              <a:rPr lang="pl-PL" sz="2100" b="1" dirty="0">
                <a:solidFill>
                  <a:srgbClr val="FFFFFF"/>
                </a:solidFill>
                <a:latin typeface="Segoe UI"/>
              </a:rPr>
              <a:t> + </a:t>
            </a:r>
            <a:r>
              <a:rPr lang="pl-PL" sz="2100" b="1" dirty="0" err="1">
                <a:solidFill>
                  <a:srgbClr val="FFFFFF"/>
                </a:solidFill>
                <a:latin typeface="Segoe UI"/>
              </a:rPr>
              <a:t>propulsion</a:t>
            </a:r>
            <a:r>
              <a:rPr lang="pl-PL" sz="2100" b="1" dirty="0">
                <a:solidFill>
                  <a:srgbClr val="FFFFFF"/>
                </a:solidFill>
                <a:latin typeface="Segoe UI"/>
              </a:rPr>
              <a:t> + </a:t>
            </a:r>
            <a:r>
              <a:rPr lang="pl-PL" sz="2100" b="1" dirty="0" err="1">
                <a:solidFill>
                  <a:srgbClr val="FFFFFF"/>
                </a:solidFill>
                <a:latin typeface="Segoe UI"/>
              </a:rPr>
              <a:t>atmosphere</a:t>
            </a:r>
            <a:r>
              <a:rPr lang="pl-PL" sz="2100" b="1" dirty="0">
                <a:solidFill>
                  <a:srgbClr val="FFFFFF"/>
                </a:solidFill>
                <a:latin typeface="Segoe UI"/>
              </a:rPr>
              <a:t> + </a:t>
            </a:r>
            <a:r>
              <a:rPr lang="pl-PL" sz="2100" b="1" dirty="0" err="1">
                <a:solidFill>
                  <a:srgbClr val="FFFFFF"/>
                </a:solidFill>
                <a:latin typeface="Segoe UI"/>
              </a:rPr>
              <a:t>control</a:t>
            </a:r>
            <a:endParaRPr lang="pl-PL" sz="2100" b="1" dirty="0">
              <a:solidFill>
                <a:srgbClr val="FFFFFF"/>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The same physics must run in three places:</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engineering analysis (parameter studies, Monte Carlo)</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hardware-in-the-loop test benches — real time</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onboard — guidance runs against the same models, in real time</a:t>
            </a:r>
          </a:p>
          <a:p>
            <a:pPr>
              <a:spcAft>
                <a:spcPts val="800"/>
              </a:spcAft>
            </a:pPr>
            <a:r>
              <a:rPr sz="2100" dirty="0">
                <a:solidFill>
                  <a:srgbClr val="35C4E8"/>
                </a:solidFill>
                <a:latin typeface="Segoe UI"/>
              </a:rPr>
              <a:t>•  </a:t>
            </a:r>
            <a:r>
              <a:rPr sz="2100" b="1" dirty="0">
                <a:solidFill>
                  <a:srgbClr val="F2C744"/>
                </a:solidFill>
                <a:latin typeface="Segoe UI"/>
              </a:rPr>
              <a:t>Correctness and performance are </a:t>
            </a:r>
            <a:r>
              <a:rPr lang="pl-PL" sz="2100" b="1" dirty="0" err="1">
                <a:solidFill>
                  <a:srgbClr val="F2C744"/>
                </a:solidFill>
                <a:latin typeface="Segoe UI"/>
              </a:rPr>
              <a:t>crucial</a:t>
            </a:r>
            <a:endParaRPr sz="2100" b="1" dirty="0">
              <a:solidFill>
                <a:srgbClr val="F2C744"/>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791516" cy="292388"/>
          </a:xfrm>
          <a:prstGeom prst="rect">
            <a:avLst/>
          </a:prstGeom>
          <a:noFill/>
        </p:spPr>
        <p:txBody>
          <a:bodyPr wrap="none">
            <a:spAutoFit/>
          </a:bodyPr>
          <a:lstStyle/>
          <a:p>
            <a:r>
              <a:rPr lang="en-US" sz="1300" b="1" dirty="0">
                <a:solidFill>
                  <a:srgbClr val="F2C744"/>
                </a:solidFill>
                <a:latin typeface="Segoe UI"/>
              </a:rPr>
              <a:t>THE GENERAL FLOW</a:t>
            </a:r>
          </a:p>
        </p:txBody>
      </p:sp>
      <p:sp>
        <p:nvSpPr>
          <p:cNvPr id="3" name="TextBox 2"/>
          <p:cNvSpPr txBox="1"/>
          <p:nvPr/>
        </p:nvSpPr>
        <p:spPr>
          <a:xfrm>
            <a:off x="457200" y="694944"/>
            <a:ext cx="6971909" cy="569387"/>
          </a:xfrm>
          <a:prstGeom prst="rect">
            <a:avLst/>
          </a:prstGeom>
          <a:noFill/>
        </p:spPr>
        <p:txBody>
          <a:bodyPr wrap="none">
            <a:spAutoFit/>
          </a:bodyPr>
          <a:lstStyle/>
          <a:p>
            <a:r>
              <a:rPr lang="en-US" sz="3100" b="1" dirty="0">
                <a:solidFill>
                  <a:srgbClr val="FFFFFF"/>
                </a:solidFill>
                <a:latin typeface="Segoe UI"/>
              </a:rPr>
              <a:t>From symbolic math to embedded C</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35C4E8"/>
                </a:solidFill>
                <a:latin typeface="Segoe UI"/>
              </a:rPr>
              <a:t>1. High-level framework</a:t>
            </a:r>
          </a:p>
        </p:txBody>
      </p:sp>
      <p:sp>
        <p:nvSpPr>
          <p:cNvPr id="5" name="TextBox 4"/>
          <p:cNvSpPr txBox="1"/>
          <p:nvPr/>
        </p:nvSpPr>
        <p:spPr>
          <a:xfrm>
            <a:off x="685800" y="2514600"/>
            <a:ext cx="3291840" cy="1205458"/>
          </a:xfrm>
          <a:prstGeom prst="rect">
            <a:avLst/>
          </a:prstGeom>
          <a:noFill/>
        </p:spPr>
        <p:txBody>
          <a:bodyPr wrap="square">
            <a:spAutoFit/>
          </a:bodyPr>
          <a:lstStyle/>
          <a:p>
            <a:r>
              <a:rPr lang="en-US" sz="1600" b="1" dirty="0">
                <a:solidFill>
                  <a:srgbClr val="35C4E8"/>
                </a:solidFill>
                <a:latin typeface="Segoe UI"/>
              </a:rPr>
              <a:t>MATLAB · Mathematica · Symbolica</a:t>
            </a:r>
          </a:p>
          <a:p>
            <a:pPr>
              <a:spcBef>
                <a:spcPts val="1000"/>
              </a:spcBef>
            </a:pPr>
            <a:r>
              <a:rPr lang="en-US" sz="1600" dirty="0">
                <a:solidFill>
                  <a:srgbClr val="FFFFFF"/>
                </a:solidFill>
                <a:latin typeface="Segoe UI"/>
              </a:rPr>
              <a:t>Express the equations once and validate the physics at a high level.</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F2C744"/>
                </a:solidFill>
                <a:latin typeface="Segoe UI"/>
              </a:rPr>
              <a:t>2. Rewrite or generate</a:t>
            </a:r>
          </a:p>
        </p:txBody>
      </p:sp>
      <p:sp>
        <p:nvSpPr>
          <p:cNvPr id="7" name="TextBox 6"/>
          <p:cNvSpPr txBox="1"/>
          <p:nvPr/>
        </p:nvSpPr>
        <p:spPr>
          <a:xfrm>
            <a:off x="4480560" y="2514600"/>
            <a:ext cx="3291840" cy="1205458"/>
          </a:xfrm>
          <a:prstGeom prst="rect">
            <a:avLst/>
          </a:prstGeom>
          <a:noFill/>
        </p:spPr>
        <p:txBody>
          <a:bodyPr wrap="square">
            <a:spAutoFit/>
          </a:bodyPr>
          <a:lstStyle/>
          <a:p>
            <a:r>
              <a:rPr lang="en-US" sz="1600" b="1" dirty="0">
                <a:solidFill>
                  <a:srgbClr val="F2C744"/>
                </a:solidFill>
                <a:latin typeface="Segoe UI"/>
              </a:rPr>
              <a:t>Hand-rewrite or auto-generate</a:t>
            </a:r>
          </a:p>
          <a:p>
            <a:pPr>
              <a:spcBef>
                <a:spcPts val="1000"/>
              </a:spcBef>
            </a:pPr>
            <a:r>
              <a:rPr lang="en-US" sz="1600" dirty="0">
                <a:solidFill>
                  <a:srgbClr val="FFFFFF"/>
                </a:solidFill>
                <a:latin typeface="Segoe UI"/>
              </a:rPr>
              <a:t>Translate the validated model into portable C from the symbolic source.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7EE08A"/>
                </a:solidFill>
                <a:latin typeface="Segoe UI"/>
              </a:rPr>
              <a:t>3. Embedded C</a:t>
            </a:r>
          </a:p>
        </p:txBody>
      </p:sp>
      <p:sp>
        <p:nvSpPr>
          <p:cNvPr id="9" name="TextBox 8"/>
          <p:cNvSpPr txBox="1"/>
          <p:nvPr/>
        </p:nvSpPr>
        <p:spPr>
          <a:xfrm>
            <a:off x="8275320" y="2514600"/>
            <a:ext cx="3291840" cy="959237"/>
          </a:xfrm>
          <a:prstGeom prst="rect">
            <a:avLst/>
          </a:prstGeom>
          <a:noFill/>
        </p:spPr>
        <p:txBody>
          <a:bodyPr wrap="square">
            <a:spAutoFit/>
          </a:bodyPr>
          <a:lstStyle/>
          <a:p>
            <a:r>
              <a:rPr lang="en-US" sz="1600" b="1" dirty="0">
                <a:solidFill>
                  <a:srgbClr val="7EE08A"/>
                </a:solidFill>
                <a:latin typeface="Segoe UI"/>
              </a:rPr>
              <a:t>Compile &amp; deploy</a:t>
            </a:r>
          </a:p>
          <a:p>
            <a:pPr>
              <a:spcBef>
                <a:spcPts val="1000"/>
              </a:spcBef>
            </a:pPr>
            <a:r>
              <a:rPr lang="en-US" sz="1600" dirty="0">
                <a:solidFill>
                  <a:srgbClr val="FFFFFF"/>
                </a:solidFill>
                <a:latin typeface="Segoe UI"/>
              </a:rPr>
              <a:t>Runs on the target — fast, deterministic and real-time.</a:t>
            </a:r>
          </a:p>
        </p:txBody>
      </p:sp>
      <p:sp>
        <p:nvSpPr>
          <p:cNvPr id="10" name="TextBox 9"/>
          <p:cNvSpPr txBox="1"/>
          <p:nvPr/>
        </p:nvSpPr>
        <p:spPr>
          <a:xfrm>
            <a:off x="685800" y="5057919"/>
            <a:ext cx="4072397" cy="461665"/>
          </a:xfrm>
          <a:prstGeom prst="rect">
            <a:avLst/>
          </a:prstGeom>
          <a:noFill/>
        </p:spPr>
        <p:txBody>
          <a:bodyPr wrap="none">
            <a:spAutoFit/>
          </a:bodyPr>
          <a:lstStyle/>
          <a:p>
            <a:r>
              <a:rPr lang="pl-PL" sz="2400" b="1" i="1" dirty="0" err="1">
                <a:solidFill>
                  <a:srgbClr val="F2C744"/>
                </a:solidFill>
                <a:latin typeface="Segoe UI"/>
              </a:rPr>
              <a:t>Sometimes</a:t>
            </a:r>
            <a:r>
              <a:rPr lang="pl-PL" sz="2400" b="1" i="1" dirty="0">
                <a:solidFill>
                  <a:srgbClr val="F2C744"/>
                </a:solidFill>
                <a:latin typeface="Segoe UI"/>
              </a:rPr>
              <a:t> </a:t>
            </a:r>
            <a:r>
              <a:rPr lang="pl-PL" sz="2400" b="1" i="1" dirty="0" err="1">
                <a:solidFill>
                  <a:srgbClr val="F2C744"/>
                </a:solidFill>
                <a:latin typeface="Segoe UI"/>
              </a:rPr>
              <a:t>it</a:t>
            </a:r>
            <a:r>
              <a:rPr lang="pl-PL" sz="2400" b="1" i="1" dirty="0">
                <a:solidFill>
                  <a:srgbClr val="F2C744"/>
                </a:solidFill>
                <a:latin typeface="Segoe UI"/>
              </a:rPr>
              <a:t> </a:t>
            </a:r>
            <a:r>
              <a:rPr lang="pl-PL" sz="2400" b="1" i="1" dirty="0" err="1">
                <a:solidFill>
                  <a:srgbClr val="F2C744"/>
                </a:solidFill>
                <a:latin typeface="Segoe UI"/>
              </a:rPr>
              <a:t>is</a:t>
            </a:r>
            <a:r>
              <a:rPr lang="pl-PL" sz="2400" b="1" i="1" dirty="0">
                <a:solidFill>
                  <a:srgbClr val="F2C744"/>
                </a:solidFill>
                <a:latin typeface="Segoe UI"/>
              </a:rPr>
              <a:t> </a:t>
            </a:r>
            <a:r>
              <a:rPr lang="pl-PL" sz="2400" b="1" i="1" dirty="0" err="1">
                <a:solidFill>
                  <a:srgbClr val="F2C744"/>
                </a:solidFill>
                <a:latin typeface="Segoe UI"/>
              </a:rPr>
              <a:t>an</a:t>
            </a:r>
            <a:r>
              <a:rPr lang="pl-PL" sz="2400" b="1" i="1" dirty="0">
                <a:solidFill>
                  <a:srgbClr val="F2C744"/>
                </a:solidFill>
                <a:latin typeface="Segoe UI"/>
              </a:rPr>
              <a:t> </a:t>
            </a:r>
            <a:r>
              <a:rPr lang="pl-PL" sz="2400" b="1" i="1" dirty="0" err="1">
                <a:solidFill>
                  <a:srgbClr val="F2C744"/>
                </a:solidFill>
                <a:latin typeface="Segoe UI"/>
              </a:rPr>
              <a:t>overkill</a:t>
            </a:r>
            <a:r>
              <a:rPr lang="pl-PL" sz="2400" b="1" i="1" dirty="0">
                <a:solidFill>
                  <a:srgbClr val="F2C744"/>
                </a:solidFill>
                <a:latin typeface="Segoe UI"/>
              </a:rPr>
              <a:t>.</a:t>
            </a:r>
            <a:endParaRPr lang="en-US" sz="2400" b="1" i="1" dirty="0">
              <a:solidFill>
                <a:srgbClr val="F2C744"/>
              </a:solidFill>
              <a:latin typeface="Segoe UI"/>
            </a:endParaRP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
        <p:nvSpPr>
          <p:cNvPr id="13" name="Strzałka: w prawo 12">
            <a:extLst>
              <a:ext uri="{FF2B5EF4-FFF2-40B4-BE49-F238E27FC236}">
                <a16:creationId xmlns:a16="http://schemas.microsoft.com/office/drawing/2014/main" id="{2E7E4CE6-BC16-4F21-995B-710832846D5B}"/>
              </a:ext>
            </a:extLst>
          </p:cNvPr>
          <p:cNvSpPr/>
          <p:nvPr/>
        </p:nvSpPr>
        <p:spPr>
          <a:xfrm>
            <a:off x="40132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
        <p:nvSpPr>
          <p:cNvPr id="14" name="Strzałka: w prawo 13">
            <a:extLst>
              <a:ext uri="{FF2B5EF4-FFF2-40B4-BE49-F238E27FC236}">
                <a16:creationId xmlns:a16="http://schemas.microsoft.com/office/drawing/2014/main" id="{BE2C8CE0-8306-4E89-9435-103710C36962}"/>
              </a:ext>
            </a:extLst>
          </p:cNvPr>
          <p:cNvSpPr/>
          <p:nvPr/>
        </p:nvSpPr>
        <p:spPr>
          <a:xfrm>
            <a:off x="78105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Tree>
    <p:extLst>
      <p:ext uri="{BB962C8B-B14F-4D97-AF65-F5344CB8AC3E}">
        <p14:creationId xmlns:p14="http://schemas.microsoft.com/office/powerpoint/2010/main" val="79337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762000" y="685800"/>
            <a:ext cx="10668000" cy="754053"/>
          </a:xfrm>
          <a:prstGeom prst="rect">
            <a:avLst/>
          </a:prstGeom>
          <a:noFill/>
        </p:spPr>
        <p:txBody>
          <a:bodyPr wrap="square">
            <a:spAutoFit/>
          </a:bodyPr>
          <a:lstStyle/>
          <a:p>
            <a:r>
              <a:rPr lang="en-US" sz="1300" b="1">
                <a:solidFill>
                  <a:srgbClr val="F2C744"/>
                </a:solidFill>
                <a:latin typeface="Segoe UI"/>
              </a:rPr>
              <a:t>THE MODELING PROBLEM</a:t>
            </a:r>
          </a:p>
          <a:p>
            <a:r>
              <a:rPr lang="en-US" sz="3000" b="1">
                <a:solidFill>
                  <a:srgbClr val="FFFFFF"/>
                </a:solidFill>
                <a:latin typeface="Segoe UI"/>
              </a:rPr>
              <a:t>Where do the software modules go?</a:t>
            </a:r>
          </a:p>
        </p:txBody>
      </p:sp>
      <p:sp>
        <p:nvSpPr>
          <p:cNvPr id="3" name="TextBox 2"/>
          <p:cNvSpPr txBox="1"/>
          <p:nvPr/>
        </p:nvSpPr>
        <p:spPr>
          <a:xfrm>
            <a:off x="889000" y="5181600"/>
            <a:ext cx="10414000" cy="707886"/>
          </a:xfrm>
          <a:prstGeom prst="rect">
            <a:avLst/>
          </a:prstGeom>
          <a:noFill/>
        </p:spPr>
        <p:txBody>
          <a:bodyPr wrap="square">
            <a:spAutoFit/>
          </a:bodyPr>
          <a:lstStyle/>
          <a:p>
            <a:pPr algn="ctr"/>
            <a:endParaRPr lang="en-US" sz="2000" dirty="0">
              <a:solidFill>
                <a:srgbClr val="D8E2EC"/>
              </a:solidFill>
              <a:latin typeface="Segoe UI"/>
            </a:endParaRPr>
          </a:p>
          <a:p>
            <a:pPr algn="ctr"/>
            <a:r>
              <a:rPr lang="pl-PL" sz="2000" b="1" dirty="0">
                <a:solidFill>
                  <a:srgbClr val="F2C744"/>
                </a:solidFill>
                <a:latin typeface="Segoe UI"/>
              </a:rPr>
              <a:t>I</a:t>
            </a:r>
            <a:r>
              <a:rPr lang="en-US" sz="2000" b="1" dirty="0">
                <a:solidFill>
                  <a:srgbClr val="F2C744"/>
                </a:solidFill>
                <a:latin typeface="Segoe UI"/>
              </a:rPr>
              <a:t>t is not obvious where to draw the software module boundaries.</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
        <p:nvSpPr>
          <p:cNvPr id="200" name="Wall L"/>
          <p:cNvSpPr/>
          <p:nvPr/>
        </p:nvSpPr>
        <p:spPr>
          <a:xfrm>
            <a:off x="1778000" y="3022600"/>
            <a:ext cx="228600" cy="1498600"/>
          </a:xfrm>
          <a:prstGeom prst="rect">
            <a:avLst/>
          </a:prstGeom>
          <a:solidFill>
            <a:srgbClr val="5B6B7A"/>
          </a:solidFill>
          <a:ln>
            <a:noFill/>
          </a:ln>
        </p:spPr>
        <p:txBody>
          <a:bodyPr/>
          <a:lstStyle/>
          <a:p>
            <a:endParaRPr/>
          </a:p>
        </p:txBody>
      </p:sp>
      <p:sp>
        <p:nvSpPr>
          <p:cNvPr id="201" name="Wall R"/>
          <p:cNvSpPr/>
          <p:nvPr/>
        </p:nvSpPr>
        <p:spPr>
          <a:xfrm>
            <a:off x="10312400" y="3022600"/>
            <a:ext cx="228600" cy="1498600"/>
          </a:xfrm>
          <a:prstGeom prst="rect">
            <a:avLst/>
          </a:prstGeom>
          <a:solidFill>
            <a:srgbClr val="5B6B7A"/>
          </a:solidFill>
          <a:ln>
            <a:noFill/>
          </a:ln>
        </p:spPr>
        <p:txBody>
          <a:bodyPr/>
          <a:lstStyle/>
          <a:p>
            <a:endParaRPr/>
          </a:p>
        </p:txBody>
      </p:sp>
      <p:sp>
        <p:nvSpPr>
          <p:cNvPr id="202" name="Floor"/>
          <p:cNvSpPr/>
          <p:nvPr/>
        </p:nvSpPr>
        <p:spPr>
          <a:xfrm>
            <a:off x="1701800" y="4445000"/>
            <a:ext cx="9017000" cy="63500"/>
          </a:xfrm>
          <a:prstGeom prst="rect">
            <a:avLst/>
          </a:prstGeom>
          <a:solidFill>
            <a:srgbClr val="5B6B7A"/>
          </a:solidFill>
          <a:ln>
            <a:noFill/>
          </a:ln>
        </p:spPr>
        <p:txBody>
          <a:bodyPr/>
          <a:lstStyle/>
          <a:p>
            <a:endParaRPr/>
          </a:p>
        </p:txBody>
      </p:sp>
      <p:sp>
        <p:nvSpPr>
          <p:cNvPr id="203" name="Spring203"/>
          <p:cNvSpPr/>
          <p:nvPr/>
        </p:nvSpPr>
        <p:spPr>
          <a:xfrm>
            <a:off x="2006600" y="3606800"/>
            <a:ext cx="1803400" cy="406400"/>
          </a:xfrm>
          <a:custGeom>
            <a:avLst/>
            <a:gdLst/>
            <a:ahLst/>
            <a:cxnLst/>
            <a:rect l="0" t="0" r="0" b="0"/>
            <a:pathLst>
              <a:path w="1803400" h="406400" fill="none">
                <a:moveTo>
                  <a:pt x="0" y="203200"/>
                </a:moveTo>
                <a:lnTo>
                  <a:pt x="152400" y="203200"/>
                </a:lnTo>
                <a:lnTo>
                  <a:pt x="339725" y="25400"/>
                </a:lnTo>
                <a:lnTo>
                  <a:pt x="527050" y="381000"/>
                </a:lnTo>
                <a:lnTo>
                  <a:pt x="714375" y="25400"/>
                </a:lnTo>
                <a:lnTo>
                  <a:pt x="901700" y="381000"/>
                </a:lnTo>
                <a:lnTo>
                  <a:pt x="1089025" y="25400"/>
                </a:lnTo>
                <a:lnTo>
                  <a:pt x="1276350" y="381000"/>
                </a:lnTo>
                <a:lnTo>
                  <a:pt x="1463675" y="25400"/>
                </a:lnTo>
                <a:lnTo>
                  <a:pt x="1651000" y="203200"/>
                </a:lnTo>
                <a:lnTo>
                  <a:pt x="1803400" y="203200"/>
                </a:lnTo>
              </a:path>
            </a:pathLst>
          </a:custGeom>
          <a:noFill/>
          <a:ln w="28575" cap="rnd">
            <a:solidFill>
              <a:srgbClr val="D8E2EC"/>
            </a:solidFill>
            <a:round/>
          </a:ln>
        </p:spPr>
        <p:txBody>
          <a:bodyPr/>
          <a:lstStyle/>
          <a:p>
            <a:endParaRPr/>
          </a:p>
        </p:txBody>
      </p:sp>
      <p:sp>
        <p:nvSpPr>
          <p:cNvPr id="204" name="Spring204"/>
          <p:cNvSpPr/>
          <p:nvPr/>
        </p:nvSpPr>
        <p:spPr>
          <a:xfrm>
            <a:off x="5029200" y="3606800"/>
            <a:ext cx="2082800" cy="406400"/>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205"/>
          <p:cNvSpPr/>
          <p:nvPr/>
        </p:nvSpPr>
        <p:spPr>
          <a:xfrm>
            <a:off x="8331200" y="3606800"/>
            <a:ext cx="1981200" cy="406400"/>
          </a:xfrm>
          <a:custGeom>
            <a:avLst/>
            <a:gdLst/>
            <a:ahLst/>
            <a:cxnLst/>
            <a:rect l="0" t="0" r="0" b="0"/>
            <a:pathLst>
              <a:path w="1981200" h="406400" fill="none">
                <a:moveTo>
                  <a:pt x="0" y="203200"/>
                </a:moveTo>
                <a:lnTo>
                  <a:pt x="152400" y="203200"/>
                </a:lnTo>
                <a:lnTo>
                  <a:pt x="361950" y="25400"/>
                </a:lnTo>
                <a:lnTo>
                  <a:pt x="571500" y="381000"/>
                </a:lnTo>
                <a:lnTo>
                  <a:pt x="781050" y="25400"/>
                </a:lnTo>
                <a:lnTo>
                  <a:pt x="990600" y="381000"/>
                </a:lnTo>
                <a:lnTo>
                  <a:pt x="1200150" y="25400"/>
                </a:lnTo>
                <a:lnTo>
                  <a:pt x="1409700" y="381000"/>
                </a:lnTo>
                <a:lnTo>
                  <a:pt x="1619250" y="25400"/>
                </a:lnTo>
                <a:lnTo>
                  <a:pt x="1828800" y="203200"/>
                </a:lnTo>
                <a:lnTo>
                  <a:pt x="1981200" y="203200"/>
                </a:lnTo>
              </a:path>
            </a:pathLst>
          </a:custGeom>
          <a:noFill/>
          <a:ln w="28575" cap="rnd">
            <a:solidFill>
              <a:srgbClr val="D8E2EC"/>
            </a:solidFill>
            <a:round/>
          </a:ln>
        </p:spPr>
        <p:txBody>
          <a:bodyPr/>
          <a:lstStyle/>
          <a:p>
            <a:endParaRPr/>
          </a:p>
        </p:txBody>
      </p:sp>
      <p:sp>
        <p:nvSpPr>
          <p:cNvPr id="206" name="m₁"/>
          <p:cNvSpPr/>
          <p:nvPr/>
        </p:nvSpPr>
        <p:spPr>
          <a:xfrm>
            <a:off x="3810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m₁</a:t>
            </a:r>
          </a:p>
        </p:txBody>
      </p:sp>
      <p:sp>
        <p:nvSpPr>
          <p:cNvPr id="207" name="m₂"/>
          <p:cNvSpPr/>
          <p:nvPr/>
        </p:nvSpPr>
        <p:spPr>
          <a:xfrm>
            <a:off x="7112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m₂</a:t>
            </a:r>
          </a:p>
        </p:txBody>
      </p:sp>
      <p:sp>
        <p:nvSpPr>
          <p:cNvPr id="208" name="lbl208"/>
          <p:cNvSpPr txBox="1"/>
          <p:nvPr/>
        </p:nvSpPr>
        <p:spPr>
          <a:xfrm>
            <a:off x="2400300" y="3073400"/>
            <a:ext cx="1016000" cy="304800"/>
          </a:xfrm>
          <a:prstGeom prst="rect">
            <a:avLst/>
          </a:prstGeom>
          <a:noFill/>
        </p:spPr>
        <p:txBody>
          <a:bodyPr wrap="none" anchor="ctr"/>
          <a:lstStyle/>
          <a:p>
            <a:pPr algn="ctr"/>
            <a:r>
              <a:rPr lang="en-US" sz="1600" b="1">
                <a:solidFill>
                  <a:srgbClr val="D8E2EC"/>
                </a:solidFill>
                <a:latin typeface="Segoe UI"/>
              </a:rPr>
              <a:t>k₁</a:t>
            </a:r>
          </a:p>
        </p:txBody>
      </p:sp>
      <p:sp>
        <p:nvSpPr>
          <p:cNvPr id="209" name="lbl209"/>
          <p:cNvSpPr txBox="1"/>
          <p:nvPr/>
        </p:nvSpPr>
        <p:spPr>
          <a:xfrm>
            <a:off x="5562600" y="3073400"/>
            <a:ext cx="1016000" cy="304800"/>
          </a:xfrm>
          <a:prstGeom prst="rect">
            <a:avLst/>
          </a:prstGeom>
          <a:noFill/>
        </p:spPr>
        <p:txBody>
          <a:bodyPr wrap="none" anchor="ctr"/>
          <a:lstStyle/>
          <a:p>
            <a:pPr algn="ctr"/>
            <a:r>
              <a:rPr lang="en-US" sz="1600" b="1">
                <a:solidFill>
                  <a:srgbClr val="D8E2EC"/>
                </a:solidFill>
                <a:latin typeface="Segoe UI"/>
              </a:rPr>
              <a:t>k₂</a:t>
            </a:r>
          </a:p>
        </p:txBody>
      </p:sp>
      <p:sp>
        <p:nvSpPr>
          <p:cNvPr id="210" name="lbl210"/>
          <p:cNvSpPr txBox="1"/>
          <p:nvPr/>
        </p:nvSpPr>
        <p:spPr>
          <a:xfrm>
            <a:off x="8813800" y="3073400"/>
            <a:ext cx="1016000" cy="304800"/>
          </a:xfrm>
          <a:prstGeom prst="rect">
            <a:avLst/>
          </a:prstGeom>
          <a:noFill/>
        </p:spPr>
        <p:txBody>
          <a:bodyPr wrap="none" anchor="ctr"/>
          <a:lstStyle/>
          <a:p>
            <a:pPr algn="ctr"/>
            <a:r>
              <a:rPr lang="en-US" sz="1600" b="1">
                <a:solidFill>
                  <a:srgbClr val="D8E2EC"/>
                </a:solidFill>
                <a:latin typeface="Segoe UI"/>
              </a:rPr>
              <a:t>k₃</a:t>
            </a:r>
          </a:p>
        </p:txBody>
      </p:sp>
      <p:sp>
        <p:nvSpPr>
          <p:cNvPr id="211" name="q211"/>
          <p:cNvSpPr/>
          <p:nvPr/>
        </p:nvSpPr>
        <p:spPr>
          <a:xfrm>
            <a:off x="3644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2" name="q212"/>
          <p:cNvSpPr/>
          <p:nvPr/>
        </p:nvSpPr>
        <p:spPr>
          <a:xfrm>
            <a:off x="4864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3" name="q213"/>
          <p:cNvSpPr/>
          <p:nvPr/>
        </p:nvSpPr>
        <p:spPr>
          <a:xfrm>
            <a:off x="6946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4" name="q214"/>
          <p:cNvSpPr/>
          <p:nvPr/>
        </p:nvSpPr>
        <p:spPr>
          <a:xfrm>
            <a:off x="8166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Tree>
    <p:extLst>
      <p:ext uri="{BB962C8B-B14F-4D97-AF65-F5344CB8AC3E}">
        <p14:creationId xmlns:p14="http://schemas.microsoft.com/office/powerpoint/2010/main" val="281464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1188720" y="1371600"/>
            <a:ext cx="9784080" cy="1477328"/>
          </a:xfrm>
          <a:prstGeom prst="rect">
            <a:avLst/>
          </a:prstGeom>
          <a:noFill/>
        </p:spPr>
        <p:txBody>
          <a:bodyPr wrap="square">
            <a:spAutoFit/>
          </a:bodyPr>
          <a:lstStyle/>
          <a:p>
            <a:r>
              <a:rPr lang="pl-PL" sz="3000" i="1" dirty="0">
                <a:solidFill>
                  <a:srgbClr val="FFFFFF"/>
                </a:solidFill>
                <a:latin typeface="Segoe UI"/>
              </a:rPr>
              <a:t>General </a:t>
            </a:r>
            <a:r>
              <a:rPr lang="pl-PL" sz="3000" i="1" dirty="0" err="1">
                <a:solidFill>
                  <a:srgbClr val="FFFFFF"/>
                </a:solidFill>
                <a:latin typeface="Segoe UI"/>
              </a:rPr>
              <a:t>good</a:t>
            </a:r>
            <a:r>
              <a:rPr lang="pl-PL" sz="3000" i="1" dirty="0">
                <a:solidFill>
                  <a:srgbClr val="FFFFFF"/>
                </a:solidFill>
                <a:latin typeface="Segoe UI"/>
              </a:rPr>
              <a:t> idea:</a:t>
            </a:r>
          </a:p>
          <a:p>
            <a:r>
              <a:rPr lang="pl-PL" sz="3000" i="1" dirty="0" err="1">
                <a:solidFill>
                  <a:srgbClr val="FFFFFF"/>
                </a:solidFill>
                <a:latin typeface="Segoe UI"/>
              </a:rPr>
              <a:t>Choose</a:t>
            </a:r>
            <a:r>
              <a:rPr lang="pl-PL" sz="3000" i="1" dirty="0">
                <a:solidFill>
                  <a:srgbClr val="FFFFFF"/>
                </a:solidFill>
                <a:latin typeface="Segoe UI"/>
              </a:rPr>
              <a:t> </a:t>
            </a:r>
            <a:r>
              <a:rPr lang="pl-PL" sz="3000" i="1" dirty="0" err="1">
                <a:solidFill>
                  <a:srgbClr val="FFFFFF"/>
                </a:solidFill>
                <a:latin typeface="Segoe UI"/>
              </a:rPr>
              <a:t>correct</a:t>
            </a:r>
            <a:r>
              <a:rPr lang="pl-PL" sz="3000" i="1" dirty="0">
                <a:solidFill>
                  <a:srgbClr val="FFFFFF"/>
                </a:solidFill>
                <a:latin typeface="Segoe UI"/>
              </a:rPr>
              <a:t> </a:t>
            </a:r>
            <a:r>
              <a:rPr lang="pl-PL" sz="3000" i="1" dirty="0" err="1">
                <a:solidFill>
                  <a:srgbClr val="FFFFFF"/>
                </a:solidFill>
                <a:latin typeface="Segoe UI"/>
              </a:rPr>
              <a:t>states</a:t>
            </a:r>
            <a:r>
              <a:rPr lang="pl-PL" sz="3000" i="1" dirty="0">
                <a:solidFill>
                  <a:srgbClr val="FFFFFF"/>
                </a:solidFill>
                <a:latin typeface="Segoe UI"/>
              </a:rPr>
              <a:t> and </a:t>
            </a:r>
            <a:r>
              <a:rPr lang="pl-PL" sz="3000" i="1" dirty="0" err="1">
                <a:solidFill>
                  <a:srgbClr val="FFFFFF"/>
                </a:solidFill>
                <a:latin typeface="Segoe UI"/>
              </a:rPr>
              <a:t>make</a:t>
            </a:r>
            <a:r>
              <a:rPr lang="pl-PL" sz="3000" i="1" dirty="0">
                <a:solidFill>
                  <a:srgbClr val="FFFFFF"/>
                </a:solidFill>
                <a:latin typeface="Segoe UI"/>
              </a:rPr>
              <a:t> </a:t>
            </a:r>
            <a:r>
              <a:rPr lang="pl-PL" sz="3000" i="1" dirty="0" err="1">
                <a:solidFill>
                  <a:srgbClr val="FFFFFF"/>
                </a:solidFill>
                <a:latin typeface="Segoe UI"/>
              </a:rPr>
              <a:t>everything</a:t>
            </a:r>
            <a:r>
              <a:rPr lang="pl-PL" sz="3000" i="1" dirty="0">
                <a:solidFill>
                  <a:srgbClr val="FFFFFF"/>
                </a:solidFill>
                <a:latin typeface="Segoe UI"/>
              </a:rPr>
              <a:t> </a:t>
            </a:r>
            <a:r>
              <a:rPr lang="pl-PL" sz="3000" i="1" dirty="0" err="1">
                <a:solidFill>
                  <a:srgbClr val="FFFFFF"/>
                </a:solidFill>
                <a:latin typeface="Segoe UI"/>
              </a:rPr>
              <a:t>else</a:t>
            </a:r>
            <a:r>
              <a:rPr lang="pl-PL" sz="3000" i="1" dirty="0">
                <a:solidFill>
                  <a:srgbClr val="FFFFFF"/>
                </a:solidFill>
                <a:latin typeface="Segoe UI"/>
              </a:rPr>
              <a:t> a </a:t>
            </a:r>
            <a:r>
              <a:rPr lang="pl-PL" sz="3000" i="1" dirty="0" err="1">
                <a:solidFill>
                  <a:srgbClr val="FFFFFF"/>
                </a:solidFill>
                <a:latin typeface="Segoe UI"/>
              </a:rPr>
              <a:t>pure</a:t>
            </a:r>
            <a:r>
              <a:rPr lang="pl-PL" sz="3000" i="1" dirty="0">
                <a:solidFill>
                  <a:srgbClr val="FFFFFF"/>
                </a:solidFill>
                <a:latin typeface="Segoe UI"/>
              </a:rPr>
              <a:t> </a:t>
            </a:r>
            <a:r>
              <a:rPr lang="pl-PL" sz="3000" i="1" dirty="0" err="1">
                <a:solidFill>
                  <a:srgbClr val="FFFFFF"/>
                </a:solidFill>
                <a:latin typeface="Segoe UI"/>
              </a:rPr>
              <a:t>state</a:t>
            </a:r>
            <a:r>
              <a:rPr lang="pl-PL" sz="3000" i="1" dirty="0">
                <a:solidFill>
                  <a:srgbClr val="FFFFFF"/>
                </a:solidFill>
                <a:latin typeface="Segoe UI"/>
              </a:rPr>
              <a:t> </a:t>
            </a:r>
            <a:r>
              <a:rPr lang="pl-PL" sz="3000" i="1" dirty="0" err="1">
                <a:solidFill>
                  <a:srgbClr val="FFFFFF"/>
                </a:solidFill>
                <a:latin typeface="Segoe UI"/>
              </a:rPr>
              <a:t>function</a:t>
            </a:r>
            <a:r>
              <a:rPr lang="pl-PL" sz="3000" i="1" dirty="0">
                <a:solidFill>
                  <a:srgbClr val="FFFFFF"/>
                </a:solidFill>
                <a:latin typeface="Segoe UI"/>
              </a:rPr>
              <a:t>.</a:t>
            </a:r>
            <a:endParaRPr sz="3000" b="0" i="1" dirty="0">
              <a:solidFill>
                <a:srgbClr val="FFFFFF"/>
              </a:solidFill>
              <a:latin typeface="Segoe UI"/>
            </a:endParaRPr>
          </a:p>
        </p:txBody>
      </p:sp>
      <p:sp>
        <p:nvSpPr>
          <p:cNvPr id="4" name="TextBox 3"/>
          <p:cNvSpPr txBox="1"/>
          <p:nvPr/>
        </p:nvSpPr>
        <p:spPr>
          <a:xfrm>
            <a:off x="719519" y="5120640"/>
            <a:ext cx="10722487" cy="430887"/>
          </a:xfrm>
          <a:prstGeom prst="rect">
            <a:avLst/>
          </a:prstGeom>
          <a:noFill/>
        </p:spPr>
        <p:txBody>
          <a:bodyPr wrap="none">
            <a:spAutoFit/>
          </a:bodyPr>
          <a:lstStyle/>
          <a:p>
            <a:pPr algn="ctr"/>
            <a:r>
              <a:rPr sz="2200" b="1" dirty="0">
                <a:solidFill>
                  <a:srgbClr val="35C4E8"/>
                </a:solidFill>
                <a:latin typeface="Segoe UI"/>
              </a:rPr>
              <a:t>SOPOT — “Obviously Physics, Obviously Templates” — </a:t>
            </a:r>
            <a:r>
              <a:rPr lang="pl-PL" sz="2200" b="1" dirty="0" err="1">
                <a:solidFill>
                  <a:srgbClr val="35C4E8"/>
                </a:solidFill>
                <a:latin typeface="Segoe UI"/>
              </a:rPr>
              <a:t>tries</a:t>
            </a:r>
            <a:r>
              <a:rPr lang="pl-PL" sz="2200" b="1" dirty="0">
                <a:solidFill>
                  <a:srgbClr val="35C4E8"/>
                </a:solidFill>
                <a:latin typeface="Segoe UI"/>
              </a:rPr>
              <a:t> to </a:t>
            </a:r>
            <a:r>
              <a:rPr lang="pl-PL" sz="2200" b="1" dirty="0" err="1">
                <a:solidFill>
                  <a:srgbClr val="35C4E8"/>
                </a:solidFill>
                <a:latin typeface="Segoe UI"/>
              </a:rPr>
              <a:t>capture</a:t>
            </a:r>
            <a:r>
              <a:rPr lang="pl-PL" sz="2200" b="1" dirty="0">
                <a:solidFill>
                  <a:srgbClr val="35C4E8"/>
                </a:solidFill>
                <a:latin typeface="Segoe UI"/>
              </a:rPr>
              <a:t> </a:t>
            </a:r>
            <a:r>
              <a:rPr lang="pl-PL" sz="2200" b="1" dirty="0" err="1">
                <a:solidFill>
                  <a:srgbClr val="35C4E8"/>
                </a:solidFill>
                <a:latin typeface="Segoe UI"/>
              </a:rPr>
              <a:t>this</a:t>
            </a:r>
            <a:r>
              <a:rPr lang="pl-PL" sz="2200" b="1" dirty="0">
                <a:solidFill>
                  <a:srgbClr val="35C4E8"/>
                </a:solidFill>
                <a:latin typeface="Segoe UI"/>
              </a:rPr>
              <a:t> idea</a:t>
            </a:r>
            <a:endParaRPr sz="2200" b="1" dirty="0">
              <a:solidFill>
                <a:srgbClr val="35C4E8"/>
              </a:solidFill>
              <a:latin typeface="Segoe UI"/>
            </a:endParaRP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39" y="1508760"/>
            <a:ext cx="10385659" cy="41422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9855307" cy="2900794"/>
          </a:xfrm>
          <a:prstGeom prst="rect">
            <a:avLst/>
          </a:prstGeom>
          <a:noFill/>
        </p:spPr>
        <p:txBody>
          <a:bodyPr wrap="none">
            <a:spAutoFit/>
          </a:bodyPr>
          <a:lstStyle/>
          <a:p>
            <a:pPr>
              <a:spcAft>
                <a:spcPts val="100"/>
              </a:spcAft>
            </a:pPr>
            <a:r>
              <a:rPr sz="1600">
                <a:solidFill>
                  <a:srgbClr val="6A9955"/>
                </a:solidFill>
                <a:latin typeface="Consolas"/>
              </a:rPr>
              <a:t>// derivs.cpp — all of physics in one function</a:t>
            </a:r>
          </a:p>
          <a:p>
            <a:pPr>
              <a:spcAft>
                <a:spcPts val="100"/>
              </a:spcAft>
            </a:pPr>
            <a:r>
              <a:rPr sz="1600">
                <a:solidFill>
                  <a:srgbClr val="4EC9B0"/>
                </a:solidFill>
                <a:latin typeface="Consolas"/>
              </a:rPr>
              <a:t>void</a:t>
            </a:r>
            <a:r>
              <a:rPr sz="1600">
                <a:solidFill>
                  <a:srgbClr val="D4D4D4"/>
                </a:solidFill>
                <a:latin typeface="Consolas"/>
              </a:rPr>
              <a:t> derivs(</a:t>
            </a:r>
            <a:r>
              <a:rPr sz="1600">
                <a:solidFill>
                  <a:srgbClr val="4EC9B0"/>
                </a:solidFill>
                <a:latin typeface="Consolas"/>
              </a:rPr>
              <a:t>double</a:t>
            </a:r>
            <a:r>
              <a:rPr sz="1600">
                <a:solidFill>
                  <a:srgbClr val="D4D4D4"/>
                </a:solidFill>
                <a:latin typeface="Consolas"/>
              </a:rPr>
              <a:t> 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y, </a:t>
            </a:r>
            <a:r>
              <a:rPr sz="1600">
                <a:solidFill>
                  <a:srgbClr val="4EC9B0"/>
                </a:solidFill>
                <a:latin typeface="Consolas"/>
              </a:rPr>
              <a:t>double</a:t>
            </a:r>
            <a:r>
              <a:rPr sz="1600">
                <a:solidFill>
                  <a:srgbClr val="D4D4D4"/>
                </a:solidFill>
                <a:latin typeface="Consolas"/>
              </a:rPr>
              <a:t>* dydt) {</a:t>
            </a:r>
          </a:p>
          <a:p>
            <a:pPr>
              <a:spcAft>
                <a:spcPts val="100"/>
              </a:spcAft>
            </a:pPr>
            <a:r>
              <a:rPr sz="1600">
                <a:solidFill>
                  <a:srgbClr val="D4D4D4"/>
                </a:solidFill>
                <a:latin typeface="Consolas"/>
              </a:rPr>
              <a:t>    </a:t>
            </a:r>
            <a:r>
              <a:rPr sz="1600">
                <a:solidFill>
                  <a:srgbClr val="6A9955"/>
                </a:solidFill>
                <a:latin typeface="Consolas"/>
              </a:rPr>
              <a:t>// y[0..2] pos, y[3..5] vel, y[6..9] quat, y[10..12] omega, y[13] mass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rho = </a:t>
            </a:r>
            <a:r>
              <a:rPr sz="1600">
                <a:solidFill>
                  <a:srgbClr val="B5CEA8"/>
                </a:solidFill>
                <a:latin typeface="Consolas"/>
              </a:rPr>
              <a:t>1.225</a:t>
            </a:r>
            <a:r>
              <a:rPr sz="1600">
                <a:solidFill>
                  <a:srgbClr val="D4D4D4"/>
                </a:solidFill>
                <a:latin typeface="Consolas"/>
              </a:rPr>
              <a:t> * exp(-y[</a:t>
            </a:r>
            <a:r>
              <a:rPr sz="1600">
                <a:solidFill>
                  <a:srgbClr val="B5CEA8"/>
                </a:solidFill>
                <a:latin typeface="Consolas"/>
              </a:rPr>
              <a:t>2</a:t>
            </a:r>
            <a:r>
              <a:rPr sz="1600">
                <a:solidFill>
                  <a:srgbClr val="D4D4D4"/>
                </a:solidFill>
                <a:latin typeface="Consolas"/>
              </a:rPr>
              <a:t>] / </a:t>
            </a:r>
            <a:r>
              <a:rPr sz="1600">
                <a:solidFill>
                  <a:srgbClr val="B5CEA8"/>
                </a:solidFill>
                <a:latin typeface="Consolas"/>
              </a:rPr>
              <a:t>8500.0</a:t>
            </a:r>
            <a:r>
              <a:rPr sz="1600">
                <a:solidFill>
                  <a:srgbClr val="D4D4D4"/>
                </a:solidFill>
                <a:latin typeface="Consolas"/>
              </a:rPr>
              <a:t>);            </a:t>
            </a:r>
            <a:r>
              <a:rPr sz="1600">
                <a:solidFill>
                  <a:srgbClr val="6A9955"/>
                </a:solidFill>
                <a:latin typeface="Consolas"/>
              </a:rPr>
              <a:t>// atmosphere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v2  = y[</a:t>
            </a:r>
            <a:r>
              <a:rPr sz="1600">
                <a:solidFill>
                  <a:srgbClr val="B5CEA8"/>
                </a:solidFill>
                <a:latin typeface="Consolas"/>
              </a:rPr>
              <a:t>3</a:t>
            </a:r>
            <a:r>
              <a:rPr sz="1600">
                <a:solidFill>
                  <a:srgbClr val="D4D4D4"/>
                </a:solidFill>
                <a:latin typeface="Consolas"/>
              </a:rPr>
              <a:t>]*y[</a:t>
            </a:r>
            <a:r>
              <a:rPr sz="1600">
                <a:solidFill>
                  <a:srgbClr val="B5CEA8"/>
                </a:solidFill>
                <a:latin typeface="Consolas"/>
              </a:rPr>
              <a:t>3</a:t>
            </a:r>
            <a:r>
              <a:rPr sz="1600">
                <a:solidFill>
                  <a:srgbClr val="D4D4D4"/>
                </a:solidFill>
                <a:latin typeface="Consolas"/>
              </a:rPr>
              <a:t>] + y[</a:t>
            </a:r>
            <a:r>
              <a:rPr sz="1600">
                <a:solidFill>
                  <a:srgbClr val="B5CEA8"/>
                </a:solidFill>
                <a:latin typeface="Consolas"/>
              </a:rPr>
              <a:t>4</a:t>
            </a:r>
            <a:r>
              <a:rPr sz="1600">
                <a:solidFill>
                  <a:srgbClr val="D4D4D4"/>
                </a:solidFill>
                <a:latin typeface="Consolas"/>
              </a:rPr>
              <a:t>]*y[</a:t>
            </a:r>
            <a:r>
              <a:rPr sz="1600">
                <a:solidFill>
                  <a:srgbClr val="B5CEA8"/>
                </a:solidFill>
                <a:latin typeface="Consolas"/>
              </a:rPr>
              <a:t>4</a:t>
            </a:r>
            <a:r>
              <a:rPr sz="1600">
                <a:solidFill>
                  <a:srgbClr val="D4D4D4"/>
                </a:solidFill>
                <a:latin typeface="Consolas"/>
              </a:rPr>
              <a:t>] + y[</a:t>
            </a:r>
            <a:r>
              <a:rPr sz="1600">
                <a:solidFill>
                  <a:srgbClr val="B5CEA8"/>
                </a:solidFill>
                <a:latin typeface="Consolas"/>
              </a:rPr>
              <a:t>5</a:t>
            </a:r>
            <a:r>
              <a:rPr sz="1600">
                <a:solidFill>
                  <a:srgbClr val="D4D4D4"/>
                </a:solidFill>
                <a:latin typeface="Consolas"/>
              </a:rPr>
              <a:t>]*y[</a:t>
            </a:r>
            <a:r>
              <a:rPr sz="1600">
                <a:solidFill>
                  <a:srgbClr val="B5CEA8"/>
                </a:solidFill>
                <a:latin typeface="Consolas"/>
              </a:rPr>
              <a:t>5</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Fd</a:t>
            </a:r>
            <a:r>
              <a:rPr sz="1600">
                <a:solidFill>
                  <a:srgbClr val="D4D4D4"/>
                </a:solidFill>
                <a:latin typeface="Consolas"/>
              </a:rPr>
              <a:t>  = </a:t>
            </a:r>
            <a:r>
              <a:rPr sz="1600">
                <a:solidFill>
                  <a:srgbClr val="B5CEA8"/>
                </a:solidFill>
                <a:latin typeface="Consolas"/>
              </a:rPr>
              <a:t>0.5</a:t>
            </a:r>
            <a:r>
              <a:rPr sz="1600">
                <a:solidFill>
                  <a:srgbClr val="D4D4D4"/>
                </a:solidFill>
                <a:latin typeface="Consolas"/>
              </a:rPr>
              <a:t> * rho * v2 * CD * AREA;             </a:t>
            </a:r>
            <a:r>
              <a:rPr sz="1600">
                <a:solidFill>
                  <a:srgbClr val="6A9955"/>
                </a:solidFill>
                <a:latin typeface="Consolas"/>
              </a:rPr>
              <a:t>// aero drag</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Ft</a:t>
            </a:r>
            <a:r>
              <a:rPr sz="1600">
                <a:solidFill>
                  <a:srgbClr val="D4D4D4"/>
                </a:solidFill>
                <a:latin typeface="Consolas"/>
              </a:rPr>
              <a:t>  = thrust_table_lookup(t);                 </a:t>
            </a:r>
            <a:r>
              <a:rPr sz="1600">
                <a:solidFill>
                  <a:srgbClr val="6A9955"/>
                </a:solidFill>
                <a:latin typeface="Consolas"/>
              </a:rPr>
              <a:t>// propulsion</a:t>
            </a:r>
          </a:p>
          <a:p>
            <a:pPr>
              <a:spcAft>
                <a:spcPts val="100"/>
              </a:spcAft>
            </a:pPr>
            <a:r>
              <a:rPr sz="1600">
                <a:solidFill>
                  <a:srgbClr val="D4D4D4"/>
                </a:solidFill>
                <a:latin typeface="Consolas"/>
              </a:rPr>
              <a:t>    dydt[</a:t>
            </a:r>
            <a:r>
              <a:rPr sz="1600">
                <a:solidFill>
                  <a:srgbClr val="B5CEA8"/>
                </a:solidFill>
                <a:latin typeface="Consolas"/>
              </a:rPr>
              <a:t>3</a:t>
            </a:r>
            <a:r>
              <a:rPr sz="1600">
                <a:solidFill>
                  <a:srgbClr val="D4D4D4"/>
                </a:solidFill>
                <a:latin typeface="Consolas"/>
              </a:rPr>
              <a:t>] = (</a:t>
            </a:r>
            <a:r>
              <a:rPr sz="1600">
                <a:solidFill>
                  <a:srgbClr val="4EC9B0"/>
                </a:solidFill>
                <a:latin typeface="Consolas"/>
              </a:rPr>
              <a:t>Ft</a:t>
            </a:r>
            <a:r>
              <a:rPr sz="1600">
                <a:solidFill>
                  <a:srgbClr val="D4D4D4"/>
                </a:solidFill>
                <a:latin typeface="Consolas"/>
              </a:rPr>
              <a:t>*ax(y) - </a:t>
            </a:r>
            <a:r>
              <a:rPr sz="1600">
                <a:solidFill>
                  <a:srgbClr val="4EC9B0"/>
                </a:solidFill>
                <a:latin typeface="Consolas"/>
              </a:rPr>
              <a:t>Fd</a:t>
            </a:r>
            <a:r>
              <a:rPr sz="1600">
                <a:solidFill>
                  <a:srgbClr val="D4D4D4"/>
                </a:solidFill>
                <a:latin typeface="Consolas"/>
              </a:rPr>
              <a:t>*vx_hat(y)) / y[</a:t>
            </a:r>
            <a:r>
              <a:rPr sz="1600">
                <a:solidFill>
                  <a:srgbClr val="B5CEA8"/>
                </a:solidFill>
                <a:latin typeface="Consolas"/>
              </a:rPr>
              <a:t>13</a:t>
            </a:r>
            <a:r>
              <a:rPr sz="1600">
                <a:solidFill>
                  <a:srgbClr val="D4D4D4"/>
                </a:solidFill>
                <a:latin typeface="Consolas"/>
              </a:rPr>
              <a:t>];         </a:t>
            </a:r>
            <a:r>
              <a:rPr sz="1600">
                <a:solidFill>
                  <a:srgbClr val="6A9955"/>
                </a:solidFill>
                <a:latin typeface="Consolas"/>
              </a:rPr>
              <a:t>// dynamics</a:t>
            </a:r>
          </a:p>
          <a:p>
            <a:pPr>
              <a:spcAft>
                <a:spcPts val="100"/>
              </a:spcAft>
            </a:pPr>
            <a:r>
              <a:rPr sz="1600">
                <a:solidFill>
                  <a:srgbClr val="D4D4D4"/>
                </a:solidFill>
                <a:latin typeface="Consolas"/>
              </a:rPr>
              <a:t>    </a:t>
            </a:r>
            <a:r>
              <a:rPr sz="1600">
                <a:solidFill>
                  <a:srgbClr val="6A9955"/>
                </a:solidFill>
                <a:latin typeface="Consolas"/>
              </a:rPr>
              <a:t>/* ... 400 more lines, every subsystem interleaved ...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dirty="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59"/>
            <a:ext cx="11155680" cy="445890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1"/>
            <a:ext cx="10788957" cy="3575338"/>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void</a:t>
            </a:r>
            <a:r>
              <a:rPr sz="1600">
                <a:solidFill>
                  <a:srgbClr val="D4D4D4"/>
                </a:solidFill>
                <a:latin typeface="Consolas"/>
              </a:rPr>
              <a:t> computeDerivatives(</a:t>
            </a:r>
            <a:r>
              <a:rPr sz="1600">
                <a:solidFill>
                  <a:srgbClr val="4EC9B0"/>
                </a:solidFill>
                <a:latin typeface="Consolas"/>
              </a:rPr>
              <a:t>double</a:t>
            </a:r>
            <a:r>
              <a:rPr sz="1600">
                <a:solidFill>
                  <a:srgbClr val="D4D4D4"/>
                </a:solidFill>
                <a:latin typeface="Consolas"/>
              </a:rPr>
              <a:t> 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state,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dydt) = </a:t>
            </a:r>
            <a:r>
              <a:rPr sz="1600">
                <a:solidFill>
                  <a:srgbClr val="B5CEA8"/>
                </a:solidFill>
                <a:latin typeface="Consolas"/>
              </a:rPr>
              <a:t>0</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569CD6"/>
                </a:solidFill>
                <a:latin typeface="Consolas"/>
              </a:rPr>
              <a:t>virtual</a:t>
            </a:r>
            <a:r>
              <a:rPr sz="1600" b="1">
                <a:solidFill>
                  <a:srgbClr val="D4D4D4"/>
                </a:solidFill>
                <a:latin typeface="Consolas"/>
              </a:rPr>
              <a:t> </a:t>
            </a:r>
            <a:r>
              <a:rPr sz="1600" b="1">
                <a:solidFill>
                  <a:srgbClr val="4EC9B0"/>
                </a:solidFill>
                <a:latin typeface="Consolas"/>
              </a:rPr>
              <a:t>double</a:t>
            </a:r>
            <a:r>
              <a:rPr sz="1600" b="1">
                <a:solidFill>
                  <a:srgbClr val="D4D4D4"/>
                </a:solidFill>
                <a:latin typeface="Consolas"/>
              </a:rPr>
              <a:t> getOutput(</a:t>
            </a:r>
            <a:r>
              <a:rPr sz="1600" b="1">
                <a:solidFill>
                  <a:srgbClr val="569CD6"/>
                </a:solidFill>
                <a:latin typeface="Consolas"/>
              </a:rPr>
              <a:t>const</a:t>
            </a:r>
            <a:r>
              <a:rPr sz="1600" b="1">
                <a:solidFill>
                  <a:srgbClr val="D4D4D4"/>
                </a:solidFill>
                <a:latin typeface="Consolas"/>
              </a:rPr>
              <a:t> std::string&amp; name) = </a:t>
            </a:r>
            <a:r>
              <a:rPr sz="1600" b="1">
                <a:solidFill>
                  <a:srgbClr val="B5CEA8"/>
                </a:solidFill>
                <a:latin typeface="Consolas"/>
              </a:rPr>
              <a:t>0</a:t>
            </a:r>
            <a:r>
              <a:rPr sz="1600" b="1">
                <a:solidFill>
                  <a:srgbClr val="D4D4D4"/>
                </a:solidFill>
                <a:latin typeface="Consolas"/>
              </a:rPr>
              <a:t>;  </a:t>
            </a:r>
            <a:r>
              <a:rPr sz="1600" b="1">
                <a:solidFill>
                  <a:srgbClr val="6A9955"/>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 </a:t>
            </a:r>
            <a:r>
              <a:rPr sz="1600">
                <a:solidFill>
                  <a:srgbClr val="569CD6"/>
                </a:solidFill>
                <a:latin typeface="Consolas"/>
              </a:rPr>
              <a:t>default</a:t>
            </a:r>
            <a:r>
              <a:rPr sz="1600">
                <a:solidFill>
                  <a:srgbClr val="D4D4D4"/>
                </a:solidFill>
                <a:latin typeface="Consolas"/>
              </a:rPr>
              <a:t>;</a:t>
            </a:r>
          </a:p>
          <a:p>
            <a:pPr>
              <a:spcAft>
                <a:spcPts val="100"/>
              </a:spcAft>
            </a:pP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std::vector&lt;std::unique_ptr&lt;</a:t>
            </a:r>
            <a:r>
              <a:rPr sz="1600">
                <a:solidFill>
                  <a:srgbClr val="4EC9B0"/>
                </a:solidFill>
                <a:latin typeface="Consolas"/>
              </a:rPr>
              <a:t>Component</a:t>
            </a:r>
            <a:r>
              <a:rPr sz="1600">
                <a:solidFill>
                  <a:srgbClr val="D4D4D4"/>
                </a:solidFill>
                <a:latin typeface="Consolas"/>
              </a:rPr>
              <a:t>&gt;&gt; components;</a:t>
            </a:r>
          </a:p>
          <a:p>
            <a:pPr>
              <a:spcAft>
                <a:spcPts val="100"/>
              </a:spcAft>
            </a:pPr>
            <a:r>
              <a:rPr sz="1600" b="1">
                <a:solidFill>
                  <a:srgbClr val="569CD6"/>
                </a:solidFill>
                <a:latin typeface="Consolas"/>
              </a:rPr>
              <a:t>for</a:t>
            </a:r>
            <a:r>
              <a:rPr sz="1600" b="1">
                <a:solidFill>
                  <a:srgbClr val="D4D4D4"/>
                </a:solidFill>
                <a:latin typeface="Consolas"/>
              </a:rPr>
              <a:t> (</a:t>
            </a:r>
            <a:r>
              <a:rPr sz="1600" b="1">
                <a:solidFill>
                  <a:srgbClr val="569CD6"/>
                </a:solidFill>
                <a:latin typeface="Consolas"/>
              </a:rPr>
              <a:t>auto</a:t>
            </a:r>
            <a:r>
              <a:rPr sz="1600" b="1">
                <a:solidFill>
                  <a:srgbClr val="D4D4D4"/>
                </a:solidFill>
                <a:latin typeface="Consolas"/>
              </a:rPr>
              <a:t>&amp; c : components)              </a:t>
            </a:r>
            <a:r>
              <a:rPr sz="1600" b="1">
                <a:solidFill>
                  <a:srgbClr val="6A9955"/>
                </a:solidFill>
                <a:latin typeface="Consolas"/>
              </a:rPr>
              <a:t>// innermost loop of RK4,</a:t>
            </a:r>
          </a:p>
          <a:p>
            <a:pPr>
              <a:spcAft>
                <a:spcPts val="100"/>
              </a:spcAft>
            </a:pPr>
            <a:r>
              <a:rPr sz="1600" b="1">
                <a:solidFill>
                  <a:srgbClr val="D4D4D4"/>
                </a:solidFill>
                <a:latin typeface="Consolas"/>
              </a:rPr>
              <a:t>    c-&gt;computeDerivatives(t, y, dydt);  </a:t>
            </a:r>
            <a:r>
              <a:rPr sz="1600" b="1">
                <a:solidFill>
                  <a:srgbClr val="6A9955"/>
                </a:solidFill>
                <a:latin typeface="Consolas"/>
              </a:rPr>
              <a:t>// 4x per step, 1000s of steps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4980968" y="5029200"/>
            <a:ext cx="2291012" cy="523220"/>
          </a:xfrm>
          <a:prstGeom prst="rect">
            <a:avLst/>
          </a:prstGeom>
          <a:noFill/>
        </p:spPr>
        <p:txBody>
          <a:bodyPr wrap="none">
            <a:spAutoFit/>
          </a:bodyPr>
          <a:lstStyle/>
          <a:p>
            <a:pPr algn="ctr"/>
            <a:r>
              <a:rPr lang="pl-PL" sz="2800" b="1" dirty="0" err="1">
                <a:solidFill>
                  <a:srgbClr val="F2C744"/>
                </a:solidFill>
                <a:latin typeface="Segoe UI"/>
              </a:rPr>
              <a:t>Can</a:t>
            </a:r>
            <a:r>
              <a:rPr lang="pl-PL" sz="2800" b="1" dirty="0">
                <a:solidFill>
                  <a:srgbClr val="F2C744"/>
                </a:solidFill>
                <a:latin typeface="Segoe UI"/>
              </a:rPr>
              <a:t> be </a:t>
            </a:r>
            <a:r>
              <a:rPr lang="pl-PL" sz="2800" b="1" dirty="0" err="1">
                <a:solidFill>
                  <a:srgbClr val="F2C744"/>
                </a:solidFill>
                <a:latin typeface="Segoe UI"/>
              </a:rPr>
              <a:t>done</a:t>
            </a:r>
            <a:endParaRPr sz="2800" b="1" dirty="0">
              <a:solidFill>
                <a:srgbClr val="F2C744"/>
              </a:solidFill>
              <a:latin typeface="Segoe UI"/>
            </a:endParaRP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4" name="Rounded Rectangle 3"/>
          <p:cNvSpPr/>
          <p:nvPr/>
        </p:nvSpPr>
        <p:spPr>
          <a:xfrm>
            <a:off x="1828800" y="1722923"/>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1</a:t>
            </a:r>
          </a:p>
        </p:txBody>
      </p:sp>
      <p:sp>
        <p:nvSpPr>
          <p:cNvPr id="5" name="Rounded Rectangle 4"/>
          <p:cNvSpPr/>
          <p:nvPr/>
        </p:nvSpPr>
        <p:spPr>
          <a:xfrm>
            <a:off x="8778240" y="1722923"/>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2</a:t>
            </a:r>
          </a:p>
        </p:txBody>
      </p:sp>
      <p:sp>
        <p:nvSpPr>
          <p:cNvPr id="6" name="Rounded Rectangle 5"/>
          <p:cNvSpPr/>
          <p:nvPr/>
        </p:nvSpPr>
        <p:spPr>
          <a:xfrm>
            <a:off x="4572000" y="1860083"/>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Segoe UI"/>
              </a:rPr>
              <a:t>Spring  k, L0</a:t>
            </a:r>
          </a:p>
        </p:txBody>
      </p:sp>
      <p:cxnSp>
        <p:nvCxnSpPr>
          <p:cNvPr id="7" name="Connector 6"/>
          <p:cNvCxnSpPr/>
          <p:nvPr/>
        </p:nvCxnSpPr>
        <p:spPr>
          <a:xfrm>
            <a:off x="338328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3647978"/>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dirty="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everything above</a:t>
            </a:r>
          </a:p>
        </p:txBody>
      </p:sp>
      <p:sp>
        <p:nvSpPr>
          <p:cNvPr id="20" name="TextBox 19"/>
          <p:cNvSpPr txBox="1"/>
          <p:nvPr/>
        </p:nvSpPr>
        <p:spPr>
          <a:xfrm>
            <a:off x="548640" y="4983480"/>
            <a:ext cx="11064240" cy="1128514"/>
          </a:xfrm>
          <a:prstGeom prst="rect">
            <a:avLst/>
          </a:prstGeom>
          <a:noFill/>
        </p:spPr>
        <p:txBody>
          <a:bodyPr wrap="square">
            <a:spAutoFit/>
          </a:bodyPr>
          <a:lstStyle/>
          <a:p>
            <a:pPr>
              <a:spcAft>
                <a:spcPts val="800"/>
              </a:spcAft>
            </a:pPr>
            <a:r>
              <a:rPr sz="1800" dirty="0">
                <a:solidFill>
                  <a:srgbClr val="35C4E8"/>
                </a:solidFill>
                <a:latin typeface="Segoe UI"/>
              </a:rPr>
              <a:t>•  </a:t>
            </a:r>
            <a:r>
              <a:rPr lang="pl-PL" sz="1800" dirty="0" err="1">
                <a:solidFill>
                  <a:srgbClr val="D8E2EC"/>
                </a:solidFill>
                <a:latin typeface="Segoe UI"/>
              </a:rPr>
              <a:t>Composition</a:t>
            </a:r>
            <a:r>
              <a:rPr lang="pl-PL" sz="1800" dirty="0">
                <a:solidFill>
                  <a:srgbClr val="D8E2EC"/>
                </a:solidFill>
                <a:latin typeface="Segoe UI"/>
              </a:rPr>
              <a:t> </a:t>
            </a:r>
            <a:r>
              <a:rPr lang="pl-PL" dirty="0">
                <a:solidFill>
                  <a:srgbClr val="D8E2EC"/>
                </a:solidFill>
                <a:latin typeface="Segoe UI"/>
              </a:rPr>
              <a:t>of the </a:t>
            </a:r>
            <a:r>
              <a:rPr lang="pl-PL" dirty="0" err="1">
                <a:solidFill>
                  <a:srgbClr val="D8E2EC"/>
                </a:solidFill>
                <a:latin typeface="Segoe UI"/>
              </a:rPr>
              <a:t>whole</a:t>
            </a:r>
            <a:r>
              <a:rPr lang="pl-PL" dirty="0">
                <a:solidFill>
                  <a:srgbClr val="D8E2EC"/>
                </a:solidFill>
                <a:latin typeface="Segoe UI"/>
              </a:rPr>
              <a:t> system</a:t>
            </a:r>
            <a:endParaRPr sz="1800" b="0" dirty="0">
              <a:solidFill>
                <a:srgbClr val="D8E2EC"/>
              </a:solidFill>
              <a:latin typeface="Segoe UI"/>
            </a:endParaRPr>
          </a:p>
          <a:p>
            <a:pPr>
              <a:spcAft>
                <a:spcPts val="800"/>
              </a:spcAft>
            </a:pPr>
            <a:r>
              <a:rPr sz="1800" dirty="0">
                <a:solidFill>
                  <a:srgbClr val="35C4E8"/>
                </a:solidFill>
                <a:latin typeface="Segoe UI"/>
              </a:rPr>
              <a:t>•  </a:t>
            </a:r>
            <a:r>
              <a:rPr lang="pl-PL" sz="1800" dirty="0" err="1">
                <a:solidFill>
                  <a:srgbClr val="D8E2EC"/>
                </a:solidFill>
                <a:latin typeface="Segoe UI"/>
              </a:rPr>
              <a:t>Wiring</a:t>
            </a:r>
            <a:r>
              <a:rPr lang="pl-PL" dirty="0">
                <a:solidFill>
                  <a:srgbClr val="D8E2EC"/>
                </a:solidFill>
                <a:latin typeface="Segoe UI"/>
              </a:rPr>
              <a:t>	</a:t>
            </a:r>
            <a:endParaRPr sz="1800" b="0" dirty="0">
              <a:solidFill>
                <a:srgbClr val="D8E2EC"/>
              </a:solidFill>
              <a:latin typeface="Segoe UI"/>
            </a:endParaRPr>
          </a:p>
          <a:p>
            <a:pPr>
              <a:spcAft>
                <a:spcPts val="800"/>
              </a:spcAft>
            </a:pPr>
            <a:r>
              <a:rPr sz="1800" dirty="0">
                <a:solidFill>
                  <a:srgbClr val="35C4E8"/>
                </a:solidFill>
                <a:latin typeface="Segoe UI"/>
              </a:rPr>
              <a:t>•</a:t>
            </a:r>
            <a:r>
              <a:rPr lang="pl-PL" sz="1800" dirty="0">
                <a:solidFill>
                  <a:srgbClr val="35C4E8"/>
                </a:solidFill>
                <a:latin typeface="Segoe UI"/>
              </a:rPr>
              <a:t> </a:t>
            </a:r>
            <a:endParaRPr sz="1800" b="0" dirty="0">
              <a:solidFill>
                <a:srgbClr val="D8E2EC"/>
              </a:solidFill>
              <a:latin typeface="Segoe UI"/>
            </a:endParaRP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59"/>
            <a:ext cx="11155680" cy="448777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tags"/>
          <p:cNvSpPr txBox="1"/>
          <p:nvPr/>
        </p:nvSpPr>
        <p:spPr>
          <a:xfrm>
            <a:off x="713232" y="1673352"/>
            <a:ext cx="10930128" cy="3503523"/>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Position</a:t>
            </a:r>
            <a:r>
              <a:rPr sz="1600">
                <a:solidFill>
                  <a:srgbClr val="D4D4D4"/>
                </a:solidFill>
                <a:latin typeface="Consolas"/>
              </a:rPr>
              <a:t> {};      </a:t>
            </a:r>
            <a:r>
              <a:rPr sz="1600">
                <a:solidFill>
                  <a:srgbClr val="6A9955"/>
                </a:solidFill>
                <a:latin typeface="Consolas"/>
              </a:rPr>
              <a:t>// empty types — pure compile-time keys</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Velocity</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Force</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a:t>
            </a:r>
            <a:r>
              <a:rPr sz="1600">
                <a:solidFill>
                  <a:srgbClr val="D4D4D4"/>
                </a:solidFill>
                <a:latin typeface="Consolas"/>
              </a:rPr>
              <a:t>     {};</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 { </a:t>
            </a:r>
            <a:r>
              <a:rPr sz="1600">
                <a:solidFill>
                  <a:srgbClr val="6A9955"/>
                </a:solidFill>
                <a:latin typeface="Consolas"/>
              </a:rPr>
              <a:t>/* same shape, different types */</a:t>
            </a:r>
            <a:r>
              <a:rPr sz="1600">
                <a:solidFill>
                  <a:srgbClr val="D4D4D4"/>
                </a:solidFill>
                <a:latin typeface="Consolas"/>
              </a:rPr>
              <a:t> };</a:t>
            </a:r>
          </a:p>
          <a:p>
            <a:pPr>
              <a:spcAft>
                <a:spcPts val="100"/>
              </a:spcAft>
            </a:pPr>
            <a:r>
              <a:rPr sz="1600">
                <a:latin typeface="Consolas"/>
              </a:rPr>
              <a:t> </a:t>
            </a:r>
          </a:p>
          <a:p>
            <a:pPr>
              <a:spcAft>
                <a:spcPts val="100"/>
              </a:spcAft>
            </a:pPr>
            <a:r>
              <a:rPr sz="1600">
                <a:solidFill>
                  <a:srgbClr val="569CD6"/>
                </a:solidFill>
                <a:latin typeface="Consolas"/>
              </a:rPr>
              <a:t>namespace</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Extension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PotentialEnergy</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274320" y="1371600"/>
            <a:ext cx="1170432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pointmass"/>
          <p:cNvSpPr txBox="1"/>
          <p:nvPr/>
        </p:nvSpPr>
        <p:spPr>
          <a:xfrm>
            <a:off x="457200" y="1554480"/>
            <a:ext cx="11338560"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PointMass</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2</a:t>
            </a:r>
            <a:r>
              <a:rPr sz="1600">
                <a:solidFill>
                  <a:srgbClr val="D4D4D4"/>
                </a:solidFill>
                <a:latin typeface="Consolas"/>
              </a:rPr>
              <a:t>, T&gt; {   </a:t>
            </a:r>
            <a:r>
              <a:rPr sz="1600">
                <a:solidFill>
                  <a:srgbClr val="6A9955"/>
                </a:solidFill>
                <a:latin typeface="Consolas"/>
              </a:rPr>
              <a:t>// 2 states: [x, v]</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m_mass;</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LocalDerivative</a:t>
            </a:r>
            <a:r>
              <a:rPr sz="1600">
                <a:solidFill>
                  <a:srgbClr val="D4D4D4"/>
                </a:solidFill>
                <a:latin typeface="Consolas"/>
              </a:rPr>
              <a:t> derivatives(T 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velocity = </a:t>
            </a:r>
            <a:r>
              <a:rPr sz="1600">
                <a:solidFill>
                  <a:srgbClr val="569CD6"/>
                </a:solidFill>
                <a:latin typeface="Consolas"/>
              </a:rPr>
              <a:t>this</a:t>
            </a:r>
            <a:r>
              <a:rPr sz="1600">
                <a:solidFill>
                  <a:srgbClr val="D4D4D4"/>
                </a:solidFill>
                <a:latin typeface="Consolas"/>
              </a:rPr>
              <a:t>-&gt;localState(state, </a:t>
            </a:r>
            <a:r>
              <a:rPr sz="1600">
                <a:solidFill>
                  <a:srgbClr val="B5CEA8"/>
                </a:solidFill>
                <a:latin typeface="Consolas"/>
              </a:rPr>
              <a:t>1</a:t>
            </a:r>
            <a:r>
              <a:rPr sz="1600">
                <a:solidFill>
                  <a:srgbClr val="D4D4D4"/>
                </a:solidFill>
                <a:latin typeface="Consolas"/>
              </a:rPr>
              <a:t>);          </a:t>
            </a:r>
            <a:r>
              <a:rPr sz="1600">
                <a:solidFill>
                  <a:srgbClr val="6A9955"/>
                </a:solidFill>
                <a:latin typeface="Consolas"/>
              </a:rPr>
              <a:t>// dx/dt = v</a:t>
            </a:r>
          </a:p>
          <a:p>
            <a:pPr>
              <a:spcAft>
                <a:spcPts val="100"/>
              </a:spcAft>
            </a:pPr>
            <a:r>
              <a:rPr sz="1600" b="1">
                <a:solidFill>
                  <a:srgbClr val="D4D4D4"/>
                </a:solidFill>
                <a:latin typeface="Consolas"/>
              </a:rPr>
              <a:t>        T force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a:t>
            </a:r>
            <a:r>
              <a:rPr sz="1600" b="1">
                <a:solidFill>
                  <a:srgbClr val="D4D4D4"/>
                </a:solidFill>
                <a:latin typeface="Consolas"/>
              </a:rPr>
              <a:t>::</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{velocity, force / T(m_mass)};             </a:t>
            </a:r>
            <a:r>
              <a:rPr sz="1600">
                <a:solidFill>
                  <a:srgbClr val="6A9955"/>
                </a:solidFill>
                <a:latin typeface="Consolas"/>
              </a:rPr>
              <a:t>// dv/dt = F/m</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            </a:t>
            </a:r>
            <a:r>
              <a:rPr sz="1600">
                <a:solidFill>
                  <a:srgbClr val="6A9955"/>
                </a:solidFill>
                <a:latin typeface="Consolas"/>
              </a:rPr>
              <a:t>// Velocity: same, localState(s, 1)</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a:t>
            </a:r>
            <a:r>
              <a:rPr sz="1600">
                <a:solidFill>
                  <a:srgbClr val="4EC9B0"/>
                </a:solidFill>
                <a:latin typeface="Consolas"/>
              </a:rPr>
              <a:t>Position</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 { </a:t>
            </a:r>
            <a:r>
              <a:rPr sz="1600">
                <a:solidFill>
                  <a:srgbClr val="569CD6"/>
                </a:solidFill>
                <a:latin typeface="Consolas"/>
              </a:rPr>
              <a:t>return</a:t>
            </a:r>
            <a:r>
              <a:rPr sz="1600">
                <a:solidFill>
                  <a:srgbClr val="D4D4D4"/>
                </a:solidFill>
                <a:latin typeface="Consolas"/>
              </a:rPr>
              <a:t> </a:t>
            </a:r>
            <a:r>
              <a:rPr sz="1600">
                <a:solidFill>
                  <a:srgbClr val="569CD6"/>
                </a:solidFill>
                <a:latin typeface="Consolas"/>
              </a:rPr>
              <a:t>this</a:t>
            </a:r>
            <a:r>
              <a:rPr sz="1600">
                <a:solidFill>
                  <a:srgbClr val="D4D4D4"/>
                </a:solidFill>
                <a:latin typeface="Consolas"/>
              </a:rPr>
              <a:t>-&gt;localState(s, </a:t>
            </a:r>
            <a:r>
              <a:rPr sz="1600">
                <a:solidFill>
                  <a:srgbClr val="B5CEA8"/>
                </a:solidFill>
                <a:latin typeface="Consolas"/>
              </a:rPr>
              <a:t>0</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274320" y="1371600"/>
            <a:ext cx="11704320" cy="464515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spring"/>
          <p:cNvSpPr txBox="1"/>
          <p:nvPr/>
        </p:nvSpPr>
        <p:spPr>
          <a:xfrm>
            <a:off x="457200" y="1554480"/>
            <a:ext cx="11338560" cy="4279392"/>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        </a:t>
            </a:r>
            <a:r>
              <a:rPr sz="1600">
                <a:solidFill>
                  <a:srgbClr val="6A9955"/>
                </a:solidFill>
                <a:latin typeface="Consolas"/>
              </a:rPr>
              <a:t>// 0 states!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m_stiffness, m_rest_length;</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T x1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TagSet1</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b="1">
                <a:solidFill>
                  <a:srgbClr val="D4D4D4"/>
                </a:solidFill>
                <a:latin typeface="Consolas"/>
              </a:rPr>
              <a:t>        T x2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TagSet2</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a:solidFill>
                  <a:srgbClr val="D4D4D4"/>
                </a:solidFill>
                <a:latin typeface="Consolas"/>
              </a:rPr>
              <a:t>        T extension = x1 - x2 - T(m_rest_length);</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-T(m_stiffness) * extension;               </a:t>
            </a:r>
            <a:r>
              <a:rPr sz="1600">
                <a:solidFill>
                  <a:srgbClr val="6A9955"/>
                </a:solidFill>
                <a:latin typeface="Consolas"/>
              </a:rPr>
              <a:t>// Hooke's law</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-query&lt;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&gt;(reg, state);       </a:t>
            </a:r>
            <a:r>
              <a:rPr sz="1600">
                <a:solidFill>
                  <a:srgbClr val="6A9955"/>
                </a:solidFill>
                <a:latin typeface="Consolas"/>
              </a:rPr>
              <a:t>// Newton's 3rd</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30351" y="1371600"/>
            <a:ext cx="11154717"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energy"/>
          <p:cNvSpPr txBox="1"/>
          <p:nvPr/>
        </p:nvSpPr>
        <p:spPr>
          <a:xfrm>
            <a:off x="713231" y="1554480"/>
            <a:ext cx="10788957"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compute(system::</a:t>
            </a:r>
            <a:r>
              <a:rPr sz="1600">
                <a:solidFill>
                  <a:srgbClr val="4EC9B0"/>
                </a:solidFill>
                <a:latin typeface="Consolas"/>
              </a:rPr>
              <a:t>TotalEnergy</a:t>
            </a:r>
            <a:r>
              <a:rPr sz="1600">
                <a:solidFill>
                  <a:srgbClr val="D4D4D4"/>
                </a:solidFill>
                <a:latin typeface="Consolas"/>
              </a:rPr>
              <a:t>,</a:t>
            </a:r>
          </a:p>
          <a:p>
            <a:pPr>
              <a:spcAft>
                <a:spcPts val="100"/>
              </a:spcAft>
            </a:pP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m1 = query&lt;mass1::</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v1 = query&lt;mass1::</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m2 = query&lt;mass2::</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v2 = query&lt;mass2::</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pe = query&lt;spring::</a:t>
            </a:r>
            <a:r>
              <a:rPr sz="1600">
                <a:solidFill>
                  <a:srgbClr val="4EC9B0"/>
                </a:solidFill>
                <a:latin typeface="Consolas"/>
              </a:rPr>
              <a:t>PotentialEnergy</a:t>
            </a:r>
            <a:r>
              <a:rPr sz="1600">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a:t>
            </a:r>
            <a:r>
              <a:rPr sz="1600">
                <a:solidFill>
                  <a:srgbClr val="B5CEA8"/>
                </a:solidFill>
                <a:latin typeface="Consolas"/>
              </a:rPr>
              <a:t>0.5</a:t>
            </a:r>
            <a:r>
              <a:rPr sz="1600">
                <a:solidFill>
                  <a:srgbClr val="D4D4D4"/>
                </a:solidFill>
                <a:latin typeface="Consolas"/>
              </a:rPr>
              <a:t>)*m1*v1*v1 + T(</a:t>
            </a:r>
            <a:r>
              <a:rPr sz="1600">
                <a:solidFill>
                  <a:srgbClr val="B5CEA8"/>
                </a:solidFill>
                <a:latin typeface="Consolas"/>
              </a:rPr>
              <a:t>0.5</a:t>
            </a:r>
            <a:r>
              <a:rPr sz="1600">
                <a:solidFill>
                  <a:srgbClr val="D4D4D4"/>
                </a:solidFill>
                <a:latin typeface="Consolas"/>
              </a:rPr>
              <a:t>)*m2*v2*v2 + pe;</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30351" y="1371600"/>
            <a:ext cx="11193219" cy="4384547"/>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wiring"/>
          <p:cNvSpPr txBox="1"/>
          <p:nvPr/>
        </p:nvSpPr>
        <p:spPr>
          <a:xfrm>
            <a:off x="713231" y="1554480"/>
            <a:ext cx="10827459" cy="4018787"/>
          </a:xfrm>
          <a:prstGeom prst="rect">
            <a:avLst/>
          </a:prstGeom>
          <a:noFill/>
        </p:spPr>
        <p:txBody>
          <a:bodyPr wrap="none">
            <a:spAutoFit/>
          </a:bodyPr>
          <a:lstStyle/>
          <a:p>
            <a:pPr>
              <a:spcAft>
                <a:spcPts val="100"/>
              </a:spcAft>
            </a:pPr>
            <a:r>
              <a:rPr sz="1600">
                <a:solidFill>
                  <a:srgbClr val="569CD6"/>
                </a:solidFill>
                <a:latin typeface="Consolas"/>
              </a:rPr>
              <a:t>auto</a:t>
            </a:r>
            <a:r>
              <a:rPr sz="1600">
                <a:solidFill>
                  <a:srgbClr val="D4D4D4"/>
                </a:solidFill>
                <a:latin typeface="Consolas"/>
              </a:rPr>
              <a:t> sys = makeODESystem&lt;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2.5</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Spring12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6A9955"/>
                </a:solidFill>
                <a:latin typeface="Consolas"/>
              </a:rPr>
              <a:t>/*k*/</a:t>
            </a:r>
            <a:r>
              <a:rPr sz="1600">
                <a:solidFill>
                  <a:srgbClr val="D4D4D4"/>
                </a:solidFill>
                <a:latin typeface="Consolas"/>
              </a:rPr>
              <a:t> </a:t>
            </a:r>
            <a:r>
              <a:rPr sz="1600">
                <a:solidFill>
                  <a:srgbClr val="B5CEA8"/>
                </a:solidFill>
                <a:latin typeface="Consolas"/>
              </a:rPr>
              <a:t>4.0</a:t>
            </a:r>
            <a:r>
              <a:rPr sz="1600">
                <a:solidFill>
                  <a:srgbClr val="D4D4D4"/>
                </a:solidFill>
                <a:latin typeface="Consolas"/>
              </a:rPr>
              <a:t>, </a:t>
            </a:r>
            <a:r>
              <a:rPr sz="1600">
                <a:solidFill>
                  <a:srgbClr val="6A9955"/>
                </a:solidFill>
                <a:latin typeface="Consolas"/>
              </a:rPr>
              <a:t>/*L0*/</a:t>
            </a:r>
            <a:r>
              <a:rPr sz="1600">
                <a:solidFill>
                  <a:srgbClr val="D4D4D4"/>
                </a:solidFill>
                <a:latin typeface="Consolas"/>
              </a:rPr>
              <a:t> </a:t>
            </a:r>
            <a:r>
              <a:rPr sz="1600">
                <a:solidFill>
                  <a:srgbClr val="B5CEA8"/>
                </a:solidFill>
                <a:latin typeface="Consolas"/>
              </a:rPr>
              <a:t>1.0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b="1">
                <a:solidFill>
                  <a:srgbClr val="6A9955"/>
                </a:solidFill>
                <a:latin typeface="Consolas"/>
              </a:rPr>
              <a:t>// the wiring is CHECKED at compile time:</a:t>
            </a:r>
          </a:p>
          <a:p>
            <a:pPr>
              <a:spcAft>
                <a:spcPts val="100"/>
              </a:spcAft>
            </a:pPr>
            <a:r>
              <a:rPr sz="1600" b="1">
                <a:solidFill>
                  <a:srgbClr val="569CD6"/>
                </a:solidFill>
                <a:latin typeface="Consolas"/>
              </a:rPr>
              <a:t>static_assert</a:t>
            </a:r>
            <a:r>
              <a:rPr sz="1600" b="1">
                <a:solidFill>
                  <a:srgbClr val="D4D4D4"/>
                </a:solidFill>
                <a:latin typeface="Consolas"/>
              </a:rPr>
              <a:t>(</a:t>
            </a:r>
            <a:r>
              <a:rPr sz="1600" b="1">
                <a:solidFill>
                  <a:srgbClr val="569CD6"/>
                </a:solidFill>
                <a:latin typeface="Consolas"/>
              </a:rPr>
              <a:t>decltype</a:t>
            </a:r>
            <a:r>
              <a:rPr sz="1600" b="1">
                <a:solidFill>
                  <a:srgbClr val="D4D4D4"/>
                </a:solidFill>
                <a:latin typeface="Consolas"/>
              </a:rPr>
              <a:t>(sys)::hasFunction&lt;system::</a:t>
            </a:r>
            <a:r>
              <a:rPr sz="1600" b="1">
                <a:solidFill>
                  <a:srgbClr val="4EC9B0"/>
                </a:solidFill>
                <a:latin typeface="Consolas"/>
              </a:rPr>
              <a:t>TotalEnergy</a:t>
            </a:r>
            <a:r>
              <a:rPr sz="1600" b="1">
                <a:solidFill>
                  <a:srgbClr val="D4D4D4"/>
                </a:solidFill>
                <a:latin typeface="Consolas"/>
              </a:rPr>
              <a:t>&gt;());</a:t>
            </a:r>
          </a:p>
          <a:p>
            <a:pPr>
              <a:spcAft>
                <a:spcPts val="100"/>
              </a:spcAft>
            </a:pPr>
            <a:r>
              <a:rPr sz="1600">
                <a:latin typeface="Consolas"/>
              </a:rPr>
              <a:t> </a:t>
            </a:r>
          </a:p>
          <a:p>
            <a:pPr>
              <a:spcAft>
                <a:spcPts val="100"/>
              </a:spcAft>
            </a:pPr>
            <a:r>
              <a:rPr sz="1600">
                <a:solidFill>
                  <a:srgbClr val="4EC9B0"/>
                </a:solidFill>
                <a:latin typeface="Consolas"/>
              </a:rPr>
              <a:t>RK4Solver</a:t>
            </a:r>
            <a:r>
              <a:rPr sz="1600">
                <a:solidFill>
                  <a:srgbClr val="D4D4D4"/>
                </a:solidFill>
                <a:latin typeface="Consolas"/>
              </a:rPr>
              <a:t> solver;</a:t>
            </a:r>
          </a:p>
          <a:p>
            <a:pPr>
              <a:spcAft>
                <a:spcPts val="100"/>
              </a:spcAft>
            </a:pPr>
            <a:r>
              <a:rPr sz="1600">
                <a:solidFill>
                  <a:srgbClr val="569CD6"/>
                </a:solidFill>
                <a:latin typeface="Consolas"/>
              </a:rPr>
              <a:t>auto</a:t>
            </a:r>
            <a:r>
              <a:rPr sz="1600">
                <a:solidFill>
                  <a:srgbClr val="D4D4D4"/>
                </a:solidFill>
                <a:latin typeface="Consolas"/>
              </a:rPr>
              <a:t> sol = solver.solve(derivs(sys), sys.getStateDimension(),</a:t>
            </a:r>
          </a:p>
          <a:p>
            <a:pPr>
              <a:spcAft>
                <a:spcPts val="100"/>
              </a:spcAft>
            </a:pP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B5CEA8"/>
                </a:solidFill>
                <a:latin typeface="Consolas"/>
              </a:rPr>
              <a:t>20.0</a:t>
            </a:r>
            <a:r>
              <a:rPr sz="1600">
                <a:solidFill>
                  <a:srgbClr val="D4D4D4"/>
                </a:solidFill>
                <a:latin typeface="Consolas"/>
              </a:rPr>
              <a:t>, </a:t>
            </a:r>
            <a:r>
              <a:rPr sz="1600">
                <a:solidFill>
                  <a:srgbClr val="6A9955"/>
                </a:solidFill>
                <a:latin typeface="Consolas"/>
              </a:rPr>
              <a:t>/*dt*/</a:t>
            </a:r>
            <a:r>
              <a:rPr sz="1600">
                <a:solidFill>
                  <a:srgbClr val="D4D4D4"/>
                </a:solidFill>
                <a:latin typeface="Consolas"/>
              </a:rPr>
              <a:t> </a:t>
            </a:r>
            <a:r>
              <a:rPr sz="1600">
                <a:solidFill>
                  <a:srgbClr val="B5CEA8"/>
                </a:solidFill>
                <a:latin typeface="Consolas"/>
              </a:rPr>
              <a:t>0.001</a:t>
            </a:r>
            <a:r>
              <a:rPr sz="1600">
                <a:solidFill>
                  <a:srgbClr val="D4D4D4"/>
                </a:solidFill>
                <a:latin typeface="Consolas"/>
              </a:rPr>
              <a:t>, sys.getInitialState());</a:t>
            </a:r>
          </a:p>
          <a:p>
            <a:pPr>
              <a:spcAft>
                <a:spcPts val="100"/>
              </a:spcAft>
            </a:pPr>
            <a:r>
              <a:rPr sz="1600">
                <a:latin typeface="Consolas"/>
              </a:rPr>
              <a:t> </a:t>
            </a:r>
          </a:p>
          <a:p>
            <a:pPr>
              <a:spcAft>
                <a:spcPts val="100"/>
              </a:spcAft>
            </a:pPr>
            <a:r>
              <a:rPr sz="1600">
                <a:solidFill>
                  <a:srgbClr val="4EC9B0"/>
                </a:solidFill>
                <a:latin typeface="Consolas"/>
              </a:rPr>
              <a:t>double</a:t>
            </a:r>
            <a:r>
              <a:rPr sz="1600">
                <a:solidFill>
                  <a:srgbClr val="D4D4D4"/>
                </a:solidFill>
                <a:latin typeface="Consolas"/>
              </a:rPr>
              <a:t> E = sys.query&lt;system::</a:t>
            </a:r>
            <a:r>
              <a:rPr sz="1600">
                <a:solidFill>
                  <a:srgbClr val="4EC9B0"/>
                </a:solidFill>
                <a:latin typeface="Consolas"/>
              </a:rPr>
              <a:t>TotalEnergy</a:t>
            </a:r>
            <a:r>
              <a:rPr sz="1600">
                <a:solidFill>
                  <a:srgbClr val="D4D4D4"/>
                </a:solidFill>
                <a:latin typeface="Consolas"/>
              </a:rPr>
              <a:t>&gt;(sol.states.back());</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2821285" cy="569387"/>
          </a:xfrm>
          <a:prstGeom prst="rect">
            <a:avLst/>
          </a:prstGeom>
          <a:noFill/>
        </p:spPr>
        <p:txBody>
          <a:bodyPr wrap="none">
            <a:spAutoFit/>
          </a:bodyPr>
          <a:lstStyle/>
          <a:p>
            <a:r>
              <a:rPr sz="3100" b="1" dirty="0">
                <a:solidFill>
                  <a:srgbClr val="FFFFFF"/>
                </a:solidFill>
                <a:latin typeface="Segoe UI"/>
              </a:rPr>
              <a:t>Does it work? </a:t>
            </a:r>
          </a:p>
        </p:txBody>
      </p:sp>
      <p:pic>
        <p:nvPicPr>
          <p:cNvPr id="4" name="Picture 3" descr="energy_conservation.png"/>
          <p:cNvPicPr>
            <a:picLocks noChangeAspect="1"/>
          </p:cNvPicPr>
          <p:nvPr/>
        </p:nvPicPr>
        <p:blipFill>
          <a:blip r:embed="rId3"/>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30352" y="1371600"/>
            <a:ext cx="11100816" cy="203911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554480"/>
            <a:ext cx="10735056" cy="1673352"/>
          </a:xfrm>
          <a:prstGeom prst="rect">
            <a:avLst/>
          </a:prstGeom>
          <a:noFill/>
        </p:spPr>
        <p:txBody>
          <a:bodyPr wrap="none">
            <a:spAutoFit/>
          </a:bodyPr>
          <a:lstStyle/>
          <a:p>
            <a:pPr>
              <a:spcAft>
                <a:spcPts val="100"/>
              </a:spcAft>
            </a:pPr>
            <a:r>
              <a:rPr sz="1600">
                <a:solidFill>
                  <a:srgbClr val="6A9955"/>
                </a:solidFill>
                <a:latin typeface="Consolas"/>
              </a:rPr>
              <a:t>// instead of:                       // we write:</a:t>
            </a:r>
          </a:p>
          <a:p>
            <a:pPr>
              <a:spcAft>
                <a:spcPts val="100"/>
              </a:spcAft>
            </a:pPr>
            <a:r>
              <a:rPr sz="1600">
                <a:solidFill>
                  <a:srgbClr val="4EC9B0"/>
                </a:solidFill>
                <a:latin typeface="Consolas"/>
              </a:rPr>
              <a:t>double</a:t>
            </a:r>
            <a:r>
              <a:rPr sz="1600">
                <a:solidFill>
                  <a:srgbClr val="D4D4D4"/>
                </a:solidFill>
                <a:latin typeface="Consolas"/>
              </a:rPr>
              <a:t> getOutput(                    T compute(mass1::</a:t>
            </a:r>
            <a:r>
              <a:rPr sz="1600">
                <a:solidFill>
                  <a:srgbClr val="4EC9B0"/>
                </a:solidFill>
                <a:latin typeface="Consolas"/>
              </a:rPr>
              <a:t>Position</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std::string&amp; name);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6A9955"/>
                </a:solidFill>
                <a:latin typeface="Consolas"/>
              </a:rPr>
              <a:t>// one virtual + string compare      // one overload per quantity,</a:t>
            </a:r>
          </a:p>
          <a:p>
            <a:pPr>
              <a:spcAft>
                <a:spcPts val="100"/>
              </a:spcAft>
            </a:pPr>
            <a:r>
              <a:rPr sz="16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Idea 2 — the registry: 'who provides what'</a:t>
            </a:r>
          </a:p>
        </p:txBody>
      </p:sp>
      <p:sp>
        <p:nvSpPr>
          <p:cNvPr id="4" name="Rounded Rectangle 3"/>
          <p:cNvSpPr/>
          <p:nvPr/>
        </p:nvSpPr>
        <p:spPr>
          <a:xfrm>
            <a:off x="548640" y="1371600"/>
            <a:ext cx="11338560" cy="490575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registry"/>
          <p:cNvSpPr txBox="1"/>
          <p:nvPr/>
        </p:nvSpPr>
        <p:spPr>
          <a:xfrm>
            <a:off x="731520" y="1554480"/>
            <a:ext cx="10972800" cy="4539996"/>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p>
          <a:p>
            <a:pPr>
              <a:spcAft>
                <a:spcPts val="100"/>
              </a:spcAft>
            </a:pPr>
            <a:r>
              <a:rPr sz="1600">
                <a:solidFill>
                  <a:srgbClr val="D4D4D4"/>
                </a:solidFill>
                <a:latin typeface="Consolas"/>
              </a:rPr>
              <a:t>    std::tuple&lt;</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&amp;...&gt; m_components;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static</a:t>
            </a:r>
            <a:r>
              <a:rPr sz="1600">
                <a:solidFill>
                  <a:srgbClr val="D4D4D4"/>
                </a:solidFill>
                <a:latin typeface="Consolas"/>
              </a:rPr>
              <a:t> </a:t>
            </a:r>
            <a:r>
              <a:rPr sz="1600">
                <a:solidFill>
                  <a:srgbClr val="569CD6"/>
                </a:solidFill>
                <a:latin typeface="Consolas"/>
              </a:rPr>
              <a:t>constexpr</a:t>
            </a:r>
            <a:r>
              <a:rPr sz="1600">
                <a:solidFill>
                  <a:srgbClr val="D4D4D4"/>
                </a:solidFill>
                <a:latin typeface="Consolas"/>
              </a:rPr>
              <a:t> </a:t>
            </a:r>
            <a:r>
              <a:rPr sz="1600">
                <a:solidFill>
                  <a:srgbClr val="4EC9B0"/>
                </a:solidFill>
                <a:latin typeface="Consolas"/>
              </a:rPr>
              <a:t>bool</a:t>
            </a:r>
            <a:r>
              <a:rPr sz="1600">
                <a:solidFill>
                  <a:srgbClr val="D4D4D4"/>
                </a:solidFill>
                <a:latin typeface="Consolas"/>
              </a:rPr>
              <a:t> hasFunction()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a:t>
            </a:r>
            <a:r>
              <a:rPr sz="1600" b="1">
                <a:solidFill>
                  <a:srgbClr val="4EC9B0"/>
                </a:solidFill>
                <a:latin typeface="Consolas"/>
              </a:rPr>
              <a:t>ProvidesStateFunction</a:t>
            </a:r>
            <a:r>
              <a:rPr sz="1600" b="1">
                <a:solidFill>
                  <a:srgbClr val="D4D4D4"/>
                </a:solidFill>
                <a:latin typeface="Consolas"/>
              </a:rPr>
              <a:t>&lt;</a:t>
            </a:r>
            <a:r>
              <a:rPr sz="1600" b="1">
                <a:solidFill>
                  <a:srgbClr val="4EC9B0"/>
                </a:solidFill>
                <a:latin typeface="Consolas"/>
              </a:rPr>
              <a:t>Components</a:t>
            </a:r>
            <a:r>
              <a:rPr sz="1600" b="1">
                <a:solidFill>
                  <a:srgbClr val="D4D4D4"/>
                </a:solidFill>
                <a:latin typeface="Consolas"/>
              </a:rPr>
              <a:t>, </a:t>
            </a:r>
            <a:r>
              <a:rPr sz="1600" b="1">
                <a:solidFill>
                  <a:srgbClr val="4EC9B0"/>
                </a:solidFill>
                <a:latin typeface="Consolas"/>
              </a:rPr>
              <a:t>Tag</a:t>
            </a:r>
            <a:r>
              <a:rPr sz="1600" b="1">
                <a:solidFill>
                  <a:srgbClr val="D4D4D4"/>
                </a:solidFill>
                <a:latin typeface="Consolas"/>
              </a:rPr>
              <a:t>, T, </a:t>
            </a:r>
            <a:r>
              <a:rPr sz="1600" b="1">
                <a:solidFill>
                  <a:srgbClr val="4EC9B0"/>
                </a:solidFill>
                <a:latin typeface="Consolas"/>
              </a:rPr>
              <a:t>Registry</a:t>
            </a:r>
            <a:r>
              <a:rPr sz="1600" b="1">
                <a:solidFill>
                  <a:srgbClr val="D4D4D4"/>
                </a:solidFill>
                <a:latin typeface="Consolas"/>
              </a:rPr>
              <a:t>&gt; || ...);</a:t>
            </a:r>
          </a:p>
          <a:p>
            <a:pPr>
              <a:spcAft>
                <a:spcPts val="100"/>
              </a:spcAft>
            </a:pPr>
            <a:r>
              <a:rPr sz="1600">
                <a:solidFill>
                  <a:srgbClr val="D4D4D4"/>
                </a:solidFill>
                <a:latin typeface="Consolas"/>
              </a:rPr>
              <a:t>    }                                     </a:t>
            </a:r>
            <a:r>
              <a:rPr sz="1600">
                <a:solidFill>
                  <a:srgbClr val="6A9955"/>
                </a:solidFill>
                <a:latin typeface="Consolas"/>
              </a:rPr>
              <a:t>//        fold over all 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 computeFunction(std::span&lt;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a:t>
            </a:r>
            <a:r>
              <a:rPr sz="1600" b="1">
                <a:solidFill>
                  <a:srgbClr val="569CD6"/>
                </a:solidFill>
                <a:latin typeface="Consolas"/>
              </a:rPr>
              <a:t>static_assert</a:t>
            </a:r>
            <a:r>
              <a:rPr sz="1600" b="1">
                <a:solidFill>
                  <a:srgbClr val="D4D4D4"/>
                </a:solidFill>
                <a:latin typeface="Consolas"/>
              </a:rPr>
              <a:t>(hasFunction&lt;</a:t>
            </a:r>
            <a:r>
              <a:rPr sz="1600" b="1">
                <a:solidFill>
                  <a:srgbClr val="4EC9B0"/>
                </a:solidFill>
                <a:latin typeface="Consolas"/>
              </a:rPr>
              <a:t>Tag</a:t>
            </a:r>
            <a:r>
              <a:rPr sz="1600" b="1">
                <a:solidFill>
                  <a:srgbClr val="D4D4D4"/>
                </a:solidFill>
                <a:latin typeface="Consolas"/>
              </a:rPr>
              <a:t>&gt;(),</a:t>
            </a:r>
          </a:p>
          <a:p>
            <a:pPr>
              <a:spcAft>
                <a:spcPts val="100"/>
              </a:spcAft>
            </a:pPr>
            <a:r>
              <a:rPr sz="1600" b="1">
                <a:solidFill>
                  <a:srgbClr val="D4D4D4"/>
                </a:solidFill>
                <a:latin typeface="Consolas"/>
              </a:rPr>
              <a:t>                      </a:t>
            </a:r>
            <a:r>
              <a:rPr sz="1600" b="1">
                <a:solidFill>
                  <a:srgbClr val="CE9178"/>
                </a:solidFill>
                <a:latin typeface="Consolas"/>
              </a:rPr>
              <a:t>"No component provides this state function"</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&amp; provider = findProvider&lt;</a:t>
            </a:r>
            <a:r>
              <a:rPr sz="1600">
                <a:solidFill>
                  <a:srgbClr val="4EC9B0"/>
                </a:solidFill>
                <a:latin typeface="Consolas"/>
              </a:rPr>
              <a:t>Tag</a:t>
            </a:r>
            <a:r>
              <a:rPr sz="1600">
                <a:solidFill>
                  <a:srgbClr val="D4D4D4"/>
                </a:solidFill>
                <a:latin typeface="Consolas"/>
              </a:rPr>
              <a:t>&gt;();   </a:t>
            </a:r>
            <a:r>
              <a:rPr sz="1600">
                <a:solidFill>
                  <a:srgbClr val="6A9955"/>
                </a:solidFill>
                <a:latin typeface="Consolas"/>
              </a:rPr>
              <a:t>// index found constexpr</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provider.compute(</a:t>
            </a:r>
            <a:r>
              <a:rPr sz="1600">
                <a:solidFill>
                  <a:srgbClr val="4EC9B0"/>
                </a:solidFill>
                <a:latin typeface="Consolas"/>
              </a:rPr>
              <a:t>Tag</a:t>
            </a:r>
            <a:r>
              <a:rPr sz="1600">
                <a:solidFill>
                  <a:srgbClr val="D4D4D4"/>
                </a:solidFill>
                <a:latin typeface="Consolas"/>
              </a:rPr>
              <a:t>{}, state, *</a:t>
            </a:r>
            <a:r>
              <a:rPr sz="1600">
                <a:solidFill>
                  <a:srgbClr val="569CD6"/>
                </a:solidFill>
                <a:latin typeface="Consolas"/>
              </a:rPr>
              <a:t>this</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compute vs query: provide vs ask</a:t>
            </a:r>
          </a:p>
        </p:txBody>
      </p:sp>
      <p:sp>
        <p:nvSpPr>
          <p:cNvPr id="4" name="Rounded Rectangle 3"/>
          <p:cNvSpPr/>
          <p:nvPr/>
        </p:nvSpPr>
        <p:spPr>
          <a:xfrm>
            <a:off x="548640" y="1463040"/>
            <a:ext cx="11338560" cy="33421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query"/>
          <p:cNvSpPr txBox="1"/>
          <p:nvPr/>
        </p:nvSpPr>
        <p:spPr>
          <a:xfrm>
            <a:off x="731520" y="1645920"/>
            <a:ext cx="10972800" cy="2976372"/>
          </a:xfrm>
          <a:prstGeom prst="rect">
            <a:avLst/>
          </a:prstGeom>
          <a:noFill/>
        </p:spPr>
        <p:txBody>
          <a:bodyPr wrap="none">
            <a:spAutoFit/>
          </a:bodyPr>
          <a:lstStyle/>
          <a:p>
            <a:pPr>
              <a:spcAft>
                <a:spcPts val="100"/>
              </a:spcAft>
            </a:pPr>
            <a:r>
              <a:rPr sz="1600">
                <a:solidFill>
                  <a:srgbClr val="6A9955"/>
                </a:solidFill>
                <a:latin typeface="Consolas"/>
              </a:rPr>
              <a:t>// a component PROVIDES a quantity (one overload per tag):</a:t>
            </a:r>
          </a:p>
          <a:p>
            <a:pPr>
              <a:spcAft>
                <a:spcPts val="100"/>
              </a:spcAft>
            </a:pPr>
            <a:r>
              <a:rPr sz="1600">
                <a:solidFill>
                  <a:srgbClr val="D4D4D4"/>
                </a:solidFill>
                <a:latin typeface="Consolas"/>
              </a:rPr>
              <a:t>T compute(mass1::</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anyone ASKS for one, by tag — component or driver:</a:t>
            </a:r>
          </a:p>
          <a:p>
            <a:pPr>
              <a:spcAft>
                <a:spcPts val="100"/>
              </a:spcAft>
            </a:pPr>
            <a:r>
              <a:rPr sz="1600" b="1">
                <a:solidFill>
                  <a:srgbClr val="D4D4D4"/>
                </a:solidFill>
                <a:latin typeface="Consolas"/>
              </a:rPr>
              <a:t>T f = query&lt;mass1::</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latin typeface="Consolas"/>
              </a:rPr>
              <a:t> </a:t>
            </a:r>
          </a:p>
          <a:p>
            <a:pPr>
              <a:spcAft>
                <a:spcPts val="100"/>
              </a:spcAft>
            </a:pPr>
            <a:r>
              <a:rPr sz="1600">
                <a:solidFill>
                  <a:srgbClr val="6A9955"/>
                </a:solidFill>
                <a:latin typeface="Consolas"/>
              </a:rPr>
              <a:t>// query is just the registry call with friendlier syntax:</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&gt;</a:t>
            </a:r>
          </a:p>
          <a:p>
            <a:pPr>
              <a:spcAft>
                <a:spcPts val="100"/>
              </a:spcAft>
            </a:pPr>
            <a:r>
              <a:rPr sz="1600">
                <a:solidFill>
                  <a:srgbClr val="569CD6"/>
                </a:solidFill>
                <a:latin typeface="Consolas"/>
              </a:rPr>
              <a:t>auto</a:t>
            </a:r>
            <a:r>
              <a:rPr sz="1600">
                <a:solidFill>
                  <a:srgbClr val="D4D4D4"/>
                </a:solidFill>
                <a:latin typeface="Consolas"/>
              </a:rPr>
              <a:t> query(</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std::span&lt;</a:t>
            </a:r>
            <a:r>
              <a:rPr sz="1600">
                <a:solidFill>
                  <a:srgbClr val="569CD6"/>
                </a:solidFill>
                <a:latin typeface="Consolas"/>
              </a:rPr>
              <a:t>const</a:t>
            </a:r>
            <a:r>
              <a:rPr sz="1600">
                <a:solidFill>
                  <a:srgbClr val="D4D4D4"/>
                </a:solidFill>
                <a:latin typeface="Consolas"/>
              </a:rPr>
              <a:t> T&gt; s)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reg.computeFunction&lt;</a:t>
            </a:r>
            <a:r>
              <a:rPr sz="1600" b="1">
                <a:solidFill>
                  <a:srgbClr val="4EC9B0"/>
                </a:solidFill>
                <a:latin typeface="Consolas"/>
              </a:rPr>
              <a:t>Tag</a:t>
            </a:r>
            <a:r>
              <a:rPr sz="1600" b="1">
                <a:solidFill>
                  <a:srgbClr val="D4D4D4"/>
                </a:solidFill>
                <a:latin typeface="Consolas"/>
              </a:rPr>
              <a:t>&gt;(s);   </a:t>
            </a:r>
            <a:r>
              <a:rPr sz="1600" b="1">
                <a:solidFill>
                  <a:srgbClr val="6A9955"/>
                </a:solidFill>
                <a:latin typeface="Consolas"/>
              </a:rPr>
              <a:t>// find provider -&gt; provider.compute(...)</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30352" y="1371600"/>
            <a:ext cx="11036808" cy="386333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concepts"/>
          <p:cNvSpPr txBox="1"/>
          <p:nvPr/>
        </p:nvSpPr>
        <p:spPr>
          <a:xfrm>
            <a:off x="713232" y="1554480"/>
            <a:ext cx="10671048" cy="3497579"/>
          </a:xfrm>
          <a:prstGeom prst="rect">
            <a:avLst/>
          </a:prstGeom>
          <a:noFill/>
        </p:spPr>
        <p:txBody>
          <a:bodyPr wrap="none">
            <a:spAutoFit/>
          </a:bodyPr>
          <a:lstStyle/>
          <a:p>
            <a:pPr>
              <a:spcAft>
                <a:spcPts val="100"/>
              </a:spcAft>
            </a:pPr>
            <a:r>
              <a:rPr sz="1600">
                <a:solidFill>
                  <a:srgbClr val="6A9955"/>
                </a:solidFill>
                <a:latin typeface="Consolas"/>
              </a:rPr>
              <a:t>// what a component IS:</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a:t>
            </a:r>
          </a:p>
          <a:p>
            <a:pPr>
              <a:spcAft>
                <a:spcPts val="100"/>
              </a:spcAft>
            </a:pPr>
            <a:r>
              <a:rPr sz="1600">
                <a:solidFill>
                  <a:srgbClr val="D4D4D4"/>
                </a:solidFill>
                <a:latin typeface="Consolas"/>
              </a:rPr>
              <a:t>    { C::state_size } -&gt; std::convertible_to&lt;</a:t>
            </a:r>
            <a:r>
              <a:rPr sz="1600">
                <a:solidFill>
                  <a:srgbClr val="4EC9B0"/>
                </a:solidFill>
                <a:latin typeface="Consolas"/>
              </a:rPr>
              <a:t>size_t</a:t>
            </a:r>
            <a:r>
              <a:rPr sz="1600">
                <a:solidFill>
                  <a:srgbClr val="D4D4D4"/>
                </a:solidFill>
                <a:latin typeface="Consolas"/>
              </a:rPr>
              <a:t>&gt;;</a:t>
            </a:r>
          </a:p>
          <a:p>
            <a:pPr>
              <a:spcAft>
                <a:spcPts val="100"/>
              </a:spcAft>
            </a:pPr>
            <a:r>
              <a:rPr sz="1600">
                <a:solidFill>
                  <a:srgbClr val="D4D4D4"/>
                </a:solidFill>
                <a:latin typeface="Consolas"/>
              </a:rPr>
              <a:t>    { c.getInitialLocalState() } -&gt; std::same_as&lt;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a:t>
            </a:r>
            <a:r>
              <a:rPr sz="1600">
                <a:solidFill>
                  <a:srgbClr val="4EC9B0"/>
                </a:solidFill>
                <a:latin typeface="Consolas"/>
              </a:rPr>
              <a:t>LocalState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what it PROVIDES (a quantity, selected by tag):</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ProvidesStateFunction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&lt;C&gt; &amp;&amp; </a:t>
            </a:r>
            <a:r>
              <a:rPr sz="1600">
                <a:solidFill>
                  <a:srgbClr val="4EC9B0"/>
                </a:solidFill>
                <a:latin typeface="Consolas"/>
              </a:rPr>
              <a:t>StateTagConcept</a:t>
            </a:r>
            <a:r>
              <a:rPr sz="1600">
                <a:solidFill>
                  <a:srgbClr val="D4D4D4"/>
                </a:solidFill>
                <a:latin typeface="Consolas"/>
              </a:rPr>
              <a:t>&lt;</a:t>
            </a:r>
            <a:r>
              <a:rPr sz="1600">
                <a:solidFill>
                  <a:srgbClr val="4EC9B0"/>
                </a:solidFill>
                <a:latin typeface="Consolas"/>
              </a:rPr>
              <a:t>Tag</a:t>
            </a:r>
            <a:r>
              <a:rPr sz="1600">
                <a:solidFill>
                  <a:srgbClr val="D4D4D4"/>
                </a:solidFill>
                <a:latin typeface="Consolas"/>
              </a:rPr>
              <a:t>&gt; &amp;&amp;</a:t>
            </a:r>
          </a:p>
          <a:p>
            <a:pPr>
              <a:spcAft>
                <a:spcPts val="100"/>
              </a:spcAft>
            </a:pPr>
            <a:r>
              <a:rPr sz="1600">
                <a:solidFill>
                  <a:srgbClr val="D4D4D4"/>
                </a:solidFill>
                <a:latin typeface="Consolas"/>
              </a:rPr>
              <a:t>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a:t>
            </a:r>
          </a:p>
          <a:p>
            <a:pPr>
              <a:spcAft>
                <a:spcPts val="100"/>
              </a:spcAft>
            </a:pPr>
            <a:r>
              <a:rPr sz="1600">
                <a:solidFill>
                  <a:srgbClr val="D4D4D4"/>
                </a:solidFill>
                <a:latin typeface="Consolas"/>
              </a:rPr>
              <a:t>    { c.compute(</a:t>
            </a:r>
            <a:r>
              <a:rPr sz="1600">
                <a:solidFill>
                  <a:srgbClr val="4EC9B0"/>
                </a:solidFill>
                <a:latin typeface="Consolas"/>
              </a:rPr>
              <a:t>Tag</a:t>
            </a:r>
            <a:r>
              <a:rPr sz="1600">
                <a:solidFill>
                  <a:srgbClr val="D4D4D4"/>
                </a:solidFill>
                <a:latin typeface="Consolas"/>
              </a:rPr>
              <a:t>{}, s, reg); };</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371600"/>
            <a:ext cx="1133856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554480"/>
            <a:ext cx="10972800" cy="3758183"/>
          </a:xfrm>
          <a:prstGeom prst="rect">
            <a:avLst/>
          </a:prstGeom>
          <a:noFill/>
        </p:spPr>
        <p:txBody>
          <a:bodyPr wrap="none">
            <a:spAutoFit/>
          </a:bodyPr>
          <a:lstStyle/>
          <a:p>
            <a:pPr>
              <a:spcAft>
                <a:spcPts val="100"/>
              </a:spcAft>
            </a:pPr>
            <a:r>
              <a:rPr sz="1600">
                <a:solidFill>
                  <a:srgbClr val="DCDCAA"/>
                </a:solidFill>
                <a:latin typeface="Consolas"/>
              </a:rPr>
              <a:t>energy_sopot</a:t>
            </a:r>
            <a:r>
              <a:rPr sz="1600">
                <a:solidFill>
                  <a:srgbClr val="D4D4D4"/>
                </a:solidFill>
                <a:latin typeface="Consolas"/>
              </a:rPr>
              <a:t>(span&lt;const double&gt;):     </a:t>
            </a:r>
            <a:r>
              <a:rPr sz="1600">
                <a:solidFill>
                  <a:srgbClr val="6A9955"/>
                </a:solidFill>
                <a:latin typeface="Consolas"/>
              </a:rPr>
              <a:t>; 4 components, registry dispatch</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r10, [sys+</a:t>
            </a:r>
            <a:r>
              <a:rPr sz="1600">
                <a:solidFill>
                  <a:srgbClr val="B5CEA8"/>
                </a:solidFill>
                <a:latin typeface="Consolas"/>
              </a:rPr>
              <a:t>272</a:t>
            </a:r>
            <a:r>
              <a:rPr sz="1600">
                <a:solidFill>
                  <a:srgbClr val="D4D4D4"/>
                </a:solidFill>
                <a:latin typeface="Consolas"/>
              </a:rPr>
              <a:t>]</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xmm1, [.LC0]        </a:t>
            </a:r>
            <a:r>
              <a:rPr sz="1600">
                <a:solidFill>
                  <a:srgbClr val="6A9955"/>
                </a:solidFill>
                <a:latin typeface="Consolas"/>
              </a:rPr>
              <a:t>; 0.5</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rax, [rcx]</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xmm0, [r10+</a:t>
            </a:r>
            <a:r>
              <a:rPr sz="1600">
                <a:solidFill>
                  <a:srgbClr val="B5CEA8"/>
                </a:solidFill>
                <a:latin typeface="Consolas"/>
              </a:rPr>
              <a:t>8</a:t>
            </a:r>
            <a:r>
              <a:rPr sz="1600">
                <a:solidFill>
                  <a:srgbClr val="D4D4D4"/>
                </a:solidFill>
                <a:latin typeface="Consolas"/>
              </a:rPr>
              <a:t>]       </a:t>
            </a:r>
            <a:r>
              <a:rPr sz="1600">
                <a:solidFill>
                  <a:srgbClr val="6A9955"/>
                </a:solidFill>
                <a:latin typeface="Consolas"/>
              </a:rPr>
              <a:t>; m1        &lt;- runtime parameters,</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xmm3, [rax+rcx*</a:t>
            </a:r>
            <a:r>
              <a:rPr sz="1600">
                <a:solidFill>
                  <a:srgbClr val="B5CEA8"/>
                </a:solidFill>
                <a:latin typeface="Consolas"/>
              </a:rPr>
              <a:t>8</a:t>
            </a:r>
            <a:r>
              <a:rPr sz="1600">
                <a:solidFill>
                  <a:srgbClr val="D4D4D4"/>
                </a:solidFill>
                <a:latin typeface="Consolas"/>
              </a:rPr>
              <a:t>]   </a:t>
            </a:r>
            <a:r>
              <a:rPr sz="1600">
                <a:solidFill>
                  <a:srgbClr val="6A9955"/>
                </a:solidFill>
                <a:latin typeface="Consolas"/>
              </a:rPr>
              <a:t>; v1           loaded once</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xmm1</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xmm3          </a:t>
            </a:r>
            <a:r>
              <a:rPr sz="1600">
                <a:solidFill>
                  <a:srgbClr val="6A9955"/>
                </a:solidFill>
                <a:latin typeface="Consolas"/>
              </a:rPr>
              <a:t>; 0.5*m1*v1</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xmm3          </a:t>
            </a:r>
            <a:r>
              <a:rPr sz="1600">
                <a:solidFill>
                  <a:srgbClr val="6A9955"/>
                </a:solidFill>
                <a:latin typeface="Consolas"/>
              </a:rPr>
              <a:t>; ... * v1</a:t>
            </a:r>
          </a:p>
          <a:p>
            <a:pPr>
              <a:spcAft>
                <a:spcPts val="100"/>
              </a:spcAft>
            </a:pPr>
            <a:r>
              <a:rPr sz="1600">
                <a:solidFill>
                  <a:srgbClr val="D4D4D4"/>
                </a:solidFill>
                <a:latin typeface="Consolas"/>
              </a:rPr>
              <a:t>    </a:t>
            </a:r>
            <a:r>
              <a:rPr sz="1600">
                <a:solidFill>
                  <a:srgbClr val="DCDCAA"/>
                </a:solidFill>
                <a:latin typeface="Consolas"/>
              </a:rPr>
              <a:t>subsd</a:t>
            </a:r>
            <a:r>
              <a:rPr sz="1600">
                <a:solidFill>
                  <a:srgbClr val="D4D4D4"/>
                </a:solidFill>
                <a:latin typeface="Consolas"/>
              </a:rPr>
              <a:t> xmm2, [r8+</a:t>
            </a:r>
            <a:r>
              <a:rPr sz="1600">
                <a:solidFill>
                  <a:srgbClr val="B5CEA8"/>
                </a:solidFill>
                <a:latin typeface="Consolas"/>
              </a:rPr>
              <a:t>16</a:t>
            </a:r>
            <a:r>
              <a:rPr sz="1600">
                <a:solidFill>
                  <a:srgbClr val="D4D4D4"/>
                </a:solidFill>
                <a:latin typeface="Consolas"/>
              </a:rPr>
              <a:t>]       </a:t>
            </a:r>
            <a:r>
              <a:rPr sz="1600">
                <a:solidFill>
                  <a:srgbClr val="6A9955"/>
                </a:solidFill>
                <a:latin typeface="Consolas"/>
              </a:rPr>
              <a:t>; x1-x2-L0</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xmm1, xmm2          </a:t>
            </a:r>
            <a:r>
              <a:rPr sz="1600">
                <a:solidFill>
                  <a:srgbClr val="6A9955"/>
                </a:solidFill>
                <a:latin typeface="Consolas"/>
              </a:rPr>
              <a:t>; PE terms</a:t>
            </a:r>
          </a:p>
          <a:p>
            <a:pPr>
              <a:spcAft>
                <a:spcPts val="100"/>
              </a:spcAft>
            </a:pPr>
            <a:r>
              <a:rPr sz="1600">
                <a:solidFill>
                  <a:srgbClr val="D4D4D4"/>
                </a:solidFill>
                <a:latin typeface="Consolas"/>
              </a:rPr>
              <a:t>    </a:t>
            </a:r>
            <a:r>
              <a:rPr sz="1600">
                <a:solidFill>
                  <a:srgbClr val="DCDCAA"/>
                </a:solidFill>
                <a:latin typeface="Consolas"/>
              </a:rPr>
              <a:t>addsd</a:t>
            </a:r>
            <a:r>
              <a:rPr sz="1600">
                <a:solidFill>
                  <a:srgbClr val="D4D4D4"/>
                </a:solidFill>
                <a:latin typeface="Consolas"/>
              </a:rPr>
              <a:t> xmm0, xmm3</a:t>
            </a:r>
          </a:p>
          <a:p>
            <a:pPr>
              <a:spcAft>
                <a:spcPts val="100"/>
              </a:spcAft>
            </a:pPr>
            <a:r>
              <a:rPr sz="1600">
                <a:solidFill>
                  <a:srgbClr val="D4D4D4"/>
                </a:solidFill>
                <a:latin typeface="Consolas"/>
              </a:rPr>
              <a:t>    </a:t>
            </a:r>
            <a:r>
              <a:rPr sz="1600">
                <a:solidFill>
                  <a:srgbClr val="DCDCAA"/>
                </a:solidFill>
                <a:latin typeface="Consolas"/>
              </a:rPr>
              <a:t>addsd</a:t>
            </a:r>
            <a:r>
              <a:rPr sz="1600">
                <a:solidFill>
                  <a:srgbClr val="D4D4D4"/>
                </a:solidFill>
                <a:latin typeface="Consolas"/>
              </a:rPr>
              <a:t> xmm0, xmm1          </a:t>
            </a:r>
            <a:r>
              <a:rPr sz="1600">
                <a:solidFill>
                  <a:srgbClr val="6A9955"/>
                </a:solidFill>
                <a:latin typeface="Consolas"/>
              </a:rPr>
              <a:t>; KE1+KE2+PE</a:t>
            </a:r>
          </a:p>
          <a:p>
            <a:pPr>
              <a:spcAft>
                <a:spcPts val="100"/>
              </a:spcAft>
            </a:pPr>
            <a:r>
              <a:rPr sz="1600">
                <a:solidFill>
                  <a:srgbClr val="D4D4D4"/>
                </a:solidFill>
                <a:latin typeface="Consolas"/>
              </a:rPr>
              <a:t>    </a:t>
            </a:r>
            <a:r>
              <a:rPr sz="1600">
                <a:solidFill>
                  <a:srgbClr val="DCDCAA"/>
                </a:solidFill>
                <a:latin typeface="Consolas"/>
              </a:rPr>
              <a:t>ret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
        <p:nvSpPr>
          <p:cNvPr id="9" name="asm takeaway"/>
          <p:cNvSpPr txBox="1"/>
          <p:nvPr/>
        </p:nvSpPr>
        <p:spPr>
          <a:xfrm>
            <a:off x="731520" y="5678423"/>
            <a:ext cx="10972800" cy="548640"/>
          </a:xfrm>
          <a:prstGeom prst="rect">
            <a:avLst/>
          </a:prstGeom>
          <a:noFill/>
        </p:spPr>
        <p:txBody>
          <a:bodyPr wrap="none">
            <a:spAutoFit/>
          </a:bodyPr>
          <a:lstStyle/>
          <a:p>
            <a:r>
              <a:rPr sz="1900" i="1">
                <a:solidFill>
                  <a:srgbClr val="7EE08A"/>
                </a:solidFill>
                <a:latin typeface="Segoe UI"/>
              </a:rPr>
              <a:t>0 calls · 0 jumps · 0 vtables — straight-line FP, the same shape as the hand-written formula.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…and the derivative? Same story.</a:t>
            </a:r>
          </a:p>
        </p:txBody>
      </p:sp>
      <p:sp>
        <p:nvSpPr>
          <p:cNvPr id="4" name="Rounded Rectangle 3"/>
          <p:cNvSpPr/>
          <p:nvPr/>
        </p:nvSpPr>
        <p:spPr>
          <a:xfrm>
            <a:off x="548640" y="1280160"/>
            <a:ext cx="11338560" cy="442569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463040"/>
            <a:ext cx="10972800" cy="4059936"/>
          </a:xfrm>
          <a:prstGeom prst="rect">
            <a:avLst/>
          </a:prstGeom>
          <a:noFill/>
        </p:spPr>
        <p:txBody>
          <a:bodyPr wrap="none">
            <a:spAutoFit/>
          </a:bodyPr>
          <a:lstStyle/>
          <a:p>
            <a:pPr>
              <a:spcAft>
                <a:spcPts val="100"/>
              </a:spcAft>
            </a:pPr>
            <a:r>
              <a:rPr sz="1600">
                <a:solidFill>
                  <a:srgbClr val="D4D4D4"/>
                </a:solidFill>
                <a:latin typeface="Consolas"/>
              </a:rPr>
              <a:t>mass1_derivative(...):            </a:t>
            </a:r>
            <a:r>
              <a:rPr sz="1600">
                <a:solidFill>
                  <a:srgbClr val="6A9955"/>
                </a:solidFill>
                <a:latin typeface="Consolas"/>
              </a:rPr>
              <a:t>; returns { dx/dt , dv/dt }</a:t>
            </a:r>
          </a:p>
          <a:p>
            <a:pPr>
              <a:spcAft>
                <a:spcPts val="100"/>
              </a:spcAft>
            </a:pPr>
            <a:r>
              <a:rPr sz="1600">
                <a:solidFill>
                  <a:srgbClr val="D4D4D4"/>
                </a:solidFill>
                <a:latin typeface="Consolas"/>
              </a:rPr>
              <a:t>    mov   r9,  [sys+112]          </a:t>
            </a:r>
            <a:r>
              <a:rPr sz="1600">
                <a:solidFill>
                  <a:srgbClr val="6A9955"/>
                </a:solidFill>
                <a:latin typeface="Consolas"/>
              </a:rPr>
              <a:t>; spring component</a:t>
            </a:r>
          </a:p>
          <a:p>
            <a:pPr>
              <a:spcAft>
                <a:spcPts val="100"/>
              </a:spcAft>
            </a:pPr>
            <a:r>
              <a:rPr sz="1600">
                <a:solidFill>
                  <a:srgbClr val="D4D4D4"/>
                </a:solidFill>
                <a:latin typeface="Consolas"/>
              </a:rPr>
              <a:t>    mov   r10, [sys+128]          </a:t>
            </a:r>
            <a:r>
              <a:rPr sz="1600">
                <a:solidFill>
                  <a:srgbClr val="6A9955"/>
                </a:solidFill>
                <a:latin typeface="Consolas"/>
              </a:rPr>
              <a:t>; mass1 component</a:t>
            </a:r>
          </a:p>
          <a:p>
            <a:pPr>
              <a:spcAft>
                <a:spcPts val="100"/>
              </a:spcAft>
            </a:pPr>
            <a:r>
              <a:rPr sz="1600">
                <a:solidFill>
                  <a:srgbClr val="D4D4D4"/>
                </a:solidFill>
                <a:latin typeface="Consolas"/>
              </a:rPr>
              <a:t>    movsd xmm2, [r9+8]            </a:t>
            </a:r>
            <a:r>
              <a:rPr sz="1600">
                <a:solidFill>
                  <a:srgbClr val="6A9955"/>
                </a:solidFill>
                <a:latin typeface="Consolas"/>
              </a:rPr>
              <a:t>; stiffness k, negated -&gt; -k</a:t>
            </a:r>
          </a:p>
          <a:p>
            <a:pPr>
              <a:spcAft>
                <a:spcPts val="100"/>
              </a:spcAft>
            </a:pPr>
            <a:r>
              <a:rPr sz="1600">
                <a:solidFill>
                  <a:srgbClr val="D4D4D4"/>
                </a:solidFill>
                <a:latin typeface="Consolas"/>
              </a:rPr>
              <a:t>    xorpd xmm2, [.LC0]</a:t>
            </a:r>
          </a:p>
          <a:p>
            <a:pPr>
              <a:spcAft>
                <a:spcPts val="100"/>
              </a:spcAft>
            </a:pPr>
            <a:r>
              <a:rPr sz="1600">
                <a:solidFill>
                  <a:srgbClr val="D4D4D4"/>
                </a:solidFill>
                <a:latin typeface="Consolas"/>
              </a:rPr>
              <a:t>    movsd xmm0, [r8+rcx*8]        </a:t>
            </a:r>
            <a:r>
              <a:rPr sz="1600">
                <a:solidFill>
                  <a:srgbClr val="6A9955"/>
                </a:solidFill>
                <a:latin typeface="Consolas"/>
              </a:rPr>
              <a:t>; x1</a:t>
            </a:r>
          </a:p>
          <a:p>
            <a:pPr>
              <a:spcAft>
                <a:spcPts val="100"/>
              </a:spcAft>
            </a:pPr>
            <a:r>
              <a:rPr sz="1600">
                <a:solidFill>
                  <a:srgbClr val="D4D4D4"/>
                </a:solidFill>
                <a:latin typeface="Consolas"/>
              </a:rPr>
              <a:t>    subsd xmm0, [r8+rdx*8]        </a:t>
            </a:r>
            <a:r>
              <a:rPr sz="1600">
                <a:solidFill>
                  <a:srgbClr val="6A9955"/>
                </a:solidFill>
                <a:latin typeface="Consolas"/>
              </a:rPr>
              <a:t>;   - x2</a:t>
            </a:r>
          </a:p>
          <a:p>
            <a:pPr>
              <a:spcAft>
                <a:spcPts val="100"/>
              </a:spcAft>
            </a:pPr>
            <a:r>
              <a:rPr sz="1600">
                <a:solidFill>
                  <a:srgbClr val="D4D4D4"/>
                </a:solidFill>
                <a:latin typeface="Consolas"/>
              </a:rPr>
              <a:t>    subsd xmm0, [r9+16]           </a:t>
            </a:r>
            <a:r>
              <a:rPr sz="1600">
                <a:solidFill>
                  <a:srgbClr val="6A9955"/>
                </a:solidFill>
                <a:latin typeface="Consolas"/>
              </a:rPr>
              <a:t>;   - L0       -&gt; extension</a:t>
            </a:r>
          </a:p>
          <a:p>
            <a:pPr>
              <a:spcAft>
                <a:spcPts val="100"/>
              </a:spcAft>
            </a:pPr>
            <a:r>
              <a:rPr sz="1600">
                <a:solidFill>
                  <a:srgbClr val="D4D4D4"/>
                </a:solidFill>
                <a:latin typeface="Consolas"/>
              </a:rPr>
              <a:t>    movsd xmm1, [r8+rcx*8]        </a:t>
            </a:r>
            <a:r>
              <a:rPr sz="1600">
                <a:solidFill>
                  <a:srgbClr val="6A9955"/>
                </a:solidFill>
                <a:latin typeface="Consolas"/>
              </a:rPr>
              <a:t>; v1           (= dx/dt)</a:t>
            </a:r>
          </a:p>
          <a:p>
            <a:pPr>
              <a:spcAft>
                <a:spcPts val="100"/>
              </a:spcAft>
            </a:pPr>
            <a:r>
              <a:rPr sz="1600">
                <a:solidFill>
                  <a:srgbClr val="D4D4D4"/>
                </a:solidFill>
                <a:latin typeface="Consolas"/>
              </a:rPr>
              <a:t>    mulsd xmm0, xmm2              </a:t>
            </a:r>
            <a:r>
              <a:rPr sz="1600">
                <a:solidFill>
                  <a:srgbClr val="6A9955"/>
                </a:solidFill>
                <a:latin typeface="Consolas"/>
              </a:rPr>
              <a:t>; -k * extension   (spring force)</a:t>
            </a:r>
          </a:p>
          <a:p>
            <a:pPr>
              <a:spcAft>
                <a:spcPts val="100"/>
              </a:spcAft>
            </a:pPr>
            <a:r>
              <a:rPr sz="1600">
                <a:solidFill>
                  <a:srgbClr val="D4D4D4"/>
                </a:solidFill>
                <a:latin typeface="Consolas"/>
              </a:rPr>
              <a:t>    comisd xmm3, 0               </a:t>
            </a:r>
            <a:r>
              <a:rPr sz="1600">
                <a:solidFill>
                  <a:srgbClr val="6A9955"/>
                </a:solidFill>
                <a:latin typeface="Consolas"/>
              </a:rPr>
              <a:t>; if (damping &gt; 0)  - c == 0, so</a:t>
            </a:r>
          </a:p>
          <a:p>
            <a:pPr>
              <a:spcAft>
                <a:spcPts val="100"/>
              </a:spcAft>
            </a:pPr>
            <a:r>
              <a:rPr sz="1600">
                <a:solidFill>
                  <a:srgbClr val="D4D4D4"/>
                </a:solidFill>
                <a:latin typeface="Consolas"/>
              </a:rPr>
              <a:t>    jbe   .Lskip                 </a:t>
            </a:r>
            <a:r>
              <a:rPr sz="1600">
                <a:solidFill>
                  <a:srgbClr val="6A9955"/>
                </a:solidFill>
                <a:latin typeface="Consolas"/>
              </a:rPr>
              <a:t>;   the branch is skipped</a:t>
            </a:r>
          </a:p>
          <a:p>
            <a:pPr>
              <a:spcAft>
                <a:spcPts val="100"/>
              </a:spcAft>
            </a:pPr>
            <a:r>
              <a:rPr sz="1600">
                <a:solidFill>
                  <a:srgbClr val="D4D4D4"/>
                </a:solidFill>
                <a:latin typeface="Consolas"/>
              </a:rPr>
              <a:t>    divsd xmm0, [r10+8]          </a:t>
            </a:r>
            <a:r>
              <a:rPr sz="1600">
                <a:solidFill>
                  <a:srgbClr val="6A9955"/>
                </a:solidFill>
                <a:latin typeface="Consolas"/>
              </a:rPr>
              <a:t>; force / m1   (= dv/dt)</a:t>
            </a:r>
          </a:p>
          <a:p>
            <a:pPr>
              <a:spcAft>
                <a:spcPts val="100"/>
              </a:spcAft>
            </a:pPr>
            <a:r>
              <a:rPr sz="1600">
                <a:solidFill>
                  <a:srgbClr val="D4D4D4"/>
                </a:solidFill>
                <a:latin typeface="Consolas"/>
              </a:rPr>
              <a:t>    unpcklpd xmm1, xmm0          </a:t>
            </a:r>
            <a:r>
              <a:rPr sz="1600">
                <a:solidFill>
                  <a:srgbClr val="6A9955"/>
                </a:solidFill>
                <a:latin typeface="Consolas"/>
              </a:rPr>
              <a:t>; pack { v1, a1 }</a:t>
            </a:r>
          </a:p>
          <a:p>
            <a:pPr>
              <a:spcAft>
                <a:spcPts val="100"/>
              </a:spcAft>
            </a:pPr>
            <a:r>
              <a:rPr sz="1600">
                <a:solidFill>
                  <a:srgbClr val="D4D4D4"/>
                </a:solidFill>
                <a:latin typeface="Consolas"/>
              </a:rPr>
              <a:t>    movups [rax], xmm1</a:t>
            </a:r>
          </a:p>
          <a:p>
            <a:pPr>
              <a:spcAft>
                <a:spcPts val="100"/>
              </a:spcAft>
            </a:pPr>
            <a:r>
              <a:rPr sz="1600">
                <a:solidFill>
                  <a:srgbClr val="D4D4D4"/>
                </a:solidFill>
                <a:latin typeface="Consolas"/>
              </a:rPr>
              <a:t>    ret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
        <p:nvSpPr>
          <p:cNvPr id="9" name="asm takeaway"/>
          <p:cNvSpPr txBox="1"/>
          <p:nvPr/>
        </p:nvSpPr>
        <p:spPr>
          <a:xfrm>
            <a:off x="731520" y="5833872"/>
            <a:ext cx="11155680" cy="548640"/>
          </a:xfrm>
          <a:prstGeom prst="rect">
            <a:avLst/>
          </a:prstGeom>
          <a:noFill/>
        </p:spPr>
        <p:txBody>
          <a:bodyPr wrap="none">
            <a:spAutoFit/>
          </a:bodyPr>
          <a:lstStyle/>
          <a:p>
            <a:r>
              <a:rPr sz="1900" i="1">
                <a:solidFill>
                  <a:srgbClr val="7EE08A"/>
                </a:solidFill>
                <a:latin typeface="Segoe UI"/>
              </a:rPr>
              <a:t>the whole query chain — spring force, then ÷ mass — is ~15 instructions, no calls.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3927550" cy="400110"/>
          </a:xfrm>
          <a:prstGeom prst="rect">
            <a:avLst/>
          </a:prstGeom>
          <a:noFill/>
        </p:spPr>
        <p:txBody>
          <a:bodyPr wrap="none">
            <a:spAutoFit/>
          </a:bodyPr>
          <a:lstStyle/>
          <a:p>
            <a:r>
              <a:rPr sz="4000" b="1">
                <a:solidFill>
                  <a:srgbClr val="7EE08A"/>
                </a:solidFill>
                <a:latin typeface="Segoe UI"/>
              </a:rPr>
              <a:t>1000×</a:t>
            </a:r>
            <a:r>
              <a:rPr sz="2000" b="0">
                <a:solidFill>
                  <a:srgbClr val="D8E2EC"/>
                </a:solidFill>
                <a:latin typeface="Segoe UI"/>
              </a:rPr>
              <a:t>   faster than an equivalent OO C# version</a:t>
            </a:r>
            <a:endParaRPr sz="2000" dirty="0">
              <a:solidFill>
                <a:srgbClr val="D8E2EC"/>
              </a:solidFill>
              <a:latin typeface="Segoe UI"/>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371600"/>
            <a:ext cx="11338560" cy="3081528"/>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autodiff"/>
          <p:cNvSpPr txBox="1"/>
          <p:nvPr/>
        </p:nvSpPr>
        <p:spPr>
          <a:xfrm>
            <a:off x="731520" y="1554480"/>
            <a:ext cx="10972800" cy="2715768"/>
          </a:xfrm>
          <a:prstGeom prst="rect">
            <a:avLst/>
          </a:prstGeom>
          <a:noFill/>
        </p:spPr>
        <p:txBody>
          <a:bodyPr wrap="none">
            <a:spAutoFit/>
          </a:bodyPr>
          <a:lstStyle/>
          <a:p>
            <a:pPr>
              <a:spcAft>
                <a:spcPts val="100"/>
              </a:spcAft>
            </a:pPr>
            <a:r>
              <a:rPr sz="1600">
                <a:solidFill>
                  <a:srgbClr val="6A9955"/>
                </a:solidFill>
                <a:latin typeface="Consolas"/>
              </a:rPr>
              <a:t>// simulate:</a:t>
            </a:r>
          </a:p>
          <a:p>
            <a:pPr>
              <a:spcAft>
                <a:spcPts val="100"/>
              </a:spcAft>
            </a:pPr>
            <a:r>
              <a:rPr sz="1600">
                <a:solidFill>
                  <a:srgbClr val="569CD6"/>
                </a:solidFill>
                <a:latin typeface="Consolas"/>
              </a:rPr>
              <a:t>auto</a:t>
            </a:r>
            <a:r>
              <a:rPr sz="1600">
                <a:solidFill>
                  <a:srgbClr val="D4D4D4"/>
                </a:solidFill>
                <a:latin typeface="Consolas"/>
              </a:rPr>
              <a:t> sim  = makeODESystem&lt;</a:t>
            </a:r>
            <a:r>
              <a:rPr sz="1600">
                <a:solidFill>
                  <a:srgbClr val="4EC9B0"/>
                </a:solidFill>
                <a:latin typeface="Consolas"/>
              </a:rPr>
              <a:t>double</a:t>
            </a:r>
            <a:r>
              <a:rPr sz="1600">
                <a:solidFill>
                  <a:srgbClr val="D4D4D4"/>
                </a:solidFill>
                <a:latin typeface="Consolas"/>
              </a:rPr>
              <a:t>&gt;(comps...);</a:t>
            </a:r>
          </a:p>
          <a:p>
            <a:pPr>
              <a:spcAft>
                <a:spcPts val="100"/>
              </a:spcAft>
            </a:pPr>
            <a:r>
              <a:rPr sz="1600">
                <a:latin typeface="Consolas"/>
              </a:rPr>
              <a:t> </a:t>
            </a:r>
          </a:p>
          <a:p>
            <a:pPr>
              <a:spcAft>
                <a:spcPts val="100"/>
              </a:spcAft>
            </a:pPr>
            <a:r>
              <a:rPr sz="1600">
                <a:solidFill>
                  <a:srgbClr val="6A9955"/>
                </a:solidFill>
                <a:latin typeface="Consolas"/>
              </a:rPr>
              <a:t>// differentiate — SAME components, different scalar:</a:t>
            </a:r>
          </a:p>
          <a:p>
            <a:pPr>
              <a:spcAft>
                <a:spcPts val="100"/>
              </a:spcAft>
            </a:pPr>
            <a:r>
              <a:rPr sz="1600" b="1">
                <a:solidFill>
                  <a:srgbClr val="569CD6"/>
                </a:solidFill>
                <a:latin typeface="Consolas"/>
              </a:rPr>
              <a:t>using</a:t>
            </a:r>
            <a:r>
              <a:rPr sz="1600" b="1">
                <a:solidFill>
                  <a:srgbClr val="D4D4D4"/>
                </a:solidFill>
                <a:latin typeface="Consolas"/>
              </a:rPr>
              <a:t> D = </a:t>
            </a:r>
            <a:r>
              <a:rPr sz="1600" b="1">
                <a:solidFill>
                  <a:srgbClr val="4EC9B0"/>
                </a:solidFill>
                <a:latin typeface="Consolas"/>
              </a:rPr>
              <a:t>Dual</a:t>
            </a:r>
            <a:r>
              <a:rPr sz="1600" b="1">
                <a:solidFill>
                  <a:srgbClr val="D4D4D4"/>
                </a:solidFill>
                <a:latin typeface="Consolas"/>
              </a:rPr>
              <a:t>&lt;</a:t>
            </a:r>
            <a:r>
              <a:rPr sz="1600" b="1">
                <a:solidFill>
                  <a:srgbClr val="4EC9B0"/>
                </a:solidFill>
                <a:latin typeface="Consolas"/>
              </a:rPr>
              <a:t>double</a:t>
            </a:r>
            <a:r>
              <a:rPr sz="1600" b="1">
                <a:solidFill>
                  <a:srgbClr val="D4D4D4"/>
                </a:solidFill>
                <a:latin typeface="Consolas"/>
              </a:rPr>
              <a:t>, </a:t>
            </a:r>
            <a:r>
              <a:rPr sz="1600" b="1">
                <a:solidFill>
                  <a:srgbClr val="B5CEA8"/>
                </a:solidFill>
                <a:latin typeface="Consolas"/>
              </a:rPr>
              <a:t>14</a:t>
            </a:r>
            <a:r>
              <a:rPr sz="1600" b="1">
                <a:solidFill>
                  <a:srgbClr val="D4D4D4"/>
                </a:solidFill>
                <a:latin typeface="Consolas"/>
              </a:rPr>
              <a:t>&gt;;                  </a:t>
            </a:r>
            <a:r>
              <a:rPr sz="1600" b="1">
                <a:solidFill>
                  <a:srgbClr val="6A9955"/>
                </a:solidFill>
                <a:latin typeface="Consolas"/>
              </a:rPr>
              <a:t>// forward-mode autodiff</a:t>
            </a:r>
          </a:p>
          <a:p>
            <a:pPr>
              <a:spcAft>
                <a:spcPts val="100"/>
              </a:spcAft>
            </a:pPr>
            <a:r>
              <a:rPr sz="1600" b="1">
                <a:solidFill>
                  <a:srgbClr val="569CD6"/>
                </a:solidFill>
                <a:latin typeface="Consolas"/>
              </a:rPr>
              <a:t>auto</a:t>
            </a:r>
            <a:r>
              <a:rPr sz="1600" b="1">
                <a:solidFill>
                  <a:srgbClr val="D4D4D4"/>
                </a:solidFill>
                <a:latin typeface="Consolas"/>
              </a:rPr>
              <a:t> grad = makeODESystem&lt;D&gt;(comps...);</a:t>
            </a:r>
          </a:p>
          <a:p>
            <a:pPr>
              <a:spcAft>
                <a:spcPts val="100"/>
              </a:spcAft>
            </a:pPr>
            <a:r>
              <a:rPr sz="1600">
                <a:solidFill>
                  <a:srgbClr val="569CD6"/>
                </a:solidFill>
                <a:latin typeface="Consolas"/>
              </a:rPr>
              <a:t>auto</a:t>
            </a:r>
            <a:r>
              <a:rPr sz="1600">
                <a:solidFill>
                  <a:srgbClr val="D4D4D4"/>
                </a:solidFill>
                <a:latin typeface="Consolas"/>
              </a:rPr>
              <a:t> J    = computeJacobian(grad, t, state); </a:t>
            </a:r>
            <a:r>
              <a:rPr sz="1600">
                <a:solidFill>
                  <a:srgbClr val="6A9955"/>
                </a:solidFill>
                <a:latin typeface="Consolas"/>
              </a:rPr>
              <a:t>// exact, to machine precision</a:t>
            </a:r>
          </a:p>
          <a:p>
            <a:pPr>
              <a:spcAft>
                <a:spcPts val="100"/>
              </a:spcAft>
            </a:pPr>
            <a:r>
              <a:rPr sz="1600">
                <a:latin typeface="Consolas"/>
              </a:rPr>
              <a:t> </a:t>
            </a:r>
          </a:p>
          <a:p>
            <a:pPr>
              <a:spcAft>
                <a:spcPts val="100"/>
              </a:spcAft>
            </a:pPr>
            <a:r>
              <a:rPr sz="1600">
                <a:solidFill>
                  <a:srgbClr val="6A9955"/>
                </a:solidFill>
                <a:latin typeface="Consolas"/>
              </a:rPr>
              <a:t>// linearize -&gt; LQR gain straight from the nonlinear model</a:t>
            </a:r>
          </a:p>
          <a:p>
            <a:pPr>
              <a:spcAft>
                <a:spcPts val="100"/>
              </a:spcAft>
            </a:pPr>
            <a:r>
              <a:rPr sz="1600">
                <a:solidFill>
                  <a:srgbClr val="569CD6"/>
                </a:solidFill>
                <a:latin typeface="Consolas"/>
              </a:rPr>
              <a:t>auto</a:t>
            </a:r>
            <a:r>
              <a:rPr sz="1600">
                <a:solidFill>
                  <a:srgbClr val="D4D4D4"/>
                </a:solidFill>
                <a:latin typeface="Consolas"/>
              </a:rPr>
              <a:t> K = lqr(J.A, J.B, Q, R);</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492443"/>
          </a:xfrm>
          <a:prstGeom prst="rect">
            <a:avLst/>
          </a:prstGeom>
          <a:noFill/>
        </p:spPr>
        <p:txBody>
          <a:bodyPr wrap="square">
            <a:spAutoFit/>
          </a:bodyPr>
          <a:lstStyle/>
          <a:p>
            <a:r>
              <a:rPr sz="2600" b="1" dirty="0">
                <a:solidFill>
                  <a:srgbClr val="F2C744"/>
                </a:solidFill>
                <a:latin typeface="Segoe UI"/>
              </a:rPr>
              <a:t>The goal, all the way down:  a consistent level of abstraction</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548640" y="1554480"/>
            <a:ext cx="11338560" cy="301752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
        <p:nvSpPr>
          <p:cNvPr id="8" name="zarchan setup"/>
          <p:cNvSpPr txBox="1"/>
          <p:nvPr/>
        </p:nvSpPr>
        <p:spPr>
          <a:xfrm>
            <a:off x="777240" y="1691640"/>
            <a:ext cx="10881360" cy="2743200"/>
          </a:xfrm>
          <a:prstGeom prst="rect">
            <a:avLst/>
          </a:prstGeom>
          <a:noFill/>
        </p:spPr>
        <p:txBody>
          <a:bodyPr wrap="none">
            <a:spAutoFit/>
          </a:bodyPr>
          <a:lstStyle/>
          <a:p>
            <a:pPr>
              <a:spcAft>
                <a:spcPts val="100"/>
              </a:spcAft>
            </a:pPr>
            <a:r>
              <a:rPr sz="1600">
                <a:solidFill>
                  <a:srgbClr val="D4D4D4"/>
                </a:solidFill>
                <a:latin typeface="Consolas"/>
              </a:rPr>
              <a:t>XISP1</a:t>
            </a:r>
            <a:r>
              <a:rPr sz="1600">
                <a:solidFill>
                  <a:srgbClr val="D4D4D4"/>
                </a:solidFill>
                <a:latin typeface="Consolas"/>
              </a:rPr>
              <a:t>=</a:t>
            </a:r>
            <a:r>
              <a:rPr sz="1600">
                <a:solidFill>
                  <a:srgbClr val="B5CEA8"/>
                </a:solidFill>
                <a:latin typeface="Consolas"/>
              </a:rPr>
              <a:t>250.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XISP2</a:t>
            </a:r>
            <a:r>
              <a:rPr sz="1600">
                <a:solidFill>
                  <a:srgbClr val="D4D4D4"/>
                </a:solidFill>
                <a:latin typeface="Consolas"/>
              </a:rPr>
              <a:t>=</a:t>
            </a:r>
            <a:r>
              <a:rPr sz="1600">
                <a:solidFill>
                  <a:srgbClr val="B5CEA8"/>
                </a:solidFill>
                <a:latin typeface="Consolas"/>
              </a:rPr>
              <a:t>250.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XMF1</a:t>
            </a:r>
            <a:r>
              <a:rPr sz="1600">
                <a:solidFill>
                  <a:srgbClr val="D4D4D4"/>
                </a:solidFill>
                <a:latin typeface="Consolas"/>
              </a:rPr>
              <a:t>=</a:t>
            </a:r>
            <a:r>
              <a:rPr sz="1600">
                <a:solidFill>
                  <a:srgbClr val="B5CEA8"/>
                </a:solidFill>
                <a:latin typeface="Consolas"/>
              </a:rPr>
              <a:t>.85</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XMF2</a:t>
            </a:r>
            <a:r>
              <a:rPr sz="1600">
                <a:solidFill>
                  <a:srgbClr val="D4D4D4"/>
                </a:solidFill>
                <a:latin typeface="Consolas"/>
              </a:rPr>
              <a:t>=</a:t>
            </a:r>
            <a:r>
              <a:rPr sz="1600">
                <a:solidFill>
                  <a:srgbClr val="B5CEA8"/>
                </a:solidFill>
                <a:latin typeface="Consolas"/>
              </a:rPr>
              <a:t>.85</a:t>
            </a:r>
            <a:r>
              <a:rPr sz="1600">
                <a:solidFill>
                  <a:srgbClr val="D4D4D4"/>
                </a:solidFill>
                <a:latin typeface="Consolas"/>
              </a:rPr>
              <a:t>;</a:t>
            </a:r>
          </a:p>
          <a:p>
            <a:pPr>
              <a:spcAft>
                <a:spcPts val="100"/>
              </a:spcAft>
            </a:pPr>
            <a:r>
              <a:rPr sz="1600">
                <a:solidFill>
                  <a:srgbClr val="D4D4D4"/>
                </a:solidFill>
                <a:latin typeface="Consolas"/>
              </a:rPr>
              <a:t>WPAY</a:t>
            </a:r>
            <a:r>
              <a:rPr sz="1600">
                <a:solidFill>
                  <a:srgbClr val="D4D4D4"/>
                </a:solidFill>
                <a:latin typeface="Consolas"/>
              </a:rPr>
              <a:t>=</a:t>
            </a:r>
            <a:r>
              <a:rPr sz="1600">
                <a:solidFill>
                  <a:srgbClr val="B5CEA8"/>
                </a:solidFill>
                <a:latin typeface="Consolas"/>
              </a:rPr>
              <a:t>100.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DELV</a:t>
            </a:r>
            <a:r>
              <a:rPr sz="1600">
                <a:solidFill>
                  <a:srgbClr val="D4D4D4"/>
                </a:solidFill>
                <a:latin typeface="Consolas"/>
              </a:rPr>
              <a:t>=</a:t>
            </a:r>
            <a:r>
              <a:rPr sz="1600">
                <a:solidFill>
                  <a:srgbClr val="B5CEA8"/>
                </a:solidFill>
                <a:latin typeface="Consolas"/>
              </a:rPr>
              <a:t>20000.</a:t>
            </a:r>
            <a:r>
              <a:rPr sz="1600">
                <a:solidFill>
                  <a:srgbClr val="D4D4D4"/>
                </a:solidFill>
                <a:latin typeface="Consolas"/>
              </a:rPr>
              <a:t>;</a:t>
            </a:r>
          </a:p>
          <a:p>
            <a:pPr>
              <a:spcAft>
                <a:spcPts val="100"/>
              </a:spcAft>
            </a:pPr>
            <a:r>
              <a:rPr sz="1600">
                <a:solidFill>
                  <a:srgbClr val="D4D4D4"/>
                </a:solidFill>
                <a:latin typeface="Consolas"/>
              </a:rPr>
              <a:t>DELV1</a:t>
            </a:r>
            <a:r>
              <a:rPr sz="1600">
                <a:solidFill>
                  <a:srgbClr val="D4D4D4"/>
                </a:solidFill>
                <a:latin typeface="Consolas"/>
              </a:rPr>
              <a:t>=</a:t>
            </a:r>
            <a:r>
              <a:rPr sz="1600">
                <a:solidFill>
                  <a:srgbClr val="B5CEA8"/>
                </a:solidFill>
                <a:latin typeface="Consolas"/>
              </a:rPr>
              <a:t>.3333</a:t>
            </a:r>
            <a:r>
              <a:rPr sz="1600">
                <a:solidFill>
                  <a:srgbClr val="D4D4D4"/>
                </a:solidFill>
                <a:latin typeface="Consolas"/>
              </a:rPr>
              <a:t>*</a:t>
            </a:r>
            <a:r>
              <a:rPr sz="1600">
                <a:solidFill>
                  <a:srgbClr val="D4D4D4"/>
                </a:solidFill>
                <a:latin typeface="Consolas"/>
              </a:rPr>
              <a:t>DELV</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DELV2</a:t>
            </a:r>
            <a:r>
              <a:rPr sz="1600">
                <a:solidFill>
                  <a:srgbClr val="D4D4D4"/>
                </a:solidFill>
                <a:latin typeface="Consolas"/>
              </a:rPr>
              <a:t>=</a:t>
            </a:r>
            <a:r>
              <a:rPr sz="1600">
                <a:solidFill>
                  <a:srgbClr val="B5CEA8"/>
                </a:solidFill>
                <a:latin typeface="Consolas"/>
              </a:rPr>
              <a:t>.6667</a:t>
            </a:r>
            <a:r>
              <a:rPr sz="1600">
                <a:solidFill>
                  <a:srgbClr val="D4D4D4"/>
                </a:solidFill>
                <a:latin typeface="Consolas"/>
              </a:rPr>
              <a:t>*</a:t>
            </a:r>
            <a:r>
              <a:rPr sz="1600">
                <a:solidFill>
                  <a:srgbClr val="D4D4D4"/>
                </a:solidFill>
                <a:latin typeface="Consolas"/>
              </a:rPr>
              <a:t>DELV</a:t>
            </a:r>
            <a:r>
              <a:rPr sz="1600">
                <a:solidFill>
                  <a:srgbClr val="D4D4D4"/>
                </a:solidFill>
                <a:latin typeface="Consolas"/>
              </a:rPr>
              <a:t>;</a:t>
            </a:r>
          </a:p>
          <a:p>
            <a:pPr>
              <a:spcAft>
                <a:spcPts val="100"/>
              </a:spcAft>
            </a:pPr>
            <a:r>
              <a:rPr sz="1600">
                <a:solidFill>
                  <a:srgbClr val="D4D4D4"/>
                </a:solidFill>
                <a:latin typeface="Consolas"/>
              </a:rPr>
              <a:t>AMAX1</a:t>
            </a:r>
            <a:r>
              <a:rPr sz="1600">
                <a:solidFill>
                  <a:srgbClr val="D4D4D4"/>
                </a:solidFill>
                <a:latin typeface="Consolas"/>
              </a:rPr>
              <a:t>=</a:t>
            </a:r>
            <a:r>
              <a:rPr sz="1600">
                <a:solidFill>
                  <a:srgbClr val="B5CEA8"/>
                </a:solidFill>
                <a:latin typeface="Consolas"/>
              </a:rPr>
              <a:t>10.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AMAX2</a:t>
            </a:r>
            <a:r>
              <a:rPr sz="1600">
                <a:solidFill>
                  <a:srgbClr val="D4D4D4"/>
                </a:solidFill>
                <a:latin typeface="Consolas"/>
              </a:rPr>
              <a:t>=</a:t>
            </a:r>
            <a:r>
              <a:rPr sz="1600">
                <a:solidFill>
                  <a:srgbClr val="B5CEA8"/>
                </a:solidFill>
                <a:latin typeface="Consolas"/>
              </a:rPr>
              <a:t>10.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GAMDEG</a:t>
            </a:r>
            <a:r>
              <a:rPr sz="1600">
                <a:solidFill>
                  <a:srgbClr val="D4D4D4"/>
                </a:solidFill>
                <a:latin typeface="Consolas"/>
              </a:rPr>
              <a:t>=</a:t>
            </a:r>
            <a:r>
              <a:rPr sz="1600">
                <a:solidFill>
                  <a:srgbClr val="B5CEA8"/>
                </a:solidFill>
                <a:latin typeface="Consolas"/>
              </a:rPr>
              <a:t>85.</a:t>
            </a:r>
            <a:r>
              <a:rPr sz="1600">
                <a:solidFill>
                  <a:srgbClr val="D4D4D4"/>
                </a:solidFill>
                <a:latin typeface="Consolas"/>
              </a:rPr>
              <a:t>;</a:t>
            </a:r>
          </a:p>
          <a:p>
            <a:pPr>
              <a:spcAft>
                <a:spcPts val="100"/>
              </a:spcAft>
            </a:pPr>
            <a:r>
              <a:rPr sz="1600">
                <a:solidFill>
                  <a:srgbClr val="D4D4D4"/>
                </a:solidFill>
                <a:latin typeface="Consolas"/>
              </a:rPr>
              <a:t>TOP2</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r>
              <a:rPr sz="1600">
                <a:solidFill>
                  <a:srgbClr val="D4D4D4"/>
                </a:solidFill>
                <a:latin typeface="Consolas"/>
              </a:rPr>
              <a:t>(</a:t>
            </a:r>
            <a:r>
              <a:rPr sz="1600">
                <a:solidFill>
                  <a:srgbClr val="4EC9B0"/>
                </a:solidFill>
                <a:latin typeface="Consolas"/>
              </a:rPr>
              <a:t>exp</a:t>
            </a:r>
            <a:r>
              <a:rPr sz="1600">
                <a:solidFill>
                  <a:srgbClr val="D4D4D4"/>
                </a:solidFill>
                <a:latin typeface="Consolas"/>
              </a:rPr>
              <a:t>(</a:t>
            </a:r>
            <a:r>
              <a:rPr sz="1600">
                <a:solidFill>
                  <a:srgbClr val="D4D4D4"/>
                </a:solidFill>
                <a:latin typeface="Consolas"/>
              </a:rPr>
              <a:t>DELV2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XISP2</a:t>
            </a:r>
            <a:r>
              <a:rPr sz="1600">
                <a:solidFill>
                  <a:srgbClr val="D4D4D4"/>
                </a:solidFill>
                <a:latin typeface="Consolas"/>
              </a:rPr>
              <a:t>*</a:t>
            </a:r>
            <a:r>
              <a:rPr sz="1600">
                <a:solidFill>
                  <a:srgbClr val="B5CEA8"/>
                </a:solidFill>
                <a:latin typeface="Consolas"/>
              </a:rPr>
              <a:t>32.2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BOT2</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4EC9B0"/>
                </a:solidFill>
                <a:latin typeface="Consolas"/>
              </a:rPr>
              <a:t>exp</a:t>
            </a:r>
            <a:r>
              <a:rPr sz="1600">
                <a:solidFill>
                  <a:srgbClr val="D4D4D4"/>
                </a:solidFill>
                <a:latin typeface="Consolas"/>
              </a:rPr>
              <a:t>(</a:t>
            </a:r>
            <a:r>
              <a:rPr sz="1600">
                <a:solidFill>
                  <a:srgbClr val="D4D4D4"/>
                </a:solidFill>
                <a:latin typeface="Consolas"/>
              </a:rPr>
              <a:t>DELV2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XISP2</a:t>
            </a:r>
            <a:r>
              <a:rPr sz="1600">
                <a:solidFill>
                  <a:srgbClr val="D4D4D4"/>
                </a:solidFill>
                <a:latin typeface="Consolas"/>
              </a:rPr>
              <a:t>*</a:t>
            </a:r>
            <a:r>
              <a:rPr sz="1600">
                <a:solidFill>
                  <a:srgbClr val="B5CEA8"/>
                </a:solidFill>
                <a:latin typeface="Consolas"/>
              </a:rPr>
              <a:t>32.2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WP2</a:t>
            </a:r>
            <a:r>
              <a:rPr sz="1600">
                <a:solidFill>
                  <a:srgbClr val="D4D4D4"/>
                </a:solidFill>
                <a:latin typeface="Consolas"/>
              </a:rPr>
              <a:t>=</a:t>
            </a:r>
            <a:r>
              <a:rPr sz="1600">
                <a:solidFill>
                  <a:srgbClr val="D4D4D4"/>
                </a:solidFill>
                <a:latin typeface="Consolas"/>
              </a:rPr>
              <a:t>TOP2</a:t>
            </a:r>
            <a:r>
              <a:rPr sz="1600">
                <a:solidFill>
                  <a:srgbClr val="D4D4D4"/>
                </a:solidFill>
                <a:latin typeface="Consolas"/>
              </a:rPr>
              <a:t>/</a:t>
            </a:r>
            <a:r>
              <a:rPr sz="1600">
                <a:solidFill>
                  <a:srgbClr val="D4D4D4"/>
                </a:solidFill>
                <a:latin typeface="Consolas"/>
              </a:rPr>
              <a:t>BOT2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WS2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WTOT2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WS2</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p>
          <a:p>
            <a:pPr>
              <a:spcAft>
                <a:spcPts val="100"/>
              </a:spcAft>
            </a:pPr>
            <a:r>
              <a:rPr sz="1600">
                <a:solidFill>
                  <a:srgbClr val="D4D4D4"/>
                </a:solidFill>
                <a:latin typeface="Consolas"/>
              </a:rPr>
              <a:t>TRST2</a:t>
            </a:r>
            <a:r>
              <a:rPr sz="1600">
                <a:solidFill>
                  <a:srgbClr val="D4D4D4"/>
                </a:solidFill>
                <a:latin typeface="Consolas"/>
              </a:rPr>
              <a:t>=</a:t>
            </a:r>
            <a:r>
              <a:rPr sz="1600">
                <a:solidFill>
                  <a:srgbClr val="D4D4D4"/>
                </a:solidFill>
                <a:latin typeface="Consolas"/>
              </a:rPr>
              <a:t>AMAX2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r>
              <a:rPr sz="1600">
                <a:solidFill>
                  <a:srgbClr val="D4D4D4"/>
                </a:solidFill>
                <a:latin typeface="Consolas"/>
              </a:rPr>
              <a:t>WS2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TB2</a:t>
            </a:r>
            <a:r>
              <a:rPr sz="1600">
                <a:solidFill>
                  <a:srgbClr val="D4D4D4"/>
                </a:solidFill>
                <a:latin typeface="Consolas"/>
              </a:rPr>
              <a:t>=</a:t>
            </a:r>
            <a:r>
              <a:rPr sz="1600">
                <a:solidFill>
                  <a:srgbClr val="D4D4D4"/>
                </a:solidFill>
                <a:latin typeface="Consolas"/>
              </a:rPr>
              <a:t>XISP2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TRST2</a:t>
            </a:r>
            <a:r>
              <a:rPr sz="1600">
                <a:solidFill>
                  <a:srgbClr val="D4D4D4"/>
                </a:solidFill>
                <a:latin typeface="Consolas"/>
              </a:rPr>
              <a:t>;</a:t>
            </a:r>
          </a:p>
          <a:p>
            <a:pPr>
              <a:spcAft>
                <a:spcPts val="100"/>
              </a:spcAft>
            </a:pPr>
            <a:r>
              <a:rPr sz="1600">
                <a:solidFill>
                  <a:srgbClr val="6A9955"/>
                </a:solidFill>
                <a:latin typeface="Consolas"/>
              </a:rPr>
              <a:t>% ... then TOP1,BOT1,WP1,WS1,WTOT,TRST1,TB1 -- same again for stage 1</a:t>
            </a:r>
          </a:p>
        </p:txBody>
      </p:sp>
      <p:sp>
        <p:nvSpPr>
          <p:cNvPr id="9" name="TextBox 8"/>
          <p:cNvSpPr txBox="1"/>
          <p:nvPr/>
        </p:nvSpPr>
        <p:spPr>
          <a:xfrm>
            <a:off x="777240" y="4617720"/>
            <a:ext cx="10972800" cy="274320"/>
          </a:xfrm>
          <a:prstGeom prst="rect">
            <a:avLst/>
          </a:prstGeom>
          <a:noFill/>
        </p:spPr>
        <p:txBody>
          <a:bodyPr wrap="none">
            <a:spAutoFit/>
          </a:bodyPr>
          <a:lstStyle/>
          <a:p>
            <a:r>
              <a:rPr sz="1200" i="1">
                <a:solidFill>
                  <a:srgbClr val="8CA3B8"/>
                </a:solidFill>
                <a:latin typeface="Segoe UI"/>
              </a:rPr>
              <a:t>Zarchan, Tactical &amp; Strategic Missile Guidance, 6th ed. (MATLAB) — gravity-turn booster sim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loop, every variable global</a:t>
            </a:r>
          </a:p>
        </p:txBody>
      </p:sp>
      <p:sp>
        <p:nvSpPr>
          <p:cNvPr id="4" name="Rounded Rectangle 3"/>
          <p:cNvSpPr/>
          <p:nvPr/>
        </p:nvSpPr>
        <p:spPr>
          <a:xfrm>
            <a:off x="548640" y="1463040"/>
            <a:ext cx="11338560" cy="3767328"/>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
        <p:nvSpPr>
          <p:cNvPr id="8" name="zarchan loop"/>
          <p:cNvSpPr txBox="1"/>
          <p:nvPr/>
        </p:nvSpPr>
        <p:spPr>
          <a:xfrm>
            <a:off x="777240" y="1600200"/>
            <a:ext cx="10881360" cy="3566160"/>
          </a:xfrm>
          <a:prstGeom prst="rect">
            <a:avLst/>
          </a:prstGeom>
          <a:noFill/>
        </p:spPr>
        <p:txBody>
          <a:bodyPr wrap="none">
            <a:spAutoFit/>
          </a:bodyPr>
          <a:lstStyle/>
          <a:p>
            <a:pPr>
              <a:spcAft>
                <a:spcPts val="100"/>
              </a:spcAft>
            </a:pPr>
            <a:r>
              <a:rPr sz="1600">
                <a:solidFill>
                  <a:srgbClr val="569CD6"/>
                </a:solidFill>
                <a:latin typeface="Consolas"/>
              </a:rPr>
              <a:t>while</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ALT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if</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&lt;</a:t>
            </a:r>
            <a:r>
              <a:rPr sz="1600">
                <a:solidFill>
                  <a:srgbClr val="D4D4D4"/>
                </a:solidFill>
                <a:latin typeface="Consolas"/>
              </a:rPr>
              <a:t>TB1</a:t>
            </a:r>
          </a:p>
          <a:p>
            <a:pPr>
              <a:spcAft>
                <a:spcPts val="100"/>
              </a:spcAft>
            </a:pPr>
            <a:r>
              <a:rPr sz="1600">
                <a:solidFill>
                  <a:srgbClr val="D4D4D4"/>
                </a:solidFill>
                <a:latin typeface="Consolas"/>
              </a:rPr>
              <a:t>        </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WP1</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TB1</a:t>
            </a:r>
            <a:r>
              <a:rPr sz="1600">
                <a:solidFill>
                  <a:srgbClr val="D4D4D4"/>
                </a:solidFill>
                <a:latin typeface="Consolas"/>
              </a:rPr>
              <a:t>+</a:t>
            </a:r>
            <a:r>
              <a:rPr sz="1600">
                <a:solidFill>
                  <a:srgbClr val="D4D4D4"/>
                </a:solidFill>
                <a:latin typeface="Consolas"/>
              </a:rPr>
              <a:t>WTOT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TRST</a:t>
            </a:r>
            <a:r>
              <a:rPr sz="1600">
                <a:solidFill>
                  <a:srgbClr val="D4D4D4"/>
                </a:solidFill>
                <a:latin typeface="Consolas"/>
              </a:rPr>
              <a:t>=</a:t>
            </a:r>
            <a:r>
              <a:rPr sz="1600">
                <a:solidFill>
                  <a:srgbClr val="D4D4D4"/>
                </a:solidFill>
                <a:latin typeface="Consolas"/>
              </a:rPr>
              <a:t>TRST1</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elseif</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&lt;</a:t>
            </a:r>
            <a:r>
              <a:rPr sz="1600">
                <a:solidFill>
                  <a:srgbClr val="D4D4D4"/>
                </a:solidFill>
                <a:latin typeface="Consolas"/>
              </a:rPr>
              <a:t>(</a:t>
            </a:r>
            <a:r>
              <a:rPr sz="1600">
                <a:solidFill>
                  <a:srgbClr val="D4D4D4"/>
                </a:solidFill>
                <a:latin typeface="Consolas"/>
              </a:rPr>
              <a:t>TB1</a:t>
            </a:r>
            <a:r>
              <a:rPr sz="1600">
                <a:solidFill>
                  <a:srgbClr val="D4D4D4"/>
                </a:solidFill>
                <a:latin typeface="Consolas"/>
              </a:rPr>
              <a:t>+</a:t>
            </a:r>
            <a:r>
              <a:rPr sz="1600">
                <a:solidFill>
                  <a:srgbClr val="D4D4D4"/>
                </a:solidFill>
                <a:latin typeface="Consolas"/>
              </a:rPr>
              <a:t>TB2</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TB2</a:t>
            </a:r>
            <a:r>
              <a:rPr sz="1600">
                <a:solidFill>
                  <a:srgbClr val="D4D4D4"/>
                </a:solidFill>
                <a:latin typeface="Consolas"/>
              </a:rPr>
              <a:t>+</a:t>
            </a:r>
            <a:r>
              <a:rPr sz="1600">
                <a:solidFill>
                  <a:srgbClr val="D4D4D4"/>
                </a:solidFill>
                <a:latin typeface="Consolas"/>
              </a:rPr>
              <a:t>WTOT2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TB1</a:t>
            </a:r>
            <a:r>
              <a:rPr sz="1600">
                <a:solidFill>
                  <a:srgbClr val="D4D4D4"/>
                </a:solidFill>
                <a:latin typeface="Consolas"/>
              </a:rPr>
              <a:t>/</a:t>
            </a:r>
            <a:r>
              <a:rPr sz="1600">
                <a:solidFill>
                  <a:srgbClr val="D4D4D4"/>
                </a:solidFill>
                <a:latin typeface="Consolas"/>
              </a:rPr>
              <a:t>TB2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TRST</a:t>
            </a:r>
            <a:r>
              <a:rPr sz="1600">
                <a:solidFill>
                  <a:srgbClr val="D4D4D4"/>
                </a:solidFill>
                <a:latin typeface="Consolas"/>
              </a:rPr>
              <a:t>=</a:t>
            </a:r>
            <a:r>
              <a:rPr sz="1600">
                <a:solidFill>
                  <a:srgbClr val="D4D4D4"/>
                </a:solidFill>
                <a:latin typeface="Consolas"/>
              </a:rPr>
              <a:t>TRST2</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else</a:t>
            </a:r>
          </a:p>
          <a:p>
            <a:pPr>
              <a:spcAft>
                <a:spcPts val="100"/>
              </a:spcAft>
            </a:pPr>
            <a:r>
              <a:rPr sz="1600">
                <a:solidFill>
                  <a:srgbClr val="D4D4D4"/>
                </a:solidFill>
                <a:latin typeface="Consolas"/>
              </a:rPr>
              <a:t>        </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TRST</a:t>
            </a:r>
            <a:r>
              <a:rPr sz="1600">
                <a:solidFill>
                  <a:srgbClr val="D4D4D4"/>
                </a:solidFill>
                <a:latin typeface="Consolas"/>
              </a:rPr>
              <a:t>=</a:t>
            </a:r>
            <a:r>
              <a:rPr sz="1600">
                <a:solidFill>
                  <a:srgbClr val="B5CEA8"/>
                </a:solidFill>
                <a:latin typeface="Consolas"/>
              </a:rPr>
              <a:t>0.</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end</a:t>
            </a:r>
          </a:p>
          <a:p>
            <a:pPr>
              <a:spcAft>
                <a:spcPts val="100"/>
              </a:spcAft>
            </a:pPr>
            <a:r>
              <a:rPr sz="1600">
                <a:solidFill>
                  <a:srgbClr val="D4D4D4"/>
                </a:solidFill>
                <a:latin typeface="Consolas"/>
              </a:rPr>
              <a:t>    </a:t>
            </a:r>
            <a:r>
              <a:rPr sz="1600">
                <a:solidFill>
                  <a:srgbClr val="D4D4D4"/>
                </a:solidFill>
                <a:latin typeface="Consolas"/>
              </a:rPr>
              <a:t>AT</a:t>
            </a:r>
            <a:r>
              <a:rPr sz="1600">
                <a:solidFill>
                  <a:srgbClr val="D4D4D4"/>
                </a:solidFill>
                <a:latin typeface="Consolas"/>
              </a:rPr>
              <a:t>=</a:t>
            </a:r>
            <a:r>
              <a:rPr sz="1600">
                <a:solidFill>
                  <a:srgbClr val="B5CEA8"/>
                </a:solidFill>
                <a:latin typeface="Consolas"/>
              </a:rPr>
              <a:t>32.2</a:t>
            </a:r>
            <a:r>
              <a:rPr sz="1600">
                <a:solidFill>
                  <a:srgbClr val="D4D4D4"/>
                </a:solidFill>
                <a:latin typeface="Consolas"/>
              </a:rPr>
              <a:t>*</a:t>
            </a:r>
            <a:r>
              <a:rPr sz="1600">
                <a:solidFill>
                  <a:srgbClr val="D4D4D4"/>
                </a:solidFill>
                <a:latin typeface="Consolas"/>
              </a:rPr>
              <a:t>TRST</a:t>
            </a:r>
            <a:r>
              <a:rPr sz="1600">
                <a:solidFill>
                  <a:srgbClr val="D4D4D4"/>
                </a:solidFill>
                <a:latin typeface="Consolas"/>
              </a:rPr>
              <a:t>/</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VEL</a:t>
            </a:r>
            <a:r>
              <a:rPr sz="1600">
                <a:solidFill>
                  <a:srgbClr val="D4D4D4"/>
                </a:solidFill>
                <a:latin typeface="Consolas"/>
              </a:rPr>
              <a:t>=</a:t>
            </a:r>
            <a:r>
              <a:rPr sz="1600">
                <a:solidFill>
                  <a:srgbClr val="4EC9B0"/>
                </a:solidFill>
                <a:latin typeface="Consolas"/>
              </a:rPr>
              <a:t>sqrt</a:t>
            </a:r>
            <a:r>
              <a:rPr sz="1600">
                <a:solidFill>
                  <a:srgbClr val="D4D4D4"/>
                </a:solidFill>
                <a:latin typeface="Consolas"/>
              </a:rPr>
              <a:t>(</a:t>
            </a:r>
            <a:r>
              <a:rPr sz="1600">
                <a:solidFill>
                  <a:srgbClr val="D4D4D4"/>
                </a:solidFill>
                <a:latin typeface="Consolas"/>
              </a:rPr>
              <a:t>X1</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Y1</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TEMBOT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1.5</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X1D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GM</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D4D4D4"/>
                </a:solidFill>
                <a:latin typeface="Consolas"/>
              </a:rPr>
              <a:t>TEMBOT</a:t>
            </a:r>
            <a:r>
              <a:rPr sz="1600">
                <a:solidFill>
                  <a:srgbClr val="D4D4D4"/>
                </a:solidFill>
                <a:latin typeface="Consolas"/>
              </a:rPr>
              <a:t>+</a:t>
            </a:r>
            <a:r>
              <a:rPr sz="1600">
                <a:solidFill>
                  <a:srgbClr val="D4D4D4"/>
                </a:solidFill>
                <a:latin typeface="Consolas"/>
              </a:rPr>
              <a:t>AT</a:t>
            </a:r>
            <a:r>
              <a:rPr sz="1600">
                <a:solidFill>
                  <a:srgbClr val="D4D4D4"/>
                </a:solidFill>
                <a:latin typeface="Consolas"/>
              </a:rPr>
              <a:t>*</a:t>
            </a:r>
            <a:r>
              <a:rPr sz="1600">
                <a:solidFill>
                  <a:srgbClr val="D4D4D4"/>
                </a:solidFill>
                <a:latin typeface="Consolas"/>
              </a:rPr>
              <a:t>X1</a:t>
            </a:r>
            <a:r>
              <a:rPr sz="1600">
                <a:solidFill>
                  <a:srgbClr val="D4D4D4"/>
                </a:solidFill>
                <a:latin typeface="Consolas"/>
              </a:rPr>
              <a:t>/</a:t>
            </a:r>
            <a:r>
              <a:rPr sz="1600">
                <a:solidFill>
                  <a:srgbClr val="D4D4D4"/>
                </a:solidFill>
                <a:latin typeface="Consolas"/>
              </a:rPr>
              <a:t>VEL</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Y1D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GM</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D4D4D4"/>
                </a:solidFill>
                <a:latin typeface="Consolas"/>
              </a:rPr>
              <a:t>TEMBOT</a:t>
            </a:r>
            <a:r>
              <a:rPr sz="1600">
                <a:solidFill>
                  <a:srgbClr val="D4D4D4"/>
                </a:solidFill>
                <a:latin typeface="Consolas"/>
              </a:rPr>
              <a:t>+</a:t>
            </a:r>
            <a:r>
              <a:rPr sz="1600">
                <a:solidFill>
                  <a:srgbClr val="D4D4D4"/>
                </a:solidFill>
                <a:latin typeface="Consolas"/>
              </a:rPr>
              <a:t>AT</a:t>
            </a:r>
            <a:r>
              <a:rPr sz="1600">
                <a:solidFill>
                  <a:srgbClr val="D4D4D4"/>
                </a:solidFill>
                <a:latin typeface="Consolas"/>
              </a:rPr>
              <a:t>*</a:t>
            </a:r>
            <a:r>
              <a:rPr sz="1600">
                <a:solidFill>
                  <a:srgbClr val="D4D4D4"/>
                </a:solidFill>
                <a:latin typeface="Consolas"/>
              </a:rPr>
              <a:t>Y1</a:t>
            </a:r>
            <a:r>
              <a:rPr sz="1600">
                <a:solidFill>
                  <a:srgbClr val="D4D4D4"/>
                </a:solidFill>
                <a:latin typeface="Consolas"/>
              </a:rPr>
              <a:t>/</a:t>
            </a:r>
            <a:r>
              <a:rPr sz="1600">
                <a:solidFill>
                  <a:srgbClr val="D4D4D4"/>
                </a:solidFill>
                <a:latin typeface="Consolas"/>
              </a:rPr>
              <a:t>VEL</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a:t>
            </a:r>
            <a:r>
              <a:rPr sz="1600">
                <a:solidFill>
                  <a:srgbClr val="6A9955"/>
                </a:solidFill>
                <a:latin typeface="Consolas"/>
              </a:rPr>
              <a:t>                          % + Euler step, range/altitude bookkeeping</a:t>
            </a:r>
          </a:p>
          <a:p>
            <a:pPr>
              <a:spcAft>
                <a:spcPts val="100"/>
              </a:spcAft>
            </a:pPr>
            <a:r>
              <a:rPr sz="1600">
                <a:solidFill>
                  <a:srgbClr val="569CD6"/>
                </a:solidFill>
                <a:latin typeface="Consolas"/>
              </a:rPr>
              <a:t>end</a:t>
            </a:r>
          </a:p>
        </p:txBody>
      </p:sp>
      <p:sp>
        <p:nvSpPr>
          <p:cNvPr id="9" name="TextBox 8"/>
          <p:cNvSpPr txBox="1"/>
          <p:nvPr/>
        </p:nvSpPr>
        <p:spPr>
          <a:xfrm>
            <a:off x="777240" y="5340096"/>
            <a:ext cx="10972800" cy="274320"/>
          </a:xfrm>
          <a:prstGeom prst="rect">
            <a:avLst/>
          </a:prstGeom>
          <a:noFill/>
        </p:spPr>
        <p:txBody>
          <a:bodyPr wrap="none">
            <a:spAutoFit/>
          </a:bodyPr>
          <a:lstStyle/>
          <a:p>
            <a:r>
              <a:rPr sz="1200" i="1">
                <a:solidFill>
                  <a:srgbClr val="8CA3B8"/>
                </a:solidFill>
                <a:latin typeface="Segoe UI"/>
              </a:rPr>
              <a:t>Zarchan, Tactical &amp; Strategic Missile Guidance, 6th ed. (MATLAB) — gravity-turn booster sim</a:t>
            </a:r>
          </a:p>
        </p:txBody>
      </p:sp>
      <p:sp>
        <p:nvSpPr>
          <p:cNvPr id="10" name="TextBox 9"/>
          <p:cNvSpPr txBox="1"/>
          <p:nvPr/>
        </p:nvSpPr>
        <p:spPr>
          <a:xfrm>
            <a:off x="777240" y="5669280"/>
            <a:ext cx="10972800" cy="457200"/>
          </a:xfrm>
          <a:prstGeom prst="rect">
            <a:avLst/>
          </a:prstGeom>
          <a:noFill/>
        </p:spPr>
        <p:txBody>
          <a:bodyPr wrap="none">
            <a:spAutoFit/>
          </a:bodyPr>
          <a:lstStyle/>
          <a:p>
            <a:r>
              <a:rPr sz="1900" i="1">
                <a:solidFill>
                  <a:srgbClr val="7EE08A"/>
                </a:solidFill>
                <a:latin typeface="Segoe UI"/>
              </a:rPr>
              <a:t>One scope. Every name global. Physics, staging, and the integrator all tangled together.</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FUN EXAMPLE — LIVE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more thing: six pendulums on a cart</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2C744"/>
                </a:solidFill>
                <a:latin typeface="Segoe UI"/>
              </a:rPr>
              <a:t>Inverted 6-pendulum chain</a:t>
            </a:r>
            <a:r>
              <a:rPr sz="2200" b="0">
                <a:solidFill>
                  <a:srgbClr val="D8E2EC"/>
                </a:solidFill>
                <a:latin typeface="Segoe UI"/>
              </a:rPr>
              <a:t> balanced on a moving cart — LQR-stabilized</a:t>
            </a:r>
          </a:p>
          <a:p>
            <a:pPr>
              <a:spcAft>
                <a:spcPts val="800"/>
              </a:spcAft>
            </a:pPr>
            <a:r>
              <a:rPr sz="2200">
                <a:solidFill>
                  <a:srgbClr val="35C4E8"/>
                </a:solidFill>
                <a:latin typeface="Segoe UI"/>
              </a:rPr>
              <a:t>•  </a:t>
            </a:r>
            <a:r>
              <a:rPr sz="2200" b="0">
                <a:solidFill>
                  <a:srgbClr val="D8E2EC"/>
                </a:solidFill>
                <a:latin typeface="Segoe UI"/>
              </a:rPr>
              <a:t>Built from the same components, tags and registry you just saw</a:t>
            </a:r>
          </a:p>
          <a:p>
            <a:pPr>
              <a:spcAft>
                <a:spcPts val="800"/>
              </a:spcAft>
            </a:pPr>
            <a:r>
              <a:rPr sz="2200">
                <a:solidFill>
                  <a:srgbClr val="35C4E8"/>
                </a:solidFill>
                <a:latin typeface="Segoe UI"/>
              </a:rPr>
              <a:t>•  </a:t>
            </a:r>
            <a:r>
              <a:rPr sz="2200" b="0">
                <a:solidFill>
                  <a:srgbClr val="D8E2EC"/>
                </a:solidFill>
                <a:latin typeface="Segoe UI"/>
              </a:rPr>
              <a:t>Linearized with </a:t>
            </a:r>
            <a:r>
              <a:rPr sz="2200" b="0">
                <a:solidFill>
                  <a:srgbClr val="35C4E8"/>
                </a:solidFill>
                <a:latin typeface="Segoe UI"/>
              </a:rPr>
              <a:t>Dual&lt;double, N&gt;</a:t>
            </a:r>
            <a:r>
              <a:rPr sz="2200" b="0">
                <a:solidFill>
                  <a:srgbClr val="D8E2EC"/>
                </a:solidFill>
                <a:latin typeface="Segoe UI"/>
              </a:rPr>
              <a:t> — the autodiff Jacobian from two slides ago</a:t>
            </a:r>
          </a:p>
          <a:p>
            <a:pPr>
              <a:spcAft>
                <a:spcPts val="800"/>
              </a:spcAft>
            </a:pPr>
            <a:r>
              <a:rPr sz="2200">
                <a:solidFill>
                  <a:srgbClr val="35C4E8"/>
                </a:solidFill>
                <a:latin typeface="Segoe UI"/>
              </a:rPr>
              <a:t>•  </a:t>
            </a:r>
            <a:r>
              <a:rPr sz="2200" b="0">
                <a:solidFill>
                  <a:srgbClr val="D8E2EC"/>
                </a:solidFill>
                <a:latin typeface="Segoe UI"/>
              </a:rPr>
              <a:t>Same C++20, compiled to WebAssembly, running in your browser right now:</a:t>
            </a:r>
          </a:p>
          <a:p>
            <a:pPr>
              <a:spcAft>
                <a:spcPts val="800"/>
              </a:spcAft>
            </a:pPr>
            <a:r>
              <a:rPr sz="2200" b="1">
                <a:solidFill>
                  <a:srgbClr val="35C4E8"/>
                </a:solidFill>
                <a:latin typeface="Segoe UI"/>
              </a:rPr>
              <a:t>jedrzejmichalczyk.github.io/sopot</a:t>
            </a:r>
          </a:p>
        </p:txBody>
      </p:sp>
      <p:sp>
        <p:nvSpPr>
          <p:cNvPr id="5" name="Rounded Rectangle 4"/>
          <p:cNvSpPr/>
          <p:nvPr/>
        </p:nvSpPr>
        <p:spPr>
          <a:xfrm>
            <a:off x="4023360" y="4846320"/>
            <a:ext cx="4114800" cy="100584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1F33"/>
                </a:solidFill>
                <a:latin typeface="Segoe UI"/>
              </a:rPr>
              <a:t>▶  LIVE DEMO</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1405513"/>
          </a:xfrm>
          <a:prstGeom prst="rect">
            <a:avLst/>
          </a:prstGeom>
          <a:noFill/>
        </p:spPr>
        <p:txBody>
          <a:bodyPr wrap="square">
            <a:spAutoFit/>
          </a:bodyPr>
          <a:lstStyle/>
          <a:p>
            <a:pPr>
              <a:spcAft>
                <a:spcPts val="800"/>
              </a:spcAft>
            </a:pPr>
            <a:r>
              <a:rPr sz="2400" dirty="0">
                <a:solidFill>
                  <a:srgbClr val="35C4E8"/>
                </a:solidFill>
                <a:latin typeface="Segoe UI"/>
              </a:rPr>
              <a:t>•  </a:t>
            </a:r>
            <a:r>
              <a:rPr sz="2400" b="0" dirty="0">
                <a:solidFill>
                  <a:srgbClr val="8CA3B8"/>
                </a:solidFill>
                <a:latin typeface="Segoe UI"/>
              </a:rPr>
              <a:t>Code &amp; slides:  </a:t>
            </a:r>
            <a:r>
              <a:rPr sz="2400" b="1" dirty="0">
                <a:solidFill>
                  <a:srgbClr val="35C4E8"/>
                </a:solidFill>
                <a:latin typeface="Segoe UI"/>
              </a:rPr>
              <a:t>github.com/</a:t>
            </a:r>
            <a:r>
              <a:rPr sz="2400" b="1" dirty="0" err="1">
                <a:solidFill>
                  <a:srgbClr val="35C4E8"/>
                </a:solidFill>
                <a:latin typeface="Segoe UI"/>
              </a:rPr>
              <a:t>jedrzejmichalczyk</a:t>
            </a:r>
            <a:r>
              <a:rPr sz="2400" b="1" dirty="0">
                <a:solidFill>
                  <a:srgbClr val="35C4E8"/>
                </a:solidFill>
                <a:latin typeface="Segoe UI"/>
              </a:rPr>
              <a:t>/</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Live demo:  </a:t>
            </a:r>
            <a:r>
              <a:rPr sz="2400" b="1" dirty="0">
                <a:solidFill>
                  <a:srgbClr val="35C4E8"/>
                </a:solidFill>
                <a:latin typeface="Segoe UI"/>
              </a:rPr>
              <a:t>jedrzejmichalczyk.github.io/</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Email:  </a:t>
            </a:r>
            <a:r>
              <a:rPr sz="2400" b="1" dirty="0" err="1">
                <a:solidFill>
                  <a:srgbClr val="F2C744"/>
                </a:solidFill>
                <a:latin typeface="Segoe UI"/>
              </a:rPr>
              <a:t>jedrzej.michalczyk</a:t>
            </a:r>
            <a:r>
              <a:rPr sz="2400" b="1" dirty="0">
                <a:solidFill>
                  <a:srgbClr val="F2C744"/>
                </a:solidFill>
                <a:latin typeface="Segoe UI"/>
              </a:rPr>
              <a:t>@</a:t>
            </a:r>
            <a:r>
              <a:rPr lang="pl-PL" sz="2400" b="1" dirty="0" err="1">
                <a:solidFill>
                  <a:srgbClr val="F2C744"/>
                </a:solidFill>
                <a:latin typeface="Segoe UI"/>
              </a:rPr>
              <a:t>gmail</a:t>
            </a:r>
            <a:r>
              <a:rPr sz="2400" b="1" dirty="0">
                <a:solidFill>
                  <a:srgbClr val="F2C744"/>
                </a:solidFill>
                <a:latin typeface="Segoe UI"/>
              </a:rPr>
              <a:t>.</a:t>
            </a:r>
            <a:r>
              <a:rPr lang="pl-PL" sz="2400" b="1" dirty="0">
                <a:solidFill>
                  <a:srgbClr val="F2C744"/>
                </a:solidFill>
                <a:latin typeface="Segoe UI"/>
              </a:rPr>
              <a:t>com</a:t>
            </a:r>
            <a:endParaRPr sz="2400" b="1" dirty="0">
              <a:solidFill>
                <a:srgbClr val="F2C744"/>
              </a:solidFill>
              <a:latin typeface="Segoe UI"/>
            </a:endParaRP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29CFF6-6D0B-402B-815F-A2193F408E05}">
  <we:reference id="wa200010001" version="1.0.0.1" store="pl-PL" storeType="OMEX"/>
  <we:alternateReferences>
    <we:reference id="wa200010001" version="1.0.0.1" store="wa200010001" storeType="OMEX"/>
  </we:alternateReferences>
  <we:properties>
    <we:property name="claude.fileId" value="&quot;37acedce-c1b3-4355-9342-f5a2dc7b9a7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1694</TotalTime>
  <Words>4543</Words>
  <Application>Microsoft Office PowerPoint</Application>
  <PresentationFormat>Panoramiczny</PresentationFormat>
  <Paragraphs>497</Paragraphs>
  <Slides>39</Slides>
  <Notes>38</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39</vt:i4>
      </vt:variant>
    </vt:vector>
  </HeadingPairs>
  <TitlesOfParts>
    <vt:vector size="44" baseType="lpstr">
      <vt:lpstr>Arial</vt:lpstr>
      <vt:lpstr>Calibri</vt:lpstr>
      <vt:lpstr>Consolas</vt:lpstr>
      <vt:lpstr>Segoe UI</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Jędrzej Michalczyk</cp:lastModifiedBy>
  <cp:revision>3</cp:revision>
  <dcterms:created xsi:type="dcterms:W3CDTF">2013-01-27T09:14:16Z</dcterms:created>
  <dcterms:modified xsi:type="dcterms:W3CDTF">2026-06-15T20:37:08Z</dcterms:modified>
  <cp:category/>
</cp:coreProperties>
</file>