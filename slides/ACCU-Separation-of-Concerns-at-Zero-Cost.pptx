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96"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2" d="100"/>
          <a:sy n="122" d="100"/>
        </p:scale>
        <p:origin x="11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accu-on-sea-2026-modular-physics</a:t>
            </a:r>
            <a:endParaRPr lang="en-US" sz="2200" b="0" noProof="0" dirty="0">
              <a:solidFill>
                <a:srgbClr val="35C4E8"/>
              </a:solidFill>
              <a:latin typeface="Segoe UI"/>
            </a:endParaRP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pic>
        <p:nvPicPr>
          <p:cNvPr id="8" name="Perun launch" descr="launch-of-the-perun-suborbital-rocket-over-the-polish-coast.jpg"/>
          <p:cNvPicPr>
            <a:picLocks noChangeAspect="1"/>
          </p:cNvPicPr>
          <p:nvPr/>
        </p:nvPicPr>
        <p:blipFill>
          <a:blip r:embed="rId3"/>
          <a:srcRect l="16250" r="16250"/>
          <a:stretch>
            <a:fillRect/>
          </a:stretch>
        </p:blipFill>
        <p:spPr>
          <a:xfrm>
            <a:off x="8229600" y="1828800"/>
            <a:ext cx="3291840" cy="3657600"/>
          </a:xfrm>
          <a:prstGeom prst="roundRect">
            <a:avLst>
              <a:gd name="adj" fmla="val 5000"/>
            </a:avLst>
          </a:prstGeom>
          <a:ln w="19050">
            <a:solidFill>
              <a:srgbClr val="1E3A55"/>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685800" y="5057919"/>
            <a:ext cx="4072397" cy="461665"/>
          </a:xfrm>
          <a:prstGeom prst="rect">
            <a:avLst/>
          </a:prstGeom>
          <a:noFill/>
        </p:spPr>
        <p:txBody>
          <a:bodyPr wrap="none">
            <a:spAutoFit/>
          </a:bodyPr>
          <a:lstStyle/>
          <a:p>
            <a:r>
              <a:rPr lang="pl-PL" sz="2400" b="1" i="1" dirty="0" err="1">
                <a:solidFill>
                  <a:srgbClr val="F2C744"/>
                </a:solidFill>
                <a:latin typeface="Segoe UI"/>
              </a:rPr>
              <a:t>Sometimes</a:t>
            </a:r>
            <a:r>
              <a:rPr lang="pl-PL" sz="2400" b="1" i="1" dirty="0">
                <a:solidFill>
                  <a:srgbClr val="F2C744"/>
                </a:solidFill>
                <a:latin typeface="Segoe UI"/>
              </a:rPr>
              <a:t> </a:t>
            </a:r>
            <a:r>
              <a:rPr lang="pl-PL" sz="2400" b="1" i="1" dirty="0" err="1">
                <a:solidFill>
                  <a:srgbClr val="F2C744"/>
                </a:solidFill>
                <a:latin typeface="Segoe UI"/>
              </a:rPr>
              <a:t>it</a:t>
            </a:r>
            <a:r>
              <a:rPr lang="pl-PL" sz="2400" b="1" i="1" dirty="0">
                <a:solidFill>
                  <a:srgbClr val="F2C744"/>
                </a:solidFill>
                <a:latin typeface="Segoe UI"/>
              </a:rPr>
              <a:t> </a:t>
            </a:r>
            <a:r>
              <a:rPr lang="pl-PL" sz="2400" b="1" i="1" dirty="0" err="1">
                <a:solidFill>
                  <a:srgbClr val="F2C744"/>
                </a:solidFill>
                <a:latin typeface="Segoe UI"/>
              </a:rPr>
              <a:t>is</a:t>
            </a:r>
            <a:r>
              <a:rPr lang="pl-PL" sz="2400" b="1" i="1" dirty="0">
                <a:solidFill>
                  <a:srgbClr val="F2C744"/>
                </a:solidFill>
                <a:latin typeface="Segoe UI"/>
              </a:rPr>
              <a:t> </a:t>
            </a:r>
            <a:r>
              <a:rPr lang="pl-PL" sz="2400" b="1" i="1" dirty="0" err="1">
                <a:solidFill>
                  <a:srgbClr val="F2C744"/>
                </a:solidFill>
                <a:latin typeface="Segoe UI"/>
              </a:rPr>
              <a:t>an</a:t>
            </a:r>
            <a:r>
              <a:rPr lang="pl-PL" sz="2400" b="1" i="1" dirty="0">
                <a:solidFill>
                  <a:srgbClr val="F2C744"/>
                </a:solidFill>
                <a:latin typeface="Segoe UI"/>
              </a:rPr>
              <a:t> </a:t>
            </a:r>
            <a:r>
              <a:rPr lang="pl-PL" sz="2400" b="1" i="1" dirty="0" err="1">
                <a:solidFill>
                  <a:srgbClr val="F2C744"/>
                </a:solidFill>
                <a:latin typeface="Segoe UI"/>
              </a:rPr>
              <a:t>overkill</a:t>
            </a:r>
            <a:r>
              <a:rPr lang="pl-PL" sz="2400" b="1" i="1" dirty="0">
                <a:solidFill>
                  <a:srgbClr val="F2C744"/>
                </a:solidFill>
                <a:latin typeface="Segoe UI"/>
              </a:rPr>
              <a:t>.</a:t>
            </a:r>
            <a:endParaRPr lang="en-US" sz="2400" b="1" i="1" dirty="0">
              <a:solidFill>
                <a:srgbClr val="F2C744"/>
              </a:solidFill>
              <a:latin typeface="Segoe UI"/>
            </a:endParaRP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600">
                <a:solidFill>
                  <a:srgbClr val="6A9955"/>
                </a:solidFill>
                <a:latin typeface="Consolas"/>
              </a:rPr>
              <a:t>// derivs.cpp — all of physics in one function</a:t>
            </a:r>
          </a:p>
          <a:p>
            <a:pPr>
              <a:spcAft>
                <a:spcPts val="100"/>
              </a:spcAft>
            </a:pPr>
            <a:r>
              <a:rPr sz="1600">
                <a:solidFill>
                  <a:srgbClr val="4EC9B0"/>
                </a:solidFill>
                <a:latin typeface="Consolas"/>
              </a:rPr>
              <a:t>void</a:t>
            </a:r>
            <a:r>
              <a:rPr sz="1600">
                <a:solidFill>
                  <a:srgbClr val="D4D4D4"/>
                </a:solidFill>
                <a:latin typeface="Consolas"/>
              </a:rPr>
              <a:t> derivs(</a:t>
            </a:r>
            <a:r>
              <a:rPr sz="1600">
                <a:solidFill>
                  <a:srgbClr val="4EC9B0"/>
                </a:solidFill>
                <a:latin typeface="Consolas"/>
              </a:rPr>
              <a:t>double</a:t>
            </a:r>
            <a:r>
              <a:rPr sz="1600">
                <a:solidFill>
                  <a:srgbClr val="D4D4D4"/>
                </a:solidFill>
                <a:latin typeface="Consolas"/>
              </a:rPr>
              <a:t> 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y, </a:t>
            </a:r>
            <a:r>
              <a:rPr sz="1600">
                <a:solidFill>
                  <a:srgbClr val="4EC9B0"/>
                </a:solidFill>
                <a:latin typeface="Consolas"/>
              </a:rPr>
              <a:t>double</a:t>
            </a:r>
            <a:r>
              <a:rPr sz="1600">
                <a:solidFill>
                  <a:srgbClr val="D4D4D4"/>
                </a:solidFill>
                <a:latin typeface="Consolas"/>
              </a:rPr>
              <a:t>* dydt) {</a:t>
            </a:r>
          </a:p>
          <a:p>
            <a:pPr>
              <a:spcAft>
                <a:spcPts val="100"/>
              </a:spcAft>
            </a:pPr>
            <a:r>
              <a:rPr sz="1600">
                <a:solidFill>
                  <a:srgbClr val="D4D4D4"/>
                </a:solidFill>
                <a:latin typeface="Consolas"/>
              </a:rPr>
              <a:t>    </a:t>
            </a:r>
            <a:r>
              <a:rPr sz="1600">
                <a:solidFill>
                  <a:srgbClr val="6A9955"/>
                </a:solidFill>
                <a:latin typeface="Consolas"/>
              </a:rPr>
              <a:t>// y[0..2] pos, y[3..5] vel, y[6..9] quat, y[10..12] omega, y[13] mass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rho = </a:t>
            </a:r>
            <a:r>
              <a:rPr sz="1600">
                <a:solidFill>
                  <a:srgbClr val="B5CEA8"/>
                </a:solidFill>
                <a:latin typeface="Consolas"/>
              </a:rPr>
              <a:t>1.225</a:t>
            </a:r>
            <a:r>
              <a:rPr sz="1600">
                <a:solidFill>
                  <a:srgbClr val="D4D4D4"/>
                </a:solidFill>
                <a:latin typeface="Consolas"/>
              </a:rPr>
              <a:t> * exp(-y[</a:t>
            </a:r>
            <a:r>
              <a:rPr sz="1600">
                <a:solidFill>
                  <a:srgbClr val="B5CEA8"/>
                </a:solidFill>
                <a:latin typeface="Consolas"/>
              </a:rPr>
              <a:t>2</a:t>
            </a:r>
            <a:r>
              <a:rPr sz="1600">
                <a:solidFill>
                  <a:srgbClr val="D4D4D4"/>
                </a:solidFill>
                <a:latin typeface="Consolas"/>
              </a:rPr>
              <a:t>] / </a:t>
            </a:r>
            <a:r>
              <a:rPr sz="1600">
                <a:solidFill>
                  <a:srgbClr val="B5CEA8"/>
                </a:solidFill>
                <a:latin typeface="Consolas"/>
              </a:rPr>
              <a:t>8500.0</a:t>
            </a:r>
            <a:r>
              <a:rPr sz="1600">
                <a:solidFill>
                  <a:srgbClr val="D4D4D4"/>
                </a:solidFill>
                <a:latin typeface="Consolas"/>
              </a:rPr>
              <a:t>);            </a:t>
            </a:r>
            <a:r>
              <a:rPr sz="1600">
                <a:solidFill>
                  <a:srgbClr val="6A9955"/>
                </a:solidFill>
                <a:latin typeface="Consolas"/>
              </a:rPr>
              <a:t>// atmosphere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v2  = y[</a:t>
            </a:r>
            <a:r>
              <a:rPr sz="1600">
                <a:solidFill>
                  <a:srgbClr val="B5CEA8"/>
                </a:solidFill>
                <a:latin typeface="Consolas"/>
              </a:rPr>
              <a:t>3</a:t>
            </a:r>
            <a:r>
              <a:rPr sz="1600">
                <a:solidFill>
                  <a:srgbClr val="D4D4D4"/>
                </a:solidFill>
                <a:latin typeface="Consolas"/>
              </a:rPr>
              <a:t>]*y[</a:t>
            </a:r>
            <a:r>
              <a:rPr sz="1600">
                <a:solidFill>
                  <a:srgbClr val="B5CEA8"/>
                </a:solidFill>
                <a:latin typeface="Consolas"/>
              </a:rPr>
              <a:t>3</a:t>
            </a:r>
            <a:r>
              <a:rPr sz="1600">
                <a:solidFill>
                  <a:srgbClr val="D4D4D4"/>
                </a:solidFill>
                <a:latin typeface="Consolas"/>
              </a:rPr>
              <a:t>] + y[</a:t>
            </a:r>
            <a:r>
              <a:rPr sz="1600">
                <a:solidFill>
                  <a:srgbClr val="B5CEA8"/>
                </a:solidFill>
                <a:latin typeface="Consolas"/>
              </a:rPr>
              <a:t>4</a:t>
            </a:r>
            <a:r>
              <a:rPr sz="1600">
                <a:solidFill>
                  <a:srgbClr val="D4D4D4"/>
                </a:solidFill>
                <a:latin typeface="Consolas"/>
              </a:rPr>
              <a:t>]*y[</a:t>
            </a:r>
            <a:r>
              <a:rPr sz="1600">
                <a:solidFill>
                  <a:srgbClr val="B5CEA8"/>
                </a:solidFill>
                <a:latin typeface="Consolas"/>
              </a:rPr>
              <a:t>4</a:t>
            </a:r>
            <a:r>
              <a:rPr sz="1600">
                <a:solidFill>
                  <a:srgbClr val="D4D4D4"/>
                </a:solidFill>
                <a:latin typeface="Consolas"/>
              </a:rPr>
              <a:t>] + y[</a:t>
            </a:r>
            <a:r>
              <a:rPr sz="1600">
                <a:solidFill>
                  <a:srgbClr val="B5CEA8"/>
                </a:solidFill>
                <a:latin typeface="Consolas"/>
              </a:rPr>
              <a:t>5</a:t>
            </a:r>
            <a:r>
              <a:rPr sz="1600">
                <a:solidFill>
                  <a:srgbClr val="D4D4D4"/>
                </a:solidFill>
                <a:latin typeface="Consolas"/>
              </a:rPr>
              <a:t>]*y[</a:t>
            </a:r>
            <a:r>
              <a:rPr sz="1600">
                <a:solidFill>
                  <a:srgbClr val="B5CEA8"/>
                </a:solidFill>
                <a:latin typeface="Consolas"/>
              </a:rPr>
              <a:t>5</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  = </a:t>
            </a:r>
            <a:r>
              <a:rPr sz="1600">
                <a:solidFill>
                  <a:srgbClr val="B5CEA8"/>
                </a:solidFill>
                <a:latin typeface="Consolas"/>
              </a:rPr>
              <a:t>0.5</a:t>
            </a:r>
            <a:r>
              <a:rPr sz="1600">
                <a:solidFill>
                  <a:srgbClr val="D4D4D4"/>
                </a:solidFill>
                <a:latin typeface="Consolas"/>
              </a:rPr>
              <a:t> * rho * v2 * CD * AREA;             </a:t>
            </a:r>
            <a:r>
              <a:rPr sz="1600">
                <a:solidFill>
                  <a:srgbClr val="6A9955"/>
                </a:solidFill>
                <a:latin typeface="Consolas"/>
              </a:rPr>
              <a:t>// aero drag</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Ft</a:t>
            </a:r>
            <a:r>
              <a:rPr sz="1600">
                <a:solidFill>
                  <a:srgbClr val="D4D4D4"/>
                </a:solidFill>
                <a:latin typeface="Consolas"/>
              </a:rPr>
              <a:t>  = thrust_table_lookup(t);                 </a:t>
            </a:r>
            <a:r>
              <a:rPr sz="1600">
                <a:solidFill>
                  <a:srgbClr val="6A9955"/>
                </a:solidFill>
                <a:latin typeface="Consolas"/>
              </a:rPr>
              <a:t>// propulsion</a:t>
            </a:r>
          </a:p>
          <a:p>
            <a:pPr>
              <a:spcAft>
                <a:spcPts val="100"/>
              </a:spcAft>
            </a:pPr>
            <a:r>
              <a:rPr sz="1600">
                <a:solidFill>
                  <a:srgbClr val="D4D4D4"/>
                </a:solidFill>
                <a:latin typeface="Consolas"/>
              </a:rPr>
              <a:t>    dydt[</a:t>
            </a:r>
            <a:r>
              <a:rPr sz="1600">
                <a:solidFill>
                  <a:srgbClr val="B5CEA8"/>
                </a:solidFill>
                <a:latin typeface="Consolas"/>
              </a:rPr>
              <a:t>3</a:t>
            </a:r>
            <a:r>
              <a:rPr sz="1600">
                <a:solidFill>
                  <a:srgbClr val="D4D4D4"/>
                </a:solidFill>
                <a:latin typeface="Consolas"/>
              </a:rPr>
              <a:t>] = (</a:t>
            </a:r>
            <a:r>
              <a:rPr sz="1600">
                <a:solidFill>
                  <a:srgbClr val="4EC9B0"/>
                </a:solidFill>
                <a:latin typeface="Consolas"/>
              </a:rPr>
              <a:t>Ft</a:t>
            </a:r>
            <a:r>
              <a:rPr sz="1600">
                <a:solidFill>
                  <a:srgbClr val="D4D4D4"/>
                </a:solidFill>
                <a:latin typeface="Consolas"/>
              </a:rPr>
              <a:t>*ax(y) - </a:t>
            </a:r>
            <a:r>
              <a:rPr sz="1600">
                <a:solidFill>
                  <a:srgbClr val="4EC9B0"/>
                </a:solidFill>
                <a:latin typeface="Consolas"/>
              </a:rPr>
              <a:t>Fd</a:t>
            </a:r>
            <a:r>
              <a:rPr sz="1600">
                <a:solidFill>
                  <a:srgbClr val="D4D4D4"/>
                </a:solidFill>
                <a:latin typeface="Consolas"/>
              </a:rPr>
              <a:t>*vx_hat(y)) / y[</a:t>
            </a:r>
            <a:r>
              <a:rPr sz="1600">
                <a:solidFill>
                  <a:srgbClr val="B5CEA8"/>
                </a:solidFill>
                <a:latin typeface="Consolas"/>
              </a:rPr>
              <a:t>13</a:t>
            </a:r>
            <a:r>
              <a:rPr sz="1600">
                <a:solidFill>
                  <a:srgbClr val="D4D4D4"/>
                </a:solidFill>
                <a:latin typeface="Consolas"/>
              </a:rPr>
              <a:t>];         </a:t>
            </a:r>
            <a:r>
              <a:rPr sz="1600">
                <a:solidFill>
                  <a:srgbClr val="6A9955"/>
                </a:solidFill>
                <a:latin typeface="Consolas"/>
              </a:rPr>
              <a:t>// dynamics</a:t>
            </a:r>
          </a:p>
          <a:p>
            <a:pPr>
              <a:spcAft>
                <a:spcPts val="100"/>
              </a:spcAft>
            </a:pPr>
            <a:r>
              <a:rPr sz="1600">
                <a:solidFill>
                  <a:srgbClr val="D4D4D4"/>
                </a:solidFill>
                <a:latin typeface="Consolas"/>
              </a:rPr>
              <a:t>    </a:t>
            </a:r>
            <a:r>
              <a:rPr sz="1600">
                <a:solidFill>
                  <a:srgbClr val="6A9955"/>
                </a:solidFill>
                <a:latin typeface="Consolas"/>
              </a:rPr>
              <a:t>/* ... 400 more lines, every subsystem interleaved ...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void</a:t>
            </a:r>
            <a:r>
              <a:rPr sz="1600">
                <a:solidFill>
                  <a:srgbClr val="D4D4D4"/>
                </a:solidFill>
                <a:latin typeface="Consolas"/>
              </a:rPr>
              <a:t> computeDerivatives(</a:t>
            </a:r>
            <a:r>
              <a:rPr sz="1600">
                <a:solidFill>
                  <a:srgbClr val="4EC9B0"/>
                </a:solidFill>
                <a:latin typeface="Consolas"/>
              </a:rPr>
              <a:t>double</a:t>
            </a:r>
            <a:r>
              <a:rPr sz="1600">
                <a:solidFill>
                  <a:srgbClr val="D4D4D4"/>
                </a:solidFill>
                <a:latin typeface="Consolas"/>
              </a:rPr>
              <a:t> 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state,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dydt) = </a:t>
            </a:r>
            <a:r>
              <a:rPr sz="1600">
                <a:solidFill>
                  <a:srgbClr val="B5CEA8"/>
                </a:solidFill>
                <a:latin typeface="Consolas"/>
              </a:rPr>
              <a:t>0</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virtual</a:t>
            </a:r>
            <a:r>
              <a:rPr sz="1600" b="1">
                <a:solidFill>
                  <a:srgbClr val="D4D4D4"/>
                </a:solidFill>
                <a:latin typeface="Consolas"/>
              </a:rPr>
              <a:t> </a:t>
            </a:r>
            <a:r>
              <a:rPr sz="1600" b="1">
                <a:solidFill>
                  <a:srgbClr val="4EC9B0"/>
                </a:solidFill>
                <a:latin typeface="Consolas"/>
              </a:rPr>
              <a:t>double</a:t>
            </a:r>
            <a:r>
              <a:rPr sz="1600" b="1">
                <a:solidFill>
                  <a:srgbClr val="D4D4D4"/>
                </a:solidFill>
                <a:latin typeface="Consolas"/>
              </a:rPr>
              <a:t> getOutput(</a:t>
            </a:r>
            <a:r>
              <a:rPr sz="1600" b="1">
                <a:solidFill>
                  <a:srgbClr val="569CD6"/>
                </a:solidFill>
                <a:latin typeface="Consolas"/>
              </a:rPr>
              <a:t>const</a:t>
            </a:r>
            <a:r>
              <a:rPr sz="1600" b="1">
                <a:solidFill>
                  <a:srgbClr val="D4D4D4"/>
                </a:solidFill>
                <a:latin typeface="Consolas"/>
              </a:rPr>
              <a:t> std::string&amp; name) = </a:t>
            </a:r>
            <a:r>
              <a:rPr sz="1600" b="1">
                <a:solidFill>
                  <a:srgbClr val="B5CEA8"/>
                </a:solidFill>
                <a:latin typeface="Consolas"/>
              </a:rPr>
              <a:t>0</a:t>
            </a:r>
            <a:r>
              <a:rPr sz="1600" b="1">
                <a:solidFill>
                  <a:srgbClr val="D4D4D4"/>
                </a:solidFill>
                <a:latin typeface="Consolas"/>
              </a:rPr>
              <a:t>;  </a:t>
            </a:r>
            <a:r>
              <a:rPr sz="1600" b="1">
                <a:solidFill>
                  <a:srgbClr val="6A9955"/>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 </a:t>
            </a:r>
            <a:r>
              <a:rPr sz="1600">
                <a:solidFill>
                  <a:srgbClr val="569CD6"/>
                </a:solidFill>
                <a:latin typeface="Consolas"/>
              </a:rPr>
              <a:t>default</a:t>
            </a:r>
            <a:r>
              <a:rPr sz="1600">
                <a:solidFill>
                  <a:srgbClr val="D4D4D4"/>
                </a:solidFill>
                <a:latin typeface="Consolas"/>
              </a:rPr>
              <a:t>;</a:t>
            </a:r>
          </a:p>
          <a:p>
            <a:pPr>
              <a:spcAft>
                <a:spcPts val="100"/>
              </a:spcAft>
            </a:pP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std::vector&lt;std::unique_ptr&lt;</a:t>
            </a:r>
            <a:r>
              <a:rPr sz="1600">
                <a:solidFill>
                  <a:srgbClr val="4EC9B0"/>
                </a:solidFill>
                <a:latin typeface="Consolas"/>
              </a:rPr>
              <a:t>Component</a:t>
            </a:r>
            <a:r>
              <a:rPr sz="1600">
                <a:solidFill>
                  <a:srgbClr val="D4D4D4"/>
                </a:solidFill>
                <a:latin typeface="Consolas"/>
              </a:rPr>
              <a:t>&gt;&gt; components;</a:t>
            </a:r>
          </a:p>
          <a:p>
            <a:pPr>
              <a:spcAft>
                <a:spcPts val="100"/>
              </a:spcAft>
            </a:pPr>
            <a:r>
              <a:rPr sz="1600" b="1">
                <a:solidFill>
                  <a:srgbClr val="569CD6"/>
                </a:solidFill>
                <a:latin typeface="Consolas"/>
              </a:rPr>
              <a:t>for</a:t>
            </a:r>
            <a:r>
              <a:rPr sz="1600" b="1">
                <a:solidFill>
                  <a:srgbClr val="D4D4D4"/>
                </a:solidFill>
                <a:latin typeface="Consolas"/>
              </a:rPr>
              <a:t> (</a:t>
            </a:r>
            <a:r>
              <a:rPr sz="1600" b="1">
                <a:solidFill>
                  <a:srgbClr val="569CD6"/>
                </a:solidFill>
                <a:latin typeface="Consolas"/>
              </a:rPr>
              <a:t>auto</a:t>
            </a:r>
            <a:r>
              <a:rPr sz="1600" b="1">
                <a:solidFill>
                  <a:srgbClr val="D4D4D4"/>
                </a:solidFill>
                <a:latin typeface="Consolas"/>
              </a:rPr>
              <a:t>&amp; c : components)              </a:t>
            </a:r>
            <a:r>
              <a:rPr sz="1600" b="1">
                <a:solidFill>
                  <a:srgbClr val="6A9955"/>
                </a:solidFill>
                <a:latin typeface="Consolas"/>
              </a:rPr>
              <a:t>// innermost loop of RK4,</a:t>
            </a:r>
          </a:p>
          <a:p>
            <a:pPr>
              <a:spcAft>
                <a:spcPts val="100"/>
              </a:spcAft>
            </a:pPr>
            <a:r>
              <a:rPr sz="1600" b="1">
                <a:solidFill>
                  <a:srgbClr val="D4D4D4"/>
                </a:solidFill>
                <a:latin typeface="Consolas"/>
              </a:rPr>
              <a:t>    c-&gt;computeDerivatives(t, y, dydt);  </a:t>
            </a:r>
            <a:r>
              <a:rPr sz="16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Position</a:t>
            </a:r>
            <a:r>
              <a:rPr sz="1600">
                <a:solidFill>
                  <a:srgbClr val="D4D4D4"/>
                </a:solidFill>
                <a:latin typeface="Consolas"/>
              </a:rPr>
              <a:t> {};      </a:t>
            </a:r>
            <a:r>
              <a:rPr sz="1600">
                <a:solidFill>
                  <a:srgbClr val="6A9955"/>
                </a:solidFill>
                <a:latin typeface="Consolas"/>
              </a:rPr>
              <a:t>// empty types — pure compile-time keys</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Velocity</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Force</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a:t>
            </a:r>
            <a:r>
              <a:rPr sz="1600">
                <a:solidFill>
                  <a:srgbClr val="D4D4D4"/>
                </a:solidFill>
                <a:latin typeface="Consolas"/>
              </a:rPr>
              <a:t>     {};</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 { </a:t>
            </a:r>
            <a:r>
              <a:rPr sz="1600">
                <a:solidFill>
                  <a:srgbClr val="6A9955"/>
                </a:solidFill>
                <a:latin typeface="Consolas"/>
              </a:rPr>
              <a:t>/* same shape, different types */</a:t>
            </a:r>
            <a:r>
              <a:rPr sz="1600">
                <a:solidFill>
                  <a:srgbClr val="D4D4D4"/>
                </a:solidFill>
                <a:latin typeface="Consolas"/>
              </a:rPr>
              <a:t> };</a:t>
            </a:r>
          </a:p>
          <a:p>
            <a:pPr>
              <a:spcAft>
                <a:spcPts val="100"/>
              </a:spcAft>
            </a:pPr>
            <a:r>
              <a:rPr sz="1600">
                <a:latin typeface="Consolas"/>
              </a:rPr>
              <a:t> </a:t>
            </a:r>
          </a:p>
          <a:p>
            <a:pPr>
              <a:spcAft>
                <a:spcPts val="100"/>
              </a:spcAft>
            </a:pPr>
            <a:r>
              <a:rPr sz="1600">
                <a:solidFill>
                  <a:srgbClr val="569CD6"/>
                </a:solidFill>
                <a:latin typeface="Consolas"/>
              </a:rPr>
              <a:t>namespace</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Extension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PotentialEnergy</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274320" y="1371600"/>
            <a:ext cx="1170432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457200" y="1554480"/>
            <a:ext cx="11338560"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PointMass</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2</a:t>
            </a:r>
            <a:r>
              <a:rPr sz="1600">
                <a:solidFill>
                  <a:srgbClr val="D4D4D4"/>
                </a:solidFill>
                <a:latin typeface="Consolas"/>
              </a:rPr>
              <a:t>, T&gt; {   </a:t>
            </a:r>
            <a:r>
              <a:rPr sz="1600">
                <a:solidFill>
                  <a:srgbClr val="6A9955"/>
                </a:solidFill>
                <a:latin typeface="Consolas"/>
              </a:rPr>
              <a:t>// 2 states: [x, v]</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m_mass;</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LocalDerivative</a:t>
            </a:r>
            <a:r>
              <a:rPr sz="1600">
                <a:solidFill>
                  <a:srgbClr val="D4D4D4"/>
                </a:solidFill>
                <a:latin typeface="Consolas"/>
              </a:rPr>
              <a:t> derivatives(T 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velocity = </a:t>
            </a:r>
            <a:r>
              <a:rPr sz="1600">
                <a:solidFill>
                  <a:srgbClr val="569CD6"/>
                </a:solidFill>
                <a:latin typeface="Consolas"/>
              </a:rPr>
              <a:t>this</a:t>
            </a:r>
            <a:r>
              <a:rPr sz="1600">
                <a:solidFill>
                  <a:srgbClr val="D4D4D4"/>
                </a:solidFill>
                <a:latin typeface="Consolas"/>
              </a:rPr>
              <a:t>-&gt;localState(state, </a:t>
            </a:r>
            <a:r>
              <a:rPr sz="1600">
                <a:solidFill>
                  <a:srgbClr val="B5CEA8"/>
                </a:solidFill>
                <a:latin typeface="Consolas"/>
              </a:rPr>
              <a:t>1</a:t>
            </a:r>
            <a:r>
              <a:rPr sz="1600">
                <a:solidFill>
                  <a:srgbClr val="D4D4D4"/>
                </a:solidFill>
                <a:latin typeface="Consolas"/>
              </a:rPr>
              <a:t>);          </a:t>
            </a:r>
            <a:r>
              <a:rPr sz="1600">
                <a:solidFill>
                  <a:srgbClr val="6A9955"/>
                </a:solidFill>
                <a:latin typeface="Consolas"/>
              </a:rPr>
              <a:t>// dx/dt = v</a:t>
            </a:r>
          </a:p>
          <a:p>
            <a:pPr>
              <a:spcAft>
                <a:spcPts val="100"/>
              </a:spcAft>
            </a:pPr>
            <a:r>
              <a:rPr sz="1600" b="1">
                <a:solidFill>
                  <a:srgbClr val="D4D4D4"/>
                </a:solidFill>
                <a:latin typeface="Consolas"/>
              </a:rPr>
              <a:t>        T force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{velocity, force / T(m_mass)};             </a:t>
            </a:r>
            <a:r>
              <a:rPr sz="1600">
                <a:solidFill>
                  <a:srgbClr val="6A9955"/>
                </a:solidFill>
                <a:latin typeface="Consolas"/>
              </a:rPr>
              <a:t>// dv/dt = F/m</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            </a:t>
            </a:r>
            <a:r>
              <a:rPr sz="1600">
                <a:solidFill>
                  <a:srgbClr val="6A9955"/>
                </a:solidFill>
                <a:latin typeface="Consolas"/>
              </a:rPr>
              <a:t>// Velocity: same, localState(s, 1)</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 { </a:t>
            </a:r>
            <a:r>
              <a:rPr sz="1600">
                <a:solidFill>
                  <a:srgbClr val="569CD6"/>
                </a:solidFill>
                <a:latin typeface="Consolas"/>
              </a:rPr>
              <a:t>return</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-&gt;localState(s, </a:t>
            </a:r>
            <a:r>
              <a:rPr sz="1600">
                <a:solidFill>
                  <a:srgbClr val="B5CEA8"/>
                </a:solidFill>
                <a:latin typeface="Consolas"/>
              </a:rPr>
              <a:t>0</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274320" y="1371600"/>
            <a:ext cx="11704320" cy="464515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457200" y="1554480"/>
            <a:ext cx="11338560" cy="4279392"/>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        </a:t>
            </a:r>
            <a:r>
              <a:rPr sz="1600">
                <a:solidFill>
                  <a:srgbClr val="6A9955"/>
                </a:solidFill>
                <a:latin typeface="Consolas"/>
              </a:rPr>
              <a:t>// 0 states!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m_stiffness, m_rest_length;</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T x1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TagSet1</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b="1">
                <a:solidFill>
                  <a:srgbClr val="D4D4D4"/>
                </a:solidFill>
                <a:latin typeface="Consolas"/>
              </a:rPr>
              <a:t>        T x2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TagSet2</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a:solidFill>
                  <a:srgbClr val="D4D4D4"/>
                </a:solidFill>
                <a:latin typeface="Consolas"/>
              </a:rPr>
              <a:t>        T extension = x1 - x2 - T(m_rest_length);</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-T(m_stiffness) * extension;               </a:t>
            </a:r>
            <a:r>
              <a:rPr sz="1600">
                <a:solidFill>
                  <a:srgbClr val="6A9955"/>
                </a:solidFill>
                <a:latin typeface="Consolas"/>
              </a:rPr>
              <a:t>// Hooke's law</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-query&lt;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&gt;(reg, state);       </a:t>
            </a:r>
            <a:r>
              <a:rPr sz="1600">
                <a:solidFill>
                  <a:srgbClr val="6A9955"/>
                </a:solidFill>
                <a:latin typeface="Consolas"/>
              </a:rPr>
              <a:t>// Newton's 3rd</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30351" y="1371600"/>
            <a:ext cx="11154717"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554480"/>
            <a:ext cx="10788957"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compute(system::</a:t>
            </a:r>
            <a:r>
              <a:rPr sz="1600">
                <a:solidFill>
                  <a:srgbClr val="4EC9B0"/>
                </a:solidFill>
                <a:latin typeface="Consolas"/>
              </a:rPr>
              <a:t>TotalEnergy</a:t>
            </a:r>
            <a:r>
              <a:rPr sz="1600">
                <a:solidFill>
                  <a:srgbClr val="D4D4D4"/>
                </a:solidFill>
                <a:latin typeface="Consolas"/>
              </a:rPr>
              <a:t>,</a:t>
            </a:r>
          </a:p>
          <a:p>
            <a:pPr>
              <a:spcAft>
                <a:spcPts val="100"/>
              </a:spcAft>
            </a:pP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m1 = query&lt;mass1::</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v1 = query&lt;mass1::</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m2 = query&lt;mass2::</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v2 = query&lt;mass2::</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pe = query&lt;spring::</a:t>
            </a:r>
            <a:r>
              <a:rPr sz="1600">
                <a:solidFill>
                  <a:srgbClr val="4EC9B0"/>
                </a:solidFill>
                <a:latin typeface="Consolas"/>
              </a:rPr>
              <a:t>PotentialEnergy</a:t>
            </a:r>
            <a:r>
              <a:rPr sz="1600">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a:t>
            </a:r>
            <a:r>
              <a:rPr sz="1600">
                <a:solidFill>
                  <a:srgbClr val="B5CEA8"/>
                </a:solidFill>
                <a:latin typeface="Consolas"/>
              </a:rPr>
              <a:t>0.5</a:t>
            </a:r>
            <a:r>
              <a:rPr sz="1600">
                <a:solidFill>
                  <a:srgbClr val="D4D4D4"/>
                </a:solidFill>
                <a:latin typeface="Consolas"/>
              </a:rPr>
              <a:t>)*m1*v1*v1 + T(</a:t>
            </a:r>
            <a:r>
              <a:rPr sz="1600">
                <a:solidFill>
                  <a:srgbClr val="B5CEA8"/>
                </a:solidFill>
                <a:latin typeface="Consolas"/>
              </a:rPr>
              <a:t>0.5</a:t>
            </a:r>
            <a:r>
              <a:rPr sz="1600">
                <a:solidFill>
                  <a:srgbClr val="D4D4D4"/>
                </a:solidFill>
                <a:latin typeface="Consolas"/>
              </a:rPr>
              <a:t>)*m2*v2*v2 + pe;</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30351" y="1371600"/>
            <a:ext cx="11193219" cy="4384547"/>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554480"/>
            <a:ext cx="10827459" cy="4018787"/>
          </a:xfrm>
          <a:prstGeom prst="rect">
            <a:avLst/>
          </a:prstGeom>
          <a:noFill/>
        </p:spPr>
        <p:txBody>
          <a:bodyPr wrap="none">
            <a:spAutoFit/>
          </a:bodyPr>
          <a:lstStyle/>
          <a:p>
            <a:pPr>
              <a:spcAft>
                <a:spcPts val="100"/>
              </a:spcAft>
            </a:pPr>
            <a:r>
              <a:rPr sz="1600">
                <a:solidFill>
                  <a:srgbClr val="569CD6"/>
                </a:solidFill>
                <a:latin typeface="Consolas"/>
              </a:rPr>
              <a:t>auto</a:t>
            </a:r>
            <a:r>
              <a:rPr sz="1600">
                <a:solidFill>
                  <a:srgbClr val="D4D4D4"/>
                </a:solidFill>
                <a:latin typeface="Consolas"/>
              </a:rPr>
              <a:t> sys = makeODESystem&lt;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2.5</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Spring12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6A9955"/>
                </a:solidFill>
                <a:latin typeface="Consolas"/>
              </a:rPr>
              <a:t>/*k*/</a:t>
            </a:r>
            <a:r>
              <a:rPr sz="1600">
                <a:solidFill>
                  <a:srgbClr val="D4D4D4"/>
                </a:solidFill>
                <a:latin typeface="Consolas"/>
              </a:rPr>
              <a:t> </a:t>
            </a:r>
            <a:r>
              <a:rPr sz="1600">
                <a:solidFill>
                  <a:srgbClr val="B5CEA8"/>
                </a:solidFill>
                <a:latin typeface="Consolas"/>
              </a:rPr>
              <a:t>4.0</a:t>
            </a:r>
            <a:r>
              <a:rPr sz="1600">
                <a:solidFill>
                  <a:srgbClr val="D4D4D4"/>
                </a:solidFill>
                <a:latin typeface="Consolas"/>
              </a:rPr>
              <a:t>, </a:t>
            </a:r>
            <a:r>
              <a:rPr sz="1600">
                <a:solidFill>
                  <a:srgbClr val="6A9955"/>
                </a:solidFill>
                <a:latin typeface="Consolas"/>
              </a:rPr>
              <a:t>/*L0*/</a:t>
            </a:r>
            <a:r>
              <a:rPr sz="1600">
                <a:solidFill>
                  <a:srgbClr val="D4D4D4"/>
                </a:solidFill>
                <a:latin typeface="Consolas"/>
              </a:rPr>
              <a:t> </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b="1">
                <a:solidFill>
                  <a:srgbClr val="6A9955"/>
                </a:solidFill>
                <a:latin typeface="Consolas"/>
              </a:rPr>
              <a:t>// the wiring is CHECKED at compile time:</a:t>
            </a:r>
          </a:p>
          <a:p>
            <a:pPr>
              <a:spcAft>
                <a:spcPts val="100"/>
              </a:spcAft>
            </a:pPr>
            <a:r>
              <a:rPr sz="1600" b="1">
                <a:solidFill>
                  <a:srgbClr val="569CD6"/>
                </a:solidFill>
                <a:latin typeface="Consolas"/>
              </a:rPr>
              <a:t>static_assert</a:t>
            </a:r>
            <a:r>
              <a:rPr sz="1600" b="1">
                <a:solidFill>
                  <a:srgbClr val="D4D4D4"/>
                </a:solidFill>
                <a:latin typeface="Consolas"/>
              </a:rPr>
              <a:t>(</a:t>
            </a:r>
            <a:r>
              <a:rPr sz="1600" b="1">
                <a:solidFill>
                  <a:srgbClr val="569CD6"/>
                </a:solidFill>
                <a:latin typeface="Consolas"/>
              </a:rPr>
              <a:t>decltype</a:t>
            </a:r>
            <a:r>
              <a:rPr sz="1600" b="1">
                <a:solidFill>
                  <a:srgbClr val="D4D4D4"/>
                </a:solidFill>
                <a:latin typeface="Consolas"/>
              </a:rPr>
              <a:t>(sys)::hasFunction&lt;system::</a:t>
            </a:r>
            <a:r>
              <a:rPr sz="1600" b="1">
                <a:solidFill>
                  <a:srgbClr val="4EC9B0"/>
                </a:solidFill>
                <a:latin typeface="Consolas"/>
              </a:rPr>
              <a:t>TotalEnergy</a:t>
            </a:r>
            <a:r>
              <a:rPr sz="1600" b="1">
                <a:solidFill>
                  <a:srgbClr val="D4D4D4"/>
                </a:solidFill>
                <a:latin typeface="Consolas"/>
              </a:rPr>
              <a:t>&gt;());</a:t>
            </a:r>
          </a:p>
          <a:p>
            <a:pPr>
              <a:spcAft>
                <a:spcPts val="100"/>
              </a:spcAft>
            </a:pPr>
            <a:r>
              <a:rPr sz="1600">
                <a:latin typeface="Consolas"/>
              </a:rPr>
              <a:t> </a:t>
            </a:r>
          </a:p>
          <a:p>
            <a:pPr>
              <a:spcAft>
                <a:spcPts val="100"/>
              </a:spcAft>
            </a:pPr>
            <a:r>
              <a:rPr sz="1600">
                <a:solidFill>
                  <a:srgbClr val="4EC9B0"/>
                </a:solidFill>
                <a:latin typeface="Consolas"/>
              </a:rPr>
              <a:t>RK4Solver</a:t>
            </a:r>
            <a:r>
              <a:rPr sz="1600">
                <a:solidFill>
                  <a:srgbClr val="D4D4D4"/>
                </a:solidFill>
                <a:latin typeface="Consolas"/>
              </a:rPr>
              <a:t> solver;</a:t>
            </a:r>
          </a:p>
          <a:p>
            <a:pPr>
              <a:spcAft>
                <a:spcPts val="100"/>
              </a:spcAft>
            </a:pPr>
            <a:r>
              <a:rPr sz="1600">
                <a:solidFill>
                  <a:srgbClr val="569CD6"/>
                </a:solidFill>
                <a:latin typeface="Consolas"/>
              </a:rPr>
              <a:t>auto</a:t>
            </a:r>
            <a:r>
              <a:rPr sz="1600">
                <a:solidFill>
                  <a:srgbClr val="D4D4D4"/>
                </a:solidFill>
                <a:latin typeface="Consolas"/>
              </a:rPr>
              <a:t> sol = solver.solve(derivs(sys), sys.getStateDimension(),</a:t>
            </a:r>
          </a:p>
          <a:p>
            <a:pPr>
              <a:spcAft>
                <a:spcPts val="100"/>
              </a:spcAft>
            </a:pP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B5CEA8"/>
                </a:solidFill>
                <a:latin typeface="Consolas"/>
              </a:rPr>
              <a:t>20.0</a:t>
            </a:r>
            <a:r>
              <a:rPr sz="1600">
                <a:solidFill>
                  <a:srgbClr val="D4D4D4"/>
                </a:solidFill>
                <a:latin typeface="Consolas"/>
              </a:rPr>
              <a:t>, </a:t>
            </a:r>
            <a:r>
              <a:rPr sz="1600">
                <a:solidFill>
                  <a:srgbClr val="6A9955"/>
                </a:solidFill>
                <a:latin typeface="Consolas"/>
              </a:rPr>
              <a:t>/*dt*/</a:t>
            </a:r>
            <a:r>
              <a:rPr sz="1600">
                <a:solidFill>
                  <a:srgbClr val="D4D4D4"/>
                </a:solidFill>
                <a:latin typeface="Consolas"/>
              </a:rPr>
              <a:t> </a:t>
            </a:r>
            <a:r>
              <a:rPr sz="1600">
                <a:solidFill>
                  <a:srgbClr val="B5CEA8"/>
                </a:solidFill>
                <a:latin typeface="Consolas"/>
              </a:rPr>
              <a:t>0.001</a:t>
            </a:r>
            <a:r>
              <a:rPr sz="1600">
                <a:solidFill>
                  <a:srgbClr val="D4D4D4"/>
                </a:solidFill>
                <a:latin typeface="Consolas"/>
              </a:rPr>
              <a:t>, sys.getInitialState());</a:t>
            </a:r>
          </a:p>
          <a:p>
            <a:pPr>
              <a:spcAft>
                <a:spcPts val="100"/>
              </a:spcAft>
            </a:pPr>
            <a:r>
              <a:rPr sz="1600">
                <a:latin typeface="Consolas"/>
              </a:rPr>
              <a:t> </a:t>
            </a:r>
          </a:p>
          <a:p>
            <a:pPr>
              <a:spcAft>
                <a:spcPts val="100"/>
              </a:spcAft>
            </a:pPr>
            <a:r>
              <a:rPr sz="1600">
                <a:solidFill>
                  <a:srgbClr val="4EC9B0"/>
                </a:solidFill>
                <a:latin typeface="Consolas"/>
              </a:rPr>
              <a:t>double</a:t>
            </a:r>
            <a:r>
              <a:rPr sz="1600">
                <a:solidFill>
                  <a:srgbClr val="D4D4D4"/>
                </a:solidFill>
                <a:latin typeface="Consolas"/>
              </a:rPr>
              <a:t> E = sys.query&lt;system::</a:t>
            </a:r>
            <a:r>
              <a:rPr sz="1600">
                <a:solidFill>
                  <a:srgbClr val="4EC9B0"/>
                </a:solidFill>
                <a:latin typeface="Consolas"/>
              </a:rPr>
              <a:t>TotalEnergy</a:t>
            </a:r>
            <a:r>
              <a:rPr sz="1600">
                <a:solidFill>
                  <a:srgbClr val="D4D4D4"/>
                </a:solidFill>
                <a:latin typeface="Consolas"/>
              </a:rPr>
              <a:t>&gt;(sol.states.back());</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30352" y="1371600"/>
            <a:ext cx="11100816" cy="203911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54480"/>
            <a:ext cx="10735056" cy="1673352"/>
          </a:xfrm>
          <a:prstGeom prst="rect">
            <a:avLst/>
          </a:prstGeom>
          <a:noFill/>
        </p:spPr>
        <p:txBody>
          <a:bodyPr wrap="none">
            <a:spAutoFit/>
          </a:bodyPr>
          <a:lstStyle/>
          <a:p>
            <a:pPr>
              <a:spcAft>
                <a:spcPts val="100"/>
              </a:spcAft>
            </a:pPr>
            <a:r>
              <a:rPr sz="1600">
                <a:solidFill>
                  <a:srgbClr val="6A9955"/>
                </a:solidFill>
                <a:latin typeface="Consolas"/>
              </a:rPr>
              <a:t>// instead of:                       // we write:</a:t>
            </a:r>
          </a:p>
          <a:p>
            <a:pPr>
              <a:spcAft>
                <a:spcPts val="100"/>
              </a:spcAft>
            </a:pPr>
            <a:r>
              <a:rPr sz="1600">
                <a:solidFill>
                  <a:srgbClr val="4EC9B0"/>
                </a:solidFill>
                <a:latin typeface="Consolas"/>
              </a:rPr>
              <a:t>double</a:t>
            </a:r>
            <a:r>
              <a:rPr sz="1600">
                <a:solidFill>
                  <a:srgbClr val="D4D4D4"/>
                </a:solidFill>
                <a:latin typeface="Consolas"/>
              </a:rPr>
              <a:t> getOutput(                    T compute(mass1::</a:t>
            </a:r>
            <a:r>
              <a:rPr sz="1600">
                <a:solidFill>
                  <a:srgbClr val="4EC9B0"/>
                </a:solidFill>
                <a:latin typeface="Consolas"/>
              </a:rPr>
              <a:t>Position</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std::string&amp; name);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6A9955"/>
                </a:solidFill>
                <a:latin typeface="Consolas"/>
              </a:rPr>
              <a:t>// one virtual + string compare      // one overload per quantity,</a:t>
            </a:r>
          </a:p>
          <a:p>
            <a:pPr>
              <a:spcAft>
                <a:spcPts val="100"/>
              </a:spcAft>
            </a:pPr>
            <a:r>
              <a:rPr sz="16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40" y="1371600"/>
            <a:ext cx="11338560" cy="490575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31520" y="1554480"/>
            <a:ext cx="10972800" cy="4539996"/>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p>
          <a:p>
            <a:pPr>
              <a:spcAft>
                <a:spcPts val="100"/>
              </a:spcAft>
            </a:pPr>
            <a:r>
              <a:rPr sz="1600">
                <a:solidFill>
                  <a:srgbClr val="D4D4D4"/>
                </a:solidFill>
                <a:latin typeface="Consolas"/>
              </a:rPr>
              <a:t>    std::tuple&lt;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&amp;...&gt; m_components;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static</a:t>
            </a:r>
            <a:r>
              <a:rPr sz="1600">
                <a:solidFill>
                  <a:srgbClr val="D4D4D4"/>
                </a:solidFill>
                <a:latin typeface="Consolas"/>
              </a:rPr>
              <a:t> </a:t>
            </a:r>
            <a:r>
              <a:rPr sz="1600">
                <a:solidFill>
                  <a:srgbClr val="569CD6"/>
                </a:solidFill>
                <a:latin typeface="Consolas"/>
              </a:rPr>
              <a:t>constexpr</a:t>
            </a:r>
            <a:r>
              <a:rPr sz="1600">
                <a:solidFill>
                  <a:srgbClr val="D4D4D4"/>
                </a:solidFill>
                <a:latin typeface="Consolas"/>
              </a:rPr>
              <a:t> </a:t>
            </a:r>
            <a:r>
              <a:rPr sz="1600">
                <a:solidFill>
                  <a:srgbClr val="4EC9B0"/>
                </a:solidFill>
                <a:latin typeface="Consolas"/>
              </a:rPr>
              <a:t>bool</a:t>
            </a:r>
            <a:r>
              <a:rPr sz="1600">
                <a:solidFill>
                  <a:srgbClr val="D4D4D4"/>
                </a:solidFill>
                <a:latin typeface="Consolas"/>
              </a:rPr>
              <a:t> hasFunction()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4EC9B0"/>
                </a:solidFill>
                <a:latin typeface="Consolas"/>
              </a:rPr>
              <a:t>ProvidesStateFunction</a:t>
            </a:r>
            <a:r>
              <a:rPr sz="1600" b="1">
                <a:solidFill>
                  <a:srgbClr val="D4D4D4"/>
                </a:solidFill>
                <a:latin typeface="Consolas"/>
              </a:rPr>
              <a:t>&lt;</a:t>
            </a:r>
            <a:r>
              <a:rPr sz="1600" b="1">
                <a:solidFill>
                  <a:srgbClr val="4EC9B0"/>
                </a:solidFill>
                <a:latin typeface="Consolas"/>
              </a:rPr>
              <a:t>Components</a:t>
            </a:r>
            <a:r>
              <a:rPr sz="1600" b="1">
                <a:solidFill>
                  <a:srgbClr val="D4D4D4"/>
                </a:solidFill>
                <a:latin typeface="Consolas"/>
              </a:rPr>
              <a:t>, </a:t>
            </a:r>
            <a:r>
              <a:rPr sz="1600" b="1">
                <a:solidFill>
                  <a:srgbClr val="4EC9B0"/>
                </a:solidFill>
                <a:latin typeface="Consolas"/>
              </a:rPr>
              <a:t>Tag</a:t>
            </a:r>
            <a:r>
              <a:rPr sz="1600" b="1">
                <a:solidFill>
                  <a:srgbClr val="D4D4D4"/>
                </a:solidFill>
                <a:latin typeface="Consolas"/>
              </a:rPr>
              <a:t>, T, </a:t>
            </a:r>
            <a:r>
              <a:rPr sz="1600" b="1">
                <a:solidFill>
                  <a:srgbClr val="4EC9B0"/>
                </a:solidFill>
                <a:latin typeface="Consolas"/>
              </a:rPr>
              <a:t>Registry</a:t>
            </a:r>
            <a:r>
              <a:rPr sz="1600" b="1">
                <a:solidFill>
                  <a:srgbClr val="D4D4D4"/>
                </a:solidFill>
                <a:latin typeface="Consolas"/>
              </a:rPr>
              <a:t>&gt; || ...);</a:t>
            </a:r>
          </a:p>
          <a:p>
            <a:pPr>
              <a:spcAft>
                <a:spcPts val="100"/>
              </a:spcAft>
            </a:pPr>
            <a:r>
              <a:rPr sz="1600">
                <a:solidFill>
                  <a:srgbClr val="D4D4D4"/>
                </a:solidFill>
                <a:latin typeface="Consolas"/>
              </a:rPr>
              <a:t>    }                                     </a:t>
            </a:r>
            <a:r>
              <a:rPr sz="1600">
                <a:solidFill>
                  <a:srgbClr val="6A9955"/>
                </a:solidFill>
                <a:latin typeface="Consolas"/>
              </a:rPr>
              <a:t>//        fold over all 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 computeFunction(std::span&lt;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a:t>
            </a:r>
            <a:r>
              <a:rPr sz="1600" b="1">
                <a:solidFill>
                  <a:srgbClr val="569CD6"/>
                </a:solidFill>
                <a:latin typeface="Consolas"/>
              </a:rPr>
              <a:t>static_assert</a:t>
            </a:r>
            <a:r>
              <a:rPr sz="1600" b="1">
                <a:solidFill>
                  <a:srgbClr val="D4D4D4"/>
                </a:solidFill>
                <a:latin typeface="Consolas"/>
              </a:rPr>
              <a:t>(hasFunction&lt;</a:t>
            </a:r>
            <a:r>
              <a:rPr sz="1600" b="1">
                <a:solidFill>
                  <a:srgbClr val="4EC9B0"/>
                </a:solidFill>
                <a:latin typeface="Consolas"/>
              </a:rPr>
              <a:t>Tag</a:t>
            </a:r>
            <a:r>
              <a:rPr sz="1600" b="1">
                <a:solidFill>
                  <a:srgbClr val="D4D4D4"/>
                </a:solidFill>
                <a:latin typeface="Consolas"/>
              </a:rPr>
              <a:t>&gt;(),</a:t>
            </a:r>
          </a:p>
          <a:p>
            <a:pPr>
              <a:spcAft>
                <a:spcPts val="100"/>
              </a:spcAft>
            </a:pPr>
            <a:r>
              <a:rPr sz="1600" b="1">
                <a:solidFill>
                  <a:srgbClr val="D4D4D4"/>
                </a:solidFill>
                <a:latin typeface="Consolas"/>
              </a:rPr>
              <a:t>                      </a:t>
            </a:r>
            <a:r>
              <a:rPr sz="1600" b="1">
                <a:solidFill>
                  <a:srgbClr val="CE9178"/>
                </a:solidFill>
                <a:latin typeface="Consolas"/>
              </a:rPr>
              <a:t>"No component provides this state function"</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&amp; provider = findProvider&lt;</a:t>
            </a:r>
            <a:r>
              <a:rPr sz="1600">
                <a:solidFill>
                  <a:srgbClr val="4EC9B0"/>
                </a:solidFill>
                <a:latin typeface="Consolas"/>
              </a:rPr>
              <a:t>Tag</a:t>
            </a:r>
            <a:r>
              <a:rPr sz="1600">
                <a:solidFill>
                  <a:srgbClr val="D4D4D4"/>
                </a:solidFill>
                <a:latin typeface="Consolas"/>
              </a:rPr>
              <a:t>&gt;();   </a:t>
            </a:r>
            <a:r>
              <a:rPr sz="1600">
                <a:solidFill>
                  <a:srgbClr val="6A9955"/>
                </a:solidFill>
                <a:latin typeface="Consolas"/>
              </a:rPr>
              <a:t>// index found constexpr</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provider.compute(</a:t>
            </a:r>
            <a:r>
              <a:rPr sz="1600">
                <a:solidFill>
                  <a:srgbClr val="4EC9B0"/>
                </a:solidFill>
                <a:latin typeface="Consolas"/>
              </a:rPr>
              <a:t>Tag</a:t>
            </a:r>
            <a:r>
              <a:rPr sz="1600">
                <a:solidFill>
                  <a:srgbClr val="D4D4D4"/>
                </a:solidFill>
                <a:latin typeface="Consolas"/>
              </a:rPr>
              <a:t>{}, state, *</a:t>
            </a:r>
            <a:r>
              <a:rPr sz="1600">
                <a:solidFill>
                  <a:srgbClr val="569CD6"/>
                </a:solidFill>
                <a:latin typeface="Consolas"/>
              </a:rPr>
              <a:t>this</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compute vs query: provide vs ask</a:t>
            </a:r>
          </a:p>
        </p:txBody>
      </p:sp>
      <p:sp>
        <p:nvSpPr>
          <p:cNvPr id="4" name="Rounded Rectangle 3"/>
          <p:cNvSpPr/>
          <p:nvPr/>
        </p:nvSpPr>
        <p:spPr>
          <a:xfrm>
            <a:off x="548640" y="1463040"/>
            <a:ext cx="11338560" cy="33421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query"/>
          <p:cNvSpPr txBox="1"/>
          <p:nvPr/>
        </p:nvSpPr>
        <p:spPr>
          <a:xfrm>
            <a:off x="731520" y="1645920"/>
            <a:ext cx="10972800" cy="2976372"/>
          </a:xfrm>
          <a:prstGeom prst="rect">
            <a:avLst/>
          </a:prstGeom>
          <a:noFill/>
        </p:spPr>
        <p:txBody>
          <a:bodyPr wrap="none">
            <a:spAutoFit/>
          </a:bodyPr>
          <a:lstStyle/>
          <a:p>
            <a:pPr>
              <a:spcAft>
                <a:spcPts val="100"/>
              </a:spcAft>
            </a:pPr>
            <a:r>
              <a:rPr sz="1600">
                <a:solidFill>
                  <a:srgbClr val="6A9955"/>
                </a:solidFill>
                <a:latin typeface="Consolas"/>
              </a:rPr>
              <a:t>// a component PROVIDES a quantity (one overload per tag):</a:t>
            </a:r>
          </a:p>
          <a:p>
            <a:pPr>
              <a:spcAft>
                <a:spcPts val="100"/>
              </a:spcAft>
            </a:pPr>
            <a:r>
              <a:rPr sz="1600">
                <a:solidFill>
                  <a:srgbClr val="D4D4D4"/>
                </a:solidFill>
                <a:latin typeface="Consolas"/>
              </a:rPr>
              <a:t>T compute(mass1::</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anyone ASKS for one, by tag — component or driver:</a:t>
            </a:r>
          </a:p>
          <a:p>
            <a:pPr>
              <a:spcAft>
                <a:spcPts val="100"/>
              </a:spcAft>
            </a:pPr>
            <a:r>
              <a:rPr sz="1600" b="1">
                <a:solidFill>
                  <a:srgbClr val="D4D4D4"/>
                </a:solidFill>
                <a:latin typeface="Consolas"/>
              </a:rPr>
              <a:t>T f = query&lt;mass1::</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latin typeface="Consolas"/>
              </a:rPr>
              <a:t> </a:t>
            </a:r>
          </a:p>
          <a:p>
            <a:pPr>
              <a:spcAft>
                <a:spcPts val="100"/>
              </a:spcAft>
            </a:pPr>
            <a:r>
              <a:rPr sz="1600">
                <a:solidFill>
                  <a:srgbClr val="6A9955"/>
                </a:solidFill>
                <a:latin typeface="Consolas"/>
              </a:rPr>
              <a:t>// query is just the registry call with friendlier syntax:</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&gt;</a:t>
            </a:r>
          </a:p>
          <a:p>
            <a:pPr>
              <a:spcAft>
                <a:spcPts val="100"/>
              </a:spcAft>
            </a:pPr>
            <a:r>
              <a:rPr sz="1600">
                <a:solidFill>
                  <a:srgbClr val="569CD6"/>
                </a:solidFill>
                <a:latin typeface="Consolas"/>
              </a:rPr>
              <a:t>auto</a:t>
            </a:r>
            <a:r>
              <a:rPr sz="1600">
                <a:solidFill>
                  <a:srgbClr val="D4D4D4"/>
                </a:solidFill>
                <a:latin typeface="Consolas"/>
              </a:rPr>
              <a:t> query(</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std::span&lt;</a:t>
            </a:r>
            <a:r>
              <a:rPr sz="1600">
                <a:solidFill>
                  <a:srgbClr val="569CD6"/>
                </a:solidFill>
                <a:latin typeface="Consolas"/>
              </a:rPr>
              <a:t>const</a:t>
            </a:r>
            <a:r>
              <a:rPr sz="1600">
                <a:solidFill>
                  <a:srgbClr val="D4D4D4"/>
                </a:solidFill>
                <a:latin typeface="Consolas"/>
              </a:rPr>
              <a:t> T&gt; s)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reg.computeFunction&lt;</a:t>
            </a:r>
            <a:r>
              <a:rPr sz="1600" b="1">
                <a:solidFill>
                  <a:srgbClr val="4EC9B0"/>
                </a:solidFill>
                <a:latin typeface="Consolas"/>
              </a:rPr>
              <a:t>Tag</a:t>
            </a:r>
            <a:r>
              <a:rPr sz="1600" b="1">
                <a:solidFill>
                  <a:srgbClr val="D4D4D4"/>
                </a:solidFill>
                <a:latin typeface="Consolas"/>
              </a:rPr>
              <a:t>&gt;(s);   </a:t>
            </a:r>
            <a:r>
              <a:rPr sz="1600" b="1">
                <a:solidFill>
                  <a:srgbClr val="6A9955"/>
                </a:solidFill>
                <a:latin typeface="Consolas"/>
              </a:rPr>
              <a:t>// find provider -&gt; provider.compute(...)</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30352" y="1371600"/>
            <a:ext cx="11036808" cy="386333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554480"/>
            <a:ext cx="10671048" cy="3497579"/>
          </a:xfrm>
          <a:prstGeom prst="rect">
            <a:avLst/>
          </a:prstGeom>
          <a:noFill/>
        </p:spPr>
        <p:txBody>
          <a:bodyPr wrap="none">
            <a:spAutoFit/>
          </a:bodyPr>
          <a:lstStyle/>
          <a:p>
            <a:pPr>
              <a:spcAft>
                <a:spcPts val="100"/>
              </a:spcAft>
            </a:pPr>
            <a:r>
              <a:rPr sz="1600">
                <a:solidFill>
                  <a:srgbClr val="6A9955"/>
                </a:solidFill>
                <a:latin typeface="Consolas"/>
              </a:rPr>
              <a:t>// what a component IS:</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a:t>
            </a:r>
          </a:p>
          <a:p>
            <a:pPr>
              <a:spcAft>
                <a:spcPts val="100"/>
              </a:spcAft>
            </a:pPr>
            <a:r>
              <a:rPr sz="1600">
                <a:solidFill>
                  <a:srgbClr val="D4D4D4"/>
                </a:solidFill>
                <a:latin typeface="Consolas"/>
              </a:rPr>
              <a:t>    { C::state_size } -&gt; std::convertible_to&lt;</a:t>
            </a:r>
            <a:r>
              <a:rPr sz="1600">
                <a:solidFill>
                  <a:srgbClr val="4EC9B0"/>
                </a:solidFill>
                <a:latin typeface="Consolas"/>
              </a:rPr>
              <a:t>size_t</a:t>
            </a:r>
            <a:r>
              <a:rPr sz="1600">
                <a:solidFill>
                  <a:srgbClr val="D4D4D4"/>
                </a:solidFill>
                <a:latin typeface="Consolas"/>
              </a:rPr>
              <a:t>&gt;;</a:t>
            </a:r>
          </a:p>
          <a:p>
            <a:pPr>
              <a:spcAft>
                <a:spcPts val="100"/>
              </a:spcAft>
            </a:pPr>
            <a:r>
              <a:rPr sz="1600">
                <a:solidFill>
                  <a:srgbClr val="D4D4D4"/>
                </a:solidFill>
                <a:latin typeface="Consolas"/>
              </a:rPr>
              <a:t>    { c.getInitialLocalState() } -&gt; std::same_as&lt;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4EC9B0"/>
                </a:solidFill>
                <a:latin typeface="Consolas"/>
              </a:rPr>
              <a:t>LocalState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what it PROVIDES (a quantity, selected by tag):</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ProvidesStateFunction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&lt;C&gt; &amp;&amp; </a:t>
            </a:r>
            <a:r>
              <a:rPr sz="1600">
                <a:solidFill>
                  <a:srgbClr val="4EC9B0"/>
                </a:solidFill>
                <a:latin typeface="Consolas"/>
              </a:rPr>
              <a:t>StateTagConcept</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 &amp;&amp;</a:t>
            </a:r>
          </a:p>
          <a:p>
            <a:pPr>
              <a:spcAft>
                <a:spcPts val="100"/>
              </a:spcAft>
            </a:pP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a:t>
            </a:r>
          </a:p>
          <a:p>
            <a:pPr>
              <a:spcAft>
                <a:spcPts val="100"/>
              </a:spcAft>
            </a:pPr>
            <a:r>
              <a:rPr sz="1600">
                <a:solidFill>
                  <a:srgbClr val="D4D4D4"/>
                </a:solidFill>
                <a:latin typeface="Consolas"/>
              </a:rPr>
              <a:t>    { c.compute(</a:t>
            </a:r>
            <a:r>
              <a:rPr sz="1600">
                <a:solidFill>
                  <a:srgbClr val="4EC9B0"/>
                </a:solidFill>
                <a:latin typeface="Consolas"/>
              </a:rPr>
              <a:t>Tag</a:t>
            </a:r>
            <a:r>
              <a:rPr sz="1600">
                <a:solidFill>
                  <a:srgbClr val="D4D4D4"/>
                </a:solidFill>
                <a:latin typeface="Consolas"/>
              </a:rPr>
              <a:t>{}, s, reg); };</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371600"/>
            <a:ext cx="1133856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554480"/>
            <a:ext cx="10972800" cy="3758183"/>
          </a:xfrm>
          <a:prstGeom prst="rect">
            <a:avLst/>
          </a:prstGeom>
          <a:noFill/>
        </p:spPr>
        <p:txBody>
          <a:bodyPr wrap="none">
            <a:spAutoFit/>
          </a:bodyPr>
          <a:lstStyle/>
          <a:p>
            <a:pPr>
              <a:spcAft>
                <a:spcPts val="100"/>
              </a:spcAft>
            </a:pPr>
            <a:r>
              <a:rPr sz="1600">
                <a:solidFill>
                  <a:srgbClr val="DCDCAA"/>
                </a:solidFill>
                <a:latin typeface="Consolas"/>
              </a:rPr>
              <a:t>energy_sopot</a:t>
            </a:r>
            <a:r>
              <a:rPr sz="1600">
                <a:solidFill>
                  <a:srgbClr val="D4D4D4"/>
                </a:solidFill>
                <a:latin typeface="Consolas"/>
              </a:rPr>
              <a:t>(span&lt;const double&gt;):     </a:t>
            </a:r>
            <a:r>
              <a:rPr sz="1600">
                <a:solidFill>
                  <a:srgbClr val="6A9955"/>
                </a:solidFill>
                <a:latin typeface="Consolas"/>
              </a:rPr>
              <a:t>; 4 components, registry dispatch</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r10, [sys+</a:t>
            </a:r>
            <a:r>
              <a:rPr sz="1600">
                <a:solidFill>
                  <a:srgbClr val="B5CEA8"/>
                </a:solidFill>
                <a:latin typeface="Consolas"/>
              </a:rPr>
              <a:t>272</a:t>
            </a:r>
            <a:r>
              <a:rPr sz="1600">
                <a:solidFill>
                  <a:srgbClr val="D4D4D4"/>
                </a:solidFill>
                <a:latin typeface="Consolas"/>
              </a:rPr>
              <a:t>]</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xmm1, [.LC0]        </a:t>
            </a:r>
            <a:r>
              <a:rPr sz="1600">
                <a:solidFill>
                  <a:srgbClr val="6A9955"/>
                </a:solidFill>
                <a:latin typeface="Consolas"/>
              </a:rPr>
              <a:t>; 0.5</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rax, [rcx]</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xmm0, [r10+</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m1        &lt;- runtime parameters,</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xmm3, [rax+rcx*</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v1           loaded once</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0.5*m1*v1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 * v1</a:t>
            </a:r>
          </a:p>
          <a:p>
            <a:pPr>
              <a:spcAft>
                <a:spcPts val="100"/>
              </a:spcAft>
            </a:pPr>
            <a:r>
              <a:rPr sz="1600">
                <a:solidFill>
                  <a:srgbClr val="D4D4D4"/>
                </a:solidFill>
                <a:latin typeface="Consolas"/>
              </a:rPr>
              <a:t>    </a:t>
            </a:r>
            <a:r>
              <a:rPr sz="1600">
                <a:solidFill>
                  <a:srgbClr val="DCDCAA"/>
                </a:solidFill>
                <a:latin typeface="Consolas"/>
              </a:rPr>
              <a:t>subsd</a:t>
            </a:r>
            <a:r>
              <a:rPr sz="1600">
                <a:solidFill>
                  <a:srgbClr val="D4D4D4"/>
                </a:solidFill>
                <a:latin typeface="Consolas"/>
              </a:rPr>
              <a:t> xmm2, [r8+</a:t>
            </a:r>
            <a:r>
              <a:rPr sz="1600">
                <a:solidFill>
                  <a:srgbClr val="B5CEA8"/>
                </a:solidFill>
                <a:latin typeface="Consolas"/>
              </a:rPr>
              <a:t>16</a:t>
            </a:r>
            <a:r>
              <a:rPr sz="1600">
                <a:solidFill>
                  <a:srgbClr val="D4D4D4"/>
                </a:solidFill>
                <a:latin typeface="Consolas"/>
              </a:rPr>
              <a:t>]       </a:t>
            </a:r>
            <a:r>
              <a:rPr sz="1600">
                <a:solidFill>
                  <a:srgbClr val="6A9955"/>
                </a:solidFill>
                <a:latin typeface="Consolas"/>
              </a:rPr>
              <a:t>; x1-x2-L0</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xmm1, xmm2          </a:t>
            </a:r>
            <a:r>
              <a:rPr sz="1600">
                <a:solidFill>
                  <a:srgbClr val="6A9955"/>
                </a:solidFill>
                <a:latin typeface="Consolas"/>
              </a:rPr>
              <a:t>; PE terms</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xmm3</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xmm1          </a:t>
            </a:r>
            <a:r>
              <a:rPr sz="1600">
                <a:solidFill>
                  <a:srgbClr val="6A9955"/>
                </a:solidFill>
                <a:latin typeface="Consolas"/>
              </a:rPr>
              <a:t>; KE1+KE2+PE</a:t>
            </a:r>
          </a:p>
          <a:p>
            <a:pPr>
              <a:spcAft>
                <a:spcPts val="100"/>
              </a:spcAft>
            </a:pPr>
            <a:r>
              <a:rPr sz="1600">
                <a:solidFill>
                  <a:srgbClr val="D4D4D4"/>
                </a:solidFill>
                <a:latin typeface="Consolas"/>
              </a:rPr>
              <a:t>    </a:t>
            </a:r>
            <a:r>
              <a:rPr sz="1600">
                <a:solidFill>
                  <a:srgbClr val="DCDCAA"/>
                </a:solidFill>
                <a:latin typeface="Consolas"/>
              </a:rPr>
              <a:t>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
        <p:nvSpPr>
          <p:cNvPr id="9" name="asm takeaway"/>
          <p:cNvSpPr txBox="1"/>
          <p:nvPr/>
        </p:nvSpPr>
        <p:spPr>
          <a:xfrm>
            <a:off x="731520" y="5678423"/>
            <a:ext cx="10972800" cy="548640"/>
          </a:xfrm>
          <a:prstGeom prst="rect">
            <a:avLst/>
          </a:prstGeom>
          <a:noFill/>
        </p:spPr>
        <p:txBody>
          <a:bodyPr wrap="none">
            <a:spAutoFit/>
          </a:bodyPr>
          <a:lstStyle/>
          <a:p>
            <a:r>
              <a:rPr sz="1900" i="1">
                <a:solidFill>
                  <a:srgbClr val="7EE08A"/>
                </a:solidFill>
                <a:latin typeface="Segoe UI"/>
              </a:rPr>
              <a:t>0 calls · 0 jumps · 0 vtables — straight-line FP, the same shape as the hand-written formula.</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sz="4000" b="1">
                <a:solidFill>
                  <a:srgbClr val="7EE08A"/>
                </a:solidFill>
                <a:latin typeface="Segoe UI"/>
              </a:rPr>
              <a:t>1000×</a:t>
            </a:r>
            <a:r>
              <a:rPr sz="2000" b="0">
                <a:solidFill>
                  <a:srgbClr val="D8E2EC"/>
                </a:solidFill>
                <a:latin typeface="Segoe UI"/>
              </a:rPr>
              <a:t>   faster than an equivalent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371600"/>
            <a:ext cx="11338560" cy="3081528"/>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31520" y="1554480"/>
            <a:ext cx="10972800" cy="2715768"/>
          </a:xfrm>
          <a:prstGeom prst="rect">
            <a:avLst/>
          </a:prstGeom>
          <a:noFill/>
        </p:spPr>
        <p:txBody>
          <a:bodyPr wrap="none">
            <a:spAutoFit/>
          </a:bodyPr>
          <a:lstStyle/>
          <a:p>
            <a:pPr>
              <a:spcAft>
                <a:spcPts val="100"/>
              </a:spcAft>
            </a:pPr>
            <a:r>
              <a:rPr sz="1600">
                <a:solidFill>
                  <a:srgbClr val="6A9955"/>
                </a:solidFill>
                <a:latin typeface="Consolas"/>
              </a:rPr>
              <a:t>// simulate:</a:t>
            </a:r>
          </a:p>
          <a:p>
            <a:pPr>
              <a:spcAft>
                <a:spcPts val="100"/>
              </a:spcAft>
            </a:pPr>
            <a:r>
              <a:rPr sz="1600">
                <a:solidFill>
                  <a:srgbClr val="569CD6"/>
                </a:solidFill>
                <a:latin typeface="Consolas"/>
              </a:rPr>
              <a:t>auto</a:t>
            </a:r>
            <a:r>
              <a:rPr sz="1600">
                <a:solidFill>
                  <a:srgbClr val="D4D4D4"/>
                </a:solidFill>
                <a:latin typeface="Consolas"/>
              </a:rPr>
              <a:t> sim  = makeODESystem&lt;</a:t>
            </a:r>
            <a:r>
              <a:rPr sz="1600">
                <a:solidFill>
                  <a:srgbClr val="4EC9B0"/>
                </a:solidFill>
                <a:latin typeface="Consolas"/>
              </a:rPr>
              <a:t>double</a:t>
            </a:r>
            <a:r>
              <a:rPr sz="1600">
                <a:solidFill>
                  <a:srgbClr val="D4D4D4"/>
                </a:solidFill>
                <a:latin typeface="Consolas"/>
              </a:rPr>
              <a:t>&gt;(comps...);</a:t>
            </a:r>
          </a:p>
          <a:p>
            <a:pPr>
              <a:spcAft>
                <a:spcPts val="100"/>
              </a:spcAft>
            </a:pPr>
            <a:r>
              <a:rPr sz="1600">
                <a:latin typeface="Consolas"/>
              </a:rPr>
              <a:t> </a:t>
            </a:r>
          </a:p>
          <a:p>
            <a:pPr>
              <a:spcAft>
                <a:spcPts val="100"/>
              </a:spcAft>
            </a:pPr>
            <a:r>
              <a:rPr sz="1600">
                <a:solidFill>
                  <a:srgbClr val="6A9955"/>
                </a:solidFill>
                <a:latin typeface="Consolas"/>
              </a:rPr>
              <a:t>// differentiate — SAME components, different scalar:</a:t>
            </a:r>
          </a:p>
          <a:p>
            <a:pPr>
              <a:spcAft>
                <a:spcPts val="100"/>
              </a:spcAft>
            </a:pPr>
            <a:r>
              <a:rPr sz="1600" b="1">
                <a:solidFill>
                  <a:srgbClr val="569CD6"/>
                </a:solidFill>
                <a:latin typeface="Consolas"/>
              </a:rPr>
              <a:t>using</a:t>
            </a:r>
            <a:r>
              <a:rPr sz="1600" b="1">
                <a:solidFill>
                  <a:srgbClr val="D4D4D4"/>
                </a:solidFill>
                <a:latin typeface="Consolas"/>
              </a:rPr>
              <a:t> D = </a:t>
            </a:r>
            <a:r>
              <a:rPr sz="1600" b="1">
                <a:solidFill>
                  <a:srgbClr val="4EC9B0"/>
                </a:solidFill>
                <a:latin typeface="Consolas"/>
              </a:rPr>
              <a:t>Dual</a:t>
            </a:r>
            <a:r>
              <a:rPr sz="1600" b="1">
                <a:solidFill>
                  <a:srgbClr val="D4D4D4"/>
                </a:solidFill>
                <a:latin typeface="Consolas"/>
              </a:rPr>
              <a:t>&lt;</a:t>
            </a:r>
            <a:r>
              <a:rPr sz="1600" b="1">
                <a:solidFill>
                  <a:srgbClr val="4EC9B0"/>
                </a:solidFill>
                <a:latin typeface="Consolas"/>
              </a:rPr>
              <a:t>double</a:t>
            </a:r>
            <a:r>
              <a:rPr sz="1600" b="1">
                <a:solidFill>
                  <a:srgbClr val="D4D4D4"/>
                </a:solidFill>
                <a:latin typeface="Consolas"/>
              </a:rPr>
              <a:t>, </a:t>
            </a:r>
            <a:r>
              <a:rPr sz="1600" b="1">
                <a:solidFill>
                  <a:srgbClr val="B5CEA8"/>
                </a:solidFill>
                <a:latin typeface="Consolas"/>
              </a:rPr>
              <a:t>14</a:t>
            </a:r>
            <a:r>
              <a:rPr sz="1600" b="1">
                <a:solidFill>
                  <a:srgbClr val="D4D4D4"/>
                </a:solidFill>
                <a:latin typeface="Consolas"/>
              </a:rPr>
              <a:t>&gt;;                  </a:t>
            </a:r>
            <a:r>
              <a:rPr sz="1600" b="1">
                <a:solidFill>
                  <a:srgbClr val="6A9955"/>
                </a:solidFill>
                <a:latin typeface="Consolas"/>
              </a:rPr>
              <a:t>// forward-mode autodiff</a:t>
            </a:r>
          </a:p>
          <a:p>
            <a:pPr>
              <a:spcAft>
                <a:spcPts val="100"/>
              </a:spcAft>
            </a:pPr>
            <a:r>
              <a:rPr sz="1600" b="1">
                <a:solidFill>
                  <a:srgbClr val="569CD6"/>
                </a:solidFill>
                <a:latin typeface="Consolas"/>
              </a:rPr>
              <a:t>auto</a:t>
            </a:r>
            <a:r>
              <a:rPr sz="1600" b="1">
                <a:solidFill>
                  <a:srgbClr val="D4D4D4"/>
                </a:solidFill>
                <a:latin typeface="Consolas"/>
              </a:rPr>
              <a:t> grad = makeODESystem&lt;D&gt;(comps...);</a:t>
            </a:r>
          </a:p>
          <a:p>
            <a:pPr>
              <a:spcAft>
                <a:spcPts val="100"/>
              </a:spcAft>
            </a:pPr>
            <a:r>
              <a:rPr sz="1600">
                <a:solidFill>
                  <a:srgbClr val="569CD6"/>
                </a:solidFill>
                <a:latin typeface="Consolas"/>
              </a:rPr>
              <a:t>auto</a:t>
            </a:r>
            <a:r>
              <a:rPr sz="1600">
                <a:solidFill>
                  <a:srgbClr val="D4D4D4"/>
                </a:solidFill>
                <a:latin typeface="Consolas"/>
              </a:rPr>
              <a:t> J    = computeJacobian(grad, t, state); </a:t>
            </a:r>
            <a:r>
              <a:rPr sz="1600">
                <a:solidFill>
                  <a:srgbClr val="6A9955"/>
                </a:solidFill>
                <a:latin typeface="Consolas"/>
              </a:rPr>
              <a:t>// exact, to machine precision</a:t>
            </a:r>
          </a:p>
          <a:p>
            <a:pPr>
              <a:spcAft>
                <a:spcPts val="100"/>
              </a:spcAft>
            </a:pPr>
            <a:r>
              <a:rPr sz="1600">
                <a:latin typeface="Consolas"/>
              </a:rPr>
              <a:t> </a:t>
            </a:r>
          </a:p>
          <a:p>
            <a:pPr>
              <a:spcAft>
                <a:spcPts val="100"/>
              </a:spcAft>
            </a:pPr>
            <a:r>
              <a:rPr sz="1600">
                <a:solidFill>
                  <a:srgbClr val="6A9955"/>
                </a:solidFill>
                <a:latin typeface="Consolas"/>
              </a:rPr>
              <a:t>// linearize -&gt; LQR gain straight from the nonlinear model</a:t>
            </a:r>
          </a:p>
          <a:p>
            <a:pPr>
              <a:spcAft>
                <a:spcPts val="100"/>
              </a:spcAft>
            </a:pPr>
            <a:r>
              <a:rPr sz="1600">
                <a:solidFill>
                  <a:srgbClr val="569CD6"/>
                </a:solidFill>
                <a:latin typeface="Consolas"/>
              </a:rPr>
              <a:t>auto</a:t>
            </a:r>
            <a:r>
              <a:rPr sz="1600">
                <a:solidFill>
                  <a:srgbClr val="D4D4D4"/>
                </a:solidFill>
                <a:latin typeface="Consolas"/>
              </a:rPr>
              <a:t> K = lqr(J.A, J.B, Q, R);</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1694</TotalTime>
  <Words>4543</Words>
  <Application>Microsoft Office PowerPoint</Application>
  <PresentationFormat>Panoramiczny</PresentationFormat>
  <Paragraphs>497</Paragraphs>
  <Slides>39</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39</vt:i4>
      </vt:variant>
    </vt:vector>
  </HeadingPairs>
  <TitlesOfParts>
    <vt:vector size="44"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3</cp:revision>
  <dcterms:created xsi:type="dcterms:W3CDTF">2013-01-27T09:14:16Z</dcterms:created>
  <dcterms:modified xsi:type="dcterms:W3CDTF">2026-06-15T20:37:08Z</dcterms:modified>
  <cp:category/>
</cp:coreProperties>
</file>