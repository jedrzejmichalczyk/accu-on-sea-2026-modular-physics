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Title slide uses the conference card. Hook: 'This talk is about refusing a tradeoff.'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Who I am, what SpaceForest does. Mention: everything shown today is in the public sopot repo.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min. The setting: flight simulation for guidance. Stress that several disciplines co-own the code — that is WHY separation of concerns is not cosmetic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Mathematica → hand C → codegen journey from the handwritten plan. Each stage solved the previous stage's problem and created a new one. Punchline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of the submitted outline.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abstract's opening lines, verbatim — the audience saw them in the programme. Then: why each property matters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talk's credo: a simple solution to a simple problem; a library does not need to be hard to be useful. 'Obviously no deficiencies' is also why the framework is named the way it is, and why we verify with conservation laws and disassembly. Alternate quotes if preferred: Scott Meyers, Effective C++ Item 18 — 'Make interfaces easy to use correctly and hard to use incorrectly'; Stroustrup — 'Make simple things simple!' (CppCon 2014 keynote).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caricature, but a recognisable one. Ask the room who has seen y[13] be the mass. Note it IS fast — that's why it survives.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~7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OO decomposition. Modularity: yes. But the optimizer hits a wall at every virtual call, and the interfaces are untyped (double*, strings).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talk's claim. The rest of the hour is the proof: components with single responsibility that compile to the monolith's machine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~8 min. Running example for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example. The conservation law is the point: we can VERIFY the composed system, not just eyeball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table of the talk. Spend time here. 'Provides' and 'Queries' are the typed interface.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~12 min. All code from the public repo, lightly trimmed.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physics/coupled_oscillator/tags.hpp. The whole trick starts here: names become types, so the compiler can route and check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point_mass.hpp. Highlighted: the registry query — the only coupling to the outside world, and it's by tag, not by type of the provider.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spring.hpp (the damping term is elided here for space). Point at the two query calls: that IS the whole dependency.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energy_monitor.hpp. 'Doesn't know there's a spring' — the abstract promised exactly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coupled_system.hpp / examples. If a required provider is missing the static_assert (or the concept) fails AT THE CALL SITE.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run: assets/oscillator_demo.cpp against the repo headers. Energy conserved to machine precision — the conservation law validates the COMPOSITION, not just the parts.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~10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tag dispatch is the iterator-category trick the audience already knows, applied to physics quantities.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core/component.hpp (simplified). The registry is the only 'framework' there is. Emphasize: provider chosen at compile time → calls inline through.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to 'why C++20 made this practical' from the abstract. Without concepts the diagnostics made this pattern team-hostile.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tradeoff slide: static composition. Sell the price as a feature in this domain (certifiable, no allocation, deterministic), admit it's a real constraint elsewhere.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~6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asm from assets/asm_compare.cpp (trimmed for the slide; full listing in repo). Offer godbolt link for the skeptics. Be honest about the constant-propagation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quick. The asm slide is the argument; these are corroborating measurements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item 'dlaczego 20 a nie 26'. Show genuine enthusiasm for P2996 (reflect/ dir has the experiments) but ground it in deployment reality.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~7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rocket/ in the repo mirrors what flies. Each box is a header a different engineer can own. Don't over-claim: say which parts are the open-source mirror of the production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Dual&lt;T,N&gt; from core/dual.hpp. One sentence of mechanism (dual numbers), then the payoff: exact linearization for control design. Sets up the finale.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circled phrase from the handwritten plan — 'consistent level of abstraction' — is the thesis. Land it here.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TODO(Jędrzej): drop in the book scan and cite it properly. Beat: we finally have a language where the modular math can stay modular in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BROWSER. Fallback if Wi-Fi dies: screen recording (TODO: record one). Show: stabilization, then poke it. Mention cart-pole → 6-chain generalization was a small diff because components compose.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One breath per bullet.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budget: 5 min. Likely questions: compile times (fold expressions cut 40-60% per repo notes), dynamic composition (honest answer: not this pattern's job), comparison with Modelica/acausal (experiments in physics/acausal/).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pic>
        <p:nvPicPr>
          <p:cNvPr id="2" name="Picture 1" descr="separation of concern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BEFORE WE START</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 whoami</a:t>
            </a:r>
          </a:p>
        </p:txBody>
      </p:sp>
      <p:sp>
        <p:nvSpPr>
          <p:cNvPr id="4" name="TextBox 3"/>
          <p:cNvSpPr txBox="1"/>
          <p:nvPr/>
        </p:nvSpPr>
        <p:spPr>
          <a:xfrm>
            <a:off x="548640" y="1828800"/>
            <a:ext cx="7498079" cy="4572000"/>
          </a:xfrm>
          <a:prstGeom prst="rect">
            <a:avLst/>
          </a:prstGeom>
          <a:noFill/>
        </p:spPr>
        <p:txBody>
          <a:bodyPr wrap="square">
            <a:spAutoFit/>
          </a:bodyPr>
          <a:lstStyle/>
          <a:p>
            <a:pPr>
              <a:spcAft>
                <a:spcPts val="800"/>
              </a:spcAft>
            </a:pPr>
            <a:r>
              <a:rPr sz="2200">
                <a:solidFill>
                  <a:srgbClr val="35C4E8"/>
                </a:solidFill>
                <a:latin typeface="Segoe UI"/>
              </a:rPr>
              <a:t>•  </a:t>
            </a:r>
            <a:r>
              <a:rPr sz="2200" b="1">
                <a:solidFill>
                  <a:srgbClr val="F2C744"/>
                </a:solidFill>
                <a:latin typeface="Segoe UI"/>
              </a:rPr>
              <a:t>Jędrzej Michalczyk</a:t>
            </a:r>
            <a:r>
              <a:rPr sz="2200" b="0">
                <a:solidFill>
                  <a:srgbClr val="D8E2EC"/>
                </a:solidFill>
                <a:latin typeface="Segoe UI"/>
              </a:rPr>
              <a:t>  —  flight software &amp; simulation engineer</a:t>
            </a:r>
          </a:p>
          <a:p>
            <a:pPr>
              <a:spcAft>
                <a:spcPts val="800"/>
              </a:spcAft>
            </a:pPr>
            <a:r>
              <a:rPr sz="2200">
                <a:solidFill>
                  <a:srgbClr val="35C4E8"/>
                </a:solidFill>
                <a:latin typeface="Segoe UI"/>
              </a:rPr>
              <a:t>•  </a:t>
            </a:r>
            <a:r>
              <a:rPr sz="2200" b="1">
                <a:solidFill>
                  <a:srgbClr val="35C4E8"/>
                </a:solidFill>
                <a:latin typeface="Segoe UI"/>
              </a:rPr>
              <a:t>SpaceForest</a:t>
            </a:r>
            <a:r>
              <a:rPr sz="2200" b="0">
                <a:solidFill>
                  <a:srgbClr val="D8E2EC"/>
                </a:solidFill>
                <a:latin typeface="Segoe UI"/>
              </a:rPr>
              <a:t>  (Gdynia, Poland) — suborbital rockets</a:t>
            </a:r>
          </a:p>
          <a:p>
            <a:pPr lvl="1">
              <a:spcBef>
                <a:spcPts val="0"/>
              </a:spcBef>
              <a:spcAft>
                <a:spcPts val="800"/>
              </a:spcAft>
            </a:pPr>
            <a:r>
              <a:rPr sz="2000">
                <a:solidFill>
                  <a:srgbClr val="8CA3B8"/>
                </a:solidFill>
                <a:latin typeface="Segoe UI"/>
              </a:rPr>
              <a:t>–  </a:t>
            </a:r>
            <a:r>
              <a:rPr sz="2000" b="0">
                <a:solidFill>
                  <a:srgbClr val="D8E2EC"/>
                </a:solidFill>
                <a:latin typeface="Segoe UI"/>
              </a:rPr>
              <a:t>PERUN — single-stage suborbital launch vehicle</a:t>
            </a:r>
          </a:p>
          <a:p>
            <a:pPr lvl="1">
              <a:spcBef>
                <a:spcPts val="0"/>
              </a:spcBef>
              <a:spcAft>
                <a:spcPts val="800"/>
              </a:spcAft>
            </a:pPr>
            <a:r>
              <a:rPr sz="2000">
                <a:solidFill>
                  <a:srgbClr val="8CA3B8"/>
                </a:solidFill>
                <a:latin typeface="Segoe UI"/>
              </a:rPr>
              <a:t>–  </a:t>
            </a:r>
            <a:r>
              <a:rPr sz="2000" b="0">
                <a:solidFill>
                  <a:srgbClr val="D8E2EC"/>
                </a:solidFill>
                <a:latin typeface="Segoe UI"/>
              </a:rPr>
              <a:t>guidance, navigation &amp; control software in modern C++</a:t>
            </a:r>
          </a:p>
          <a:p>
            <a:pPr>
              <a:spcAft>
                <a:spcPts val="800"/>
              </a:spcAft>
            </a:pPr>
            <a:r>
              <a:rPr sz="2200">
                <a:solidFill>
                  <a:srgbClr val="35C4E8"/>
                </a:solidFill>
                <a:latin typeface="Segoe UI"/>
              </a:rPr>
              <a:t>•  </a:t>
            </a:r>
            <a:r>
              <a:rPr sz="2200" b="0">
                <a:solidFill>
                  <a:srgbClr val="D8E2EC"/>
                </a:solidFill>
                <a:latin typeface="Segoe UI"/>
              </a:rPr>
              <a:t>The code in this talk is real: </a:t>
            </a:r>
            <a:r>
              <a:rPr sz="2200" b="0">
                <a:solidFill>
                  <a:srgbClr val="35C4E8"/>
                </a:solidFill>
                <a:latin typeface="Segoe UI"/>
              </a:rPr>
              <a:t>github.com/jedrzejmichalczyk/sopot</a:t>
            </a:r>
          </a:p>
        </p:txBody>
      </p:sp>
      <p:sp>
        <p:nvSpPr>
          <p:cNvPr id="5" name="Rounded Rectangle 4"/>
          <p:cNvSpPr/>
          <p:nvPr/>
        </p:nvSpPr>
        <p:spPr>
          <a:xfrm>
            <a:off x="8229600" y="1828800"/>
            <a:ext cx="3291840" cy="365760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8CA3B8"/>
                </a:solidFill>
                <a:latin typeface="Segoe UI"/>
              </a:rPr>
              <a:t>[ PHOTO:  you / PERUN launch ]</a:t>
            </a:r>
          </a:p>
        </p:txBody>
      </p:sp>
      <p:sp>
        <p:nvSpPr>
          <p:cNvPr id="6" name="TextBox 5"/>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7" name="TextBox 6"/>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SPACEFOREST, A FEW YEARS AGO</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The original problem</a:t>
            </a:r>
          </a:p>
        </p:txBody>
      </p:sp>
      <p:sp>
        <p:nvSpPr>
          <p:cNvPr id="4" name="TextBox 3"/>
          <p:cNvSpPr txBox="1"/>
          <p:nvPr/>
        </p:nvSpPr>
        <p:spPr>
          <a:xfrm>
            <a:off x="548640" y="1645920"/>
            <a:ext cx="11064240" cy="4572000"/>
          </a:xfrm>
          <a:prstGeom prst="rect">
            <a:avLst/>
          </a:prstGeom>
          <a:noFill/>
        </p:spPr>
        <p:txBody>
          <a:bodyPr wrap="square">
            <a:spAutoFit/>
          </a:bodyPr>
          <a:lstStyle/>
          <a:p>
            <a:pPr>
              <a:spcAft>
                <a:spcPts val="800"/>
              </a:spcAft>
            </a:pPr>
            <a:r>
              <a:rPr sz="2100">
                <a:solidFill>
                  <a:srgbClr val="35C4E8"/>
                </a:solidFill>
                <a:latin typeface="Segoe UI"/>
              </a:rPr>
              <a:t>•  </a:t>
            </a:r>
            <a:r>
              <a:rPr sz="2100" b="0">
                <a:solidFill>
                  <a:srgbClr val="D8E2EC"/>
                </a:solidFill>
                <a:latin typeface="Segoe UI"/>
              </a:rPr>
              <a:t>Simulate a rocket: </a:t>
            </a:r>
            <a:r>
              <a:rPr sz="2100" b="1">
                <a:solidFill>
                  <a:srgbClr val="FFFFFF"/>
                </a:solidFill>
                <a:latin typeface="Segoe UI"/>
              </a:rPr>
              <a:t>6-DOF dynamics + aerodynamics + propulsion + atmosphere + control</a:t>
            </a:r>
          </a:p>
          <a:p>
            <a:pPr>
              <a:spcAft>
                <a:spcPts val="800"/>
              </a:spcAft>
            </a:pPr>
            <a:r>
              <a:rPr sz="2100">
                <a:solidFill>
                  <a:srgbClr val="35C4E8"/>
                </a:solidFill>
                <a:latin typeface="Segoe UI"/>
              </a:rPr>
              <a:t>•  </a:t>
            </a:r>
            <a:r>
              <a:rPr sz="2100" b="0">
                <a:solidFill>
                  <a:srgbClr val="D8E2EC"/>
                </a:solidFill>
                <a:latin typeface="Segoe UI"/>
              </a:rPr>
              <a:t>The same physics must run in three places:</a:t>
            </a:r>
          </a:p>
          <a:p>
            <a:pPr lvl="1">
              <a:spcBef>
                <a:spcPts val="0"/>
              </a:spcBef>
              <a:spcAft>
                <a:spcPts val="800"/>
              </a:spcAft>
            </a:pPr>
            <a:r>
              <a:rPr sz="1900">
                <a:solidFill>
                  <a:srgbClr val="8CA3B8"/>
                </a:solidFill>
                <a:latin typeface="Segoe UI"/>
              </a:rPr>
              <a:t>–  </a:t>
            </a:r>
            <a:r>
              <a:rPr sz="1900" b="0">
                <a:solidFill>
                  <a:srgbClr val="D8E2EC"/>
                </a:solidFill>
                <a:latin typeface="Segoe UI"/>
              </a:rPr>
              <a:t>engineering analysis (parameter studies, Monte Carlo)</a:t>
            </a:r>
          </a:p>
          <a:p>
            <a:pPr lvl="1">
              <a:spcBef>
                <a:spcPts val="0"/>
              </a:spcBef>
              <a:spcAft>
                <a:spcPts val="800"/>
              </a:spcAft>
            </a:pPr>
            <a:r>
              <a:rPr sz="1900">
                <a:solidFill>
                  <a:srgbClr val="8CA3B8"/>
                </a:solidFill>
                <a:latin typeface="Segoe UI"/>
              </a:rPr>
              <a:t>–  </a:t>
            </a:r>
            <a:r>
              <a:rPr sz="1900" b="0">
                <a:solidFill>
                  <a:srgbClr val="D8E2EC"/>
                </a:solidFill>
                <a:latin typeface="Segoe UI"/>
              </a:rPr>
              <a:t>hardware-in-the-loop test benches — real time</a:t>
            </a:r>
          </a:p>
          <a:p>
            <a:pPr lvl="1">
              <a:spcBef>
                <a:spcPts val="0"/>
              </a:spcBef>
              <a:spcAft>
                <a:spcPts val="800"/>
              </a:spcAft>
            </a:pPr>
            <a:r>
              <a:rPr sz="1900">
                <a:solidFill>
                  <a:srgbClr val="8CA3B8"/>
                </a:solidFill>
                <a:latin typeface="Segoe UI"/>
              </a:rPr>
              <a:t>–  </a:t>
            </a:r>
            <a:r>
              <a:rPr sz="1900" b="0">
                <a:solidFill>
                  <a:srgbClr val="D8E2EC"/>
                </a:solidFill>
                <a:latin typeface="Segoe UI"/>
              </a:rPr>
              <a:t>onboard — guidance runs against the same models, in real time</a:t>
            </a:r>
          </a:p>
          <a:p>
            <a:pPr>
              <a:spcAft>
                <a:spcPts val="800"/>
              </a:spcAft>
            </a:pPr>
            <a:r>
              <a:rPr sz="2100">
                <a:solidFill>
                  <a:srgbClr val="35C4E8"/>
                </a:solidFill>
                <a:latin typeface="Segoe UI"/>
              </a:rPr>
              <a:t>•  </a:t>
            </a:r>
            <a:r>
              <a:rPr sz="2100" b="1">
                <a:solidFill>
                  <a:srgbClr val="F2C744"/>
                </a:solidFill>
                <a:latin typeface="Segoe UI"/>
              </a:rPr>
              <a:t>Correctness and performance are both non-negotiable</a:t>
            </a:r>
          </a:p>
          <a:p>
            <a:pPr>
              <a:spcAft>
                <a:spcPts val="800"/>
              </a:spcAft>
            </a:pPr>
            <a:r>
              <a:rPr sz="2100">
                <a:solidFill>
                  <a:srgbClr val="35C4E8"/>
                </a:solidFill>
                <a:latin typeface="Segoe UI"/>
              </a:rPr>
              <a:t>•  </a:t>
            </a:r>
            <a:r>
              <a:rPr sz="2100" b="0">
                <a:solidFill>
                  <a:srgbClr val="D8E2EC"/>
                </a:solidFill>
                <a:latin typeface="Segoe UI"/>
              </a:rPr>
              <a:t>And: aero engineers, control engineers and software engineers all touch the same code</a:t>
            </a:r>
          </a:p>
        </p:txBody>
      </p:sp>
      <p:sp>
        <p:nvSpPr>
          <p:cNvPr id="5" name="TextBox 4"/>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6" name="TextBox 5"/>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HOW WE GOT HERE</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We wrote the same equations three times</a:t>
            </a:r>
          </a:p>
        </p:txBody>
      </p:sp>
      <p:sp>
        <p:nvSpPr>
          <p:cNvPr id="4" name="Rounded Rectangle 3"/>
          <p:cNvSpPr/>
          <p:nvPr/>
        </p:nvSpPr>
        <p:spPr>
          <a:xfrm>
            <a:off x="548640" y="1737360"/>
            <a:ext cx="356616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35C4E8"/>
                </a:solidFill>
                <a:latin typeface="Segoe UI"/>
              </a:rPr>
              <a:t>1. Mathematica</a:t>
            </a:r>
          </a:p>
        </p:txBody>
      </p:sp>
      <p:sp>
        <p:nvSpPr>
          <p:cNvPr id="5" name="TextBox 4"/>
          <p:cNvSpPr txBox="1"/>
          <p:nvPr/>
        </p:nvSpPr>
        <p:spPr>
          <a:xfrm>
            <a:off x="685800" y="2514600"/>
            <a:ext cx="3291840" cy="2926080"/>
          </a:xfrm>
          <a:prstGeom prst="rect">
            <a:avLst/>
          </a:prstGeom>
          <a:noFill/>
        </p:spPr>
        <p:txBody>
          <a:bodyPr wrap="square">
            <a:spAutoFit/>
          </a:bodyPr>
          <a:lstStyle/>
          <a:p>
            <a:r>
              <a:rPr sz="1600">
                <a:solidFill>
                  <a:srgbClr val="7EE08A"/>
                </a:solidFill>
                <a:latin typeface="Segoe UI"/>
              </a:rPr>
              <a:t>+ symbolic, trusted,
readable by physicists</a:t>
            </a:r>
          </a:p>
          <a:p>
            <a:pPr>
              <a:spcBef>
                <a:spcPts val="1000"/>
              </a:spcBef>
            </a:pPr>
            <a:r>
              <a:rPr sz="1600">
                <a:solidFill>
                  <a:srgbClr val="E86A6A"/>
                </a:solidFill>
                <a:latin typeface="Segoe UI"/>
              </a:rPr>
              <a:t>− cannot fly:
not deployable, slow</a:t>
            </a:r>
          </a:p>
        </p:txBody>
      </p:sp>
      <p:sp>
        <p:nvSpPr>
          <p:cNvPr id="6" name="Rounded Rectangle 5"/>
          <p:cNvSpPr/>
          <p:nvPr/>
        </p:nvSpPr>
        <p:spPr>
          <a:xfrm>
            <a:off x="4343400" y="1737360"/>
            <a:ext cx="356616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2C744"/>
                </a:solidFill>
                <a:latin typeface="Segoe UI"/>
              </a:rPr>
              <a:t>2. Hand-crafted C</a:t>
            </a:r>
          </a:p>
        </p:txBody>
      </p:sp>
      <p:sp>
        <p:nvSpPr>
          <p:cNvPr id="7" name="TextBox 6"/>
          <p:cNvSpPr txBox="1"/>
          <p:nvPr/>
        </p:nvSpPr>
        <p:spPr>
          <a:xfrm>
            <a:off x="4480560" y="2514600"/>
            <a:ext cx="3291840" cy="2926080"/>
          </a:xfrm>
          <a:prstGeom prst="rect">
            <a:avLst/>
          </a:prstGeom>
          <a:noFill/>
        </p:spPr>
        <p:txBody>
          <a:bodyPr wrap="square">
            <a:spAutoFit/>
          </a:bodyPr>
          <a:lstStyle/>
          <a:p>
            <a:r>
              <a:rPr sz="1600">
                <a:solidFill>
                  <a:srgbClr val="7EE08A"/>
                </a:solidFill>
                <a:latin typeface="Segoe UI"/>
              </a:rPr>
              <a:t>+ fast, deployable</a:t>
            </a:r>
          </a:p>
          <a:p>
            <a:pPr>
              <a:spcBef>
                <a:spcPts val="1000"/>
              </a:spcBef>
            </a:pPr>
            <a:r>
              <a:rPr sz="1600">
                <a:solidFill>
                  <a:srgbClr val="E86A6A"/>
                </a:solidFill>
                <a:latin typeface="Segoe UI"/>
              </a:rPr>
              <a:t>− write-once, read-never;
every change ripples
through one giant file</a:t>
            </a:r>
          </a:p>
        </p:txBody>
      </p:sp>
      <p:sp>
        <p:nvSpPr>
          <p:cNvPr id="8" name="Rounded Rectangle 7"/>
          <p:cNvSpPr/>
          <p:nvPr/>
        </p:nvSpPr>
        <p:spPr>
          <a:xfrm>
            <a:off x="8138160" y="1737360"/>
            <a:ext cx="356616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E86A6A"/>
                </a:solidFill>
                <a:latin typeface="Segoe UI"/>
              </a:rPr>
              <a:t>3. Generated code</a:t>
            </a:r>
          </a:p>
        </p:txBody>
      </p:sp>
      <p:sp>
        <p:nvSpPr>
          <p:cNvPr id="9" name="TextBox 8"/>
          <p:cNvSpPr txBox="1"/>
          <p:nvPr/>
        </p:nvSpPr>
        <p:spPr>
          <a:xfrm>
            <a:off x="8275320" y="2514600"/>
            <a:ext cx="3291840" cy="2926080"/>
          </a:xfrm>
          <a:prstGeom prst="rect">
            <a:avLst/>
          </a:prstGeom>
          <a:noFill/>
        </p:spPr>
        <p:txBody>
          <a:bodyPr wrap="square">
            <a:spAutoFit/>
          </a:bodyPr>
          <a:lstStyle/>
          <a:p>
            <a:r>
              <a:rPr sz="1600">
                <a:solidFill>
                  <a:srgbClr val="7EE08A"/>
                </a:solidFill>
                <a:latin typeface="Segoe UI"/>
              </a:rPr>
              <a:t>+ fast + traceable
to the math</a:t>
            </a:r>
          </a:p>
          <a:p>
            <a:pPr>
              <a:spcBef>
                <a:spcPts val="1000"/>
              </a:spcBef>
            </a:pPr>
            <a:r>
              <a:rPr sz="1600">
                <a:solidFill>
                  <a:srgbClr val="E86A6A"/>
                </a:solidFill>
                <a:latin typeface="Segoe UI"/>
              </a:rPr>
              <a:t>− now the generator
is the unmaintainable
program</a:t>
            </a:r>
          </a:p>
        </p:txBody>
      </p:sp>
      <p:sp>
        <p:nvSpPr>
          <p:cNvPr id="10" name="TextBox 9"/>
          <p:cNvSpPr txBox="1"/>
          <p:nvPr/>
        </p:nvSpPr>
        <p:spPr>
          <a:xfrm>
            <a:off x="548640" y="5394960"/>
            <a:ext cx="11155680" cy="731520"/>
          </a:xfrm>
          <a:prstGeom prst="rect">
            <a:avLst/>
          </a:prstGeom>
          <a:noFill/>
        </p:spPr>
        <p:txBody>
          <a:bodyPr wrap="none">
            <a:spAutoFit/>
          </a:bodyPr>
          <a:lstStyle/>
          <a:p>
            <a:r>
              <a:rPr sz="2400" b="1" i="1">
                <a:solidFill>
                  <a:srgbClr val="F2C744"/>
                </a:solidFill>
                <a:latin typeface="Segoe UI"/>
              </a:rPr>
              <a:t>The physics never changed.  We rewrote it three times.</a:t>
            </a:r>
          </a:p>
        </p:txBody>
      </p:sp>
      <p:sp>
        <p:nvSpPr>
          <p:cNvPr id="11" name="TextBox 10"/>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12" name="TextBox 11"/>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01</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The Principle</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Separation of concerns in numerical code</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5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1097280" y="1554480"/>
            <a:ext cx="9966960" cy="3291840"/>
          </a:xfrm>
          <a:prstGeom prst="rect">
            <a:avLst/>
          </a:prstGeom>
          <a:noFill/>
        </p:spPr>
        <p:txBody>
          <a:bodyPr wrap="square">
            <a:spAutoFit/>
          </a:bodyPr>
          <a:lstStyle/>
          <a:p>
            <a:pPr>
              <a:spcAft>
                <a:spcPts val="2600"/>
              </a:spcAft>
            </a:pPr>
            <a:r>
              <a:rPr sz="3000" b="0">
                <a:solidFill>
                  <a:srgbClr val="FFFFFF"/>
                </a:solidFill>
                <a:latin typeface="Segoe UI"/>
              </a:rPr>
              <a:t>A spring shouldn't know how a mass stores its position.</a:t>
            </a:r>
          </a:p>
          <a:p>
            <a:pPr>
              <a:spcAft>
                <a:spcPts val="2600"/>
              </a:spcAft>
            </a:pPr>
            <a:r>
              <a:rPr sz="3000" b="0">
                <a:solidFill>
                  <a:srgbClr val="FFFFFF"/>
                </a:solidFill>
                <a:latin typeface="Segoe UI"/>
              </a:rPr>
              <a:t>An energy calculator shouldn't care which integrator you use.</a:t>
            </a:r>
          </a:p>
          <a:p>
            <a:pPr>
              <a:spcAft>
                <a:spcPts val="2600"/>
              </a:spcAft>
            </a:pPr>
            <a:r>
              <a:rPr sz="3000" b="1">
                <a:solidFill>
                  <a:srgbClr val="F2C744"/>
                </a:solidFill>
                <a:latin typeface="Segoe UI"/>
              </a:rPr>
              <a:t>Easy to state.  Hard to achieve in performance-critical C++.</a:t>
            </a:r>
          </a:p>
        </p:txBody>
      </p:sp>
      <p:sp>
        <p:nvSpPr>
          <p:cNvPr id="3" name="TextBox 2"/>
          <p:cNvSpPr txBox="1"/>
          <p:nvPr/>
        </p:nvSpPr>
        <p:spPr>
          <a:xfrm>
            <a:off x="548640" y="4572000"/>
            <a:ext cx="11064240" cy="4572000"/>
          </a:xfrm>
          <a:prstGeom prst="rect">
            <a:avLst/>
          </a:prstGeom>
          <a:noFill/>
        </p:spPr>
        <p:txBody>
          <a:bodyPr wrap="square">
            <a:spAutoFit/>
          </a:bodyPr>
          <a:lstStyle/>
          <a:p>
            <a:pPr>
              <a:spcAft>
                <a:spcPts val="800"/>
              </a:spcAft>
            </a:pPr>
            <a:r>
              <a:rPr sz="1900">
                <a:solidFill>
                  <a:srgbClr val="35C4E8"/>
                </a:solidFill>
                <a:latin typeface="Segoe UI"/>
              </a:rPr>
              <a:t>•  </a:t>
            </a:r>
            <a:r>
              <a:rPr sz="1900" b="0">
                <a:solidFill>
                  <a:srgbClr val="D8E2EC"/>
                </a:solidFill>
                <a:latin typeface="Segoe UI"/>
              </a:rPr>
              <a:t>Single responsibility → testable in isolation</a:t>
            </a:r>
          </a:p>
          <a:p>
            <a:pPr>
              <a:spcAft>
                <a:spcPts val="800"/>
              </a:spcAft>
            </a:pPr>
            <a:r>
              <a:rPr sz="1900">
                <a:solidFill>
                  <a:srgbClr val="35C4E8"/>
                </a:solidFill>
                <a:latin typeface="Segoe UI"/>
              </a:rPr>
              <a:t>•  </a:t>
            </a:r>
            <a:r>
              <a:rPr sz="1900" b="0">
                <a:solidFill>
                  <a:srgbClr val="D8E2EC"/>
                </a:solidFill>
                <a:latin typeface="Segoe UI"/>
              </a:rPr>
              <a:t>Typed interfaces → wrong wiring fails at compile time</a:t>
            </a:r>
          </a:p>
          <a:p>
            <a:pPr>
              <a:spcAft>
                <a:spcPts val="800"/>
              </a:spcAft>
            </a:pPr>
            <a:r>
              <a:rPr sz="1900">
                <a:solidFill>
                  <a:srgbClr val="35C4E8"/>
                </a:solidFill>
                <a:latin typeface="Segoe UI"/>
              </a:rPr>
              <a:t>•  </a:t>
            </a:r>
            <a:r>
              <a:rPr sz="1900" b="0">
                <a:solidFill>
                  <a:srgbClr val="D8E2EC"/>
                </a:solidFill>
                <a:latin typeface="Segoe UI"/>
              </a:rPr>
              <a:t>Independent development → aero people don't merge-conflict with control people</a:t>
            </a:r>
          </a:p>
        </p:txBody>
      </p:sp>
      <p:sp>
        <p:nvSpPr>
          <p:cNvPr id="4" name="TextBox 3"/>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5" name="TextBox 4"/>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1188720" y="1371600"/>
            <a:ext cx="9784080" cy="3108960"/>
          </a:xfrm>
          <a:prstGeom prst="rect">
            <a:avLst/>
          </a:prstGeom>
          <a:noFill/>
        </p:spPr>
        <p:txBody>
          <a:bodyPr wrap="square">
            <a:spAutoFit/>
          </a:bodyPr>
          <a:lstStyle/>
          <a:p>
            <a:r>
              <a:rPr sz="3000" b="0" i="1">
                <a:solidFill>
                  <a:srgbClr val="FFFFFF"/>
                </a:solidFill>
                <a:latin typeface="Segoe UI"/>
              </a:rPr>
              <a:t>“There are two ways of constructing a software design: one way is to make it </a:t>
            </a:r>
            <a:r>
              <a:rPr sz="3000" b="1" i="1">
                <a:solidFill>
                  <a:srgbClr val="F2C744"/>
                </a:solidFill>
                <a:latin typeface="Segoe UI"/>
              </a:rPr>
              <a:t>so simple that there are obviously no deficiencies</a:t>
            </a:r>
            <a:r>
              <a:rPr sz="3000" b="0" i="1">
                <a:solidFill>
                  <a:srgbClr val="FFFFFF"/>
                </a:solidFill>
                <a:latin typeface="Segoe UI"/>
              </a:rPr>
              <a:t>, and the other way is to make it so complicated that there are no obvious deficiencies.”</a:t>
            </a:r>
          </a:p>
        </p:txBody>
      </p:sp>
      <p:sp>
        <p:nvSpPr>
          <p:cNvPr id="3" name="TextBox 2"/>
          <p:cNvSpPr txBox="1"/>
          <p:nvPr/>
        </p:nvSpPr>
        <p:spPr>
          <a:xfrm>
            <a:off x="1188720" y="4206240"/>
            <a:ext cx="9784080" cy="548640"/>
          </a:xfrm>
          <a:prstGeom prst="rect">
            <a:avLst/>
          </a:prstGeom>
          <a:noFill/>
        </p:spPr>
        <p:txBody>
          <a:bodyPr wrap="none">
            <a:spAutoFit/>
          </a:bodyPr>
          <a:lstStyle/>
          <a:p>
            <a:pPr algn="r"/>
            <a:r>
              <a:rPr sz="1600">
                <a:solidFill>
                  <a:srgbClr val="8CA3B8"/>
                </a:solidFill>
                <a:latin typeface="Segoe UI"/>
              </a:rPr>
              <a:t>— C.A.R. Hoare, The Emperor's Old Clothes, Turing Award lecture (1980)</a:t>
            </a:r>
          </a:p>
        </p:txBody>
      </p:sp>
      <p:sp>
        <p:nvSpPr>
          <p:cNvPr id="4" name="TextBox 3"/>
          <p:cNvSpPr txBox="1"/>
          <p:nvPr/>
        </p:nvSpPr>
        <p:spPr>
          <a:xfrm>
            <a:off x="1188720" y="5120640"/>
            <a:ext cx="9784080" cy="731520"/>
          </a:xfrm>
          <a:prstGeom prst="rect">
            <a:avLst/>
          </a:prstGeom>
          <a:noFill/>
        </p:spPr>
        <p:txBody>
          <a:bodyPr wrap="none">
            <a:spAutoFit/>
          </a:bodyPr>
          <a:lstStyle/>
          <a:p>
            <a:pPr algn="ctr"/>
            <a:r>
              <a:rPr sz="2200" b="1">
                <a:solidFill>
                  <a:srgbClr val="35C4E8"/>
                </a:solidFill>
                <a:latin typeface="Segoe UI"/>
              </a:rPr>
              <a:t>SOPOT — “Obviously Physics, Obviously Templates” — picks the first way.</a:t>
            </a:r>
          </a:p>
        </p:txBody>
      </p:sp>
      <p:sp>
        <p:nvSpPr>
          <p:cNvPr id="5" name="TextBox 4"/>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6" name="TextBox 5"/>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THE STATUS QUO</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What numerical code usually looks like</a:t>
            </a:r>
          </a:p>
        </p:txBody>
      </p:sp>
      <p:sp>
        <p:nvSpPr>
          <p:cNvPr id="4" name="Rounded Rectangle 3"/>
          <p:cNvSpPr/>
          <p:nvPr/>
        </p:nvSpPr>
        <p:spPr>
          <a:xfrm>
            <a:off x="548640" y="1508760"/>
            <a:ext cx="7680960" cy="269748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73352"/>
            <a:ext cx="7351776" cy="2368296"/>
          </a:xfrm>
          <a:prstGeom prst="rect">
            <a:avLst/>
          </a:prstGeom>
          <a:noFill/>
        </p:spPr>
        <p:txBody>
          <a:bodyPr wrap="none">
            <a:spAutoFit/>
          </a:bodyPr>
          <a:lstStyle/>
          <a:p>
            <a:pPr>
              <a:spcAft>
                <a:spcPts val="100"/>
              </a:spcAft>
            </a:pPr>
            <a:r>
              <a:rPr sz="1300">
                <a:solidFill>
                  <a:srgbClr val="6A9955"/>
                </a:solidFill>
                <a:latin typeface="Consolas"/>
              </a:rPr>
              <a:t>// derivs.cpp — all of physics in one function</a:t>
            </a:r>
          </a:p>
          <a:p>
            <a:pPr>
              <a:spcAft>
                <a:spcPts val="100"/>
              </a:spcAft>
            </a:pPr>
            <a:r>
              <a:rPr sz="1300">
                <a:solidFill>
                  <a:srgbClr val="4EC9B0"/>
                </a:solidFill>
                <a:latin typeface="Consolas"/>
              </a:rPr>
              <a:t>void</a:t>
            </a:r>
            <a:r>
              <a:rPr sz="1300">
                <a:solidFill>
                  <a:srgbClr val="D4D4D4"/>
                </a:solidFill>
                <a:latin typeface="Consolas"/>
              </a:rPr>
              <a:t> </a:t>
            </a:r>
            <a:r>
              <a:rPr sz="1300">
                <a:solidFill>
                  <a:srgbClr val="DCDCAA"/>
                </a:solidFill>
                <a:latin typeface="Consolas"/>
              </a:rPr>
              <a:t>derivs</a:t>
            </a:r>
            <a:r>
              <a:rPr sz="1300">
                <a:solidFill>
                  <a:srgbClr val="D4D4D4"/>
                </a:solidFill>
                <a:latin typeface="Consolas"/>
              </a:rPr>
              <a:t>(</a:t>
            </a:r>
            <a:r>
              <a:rPr sz="1300">
                <a:solidFill>
                  <a:srgbClr val="4EC9B0"/>
                </a:solidFill>
                <a:latin typeface="Consolas"/>
              </a:rPr>
              <a:t>double</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a:t>
            </a:r>
            <a:r>
              <a:rPr sz="1300">
                <a:solidFill>
                  <a:srgbClr val="D4D4D4"/>
                </a:solidFill>
                <a:latin typeface="Consolas"/>
              </a:rPr>
              <a:t> </a:t>
            </a:r>
            <a:r>
              <a:rPr sz="1300">
                <a:solidFill>
                  <a:srgbClr val="569CD6"/>
                </a:solidFill>
                <a:latin typeface="Consolas"/>
              </a:rPr>
              <a:t>const</a:t>
            </a: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y</a:t>
            </a:r>
            <a:r>
              <a:rPr sz="1300">
                <a:solidFill>
                  <a:srgbClr val="D4D4D4"/>
                </a:solidFill>
                <a:latin typeface="Consolas"/>
              </a:rPr>
              <a:t>,</a:t>
            </a: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dydt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p>
          <a:p>
            <a:pPr>
              <a:spcAft>
                <a:spcPts val="100"/>
              </a:spcAft>
            </a:pPr>
            <a:r>
              <a:rPr sz="1300">
                <a:solidFill>
                  <a:srgbClr val="D4D4D4"/>
                </a:solidFill>
                <a:latin typeface="Consolas"/>
              </a:rPr>
              <a:t>    </a:t>
            </a:r>
            <a:r>
              <a:rPr sz="1300">
                <a:solidFill>
                  <a:srgbClr val="6A9955"/>
                </a:solidFill>
                <a:latin typeface="Consolas"/>
              </a:rPr>
              <a:t>// y[0..2] pos, y[3..5] vel, y[6..9] quat, y[10..12] omega, y[13] mass</a:t>
            </a:r>
          </a:p>
          <a:p>
            <a:pPr>
              <a:spcAft>
                <a:spcPts val="100"/>
              </a:spcAft>
            </a:pP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 </a:t>
            </a:r>
            <a:r>
              <a:rPr sz="1300">
                <a:solidFill>
                  <a:srgbClr val="D4D4D4"/>
                </a:solidFill>
                <a:latin typeface="Consolas"/>
              </a:rPr>
              <a:t>rho</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B5CEA8"/>
                </a:solidFill>
                <a:latin typeface="Consolas"/>
              </a:rPr>
              <a:t>1.225</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exp</a:t>
            </a:r>
            <a:r>
              <a:rPr sz="1300">
                <a:solidFill>
                  <a:srgbClr val="D4D4D4"/>
                </a:solidFill>
                <a:latin typeface="Consolas"/>
              </a:rPr>
              <a:t>(</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2</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B5CEA8"/>
                </a:solidFill>
                <a:latin typeface="Consolas"/>
              </a:rPr>
              <a:t>8500.0</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atmosphere</a:t>
            </a:r>
          </a:p>
          <a:p>
            <a:pPr>
              <a:spcAft>
                <a:spcPts val="100"/>
              </a:spcAft>
            </a:pP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 </a:t>
            </a:r>
            <a:r>
              <a:rPr sz="1300">
                <a:solidFill>
                  <a:srgbClr val="D4D4D4"/>
                </a:solidFill>
                <a:latin typeface="Consolas"/>
              </a:rPr>
              <a:t>v2</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3</a:t>
            </a:r>
            <a:r>
              <a:rPr sz="1300">
                <a:solidFill>
                  <a:srgbClr val="D4D4D4"/>
                </a:solidFill>
                <a:latin typeface="Consolas"/>
              </a:rPr>
              <a:t>]</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3</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4</a:t>
            </a:r>
            <a:r>
              <a:rPr sz="1300">
                <a:solidFill>
                  <a:srgbClr val="D4D4D4"/>
                </a:solidFill>
                <a:latin typeface="Consolas"/>
              </a:rPr>
              <a:t>]</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4</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5</a:t>
            </a:r>
            <a:r>
              <a:rPr sz="1300">
                <a:solidFill>
                  <a:srgbClr val="D4D4D4"/>
                </a:solidFill>
                <a:latin typeface="Consolas"/>
              </a:rPr>
              <a:t>]</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5</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 </a:t>
            </a:r>
            <a:r>
              <a:rPr sz="1300">
                <a:solidFill>
                  <a:srgbClr val="D4D4D4"/>
                </a:solidFill>
                <a:latin typeface="Consolas"/>
              </a:rPr>
              <a:t>Fd</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B5CEA8"/>
                </a:solidFill>
                <a:latin typeface="Consolas"/>
              </a:rPr>
              <a:t>0.5</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rho</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v2</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CD</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AREA</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aero drag</a:t>
            </a:r>
          </a:p>
          <a:p>
            <a:pPr>
              <a:spcAft>
                <a:spcPts val="100"/>
              </a:spcAft>
            </a:pP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 </a:t>
            </a:r>
            <a:r>
              <a:rPr sz="1300">
                <a:solidFill>
                  <a:srgbClr val="D4D4D4"/>
                </a:solidFill>
                <a:latin typeface="Consolas"/>
              </a:rPr>
              <a:t>Ft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thrust_table_lookup</a:t>
            </a:r>
            <a:r>
              <a:rPr sz="1300">
                <a:solidFill>
                  <a:srgbClr val="D4D4D4"/>
                </a:solidFill>
                <a:latin typeface="Consolas"/>
              </a:rPr>
              <a:t>(</a:t>
            </a:r>
            <a:r>
              <a:rPr sz="1300">
                <a:solidFill>
                  <a:srgbClr val="D4D4D4"/>
                </a:solidFill>
                <a:latin typeface="Consolas"/>
              </a:rPr>
              <a:t>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propulsion</a:t>
            </a:r>
          </a:p>
          <a:p>
            <a:pPr>
              <a:spcAft>
                <a:spcPts val="100"/>
              </a:spcAft>
            </a:pPr>
            <a:r>
              <a:rPr sz="1300">
                <a:solidFill>
                  <a:srgbClr val="D4D4D4"/>
                </a:solidFill>
                <a:latin typeface="Consolas"/>
              </a:rPr>
              <a:t>    </a:t>
            </a:r>
            <a:r>
              <a:rPr sz="1300">
                <a:solidFill>
                  <a:srgbClr val="D4D4D4"/>
                </a:solidFill>
                <a:latin typeface="Consolas"/>
              </a:rPr>
              <a:t>dydt</a:t>
            </a:r>
            <a:r>
              <a:rPr sz="1300">
                <a:solidFill>
                  <a:srgbClr val="D4D4D4"/>
                </a:solidFill>
                <a:latin typeface="Consolas"/>
              </a:rPr>
              <a:t>[</a:t>
            </a:r>
            <a:r>
              <a:rPr sz="1300">
                <a:solidFill>
                  <a:srgbClr val="B5CEA8"/>
                </a:solidFill>
                <a:latin typeface="Consolas"/>
              </a:rPr>
              <a:t>3</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Ft</a:t>
            </a:r>
            <a:r>
              <a:rPr sz="1300">
                <a:solidFill>
                  <a:srgbClr val="D4D4D4"/>
                </a:solidFill>
                <a:latin typeface="Consolas"/>
              </a:rPr>
              <a:t>*</a:t>
            </a:r>
            <a:r>
              <a:rPr sz="1300">
                <a:solidFill>
                  <a:srgbClr val="D4D4D4"/>
                </a:solidFill>
                <a:latin typeface="Consolas"/>
              </a:rPr>
              <a:t>ax</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Fd</a:t>
            </a:r>
            <a:r>
              <a:rPr sz="1300">
                <a:solidFill>
                  <a:srgbClr val="D4D4D4"/>
                </a:solidFill>
                <a:latin typeface="Consolas"/>
              </a:rPr>
              <a:t>*</a:t>
            </a:r>
            <a:r>
              <a:rPr sz="1300">
                <a:solidFill>
                  <a:srgbClr val="D4D4D4"/>
                </a:solidFill>
                <a:latin typeface="Consolas"/>
              </a:rPr>
              <a:t>vx_hat</a:t>
            </a:r>
            <a:r>
              <a:rPr sz="1300">
                <a:solidFill>
                  <a:srgbClr val="D4D4D4"/>
                </a:solidFill>
                <a:latin typeface="Consolas"/>
              </a:rPr>
              <a:t>(</a:t>
            </a:r>
            <a:r>
              <a:rPr sz="1300">
                <a:solidFill>
                  <a:srgbClr val="D4D4D4"/>
                </a:solidFill>
                <a:latin typeface="Consolas"/>
              </a:rPr>
              <a:t>y</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y</a:t>
            </a:r>
            <a:r>
              <a:rPr sz="1300">
                <a:solidFill>
                  <a:srgbClr val="D4D4D4"/>
                </a:solidFill>
                <a:latin typeface="Consolas"/>
              </a:rPr>
              <a:t>[</a:t>
            </a:r>
            <a:r>
              <a:rPr sz="1300">
                <a:solidFill>
                  <a:srgbClr val="B5CEA8"/>
                </a:solidFill>
                <a:latin typeface="Consolas"/>
              </a:rPr>
              <a:t>13</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dynamics</a:t>
            </a:r>
          </a:p>
          <a:p>
            <a:pPr>
              <a:spcAft>
                <a:spcPts val="100"/>
              </a:spcAft>
            </a:pPr>
            <a:r>
              <a:rPr sz="1300">
                <a:solidFill>
                  <a:srgbClr val="D4D4D4"/>
                </a:solidFill>
                <a:latin typeface="Consolas"/>
              </a:rPr>
              <a:t>    </a:t>
            </a:r>
            <a:r>
              <a:rPr sz="1300">
                <a:solidFill>
                  <a:srgbClr val="6A9955"/>
                </a:solidFill>
                <a:latin typeface="Consolas"/>
              </a:rPr>
              <a:t>/* ... 400 more lines, every subsystem interleaved ... */</a:t>
            </a:r>
          </a:p>
          <a:p>
            <a:pPr>
              <a:spcAft>
                <a:spcPts val="100"/>
              </a:spcAft>
            </a:pPr>
            <a:r>
              <a:rPr sz="1300">
                <a:solidFill>
                  <a:srgbClr val="D4D4D4"/>
                </a:solidFill>
                <a:latin typeface="Consolas"/>
              </a:rPr>
              <a:t>}</a:t>
            </a:r>
          </a:p>
        </p:txBody>
      </p:sp>
      <p:sp>
        <p:nvSpPr>
          <p:cNvPr id="6" name="TextBox 5"/>
          <p:cNvSpPr txBox="1"/>
          <p:nvPr/>
        </p:nvSpPr>
        <p:spPr>
          <a:xfrm>
            <a:off x="8412480" y="1737360"/>
            <a:ext cx="3383280" cy="4572000"/>
          </a:xfrm>
          <a:prstGeom prst="rect">
            <a:avLst/>
          </a:prstGeom>
          <a:noFill/>
        </p:spPr>
        <p:txBody>
          <a:bodyPr wrap="square">
            <a:spAutoFit/>
          </a:bodyPr>
          <a:lstStyle/>
          <a:p>
            <a:pPr>
              <a:spcAft>
                <a:spcPts val="800"/>
              </a:spcAft>
            </a:pPr>
            <a:r>
              <a:rPr sz="1700">
                <a:solidFill>
                  <a:srgbClr val="35C4E8"/>
                </a:solidFill>
                <a:latin typeface="Segoe UI"/>
              </a:rPr>
              <a:t>•  </a:t>
            </a:r>
            <a:r>
              <a:rPr sz="1700" b="1">
                <a:solidFill>
                  <a:srgbClr val="E86A6A"/>
                </a:solidFill>
                <a:latin typeface="Segoe UI"/>
              </a:rPr>
              <a:t>Indices by convention</a:t>
            </a:r>
            <a:r>
              <a:rPr sz="1700" b="0">
                <a:solidFill>
                  <a:srgbClr val="D8E2EC"/>
                </a:solidFill>
                <a:latin typeface="Segoe UI"/>
              </a:rPr>
              <a:t> — y[2] is altitude… everywhere</a:t>
            </a:r>
          </a:p>
          <a:p>
            <a:pPr>
              <a:spcAft>
                <a:spcPts val="800"/>
              </a:spcAft>
            </a:pPr>
            <a:r>
              <a:rPr sz="1700">
                <a:solidFill>
                  <a:srgbClr val="35C4E8"/>
                </a:solidFill>
                <a:latin typeface="Segoe UI"/>
              </a:rPr>
              <a:t>•  </a:t>
            </a:r>
            <a:r>
              <a:rPr sz="1700" b="0">
                <a:solidFill>
                  <a:srgbClr val="D8E2EC"/>
                </a:solidFill>
                <a:latin typeface="Segoe UI"/>
              </a:rPr>
              <a:t>Nothing testable in isolation</a:t>
            </a:r>
          </a:p>
          <a:p>
            <a:pPr>
              <a:spcAft>
                <a:spcPts val="800"/>
              </a:spcAft>
            </a:pPr>
            <a:r>
              <a:rPr sz="1700">
                <a:solidFill>
                  <a:srgbClr val="35C4E8"/>
                </a:solidFill>
                <a:latin typeface="Segoe UI"/>
              </a:rPr>
              <a:t>•  </a:t>
            </a:r>
            <a:r>
              <a:rPr sz="1700" b="0">
                <a:solidFill>
                  <a:srgbClr val="D8E2EC"/>
                </a:solidFill>
                <a:latin typeface="Segoe UI"/>
              </a:rPr>
              <a:t>Every change touches the same function</a:t>
            </a:r>
          </a:p>
          <a:p>
            <a:pPr>
              <a:spcAft>
                <a:spcPts val="800"/>
              </a:spcAft>
            </a:pPr>
            <a:r>
              <a:rPr sz="1700">
                <a:solidFill>
                  <a:srgbClr val="35C4E8"/>
                </a:solidFill>
                <a:latin typeface="Segoe UI"/>
              </a:rPr>
              <a:t>•  </a:t>
            </a:r>
            <a:r>
              <a:rPr sz="1700" b="1">
                <a:solidFill>
                  <a:srgbClr val="7EE08A"/>
                </a:solidFill>
                <a:latin typeface="Segoe UI"/>
              </a:rPr>
              <a:t>But: it's fast</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02</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The Tradeoff That Isn't</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Modularity vs performance — or so we're told</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7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THE TEXTBOOK FIX</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Attempt: classic OO interfaces</a:t>
            </a:r>
          </a:p>
        </p:txBody>
      </p:sp>
      <p:sp>
        <p:nvSpPr>
          <p:cNvPr id="4" name="Rounded Rectangle 3"/>
          <p:cNvSpPr/>
          <p:nvPr/>
        </p:nvSpPr>
        <p:spPr>
          <a:xfrm>
            <a:off x="548640" y="1508760"/>
            <a:ext cx="7680960" cy="352044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73352"/>
            <a:ext cx="7351776" cy="3191256"/>
          </a:xfrm>
          <a:prstGeom prst="rect">
            <a:avLst/>
          </a:prstGeom>
          <a:noFill/>
        </p:spPr>
        <p:txBody>
          <a:bodyPr wrap="none">
            <a:spAutoFit/>
          </a:bodyPr>
          <a:lstStyle/>
          <a:p>
            <a:pPr>
              <a:spcAft>
                <a:spcPts val="100"/>
              </a:spcAft>
            </a:pP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Component</a:t>
            </a:r>
            <a:r>
              <a:rPr sz="1400">
                <a:solidFill>
                  <a:srgbClr val="D4D4D4"/>
                </a:solidFill>
                <a:latin typeface="Consolas"/>
              </a:rPr>
              <a:t> </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virtual</a:t>
            </a:r>
            <a:r>
              <a:rPr sz="1400">
                <a:solidFill>
                  <a:srgbClr val="D4D4D4"/>
                </a:solidFill>
                <a:latin typeface="Consolas"/>
              </a:rPr>
              <a:t> </a:t>
            </a:r>
            <a:r>
              <a:rPr sz="1400">
                <a:solidFill>
                  <a:srgbClr val="4EC9B0"/>
                </a:solidFill>
                <a:latin typeface="Consolas"/>
              </a:rPr>
              <a:t>void</a:t>
            </a:r>
            <a:r>
              <a:rPr sz="1400">
                <a:solidFill>
                  <a:srgbClr val="D4D4D4"/>
                </a:solidFill>
                <a:latin typeface="Consolas"/>
              </a:rPr>
              <a:t> </a:t>
            </a:r>
            <a:r>
              <a:rPr sz="1400">
                <a:solidFill>
                  <a:srgbClr val="DCDCAA"/>
                </a:solidFill>
                <a:latin typeface="Consolas"/>
              </a:rPr>
              <a:t>computeDerivatives</a:t>
            </a:r>
            <a:r>
              <a:rPr sz="1400">
                <a:solidFill>
                  <a:srgbClr val="D4D4D4"/>
                </a:solidFill>
                <a:latin typeface="Consolas"/>
              </a:rPr>
              <a:t>(</a:t>
            </a:r>
            <a:r>
              <a:rPr sz="1400">
                <a:solidFill>
                  <a:srgbClr val="4EC9B0"/>
                </a:solidFill>
                <a:latin typeface="Consolas"/>
              </a:rPr>
              <a:t>double</a:t>
            </a:r>
            <a:r>
              <a:rPr sz="1400">
                <a:solidFill>
                  <a:srgbClr val="D4D4D4"/>
                </a:solidFill>
                <a:latin typeface="Consolas"/>
              </a:rPr>
              <a:t> </a:t>
            </a:r>
            <a:r>
              <a:rPr sz="1400">
                <a:solidFill>
                  <a:srgbClr val="D4D4D4"/>
                </a:solidFill>
                <a:latin typeface="Consolas"/>
              </a:rPr>
              <a:t>t</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const</a:t>
            </a:r>
            <a:r>
              <a:rPr sz="1400">
                <a:solidFill>
                  <a:srgbClr val="D4D4D4"/>
                </a:solidFill>
                <a:latin typeface="Consolas"/>
              </a:rPr>
              <a:t> </a:t>
            </a:r>
            <a:r>
              <a:rPr sz="1400">
                <a:solidFill>
                  <a:srgbClr val="4EC9B0"/>
                </a:solidFill>
                <a:latin typeface="Consolas"/>
              </a:rPr>
              <a:t>double</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state</a:t>
            </a:r>
            <a:r>
              <a:rPr sz="1400">
                <a:solidFill>
                  <a:srgbClr val="D4D4D4"/>
                </a:solidFill>
                <a:latin typeface="Consolas"/>
              </a:rPr>
              <a:t>,</a:t>
            </a:r>
          </a:p>
          <a:p>
            <a:pPr>
              <a:spcAft>
                <a:spcPts val="100"/>
              </a:spcAft>
            </a:pPr>
            <a:r>
              <a:rPr sz="1400">
                <a:solidFill>
                  <a:srgbClr val="D4D4D4"/>
                </a:solidFill>
                <a:latin typeface="Consolas"/>
              </a:rPr>
              <a:t>                                    </a:t>
            </a:r>
            <a:r>
              <a:rPr sz="1400">
                <a:solidFill>
                  <a:srgbClr val="4EC9B0"/>
                </a:solidFill>
                <a:latin typeface="Consolas"/>
              </a:rPr>
              <a:t>double</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dydt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B5CEA8"/>
                </a:solidFill>
                <a:latin typeface="Consolas"/>
              </a:rPr>
              <a:t>0</a:t>
            </a:r>
            <a:r>
              <a:rPr sz="1400">
                <a:solidFill>
                  <a:srgbClr val="D4D4D4"/>
                </a:solidFill>
                <a:latin typeface="Consolas"/>
              </a:rPr>
              <a:t>;</a:t>
            </a:r>
          </a:p>
          <a:p>
            <a:pPr>
              <a:spcAft>
                <a:spcPts val="100"/>
              </a:spcAft>
            </a:pPr>
            <a:r>
              <a:rPr sz="1400" b="1">
                <a:solidFill>
                  <a:srgbClr val="F2C744"/>
                </a:solidFill>
                <a:latin typeface="Consolas"/>
              </a:rPr>
              <a:t>    </a:t>
            </a:r>
            <a:r>
              <a:rPr sz="1400" b="1">
                <a:solidFill>
                  <a:srgbClr val="F2C744"/>
                </a:solidFill>
                <a:latin typeface="Consolas"/>
              </a:rPr>
              <a:t>virtual</a:t>
            </a:r>
            <a:r>
              <a:rPr sz="1400" b="1">
                <a:solidFill>
                  <a:srgbClr val="F2C744"/>
                </a:solidFill>
                <a:latin typeface="Consolas"/>
              </a:rPr>
              <a:t> </a:t>
            </a:r>
            <a:r>
              <a:rPr sz="1400" b="1">
                <a:solidFill>
                  <a:srgbClr val="F2C744"/>
                </a:solidFill>
                <a:latin typeface="Consolas"/>
              </a:rPr>
              <a:t>double</a:t>
            </a:r>
            <a:r>
              <a:rPr sz="1400" b="1">
                <a:solidFill>
                  <a:srgbClr val="F2C744"/>
                </a:solidFill>
                <a:latin typeface="Consolas"/>
              </a:rPr>
              <a:t> </a:t>
            </a:r>
            <a:r>
              <a:rPr sz="1400" b="1">
                <a:solidFill>
                  <a:srgbClr val="F2C744"/>
                </a:solidFill>
                <a:latin typeface="Consolas"/>
              </a:rPr>
              <a:t>getOutput</a:t>
            </a:r>
            <a:r>
              <a:rPr sz="1400" b="1">
                <a:solidFill>
                  <a:srgbClr val="F2C744"/>
                </a:solidFill>
                <a:latin typeface="Consolas"/>
              </a:rPr>
              <a:t>(</a:t>
            </a:r>
            <a:r>
              <a:rPr sz="1400" b="1">
                <a:solidFill>
                  <a:srgbClr val="F2C744"/>
                </a:solidFill>
                <a:latin typeface="Consolas"/>
              </a:rPr>
              <a:t>const</a:t>
            </a:r>
            <a:r>
              <a:rPr sz="1400" b="1">
                <a:solidFill>
                  <a:srgbClr val="F2C744"/>
                </a:solidFill>
                <a:latin typeface="Consolas"/>
              </a:rPr>
              <a:t> </a:t>
            </a:r>
            <a:r>
              <a:rPr sz="1400" b="1">
                <a:solidFill>
                  <a:srgbClr val="F2C744"/>
                </a:solidFill>
                <a:latin typeface="Consolas"/>
              </a:rPr>
              <a:t>std</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string</a:t>
            </a:r>
            <a:r>
              <a:rPr sz="1400" b="1">
                <a:solidFill>
                  <a:srgbClr val="F2C744"/>
                </a:solidFill>
                <a:latin typeface="Consolas"/>
              </a:rPr>
              <a:t>&amp;</a:t>
            </a:r>
            <a:r>
              <a:rPr sz="1400" b="1">
                <a:solidFill>
                  <a:srgbClr val="F2C744"/>
                </a:solidFill>
                <a:latin typeface="Consolas"/>
              </a:rPr>
              <a:t> </a:t>
            </a:r>
            <a:r>
              <a:rPr sz="1400" b="1">
                <a:solidFill>
                  <a:srgbClr val="F2C744"/>
                </a:solidFill>
                <a:latin typeface="Consolas"/>
              </a:rPr>
              <a:t>name</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0</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 !!</a:t>
            </a:r>
          </a:p>
          <a:p>
            <a:pPr>
              <a:spcAft>
                <a:spcPts val="100"/>
              </a:spcAft>
            </a:pPr>
            <a:r>
              <a:rPr sz="1400">
                <a:solidFill>
                  <a:srgbClr val="D4D4D4"/>
                </a:solidFill>
                <a:latin typeface="Consolas"/>
              </a:rPr>
              <a:t>    </a:t>
            </a:r>
            <a:r>
              <a:rPr sz="1400">
                <a:solidFill>
                  <a:srgbClr val="569CD6"/>
                </a:solidFill>
                <a:latin typeface="Consolas"/>
              </a:rPr>
              <a:t>virtual</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Component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default</a:t>
            </a:r>
            <a:r>
              <a:rPr sz="1400">
                <a:solidFill>
                  <a:srgbClr val="D4D4D4"/>
                </a:solidFill>
                <a:latin typeface="Consolas"/>
              </a:rPr>
              <a:t>;</a:t>
            </a:r>
          </a:p>
          <a:p>
            <a:pPr>
              <a:spcAft>
                <a:spcPts val="100"/>
              </a:spcAft>
            </a:pP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D4D4D4"/>
                </a:solidFill>
                <a:latin typeface="Consolas"/>
              </a:rPr>
              <a:t>std</a:t>
            </a:r>
            <a:r>
              <a:rPr sz="1400">
                <a:solidFill>
                  <a:srgbClr val="D4D4D4"/>
                </a:solidFill>
                <a:latin typeface="Consolas"/>
              </a:rPr>
              <a:t>:</a:t>
            </a:r>
            <a:r>
              <a:rPr sz="1400">
                <a:solidFill>
                  <a:srgbClr val="D4D4D4"/>
                </a:solidFill>
                <a:latin typeface="Consolas"/>
              </a:rPr>
              <a:t>:</a:t>
            </a:r>
            <a:r>
              <a:rPr sz="1400">
                <a:solidFill>
                  <a:srgbClr val="D4D4D4"/>
                </a:solidFill>
                <a:latin typeface="Consolas"/>
              </a:rPr>
              <a:t>vector</a:t>
            </a:r>
            <a:r>
              <a:rPr sz="1400">
                <a:solidFill>
                  <a:srgbClr val="D4D4D4"/>
                </a:solidFill>
                <a:latin typeface="Consolas"/>
              </a:rPr>
              <a:t>&lt;</a:t>
            </a:r>
            <a:r>
              <a:rPr sz="1400">
                <a:solidFill>
                  <a:srgbClr val="D4D4D4"/>
                </a:solidFill>
                <a:latin typeface="Consolas"/>
              </a:rPr>
              <a:t>std</a:t>
            </a:r>
            <a:r>
              <a:rPr sz="1400">
                <a:solidFill>
                  <a:srgbClr val="D4D4D4"/>
                </a:solidFill>
                <a:latin typeface="Consolas"/>
              </a:rPr>
              <a:t>:</a:t>
            </a:r>
            <a:r>
              <a:rPr sz="1400">
                <a:solidFill>
                  <a:srgbClr val="D4D4D4"/>
                </a:solidFill>
                <a:latin typeface="Consolas"/>
              </a:rPr>
              <a:t>:</a:t>
            </a:r>
            <a:r>
              <a:rPr sz="1400">
                <a:solidFill>
                  <a:srgbClr val="D4D4D4"/>
                </a:solidFill>
                <a:latin typeface="Consolas"/>
              </a:rPr>
              <a:t>unique_ptr</a:t>
            </a:r>
            <a:r>
              <a:rPr sz="1400">
                <a:solidFill>
                  <a:srgbClr val="D4D4D4"/>
                </a:solidFill>
                <a:latin typeface="Consolas"/>
              </a:rPr>
              <a:t>&lt;</a:t>
            </a:r>
            <a:r>
              <a:rPr sz="1400">
                <a:solidFill>
                  <a:srgbClr val="D4D4D4"/>
                </a:solidFill>
                <a:latin typeface="Consolas"/>
              </a:rPr>
              <a:t>Component</a:t>
            </a:r>
            <a:r>
              <a:rPr sz="1400">
                <a:solidFill>
                  <a:srgbClr val="D4D4D4"/>
                </a:solidFill>
                <a:latin typeface="Consolas"/>
              </a:rPr>
              <a:t>&gt;</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components</a:t>
            </a:r>
            <a:r>
              <a:rPr sz="1400">
                <a:solidFill>
                  <a:srgbClr val="D4D4D4"/>
                </a:solidFill>
                <a:latin typeface="Consolas"/>
              </a:rPr>
              <a:t>;</a:t>
            </a:r>
          </a:p>
          <a:p>
            <a:pPr>
              <a:spcAft>
                <a:spcPts val="100"/>
              </a:spcAft>
            </a:pPr>
            <a:r>
              <a:rPr sz="1400" b="1">
                <a:solidFill>
                  <a:srgbClr val="F2C744"/>
                </a:solidFill>
                <a:latin typeface="Consolas"/>
              </a:rPr>
              <a:t>for</a:t>
            </a:r>
            <a:r>
              <a:rPr sz="1400" b="1">
                <a:solidFill>
                  <a:srgbClr val="F2C744"/>
                </a:solidFill>
                <a:latin typeface="Consolas"/>
              </a:rPr>
              <a:t> </a:t>
            </a:r>
            <a:r>
              <a:rPr sz="1400" b="1">
                <a:solidFill>
                  <a:srgbClr val="F2C744"/>
                </a:solidFill>
                <a:latin typeface="Consolas"/>
              </a:rPr>
              <a:t>(</a:t>
            </a:r>
            <a:r>
              <a:rPr sz="1400" b="1">
                <a:solidFill>
                  <a:srgbClr val="F2C744"/>
                </a:solidFill>
                <a:latin typeface="Consolas"/>
              </a:rPr>
              <a:t>auto</a:t>
            </a:r>
            <a:r>
              <a:rPr sz="1400" b="1">
                <a:solidFill>
                  <a:srgbClr val="F2C744"/>
                </a:solidFill>
                <a:latin typeface="Consolas"/>
              </a:rPr>
              <a:t>&amp;</a:t>
            </a:r>
            <a:r>
              <a:rPr sz="1400" b="1">
                <a:solidFill>
                  <a:srgbClr val="F2C744"/>
                </a:solidFill>
                <a:latin typeface="Consolas"/>
              </a:rPr>
              <a:t> </a:t>
            </a:r>
            <a:r>
              <a:rPr sz="1400" b="1">
                <a:solidFill>
                  <a:srgbClr val="F2C744"/>
                </a:solidFill>
                <a:latin typeface="Consolas"/>
              </a:rPr>
              <a:t>c</a:t>
            </a:r>
            <a:r>
              <a:rPr sz="1400" b="1">
                <a:solidFill>
                  <a:srgbClr val="F2C744"/>
                </a:solidFill>
                <a:latin typeface="Consolas"/>
              </a:rPr>
              <a:t> </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components</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 innermost loop of RK4,</a:t>
            </a:r>
          </a:p>
          <a:p>
            <a:pPr>
              <a:spcAft>
                <a:spcPts val="100"/>
              </a:spcAft>
            </a:pPr>
            <a:r>
              <a:rPr sz="1400" b="1">
                <a:solidFill>
                  <a:srgbClr val="F2C744"/>
                </a:solidFill>
                <a:latin typeface="Consolas"/>
              </a:rPr>
              <a:t>    </a:t>
            </a:r>
            <a:r>
              <a:rPr sz="1400" b="1">
                <a:solidFill>
                  <a:srgbClr val="F2C744"/>
                </a:solidFill>
                <a:latin typeface="Consolas"/>
              </a:rPr>
              <a:t>c</a:t>
            </a:r>
            <a:r>
              <a:rPr sz="1400" b="1">
                <a:solidFill>
                  <a:srgbClr val="F2C744"/>
                </a:solidFill>
                <a:latin typeface="Consolas"/>
              </a:rPr>
              <a:t>-</a:t>
            </a:r>
            <a:r>
              <a:rPr sz="1400" b="1">
                <a:solidFill>
                  <a:srgbClr val="F2C744"/>
                </a:solidFill>
                <a:latin typeface="Consolas"/>
              </a:rPr>
              <a:t>&gt;</a:t>
            </a:r>
            <a:r>
              <a:rPr sz="1400" b="1">
                <a:solidFill>
                  <a:srgbClr val="F2C744"/>
                </a:solidFill>
                <a:latin typeface="Consolas"/>
              </a:rPr>
              <a:t>computeDerivatives</a:t>
            </a:r>
            <a:r>
              <a:rPr sz="1400" b="1">
                <a:solidFill>
                  <a:srgbClr val="F2C744"/>
                </a:solidFill>
                <a:latin typeface="Consolas"/>
              </a:rPr>
              <a:t>(</a:t>
            </a:r>
            <a:r>
              <a:rPr sz="1400" b="1">
                <a:solidFill>
                  <a:srgbClr val="F2C744"/>
                </a:solidFill>
                <a:latin typeface="Consolas"/>
              </a:rPr>
              <a:t>t</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y</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dydt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 4x per step, 1000s of steps</a:t>
            </a:r>
          </a:p>
        </p:txBody>
      </p:sp>
      <p:sp>
        <p:nvSpPr>
          <p:cNvPr id="6" name="TextBox 5"/>
          <p:cNvSpPr txBox="1"/>
          <p:nvPr/>
        </p:nvSpPr>
        <p:spPr>
          <a:xfrm>
            <a:off x="8412480" y="1737360"/>
            <a:ext cx="3474720" cy="4572000"/>
          </a:xfrm>
          <a:prstGeom prst="rect">
            <a:avLst/>
          </a:prstGeom>
          <a:noFill/>
        </p:spPr>
        <p:txBody>
          <a:bodyPr wrap="square">
            <a:spAutoFit/>
          </a:bodyPr>
          <a:lstStyle/>
          <a:p>
            <a:pPr>
              <a:spcAft>
                <a:spcPts val="800"/>
              </a:spcAft>
            </a:pPr>
            <a:r>
              <a:rPr sz="1700">
                <a:solidFill>
                  <a:srgbClr val="35C4E8"/>
                </a:solidFill>
                <a:latin typeface="Segoe UI"/>
              </a:rPr>
              <a:t>•  </a:t>
            </a:r>
            <a:r>
              <a:rPr sz="1700" b="1">
                <a:solidFill>
                  <a:srgbClr val="E86A6A"/>
                </a:solidFill>
                <a:latin typeface="Segoe UI"/>
              </a:rPr>
              <a:t>Virtual dispatch in the hot loop</a:t>
            </a:r>
          </a:p>
          <a:p>
            <a:pPr>
              <a:spcAft>
                <a:spcPts val="800"/>
              </a:spcAft>
            </a:pPr>
            <a:r>
              <a:rPr sz="1700">
                <a:solidFill>
                  <a:srgbClr val="35C4E8"/>
                </a:solidFill>
                <a:latin typeface="Segoe UI"/>
              </a:rPr>
              <a:t>•  </a:t>
            </a:r>
            <a:r>
              <a:rPr sz="1700" b="0">
                <a:solidFill>
                  <a:srgbClr val="D8E2EC"/>
                </a:solidFill>
                <a:latin typeface="Segoe UI"/>
              </a:rPr>
              <a:t>No inlining across components</a:t>
            </a:r>
          </a:p>
          <a:p>
            <a:pPr>
              <a:spcAft>
                <a:spcPts val="800"/>
              </a:spcAft>
            </a:pPr>
            <a:r>
              <a:rPr sz="1700">
                <a:solidFill>
                  <a:srgbClr val="35C4E8"/>
                </a:solidFill>
                <a:latin typeface="Segoe UI"/>
              </a:rPr>
              <a:t>•  </a:t>
            </a:r>
            <a:r>
              <a:rPr sz="1700" b="0">
                <a:solidFill>
                  <a:srgbClr val="D8E2EC"/>
                </a:solidFill>
                <a:latin typeface="Segoe UI"/>
              </a:rPr>
              <a:t>Everything is double* — type safety gone</a:t>
            </a:r>
          </a:p>
          <a:p>
            <a:pPr>
              <a:spcAft>
                <a:spcPts val="800"/>
              </a:spcAft>
            </a:pPr>
            <a:r>
              <a:rPr sz="1700">
                <a:solidFill>
                  <a:srgbClr val="35C4E8"/>
                </a:solidFill>
                <a:latin typeface="Segoe UI"/>
              </a:rPr>
              <a:t>•  </a:t>
            </a:r>
            <a:r>
              <a:rPr sz="1700" b="0">
                <a:solidFill>
                  <a:srgbClr val="E86A6A"/>
                </a:solidFill>
                <a:latin typeface="Segoe UI"/>
              </a:rPr>
              <a:t>getOutput("mass1_pos")</a:t>
            </a:r>
            <a:r>
              <a:rPr sz="1700" b="0">
                <a:solidFill>
                  <a:srgbClr val="D8E2EC"/>
                </a:solidFill>
                <a:latin typeface="Segoe UI"/>
              </a:rPr>
              <a:t> — stringly typed wiring</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PICK ONE?</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The apparent tradeoff</a:t>
            </a:r>
          </a:p>
        </p:txBody>
      </p:sp>
      <p:sp>
        <p:nvSpPr>
          <p:cNvPr id="4" name="Rounded Rectangle 3"/>
          <p:cNvSpPr/>
          <p:nvPr/>
        </p:nvSpPr>
        <p:spPr>
          <a:xfrm>
            <a:off x="1280160" y="2103120"/>
            <a:ext cx="4023360" cy="91440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Monolith</a:t>
            </a:r>
          </a:p>
        </p:txBody>
      </p:sp>
      <p:sp>
        <p:nvSpPr>
          <p:cNvPr id="5" name="TextBox 4"/>
          <p:cNvSpPr txBox="1"/>
          <p:nvPr/>
        </p:nvSpPr>
        <p:spPr>
          <a:xfrm>
            <a:off x="1417320" y="3154680"/>
            <a:ext cx="3840480" cy="1463040"/>
          </a:xfrm>
          <a:prstGeom prst="rect">
            <a:avLst/>
          </a:prstGeom>
          <a:noFill/>
        </p:spPr>
        <p:txBody>
          <a:bodyPr wrap="square">
            <a:spAutoFit/>
          </a:bodyPr>
          <a:lstStyle/>
          <a:p>
            <a:r>
              <a:rPr sz="2000" b="1">
                <a:solidFill>
                  <a:srgbClr val="7EE08A"/>
                </a:solidFill>
                <a:latin typeface="Segoe UI"/>
              </a:rPr>
              <a:t>fast ✓</a:t>
            </a:r>
          </a:p>
          <a:p>
            <a:r>
              <a:rPr sz="2000" b="1">
                <a:solidFill>
                  <a:srgbClr val="E86A6A"/>
                </a:solidFill>
                <a:latin typeface="Segoe UI"/>
              </a:rPr>
              <a:t>unmaintainable ✗</a:t>
            </a:r>
          </a:p>
        </p:txBody>
      </p:sp>
      <p:sp>
        <p:nvSpPr>
          <p:cNvPr id="6" name="Rounded Rectangle 5"/>
          <p:cNvSpPr/>
          <p:nvPr/>
        </p:nvSpPr>
        <p:spPr>
          <a:xfrm>
            <a:off x="6858000" y="2103120"/>
            <a:ext cx="4023360" cy="91440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Segoe UI"/>
              </a:rPr>
              <a:t>Virtual components</a:t>
            </a:r>
          </a:p>
        </p:txBody>
      </p:sp>
      <p:sp>
        <p:nvSpPr>
          <p:cNvPr id="7" name="TextBox 6"/>
          <p:cNvSpPr txBox="1"/>
          <p:nvPr/>
        </p:nvSpPr>
        <p:spPr>
          <a:xfrm>
            <a:off x="6995160" y="3154680"/>
            <a:ext cx="3840480" cy="1463040"/>
          </a:xfrm>
          <a:prstGeom prst="rect">
            <a:avLst/>
          </a:prstGeom>
          <a:noFill/>
        </p:spPr>
        <p:txBody>
          <a:bodyPr wrap="square">
            <a:spAutoFit/>
          </a:bodyPr>
          <a:lstStyle/>
          <a:p>
            <a:r>
              <a:rPr sz="2000" b="1">
                <a:solidFill>
                  <a:srgbClr val="7EE08A"/>
                </a:solidFill>
                <a:latin typeface="Segoe UI"/>
              </a:rPr>
              <a:t>modular ✓</a:t>
            </a:r>
          </a:p>
          <a:p>
            <a:r>
              <a:rPr sz="2000" b="1">
                <a:solidFill>
                  <a:srgbClr val="E86A6A"/>
                </a:solidFill>
                <a:latin typeface="Segoe UI"/>
              </a:rPr>
              <a:t>indirection in the hot loop ✗</a:t>
            </a:r>
          </a:p>
        </p:txBody>
      </p:sp>
      <p:sp>
        <p:nvSpPr>
          <p:cNvPr id="8" name="TextBox 7"/>
          <p:cNvSpPr txBox="1"/>
          <p:nvPr/>
        </p:nvSpPr>
        <p:spPr>
          <a:xfrm>
            <a:off x="548640" y="5029200"/>
            <a:ext cx="11155680" cy="1005840"/>
          </a:xfrm>
          <a:prstGeom prst="rect">
            <a:avLst/>
          </a:prstGeom>
          <a:noFill/>
        </p:spPr>
        <p:txBody>
          <a:bodyPr wrap="none">
            <a:spAutoFit/>
          </a:bodyPr>
          <a:lstStyle/>
          <a:p>
            <a:pPr algn="ctr"/>
            <a:r>
              <a:rPr sz="2800" b="1">
                <a:solidFill>
                  <a:srgbClr val="F2C744"/>
                </a:solidFill>
                <a:latin typeface="Segoe UI"/>
              </a:rPr>
              <a:t>C++20 lets us refuse this choice.</a:t>
            </a:r>
          </a:p>
        </p:txBody>
      </p:sp>
      <p:sp>
        <p:nvSpPr>
          <p:cNvPr id="9" name="TextBox 8"/>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10" name="TextBox 9"/>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03</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The Coupled Oscillator</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Two masses, one spring, four components</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8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THE RUNNING EXAMPLE</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Small enough for slides, real enough to have a conservation law</a:t>
            </a:r>
          </a:p>
        </p:txBody>
      </p:sp>
      <p:sp>
        <p:nvSpPr>
          <p:cNvPr id="4" name="Rounded Rectangle 3"/>
          <p:cNvSpPr/>
          <p:nvPr/>
        </p:nvSpPr>
        <p:spPr>
          <a:xfrm>
            <a:off x="1828800" y="2194560"/>
            <a:ext cx="1554480" cy="1097280"/>
          </a:xfrm>
          <a:prstGeom prst="roundRect">
            <a:avLst>
              <a:gd name="adj" fmla="val 10000"/>
            </a:avLst>
          </a:prstGeom>
          <a:solidFill>
            <a:srgbClr val="35C4E8"/>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F33"/>
                </a:solidFill>
                <a:latin typeface="Segoe UI"/>
              </a:rPr>
              <a:t>Mass 1</a:t>
            </a:r>
          </a:p>
        </p:txBody>
      </p:sp>
      <p:sp>
        <p:nvSpPr>
          <p:cNvPr id="5" name="Rounded Rectangle 4"/>
          <p:cNvSpPr/>
          <p:nvPr/>
        </p:nvSpPr>
        <p:spPr>
          <a:xfrm>
            <a:off x="8778240" y="2194560"/>
            <a:ext cx="1554480" cy="1097280"/>
          </a:xfrm>
          <a:prstGeom prst="roundRect">
            <a:avLst>
              <a:gd name="adj" fmla="val 10000"/>
            </a:avLst>
          </a:prstGeom>
          <a:solidFill>
            <a:srgbClr val="F2C744"/>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F33"/>
                </a:solidFill>
                <a:latin typeface="Segoe UI"/>
              </a:rPr>
              <a:t>Mass 2</a:t>
            </a:r>
          </a:p>
        </p:txBody>
      </p:sp>
      <p:sp>
        <p:nvSpPr>
          <p:cNvPr id="6" name="Rounded Rectangle 5"/>
          <p:cNvSpPr/>
          <p:nvPr/>
        </p:nvSpPr>
        <p:spPr>
          <a:xfrm>
            <a:off x="4572000" y="2331720"/>
            <a:ext cx="3017520" cy="82296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Segoe UI"/>
              </a:rPr>
              <a:t>Spring  k, L0</a:t>
            </a:r>
          </a:p>
        </p:txBody>
      </p:sp>
      <p:cxnSp>
        <p:nvCxnSpPr>
          <p:cNvPr id="7" name="Connector 6"/>
          <p:cNvCxnSpPr/>
          <p:nvPr/>
        </p:nvCxnSpPr>
        <p:spPr>
          <a:xfrm>
            <a:off x="3383280" y="2743200"/>
            <a:ext cx="1188720" cy="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589520" y="2743200"/>
            <a:ext cx="1188720" cy="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0" y="4206240"/>
            <a:ext cx="3017520" cy="82296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7EE08A"/>
                </a:solidFill>
                <a:latin typeface="Segoe UI"/>
              </a:rPr>
              <a:t>EnergyMonitor</a:t>
            </a:r>
          </a:p>
          <a:p>
            <a:pPr algn="ctr"/>
            <a:r>
              <a:rPr sz="1200">
                <a:solidFill>
                  <a:srgbClr val="8CA3B8"/>
                </a:solidFill>
                <a:latin typeface="Segoe UI"/>
              </a:rPr>
              <a:t>KE₁ + KE₂ + PE = const?</a:t>
            </a:r>
          </a:p>
        </p:txBody>
      </p:sp>
      <p:sp>
        <p:nvSpPr>
          <p:cNvPr id="10" name="TextBox 9"/>
          <p:cNvSpPr txBox="1"/>
          <p:nvPr/>
        </p:nvSpPr>
        <p:spPr>
          <a:xfrm>
            <a:off x="548640" y="5349240"/>
            <a:ext cx="11064240" cy="4572000"/>
          </a:xfrm>
          <a:prstGeom prst="rect">
            <a:avLst/>
          </a:prstGeom>
          <a:noFill/>
        </p:spPr>
        <p:txBody>
          <a:bodyPr wrap="square">
            <a:spAutoFit/>
          </a:bodyPr>
          <a:lstStyle/>
          <a:p>
            <a:pPr>
              <a:spcAft>
                <a:spcPts val="800"/>
              </a:spcAft>
            </a:pPr>
            <a:r>
              <a:rPr sz="1900">
                <a:solidFill>
                  <a:srgbClr val="35C4E8"/>
                </a:solidFill>
                <a:latin typeface="Segoe UI"/>
              </a:rPr>
              <a:t>•  </a:t>
            </a:r>
            <a:r>
              <a:rPr sz="1900" b="0">
                <a:solidFill>
                  <a:srgbClr val="D8E2EC"/>
                </a:solidFill>
                <a:latin typeface="Segoe UI"/>
              </a:rPr>
              <a:t>4 components: </a:t>
            </a:r>
            <a:r>
              <a:rPr sz="1900" b="1">
                <a:solidFill>
                  <a:srgbClr val="FFFFFF"/>
                </a:solidFill>
                <a:latin typeface="Segoe UI"/>
              </a:rPr>
              <a:t>Mass1, Mass2, Spring, EnergyMonitor</a:t>
            </a:r>
          </a:p>
          <a:p>
            <a:pPr>
              <a:spcAft>
                <a:spcPts val="800"/>
              </a:spcAft>
            </a:pPr>
            <a:r>
              <a:rPr sz="1900">
                <a:solidFill>
                  <a:srgbClr val="35C4E8"/>
                </a:solidFill>
                <a:latin typeface="Segoe UI"/>
              </a:rPr>
              <a:t>•  </a:t>
            </a:r>
            <a:r>
              <a:rPr sz="1900" b="0">
                <a:solidFill>
                  <a:srgbClr val="D8E2EC"/>
                </a:solidFill>
                <a:latin typeface="Segoe UI"/>
              </a:rPr>
              <a:t>Each owns its data, queries the rest through </a:t>
            </a:r>
            <a:r>
              <a:rPr sz="1900" b="1">
                <a:solidFill>
                  <a:srgbClr val="35C4E8"/>
                </a:solidFill>
                <a:latin typeface="Segoe UI"/>
              </a:rPr>
              <a:t>typed tags</a:t>
            </a:r>
          </a:p>
          <a:p>
            <a:pPr>
              <a:spcAft>
                <a:spcPts val="800"/>
              </a:spcAft>
            </a:pPr>
            <a:r>
              <a:rPr sz="1900">
                <a:solidFill>
                  <a:srgbClr val="35C4E8"/>
                </a:solidFill>
                <a:latin typeface="Segoe UI"/>
              </a:rPr>
              <a:t>•  </a:t>
            </a:r>
            <a:r>
              <a:rPr sz="1900" b="0">
                <a:solidFill>
                  <a:srgbClr val="7EE08A"/>
                </a:solidFill>
                <a:latin typeface="Segoe UI"/>
              </a:rPr>
              <a:t>Total energy gives us a built-in correctness test</a:t>
            </a:r>
          </a:p>
        </p:txBody>
      </p:sp>
      <p:sp>
        <p:nvSpPr>
          <p:cNvPr id="11" name="TextBox 10"/>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12" name="TextBox 11"/>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SEPARATION, CONCRETELY</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Who owns what — who asks what</a:t>
            </a:r>
          </a:p>
        </p:txBody>
      </p:sp>
      <p:sp>
        <p:nvSpPr>
          <p:cNvPr id="4" name="Rectangle 3"/>
          <p:cNvSpPr/>
          <p:nvPr/>
        </p:nvSpPr>
        <p:spPr>
          <a:xfrm>
            <a:off x="457200" y="1645920"/>
            <a:ext cx="2651760" cy="777240"/>
          </a:xfrm>
          <a:prstGeom prst="rect">
            <a:avLst/>
          </a:prstGeom>
          <a:solidFill>
            <a:srgbClr val="1E3A55"/>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600" b="1">
                <a:solidFill>
                  <a:srgbClr val="FFFFFF"/>
                </a:solidFill>
                <a:latin typeface="Segoe UI"/>
              </a:rPr>
              <a:t>Component</a:t>
            </a:r>
          </a:p>
        </p:txBody>
      </p:sp>
      <p:sp>
        <p:nvSpPr>
          <p:cNvPr id="5" name="Rectangle 4"/>
          <p:cNvSpPr/>
          <p:nvPr/>
        </p:nvSpPr>
        <p:spPr>
          <a:xfrm>
            <a:off x="3108960" y="1645920"/>
            <a:ext cx="2651760" cy="777240"/>
          </a:xfrm>
          <a:prstGeom prst="rect">
            <a:avLst/>
          </a:prstGeom>
          <a:solidFill>
            <a:srgbClr val="1E3A55"/>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600" b="1">
                <a:solidFill>
                  <a:srgbClr val="FFFFFF"/>
                </a:solidFill>
                <a:latin typeface="Segoe UI"/>
              </a:rPr>
              <a:t>Owns (state)</a:t>
            </a:r>
          </a:p>
        </p:txBody>
      </p:sp>
      <p:sp>
        <p:nvSpPr>
          <p:cNvPr id="6" name="Rectangle 5"/>
          <p:cNvSpPr/>
          <p:nvPr/>
        </p:nvSpPr>
        <p:spPr>
          <a:xfrm>
            <a:off x="5760720" y="1645920"/>
            <a:ext cx="3108960" cy="777240"/>
          </a:xfrm>
          <a:prstGeom prst="rect">
            <a:avLst/>
          </a:prstGeom>
          <a:solidFill>
            <a:srgbClr val="1E3A55"/>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600" b="1">
                <a:solidFill>
                  <a:srgbClr val="FFFFFF"/>
                </a:solidFill>
                <a:latin typeface="Segoe UI"/>
              </a:rPr>
              <a:t>Provides</a:t>
            </a:r>
          </a:p>
        </p:txBody>
      </p:sp>
      <p:sp>
        <p:nvSpPr>
          <p:cNvPr id="7" name="Rectangle 6"/>
          <p:cNvSpPr/>
          <p:nvPr/>
        </p:nvSpPr>
        <p:spPr>
          <a:xfrm>
            <a:off x="8869680" y="1645920"/>
            <a:ext cx="3108960" cy="777240"/>
          </a:xfrm>
          <a:prstGeom prst="rect">
            <a:avLst/>
          </a:prstGeom>
          <a:solidFill>
            <a:srgbClr val="1E3A55"/>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600" b="1">
                <a:solidFill>
                  <a:srgbClr val="FFFFFF"/>
                </a:solidFill>
                <a:latin typeface="Segoe UI"/>
              </a:rPr>
              <a:t>Queries</a:t>
            </a:r>
          </a:p>
        </p:txBody>
      </p:sp>
      <p:sp>
        <p:nvSpPr>
          <p:cNvPr id="8" name="Rectangle 7"/>
          <p:cNvSpPr/>
          <p:nvPr/>
        </p:nvSpPr>
        <p:spPr>
          <a:xfrm>
            <a:off x="457200" y="242316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1">
                <a:solidFill>
                  <a:srgbClr val="35C4E8"/>
                </a:solidFill>
                <a:latin typeface="Segoe UI"/>
              </a:rPr>
              <a:t>Mass1 / Mass2</a:t>
            </a:r>
          </a:p>
        </p:txBody>
      </p:sp>
      <p:sp>
        <p:nvSpPr>
          <p:cNvPr id="9" name="Rectangle 8"/>
          <p:cNvSpPr/>
          <p:nvPr/>
        </p:nvSpPr>
        <p:spPr>
          <a:xfrm>
            <a:off x="3108960" y="242316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[position, velocity]</a:t>
            </a:r>
          </a:p>
        </p:txBody>
      </p:sp>
      <p:sp>
        <p:nvSpPr>
          <p:cNvPr id="10" name="Rectangle 9"/>
          <p:cNvSpPr/>
          <p:nvPr/>
        </p:nvSpPr>
        <p:spPr>
          <a:xfrm>
            <a:off x="5760720" y="242316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Position, Velocity, Mass</a:t>
            </a:r>
          </a:p>
        </p:txBody>
      </p:sp>
      <p:sp>
        <p:nvSpPr>
          <p:cNvPr id="11" name="Rectangle 10"/>
          <p:cNvSpPr/>
          <p:nvPr/>
        </p:nvSpPr>
        <p:spPr>
          <a:xfrm>
            <a:off x="8869680" y="242316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Force  (whoever provides it)</a:t>
            </a:r>
          </a:p>
        </p:txBody>
      </p:sp>
      <p:sp>
        <p:nvSpPr>
          <p:cNvPr id="12" name="Rectangle 11"/>
          <p:cNvSpPr/>
          <p:nvPr/>
        </p:nvSpPr>
        <p:spPr>
          <a:xfrm>
            <a:off x="457200" y="320040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1">
                <a:solidFill>
                  <a:srgbClr val="35C4E8"/>
                </a:solidFill>
                <a:latin typeface="Segoe UI"/>
              </a:rPr>
              <a:t>Spring</a:t>
            </a:r>
          </a:p>
        </p:txBody>
      </p:sp>
      <p:sp>
        <p:nvSpPr>
          <p:cNvPr id="13" name="Rectangle 12"/>
          <p:cNvSpPr/>
          <p:nvPr/>
        </p:nvSpPr>
        <p:spPr>
          <a:xfrm>
            <a:off x="3108960" y="320040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  nothing</a:t>
            </a:r>
          </a:p>
        </p:txBody>
      </p:sp>
      <p:sp>
        <p:nvSpPr>
          <p:cNvPr id="14" name="Rectangle 13"/>
          <p:cNvSpPr/>
          <p:nvPr/>
        </p:nvSpPr>
        <p:spPr>
          <a:xfrm>
            <a:off x="5760720" y="320040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Force, Extension, PE</a:t>
            </a:r>
          </a:p>
        </p:txBody>
      </p:sp>
      <p:sp>
        <p:nvSpPr>
          <p:cNvPr id="15" name="Rectangle 14"/>
          <p:cNvSpPr/>
          <p:nvPr/>
        </p:nvSpPr>
        <p:spPr>
          <a:xfrm>
            <a:off x="8869680" y="320040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Position of both masses</a:t>
            </a:r>
          </a:p>
        </p:txBody>
      </p:sp>
      <p:sp>
        <p:nvSpPr>
          <p:cNvPr id="16" name="Rectangle 15"/>
          <p:cNvSpPr/>
          <p:nvPr/>
        </p:nvSpPr>
        <p:spPr>
          <a:xfrm>
            <a:off x="457200" y="397764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1">
                <a:solidFill>
                  <a:srgbClr val="35C4E8"/>
                </a:solidFill>
                <a:latin typeface="Segoe UI"/>
              </a:rPr>
              <a:t>EnergyMonitor</a:t>
            </a:r>
          </a:p>
        </p:txBody>
      </p:sp>
      <p:sp>
        <p:nvSpPr>
          <p:cNvPr id="17" name="Rectangle 16"/>
          <p:cNvSpPr/>
          <p:nvPr/>
        </p:nvSpPr>
        <p:spPr>
          <a:xfrm>
            <a:off x="3108960" y="3977640"/>
            <a:ext cx="26517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  nothing</a:t>
            </a:r>
          </a:p>
        </p:txBody>
      </p:sp>
      <p:sp>
        <p:nvSpPr>
          <p:cNvPr id="18" name="Rectangle 17"/>
          <p:cNvSpPr/>
          <p:nvPr/>
        </p:nvSpPr>
        <p:spPr>
          <a:xfrm>
            <a:off x="5760720" y="397764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TotalEnergy, Momentum</a:t>
            </a:r>
          </a:p>
        </p:txBody>
      </p:sp>
      <p:sp>
        <p:nvSpPr>
          <p:cNvPr id="19" name="Rectangle 18"/>
          <p:cNvSpPr/>
          <p:nvPr/>
        </p:nvSpPr>
        <p:spPr>
          <a:xfrm>
            <a:off x="8869680" y="3977640"/>
            <a:ext cx="3108960" cy="777240"/>
          </a:xfrm>
          <a:prstGeom prst="rect">
            <a:avLst/>
          </a:prstGeom>
          <a:solidFill>
            <a:srgbClr val="081626"/>
          </a:solidFill>
          <a:ln w="2540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500" b="0">
                <a:solidFill>
                  <a:srgbClr val="D8E2EC"/>
                </a:solidFill>
                <a:latin typeface="Segoe UI"/>
              </a:rPr>
              <a:t>everything above</a:t>
            </a:r>
          </a:p>
        </p:txBody>
      </p:sp>
      <p:sp>
        <p:nvSpPr>
          <p:cNvPr id="20" name="TextBox 19"/>
          <p:cNvSpPr txBox="1"/>
          <p:nvPr/>
        </p:nvSpPr>
        <p:spPr>
          <a:xfrm>
            <a:off x="548640" y="4983480"/>
            <a:ext cx="11064240" cy="4572000"/>
          </a:xfrm>
          <a:prstGeom prst="rect">
            <a:avLst/>
          </a:prstGeom>
          <a:noFill/>
        </p:spPr>
        <p:txBody>
          <a:bodyPr wrap="square">
            <a:spAutoFit/>
          </a:bodyPr>
          <a:lstStyle/>
          <a:p>
            <a:pPr>
              <a:spcAft>
                <a:spcPts val="800"/>
              </a:spcAft>
            </a:pPr>
            <a:r>
              <a:rPr sz="1800">
                <a:solidFill>
                  <a:srgbClr val="35C4E8"/>
                </a:solidFill>
                <a:latin typeface="Segoe UI"/>
              </a:rPr>
              <a:t>•  </a:t>
            </a:r>
            <a:r>
              <a:rPr sz="1800" b="0">
                <a:solidFill>
                  <a:srgbClr val="D8E2EC"/>
                </a:solidFill>
                <a:latin typeface="Segoe UI"/>
              </a:rPr>
              <a:t>The Spring never includes the mass header — only the tag definitions</a:t>
            </a:r>
          </a:p>
          <a:p>
            <a:pPr>
              <a:spcAft>
                <a:spcPts val="800"/>
              </a:spcAft>
            </a:pPr>
            <a:r>
              <a:rPr sz="1800">
                <a:solidFill>
                  <a:srgbClr val="35C4E8"/>
                </a:solidFill>
                <a:latin typeface="Segoe UI"/>
              </a:rPr>
              <a:t>•  </a:t>
            </a:r>
            <a:r>
              <a:rPr sz="1800" b="0">
                <a:solidFill>
                  <a:srgbClr val="D8E2EC"/>
                </a:solidFill>
                <a:latin typeface="Segoe UI"/>
              </a:rPr>
              <a:t>The EnergyMonitor doesn't know a spring exists — it asks for </a:t>
            </a:r>
            <a:r>
              <a:rPr sz="1800" b="0">
                <a:solidFill>
                  <a:srgbClr val="35C4E8"/>
                </a:solidFill>
                <a:latin typeface="Segoe UI"/>
              </a:rPr>
              <a:t>spring::PotentialEnergy</a:t>
            </a:r>
            <a:r>
              <a:rPr sz="1800" b="0">
                <a:solidFill>
                  <a:srgbClr val="D8E2EC"/>
                </a:solidFill>
                <a:latin typeface="Segoe UI"/>
              </a:rPr>
              <a:t> by tag</a:t>
            </a:r>
          </a:p>
          <a:p>
            <a:pPr>
              <a:spcAft>
                <a:spcPts val="800"/>
              </a:spcAft>
            </a:pPr>
            <a:r>
              <a:rPr sz="1800">
                <a:solidFill>
                  <a:srgbClr val="35C4E8"/>
                </a:solidFill>
                <a:latin typeface="Segoe UI"/>
              </a:rPr>
              <a:t>•  </a:t>
            </a:r>
            <a:r>
              <a:rPr sz="1800" b="0">
                <a:solidFill>
                  <a:srgbClr val="D8E2EC"/>
                </a:solidFill>
                <a:latin typeface="Segoe UI"/>
              </a:rPr>
              <a:t>Stateless components (</a:t>
            </a:r>
            <a:r>
              <a:rPr sz="1800" b="0">
                <a:solidFill>
                  <a:srgbClr val="35C4E8"/>
                </a:solidFill>
                <a:latin typeface="Segoe UI"/>
              </a:rPr>
              <a:t>Component&lt;0,T&gt;</a:t>
            </a:r>
            <a:r>
              <a:rPr sz="1800" b="0">
                <a:solidFill>
                  <a:srgbClr val="D8E2EC"/>
                </a:solidFill>
                <a:latin typeface="Segoe UI"/>
              </a:rPr>
              <a:t>) are pure functions over the system state</a:t>
            </a:r>
          </a:p>
        </p:txBody>
      </p:sp>
      <p:sp>
        <p:nvSpPr>
          <p:cNvPr id="21" name="TextBox 20"/>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22" name="TextBox 21"/>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04</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Code Walkthrough</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The four components, for real</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12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WALKTHROUGH 1/5</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Tags: typed names for physical quantities</a:t>
            </a:r>
          </a:p>
        </p:txBody>
      </p:sp>
      <p:sp>
        <p:nvSpPr>
          <p:cNvPr id="4" name="Rounded Rectangle 3"/>
          <p:cNvSpPr/>
          <p:nvPr/>
        </p:nvSpPr>
        <p:spPr>
          <a:xfrm>
            <a:off x="548640" y="1508760"/>
            <a:ext cx="7498079" cy="429768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tags"/>
          <p:cNvSpPr txBox="1"/>
          <p:nvPr/>
        </p:nvSpPr>
        <p:spPr>
          <a:xfrm>
            <a:off x="713232" y="1673352"/>
            <a:ext cx="7168895" cy="3968496"/>
          </a:xfrm>
          <a:prstGeom prst="rect">
            <a:avLst/>
          </a:prstGeom>
          <a:noFill/>
        </p:spPr>
        <p:txBody>
          <a:bodyPr wrap="none">
            <a:spAutoFit/>
          </a:bodyPr>
          <a:lstStyle/>
          <a:p>
            <a:pPr>
              <a:spcAft>
                <a:spcPts val="100"/>
              </a:spcAft>
            </a:pP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mass1</a:t>
            </a:r>
            <a:r>
              <a:rPr sz="1400">
                <a:solidFill>
                  <a:srgbClr val="D4D4D4"/>
                </a:solidFill>
                <a:latin typeface="Consolas"/>
              </a:rPr>
              <a:t> </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Position</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empty types — pure compile-time keys</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Velocity</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Force</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Mass</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mass2</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same shape, different types */</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569CD6"/>
                </a:solidFill>
                <a:latin typeface="Consolas"/>
              </a:rPr>
              <a:t>namespace</a:t>
            </a:r>
            <a:r>
              <a:rPr sz="1400">
                <a:solidFill>
                  <a:srgbClr val="D4D4D4"/>
                </a:solidFill>
                <a:latin typeface="Consolas"/>
              </a:rPr>
              <a:t> </a:t>
            </a:r>
            <a:r>
              <a:rPr sz="1400">
                <a:solidFill>
                  <a:srgbClr val="4EC9B0"/>
                </a:solidFill>
                <a:latin typeface="Consolas"/>
              </a:rPr>
              <a:t>spring</a:t>
            </a:r>
            <a:r>
              <a:rPr sz="1400">
                <a:solidFill>
                  <a:srgbClr val="D4D4D4"/>
                </a:solidFill>
                <a:latin typeface="Consolas"/>
              </a:rPr>
              <a:t> </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Extension</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569CD6"/>
                </a:solidFill>
                <a:latin typeface="Consolas"/>
              </a:rPr>
              <a:t>struct</a:t>
            </a:r>
            <a:r>
              <a:rPr sz="1400">
                <a:solidFill>
                  <a:srgbClr val="D4D4D4"/>
                </a:solidFill>
                <a:latin typeface="Consolas"/>
              </a:rPr>
              <a:t> </a:t>
            </a:r>
            <a:r>
              <a:rPr sz="1400">
                <a:solidFill>
                  <a:srgbClr val="4EC9B0"/>
                </a:solidFill>
                <a:latin typeface="Consolas"/>
              </a:rPr>
              <a:t>PotentialEnergy</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a:t>
            </a:r>
            <a:r>
              <a:rPr sz="1400">
                <a:solidFill>
                  <a:srgbClr val="D4D4D4"/>
                </a:solidFill>
                <a:latin typeface="Consolas"/>
              </a:rPr>
              <a:t>;</a:t>
            </a:r>
          </a:p>
        </p:txBody>
      </p:sp>
      <p:sp>
        <p:nvSpPr>
          <p:cNvPr id="6" name="TextBox 5"/>
          <p:cNvSpPr txBox="1"/>
          <p:nvPr/>
        </p:nvSpPr>
        <p:spPr>
          <a:xfrm>
            <a:off x="8229600" y="1737360"/>
            <a:ext cx="3566160" cy="4572000"/>
          </a:xfrm>
          <a:prstGeom prst="rect">
            <a:avLst/>
          </a:prstGeom>
          <a:noFill/>
        </p:spPr>
        <p:txBody>
          <a:bodyPr wrap="square">
            <a:spAutoFit/>
          </a:bodyPr>
          <a:lstStyle/>
          <a:p>
            <a:pPr>
              <a:spcAft>
                <a:spcPts val="800"/>
              </a:spcAft>
            </a:pPr>
            <a:r>
              <a:rPr sz="1700">
                <a:solidFill>
                  <a:srgbClr val="35C4E8"/>
                </a:solidFill>
                <a:latin typeface="Segoe UI"/>
              </a:rPr>
              <a:t>•  </a:t>
            </a:r>
            <a:r>
              <a:rPr sz="1700" b="1">
                <a:solidFill>
                  <a:srgbClr val="F2C744"/>
                </a:solidFill>
                <a:latin typeface="Segoe UI"/>
              </a:rPr>
              <a:t>A tag is a type</a:t>
            </a:r>
            <a:r>
              <a:rPr sz="1700" b="0">
                <a:solidFill>
                  <a:srgbClr val="D8E2EC"/>
                </a:solidFill>
                <a:latin typeface="Segoe UI"/>
              </a:rPr>
              <a:t> — not a string, not an index</a:t>
            </a:r>
          </a:p>
          <a:p>
            <a:pPr>
              <a:spcAft>
                <a:spcPts val="800"/>
              </a:spcAft>
            </a:pPr>
            <a:r>
              <a:rPr sz="1700">
                <a:solidFill>
                  <a:srgbClr val="35C4E8"/>
                </a:solidFill>
                <a:latin typeface="Segoe UI"/>
              </a:rPr>
              <a:t>•  </a:t>
            </a:r>
            <a:r>
              <a:rPr sz="1700" b="0">
                <a:solidFill>
                  <a:srgbClr val="35C4E8"/>
                </a:solidFill>
                <a:latin typeface="Segoe UI"/>
              </a:rPr>
              <a:t>mass1::Position ≠ mass2::Position</a:t>
            </a:r>
            <a:r>
              <a:rPr sz="1700" b="0">
                <a:solidFill>
                  <a:srgbClr val="D8E2EC"/>
                </a:solidFill>
                <a:latin typeface="Segoe UI"/>
              </a:rPr>
              <a:t> at compile time</a:t>
            </a:r>
          </a:p>
          <a:p>
            <a:pPr>
              <a:spcAft>
                <a:spcPts val="800"/>
              </a:spcAft>
            </a:pPr>
            <a:r>
              <a:rPr sz="1700">
                <a:solidFill>
                  <a:srgbClr val="35C4E8"/>
                </a:solidFill>
                <a:latin typeface="Segoe UI"/>
              </a:rPr>
              <a:t>•  </a:t>
            </a:r>
            <a:r>
              <a:rPr sz="1700" b="0">
                <a:solidFill>
                  <a:srgbClr val="D8E2EC"/>
                </a:solidFill>
                <a:latin typeface="Segoe UI"/>
              </a:rPr>
              <a:t>Mixing them up is a type error, not a NaN three weeks later</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WALKTHROUGH 2/5</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PointMass: owns its state, asks for force</a:t>
            </a:r>
          </a:p>
        </p:txBody>
      </p:sp>
      <p:sp>
        <p:nvSpPr>
          <p:cNvPr id="4" name="Rounded Rectangle 3"/>
          <p:cNvSpPr/>
          <p:nvPr/>
        </p:nvSpPr>
        <p:spPr>
          <a:xfrm>
            <a:off x="548640" y="1463040"/>
            <a:ext cx="7863840" cy="475488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pointmass"/>
          <p:cNvSpPr txBox="1"/>
          <p:nvPr/>
        </p:nvSpPr>
        <p:spPr>
          <a:xfrm>
            <a:off x="713232" y="1627632"/>
            <a:ext cx="7534656" cy="4425696"/>
          </a:xfrm>
          <a:prstGeom prst="rect">
            <a:avLst/>
          </a:prstGeom>
          <a:noFill/>
        </p:spPr>
        <p:txBody>
          <a:bodyPr wrap="none">
            <a:spAutoFit/>
          </a:bodyPr>
          <a:lstStyle/>
          <a:p>
            <a:pPr>
              <a:spcAft>
                <a:spcPts val="100"/>
              </a:spcAft>
            </a:pP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Scalar</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4EC9B0"/>
                </a:solidFill>
                <a:latin typeface="Consolas"/>
              </a:rPr>
              <a:t>double</a:t>
            </a:r>
            <a:r>
              <a:rPr sz="1250">
                <a:solidFill>
                  <a:srgbClr val="D4D4D4"/>
                </a:solidFill>
                <a:latin typeface="Consolas"/>
              </a:rPr>
              <a:t>&gt;</a:t>
            </a:r>
          </a:p>
          <a:p>
            <a:pPr>
              <a:spcAft>
                <a:spcPts val="100"/>
              </a:spcAft>
            </a:pPr>
            <a:r>
              <a:rPr sz="1250">
                <a:solidFill>
                  <a:srgbClr val="569CD6"/>
                </a:solidFill>
                <a:latin typeface="Consolas"/>
              </a:rPr>
              <a:t>class</a:t>
            </a:r>
            <a:r>
              <a:rPr sz="1250">
                <a:solidFill>
                  <a:srgbClr val="D4D4D4"/>
                </a:solidFill>
                <a:latin typeface="Consolas"/>
              </a:rPr>
              <a:t> </a:t>
            </a:r>
            <a:r>
              <a:rPr sz="1250">
                <a:solidFill>
                  <a:srgbClr val="4EC9B0"/>
                </a:solidFill>
                <a:latin typeface="Consolas"/>
              </a:rPr>
              <a:t>PointMass</a:t>
            </a:r>
            <a:r>
              <a:rPr sz="1250">
                <a:solidFill>
                  <a:srgbClr val="D4D4D4"/>
                </a:solidFill>
                <a:latin typeface="Consolas"/>
              </a:rPr>
              <a:t> </a:t>
            </a:r>
            <a:r>
              <a:rPr sz="1250">
                <a:solidFill>
                  <a:srgbClr val="569CD6"/>
                </a:solidFill>
                <a:latin typeface="Consolas"/>
              </a:rPr>
              <a:t>final</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public</a:t>
            </a:r>
            <a:r>
              <a:rPr sz="1250">
                <a:solidFill>
                  <a:srgbClr val="D4D4D4"/>
                </a:solidFill>
                <a:latin typeface="Consolas"/>
              </a:rPr>
              <a:t> </a:t>
            </a:r>
            <a:r>
              <a:rPr sz="1250">
                <a:solidFill>
                  <a:srgbClr val="D4D4D4"/>
                </a:solidFill>
                <a:latin typeface="Consolas"/>
              </a:rPr>
              <a:t>Component</a:t>
            </a:r>
            <a:r>
              <a:rPr sz="1250">
                <a:solidFill>
                  <a:srgbClr val="D4D4D4"/>
                </a:solidFill>
                <a:latin typeface="Consolas"/>
              </a:rPr>
              <a:t>&lt;</a:t>
            </a:r>
            <a:r>
              <a:rPr sz="1250">
                <a:solidFill>
                  <a:srgbClr val="B5CEA8"/>
                </a:solidFill>
                <a:latin typeface="Consolas"/>
              </a:rPr>
              <a:t>2</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2 states: [x, v]</a:t>
            </a:r>
          </a:p>
          <a:p>
            <a:pPr>
              <a:spcAft>
                <a:spcPts val="100"/>
              </a:spcAft>
            </a:pPr>
            <a:r>
              <a:rPr sz="1250">
                <a:solidFill>
                  <a:srgbClr val="D4D4D4"/>
                </a:solidFill>
                <a:latin typeface="Consolas"/>
              </a:rPr>
              <a:t>    </a:t>
            </a:r>
            <a:r>
              <a:rPr sz="1250">
                <a:solidFill>
                  <a:srgbClr val="4EC9B0"/>
                </a:solidFill>
                <a:latin typeface="Consolas"/>
              </a:rPr>
              <a:t>double</a:t>
            </a:r>
            <a:r>
              <a:rPr sz="1250">
                <a:solidFill>
                  <a:srgbClr val="D4D4D4"/>
                </a:solidFill>
                <a:latin typeface="Consolas"/>
              </a:rPr>
              <a:t> </a:t>
            </a:r>
            <a:r>
              <a:rPr sz="1250">
                <a:solidFill>
                  <a:srgbClr val="D4D4D4"/>
                </a:solidFill>
                <a:latin typeface="Consolas"/>
              </a:rPr>
              <a:t>m_mass</a:t>
            </a:r>
            <a:r>
              <a:rPr sz="1250">
                <a:solidFill>
                  <a:srgbClr val="D4D4D4"/>
                </a:solidFill>
                <a:latin typeface="Consolas"/>
              </a:rPr>
              <a:t>;</a:t>
            </a:r>
          </a:p>
          <a:p>
            <a:pPr>
              <a:spcAft>
                <a:spcPts val="100"/>
              </a:spcAft>
            </a:pPr>
            <a:r>
              <a:rPr sz="1250">
                <a:solidFill>
                  <a:srgbClr val="569CD6"/>
                </a:solidFill>
                <a:latin typeface="Consolas"/>
              </a:rPr>
              <a:t>public</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Registry</a:t>
            </a:r>
            <a:r>
              <a:rPr sz="1250">
                <a:solidFill>
                  <a:srgbClr val="D4D4D4"/>
                </a:solidFill>
                <a:latin typeface="Consolas"/>
              </a:rPr>
              <a:t>&gt;</a:t>
            </a:r>
          </a:p>
          <a:p>
            <a:pPr>
              <a:spcAft>
                <a:spcPts val="100"/>
              </a:spcAft>
            </a:pPr>
            <a:r>
              <a:rPr sz="1250">
                <a:solidFill>
                  <a:srgbClr val="D4D4D4"/>
                </a:solidFill>
                <a:latin typeface="Consolas"/>
              </a:rPr>
              <a:t>    </a:t>
            </a:r>
            <a:r>
              <a:rPr sz="1250">
                <a:solidFill>
                  <a:srgbClr val="D4D4D4"/>
                </a:solidFill>
                <a:latin typeface="Consolas"/>
              </a:rPr>
              <a:t>LocalDerivative</a:t>
            </a:r>
            <a:r>
              <a:rPr sz="1250">
                <a:solidFill>
                  <a:srgbClr val="D4D4D4"/>
                </a:solidFill>
                <a:latin typeface="Consolas"/>
              </a:rPr>
              <a:t> </a:t>
            </a:r>
            <a:r>
              <a:rPr sz="1250">
                <a:solidFill>
                  <a:srgbClr val="D4D4D4"/>
                </a:solidFill>
                <a:latin typeface="Consolas"/>
              </a:rPr>
              <a:t>derivatives</a:t>
            </a:r>
            <a:r>
              <a:rPr sz="1250">
                <a:solidFill>
                  <a:srgbClr val="D4D4D4"/>
                </a:solidFill>
                <a:latin typeface="Consolas"/>
              </a:rPr>
              <a:t>(</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std</a:t>
            </a:r>
            <a:r>
              <a:rPr sz="1250">
                <a:solidFill>
                  <a:srgbClr val="D4D4D4"/>
                </a:solidFill>
                <a:latin typeface="Consolas"/>
              </a:rPr>
              <a: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state</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&amp;</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velocity</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this</a:t>
            </a:r>
            <a:r>
              <a:rPr sz="1250">
                <a:solidFill>
                  <a:srgbClr val="D4D4D4"/>
                </a:solidFill>
                <a:latin typeface="Consolas"/>
              </a:rPr>
              <a:t>-</a:t>
            </a:r>
            <a:r>
              <a:rPr sz="1250">
                <a:solidFill>
                  <a:srgbClr val="D4D4D4"/>
                </a:solidFill>
                <a:latin typeface="Consolas"/>
              </a:rPr>
              <a:t>&gt;</a:t>
            </a:r>
            <a:r>
              <a:rPr sz="1250">
                <a:solidFill>
                  <a:srgbClr val="D4D4D4"/>
                </a:solidFill>
                <a:latin typeface="Consolas"/>
              </a:rPr>
              <a:t>localState</a:t>
            </a:r>
            <a:r>
              <a:rPr sz="1250">
                <a:solidFill>
                  <a:srgbClr val="D4D4D4"/>
                </a:solidFill>
                <a:latin typeface="Consolas"/>
              </a:rPr>
              <a:t>(</a:t>
            </a:r>
            <a:r>
              <a:rPr sz="1250">
                <a:solidFill>
                  <a:srgbClr val="D4D4D4"/>
                </a:solidFill>
                <a:latin typeface="Consolas"/>
              </a:rPr>
              <a:t>state</a:t>
            </a:r>
            <a:r>
              <a:rPr sz="1250">
                <a:solidFill>
                  <a:srgbClr val="D4D4D4"/>
                </a:solidFill>
                <a:latin typeface="Consolas"/>
              </a:rPr>
              <a:t>,</a:t>
            </a:r>
            <a:r>
              <a:rPr sz="1250">
                <a:solidFill>
                  <a:srgbClr val="D4D4D4"/>
                </a:solidFill>
                <a:latin typeface="Consolas"/>
              </a:rPr>
              <a:t> </a:t>
            </a:r>
            <a:r>
              <a:rPr sz="1250">
                <a:solidFill>
                  <a:srgbClr val="B5CEA8"/>
                </a:solidFill>
                <a:latin typeface="Consolas"/>
              </a:rPr>
              <a:t>1</a:t>
            </a:r>
            <a:r>
              <a:rPr sz="1250">
                <a:solidFill>
                  <a:srgbClr val="D4D4D4"/>
                </a:solidFill>
                <a:latin typeface="Consolas"/>
              </a:rPr>
              <a:t>)</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dx/dt = v</a:t>
            </a:r>
          </a:p>
          <a:p>
            <a:pPr>
              <a:spcAft>
                <a:spcPts val="100"/>
              </a:spcAft>
            </a:pPr>
            <a:r>
              <a:rPr sz="1250" b="1">
                <a:solidFill>
                  <a:srgbClr val="F2C744"/>
                </a:solidFill>
                <a:latin typeface="Consolas"/>
              </a:rPr>
              <a:t>        </a:t>
            </a:r>
            <a:r>
              <a:rPr sz="1250" b="1">
                <a:solidFill>
                  <a:srgbClr val="F2C744"/>
                </a:solidFill>
                <a:latin typeface="Consolas"/>
              </a:rPr>
              <a:t>T</a:t>
            </a:r>
            <a:r>
              <a:rPr sz="1250" b="1">
                <a:solidFill>
                  <a:srgbClr val="F2C744"/>
                </a:solidFill>
                <a:latin typeface="Consolas"/>
              </a:rPr>
              <a:t> </a:t>
            </a:r>
            <a:r>
              <a:rPr sz="1250" b="1">
                <a:solidFill>
                  <a:srgbClr val="F2C744"/>
                </a:solidFill>
                <a:latin typeface="Consolas"/>
              </a:rPr>
              <a:t>force</a:t>
            </a:r>
            <a:r>
              <a:rPr sz="1250" b="1">
                <a:solidFill>
                  <a:srgbClr val="F2C744"/>
                </a:solidFill>
                <a:latin typeface="Consolas"/>
              </a:rPr>
              <a:t> </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query</a:t>
            </a:r>
            <a:r>
              <a:rPr sz="1250" b="1">
                <a:solidFill>
                  <a:srgbClr val="F2C744"/>
                </a:solidFill>
                <a:latin typeface="Consolas"/>
              </a:rPr>
              <a:t>&lt;</a:t>
            </a:r>
            <a:r>
              <a:rPr sz="1250" b="1">
                <a:solidFill>
                  <a:srgbClr val="F2C744"/>
                </a:solidFill>
                <a:latin typeface="Consolas"/>
              </a:rPr>
              <a:t>typename</a:t>
            </a:r>
            <a:r>
              <a:rPr sz="1250" b="1">
                <a:solidFill>
                  <a:srgbClr val="F2C744"/>
                </a:solidFill>
                <a:latin typeface="Consolas"/>
              </a:rPr>
              <a:t> </a:t>
            </a:r>
            <a:r>
              <a:rPr sz="1250" b="1">
                <a:solidFill>
                  <a:srgbClr val="F2C744"/>
                </a:solidFill>
                <a:latin typeface="Consolas"/>
              </a:rPr>
              <a:t>TagSet</a:t>
            </a:r>
            <a:r>
              <a:rPr sz="1250" b="1">
                <a:solidFill>
                  <a:srgbClr val="F2C744"/>
                </a:solidFill>
                <a:latin typeface="Consolas"/>
              </a:rPr>
              <a:t>:</a:t>
            </a:r>
            <a:r>
              <a:rPr sz="1250" b="1">
                <a:solidFill>
                  <a:srgbClr val="F2C744"/>
                </a:solidFill>
                <a:latin typeface="Consolas"/>
              </a:rPr>
              <a:t>:</a:t>
            </a:r>
            <a:r>
              <a:rPr sz="1250" b="1">
                <a:solidFill>
                  <a:srgbClr val="F2C744"/>
                </a:solidFill>
                <a:latin typeface="Consolas"/>
              </a:rPr>
              <a:t>Force</a:t>
            </a:r>
            <a:r>
              <a:rPr sz="1250" b="1">
                <a:solidFill>
                  <a:srgbClr val="F2C744"/>
                </a:solidFill>
                <a:latin typeface="Consolas"/>
              </a:rPr>
              <a:t>&gt;</a:t>
            </a:r>
            <a:r>
              <a:rPr sz="1250" b="1">
                <a:solidFill>
                  <a:srgbClr val="F2C744"/>
                </a:solidFill>
                <a:latin typeface="Consolas"/>
              </a:rPr>
              <a:t>(</a:t>
            </a:r>
            <a:r>
              <a:rPr sz="1250" b="1">
                <a:solidFill>
                  <a:srgbClr val="F2C744"/>
                </a:solidFill>
                <a:latin typeface="Consolas"/>
              </a:rPr>
              <a:t>registry</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state</a:t>
            </a:r>
            <a:r>
              <a:rPr sz="1250" b="1">
                <a:solidFill>
                  <a:srgbClr val="F2C744"/>
                </a:solidFill>
                <a:latin typeface="Consolas"/>
              </a:rPr>
              <a:t>)</a:t>
            </a:r>
            <a:r>
              <a:rPr sz="1250" b="1">
                <a:solidFill>
                  <a:srgbClr val="F2C744"/>
                </a:solidFill>
                <a:latin typeface="Consolas"/>
              </a:rPr>
              <a:t>;</a:t>
            </a:r>
          </a:p>
          <a:p>
            <a:pPr>
              <a:spcAft>
                <a:spcPts val="100"/>
              </a:spcAft>
            </a:pPr>
            <a:r>
              <a:rPr sz="1250">
                <a:solidFill>
                  <a:srgbClr val="D4D4D4"/>
                </a:solidFill>
                <a:latin typeface="Consolas"/>
              </a:rPr>
              <a:t>        </a:t>
            </a:r>
            <a:r>
              <a:rPr sz="1250">
                <a:solidFill>
                  <a:srgbClr val="569CD6"/>
                </a:solidFill>
                <a:latin typeface="Consolas"/>
              </a:rPr>
              <a:t>return</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velocity</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force</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a:t>
            </a:r>
            <a:r>
              <a:rPr sz="1250">
                <a:solidFill>
                  <a:srgbClr val="D4D4D4"/>
                </a:solidFill>
                <a:latin typeface="Consolas"/>
              </a:rPr>
              <a:t>m_mass</a:t>
            </a:r>
            <a:r>
              <a:rPr sz="1250">
                <a:solidFill>
                  <a:srgbClr val="D4D4D4"/>
                </a:solidFill>
                <a:latin typeface="Consolas"/>
              </a:rPr>
              <a:t>)</a:t>
            </a:r>
            <a:r>
              <a:rPr sz="1250">
                <a:solidFill>
                  <a:srgbClr val="D4D4D4"/>
                </a:solidFill>
                <a:latin typeface="Consolas"/>
              </a:rPr>
              <a:t>}</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dv/dt = F/m</a:t>
            </a:r>
          </a:p>
          <a:p>
            <a:pPr>
              <a:spcAft>
                <a:spcPts val="100"/>
              </a:spcAft>
            </a:pPr>
            <a:r>
              <a:rPr sz="1250">
                <a:solidFill>
                  <a:srgbClr val="D4D4D4"/>
                </a:solidFill>
                <a:latin typeface="Consolas"/>
              </a:rPr>
              <a:t>    </a:t>
            </a:r>
            <a:r>
              <a:rPr sz="1250">
                <a:solidFill>
                  <a:srgbClr val="D4D4D4"/>
                </a:solidFill>
                <a:latin typeface="Consolas"/>
              </a:rPr>
              <a:t>}</a:t>
            </a:r>
          </a:p>
          <a:p>
            <a:pPr>
              <a:spcAft>
                <a:spcPts val="100"/>
              </a:spcAft>
            </a:pPr>
            <a:r>
              <a:rPr sz="1250">
                <a:latin typeface="Consolas"/>
              </a:rPr>
              <a:t> </a:t>
            </a:r>
          </a:p>
          <a:p>
            <a:pPr>
              <a:spcAft>
                <a:spcPts val="100"/>
              </a:spcAft>
            </a:pPr>
            <a:r>
              <a:rPr sz="1250">
                <a:solidFill>
                  <a:srgbClr val="D4D4D4"/>
                </a:solidFill>
                <a:latin typeface="Consolas"/>
              </a:rPr>
              <a:t>    </a:t>
            </a: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Registry</a:t>
            </a:r>
            <a:r>
              <a:rPr sz="1250">
                <a:solidFill>
                  <a:srgbClr val="D4D4D4"/>
                </a:solidFill>
                <a:latin typeface="Consolas"/>
              </a:rPr>
              <a:t>&gt;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compute</a:t>
            </a:r>
            <a:r>
              <a:rPr sz="1250">
                <a:solidFill>
                  <a:srgbClr val="D4D4D4"/>
                </a:solidFill>
                <a:latin typeface="Consolas"/>
              </a:rPr>
              <a: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a:t>
            </a:r>
            <a:r>
              <a:rPr sz="1250">
                <a:solidFill>
                  <a:srgbClr val="D4D4D4"/>
                </a:solidFill>
                <a:latin typeface="Consolas"/>
              </a:rPr>
              <a:t>:</a:t>
            </a:r>
            <a:r>
              <a:rPr sz="1250">
                <a:solidFill>
                  <a:srgbClr val="D4D4D4"/>
                </a:solidFill>
                <a:latin typeface="Consolas"/>
              </a:rPr>
              <a:t>:</a:t>
            </a:r>
            <a:r>
              <a:rPr sz="1250">
                <a:solidFill>
                  <a:srgbClr val="D4D4D4"/>
                </a:solidFill>
                <a:latin typeface="Consolas"/>
              </a:rPr>
              <a:t>Position</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std</a:t>
            </a:r>
            <a:r>
              <a:rPr sz="1250">
                <a:solidFill>
                  <a:srgbClr val="D4D4D4"/>
                </a:solidFill>
                <a:latin typeface="Consolas"/>
              </a:rPr>
              <a: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s</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&amp;</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return</a:t>
            </a:r>
            <a:r>
              <a:rPr sz="1250">
                <a:solidFill>
                  <a:srgbClr val="D4D4D4"/>
                </a:solidFill>
                <a:latin typeface="Consolas"/>
              </a:rPr>
              <a:t> </a:t>
            </a:r>
            <a:r>
              <a:rPr sz="1250">
                <a:solidFill>
                  <a:srgbClr val="569CD6"/>
                </a:solidFill>
                <a:latin typeface="Consolas"/>
              </a:rPr>
              <a:t>this</a:t>
            </a:r>
            <a:r>
              <a:rPr sz="1250">
                <a:solidFill>
                  <a:srgbClr val="D4D4D4"/>
                </a:solidFill>
                <a:latin typeface="Consolas"/>
              </a:rPr>
              <a:t>-</a:t>
            </a:r>
            <a:r>
              <a:rPr sz="1250">
                <a:solidFill>
                  <a:srgbClr val="D4D4D4"/>
                </a:solidFill>
                <a:latin typeface="Consolas"/>
              </a:rPr>
              <a:t>&gt;</a:t>
            </a:r>
            <a:r>
              <a:rPr sz="1250">
                <a:solidFill>
                  <a:srgbClr val="D4D4D4"/>
                </a:solidFill>
                <a:latin typeface="Consolas"/>
              </a:rPr>
              <a:t>localState</a:t>
            </a:r>
            <a:r>
              <a:rPr sz="1250">
                <a:solidFill>
                  <a:srgbClr val="D4D4D4"/>
                </a:solidFill>
                <a:latin typeface="Consolas"/>
              </a:rPr>
              <a:t>(</a:t>
            </a:r>
            <a:r>
              <a:rPr sz="1250">
                <a:solidFill>
                  <a:srgbClr val="D4D4D4"/>
                </a:solidFill>
                <a:latin typeface="Consolas"/>
              </a:rPr>
              <a:t>s</a:t>
            </a:r>
            <a:r>
              <a:rPr sz="1250">
                <a:solidFill>
                  <a:srgbClr val="D4D4D4"/>
                </a:solidFill>
                <a:latin typeface="Consolas"/>
              </a:rPr>
              <a:t>,</a:t>
            </a:r>
            <a:r>
              <a:rPr sz="1250">
                <a:solidFill>
                  <a:srgbClr val="D4D4D4"/>
                </a:solidFill>
                <a:latin typeface="Consolas"/>
              </a:rPr>
              <a:t> </a:t>
            </a:r>
            <a:r>
              <a:rPr sz="1250">
                <a:solidFill>
                  <a:srgbClr val="B5CEA8"/>
                </a:solidFill>
                <a:latin typeface="Consolas"/>
              </a:rPr>
              <a:t>0</a:t>
            </a:r>
            <a:r>
              <a:rPr sz="1250">
                <a:solidFill>
                  <a:srgbClr val="D4D4D4"/>
                </a:solidFill>
                <a:latin typeface="Consolas"/>
              </a:rPr>
              <a:t>)</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Registry</a:t>
            </a:r>
            <a:r>
              <a:rPr sz="1250">
                <a:solidFill>
                  <a:srgbClr val="D4D4D4"/>
                </a:solidFill>
                <a:latin typeface="Consolas"/>
              </a:rPr>
              <a:t>&gt;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compute</a:t>
            </a:r>
            <a:r>
              <a:rPr sz="1250">
                <a:solidFill>
                  <a:srgbClr val="D4D4D4"/>
                </a:solidFill>
                <a:latin typeface="Consolas"/>
              </a:rPr>
              <a: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a:t>
            </a:r>
            <a:r>
              <a:rPr sz="1250">
                <a:solidFill>
                  <a:srgbClr val="D4D4D4"/>
                </a:solidFill>
                <a:latin typeface="Consolas"/>
              </a:rPr>
              <a:t>:</a:t>
            </a:r>
            <a:r>
              <a:rPr sz="1250">
                <a:solidFill>
                  <a:srgbClr val="D4D4D4"/>
                </a:solidFill>
                <a:latin typeface="Consolas"/>
              </a:rPr>
              <a:t>:</a:t>
            </a:r>
            <a:r>
              <a:rPr sz="1250">
                <a:solidFill>
                  <a:srgbClr val="D4D4D4"/>
                </a:solidFill>
                <a:latin typeface="Consolas"/>
              </a:rPr>
              <a:t>Velocity</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std</a:t>
            </a:r>
            <a:r>
              <a:rPr sz="1250">
                <a:solidFill>
                  <a:srgbClr val="D4D4D4"/>
                </a:solidFill>
                <a:latin typeface="Consolas"/>
              </a:rPr>
              <a: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s</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&amp;</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return</a:t>
            </a:r>
            <a:r>
              <a:rPr sz="1250">
                <a:solidFill>
                  <a:srgbClr val="D4D4D4"/>
                </a:solidFill>
                <a:latin typeface="Consolas"/>
              </a:rPr>
              <a:t> </a:t>
            </a:r>
            <a:r>
              <a:rPr sz="1250">
                <a:solidFill>
                  <a:srgbClr val="569CD6"/>
                </a:solidFill>
                <a:latin typeface="Consolas"/>
              </a:rPr>
              <a:t>this</a:t>
            </a:r>
            <a:r>
              <a:rPr sz="1250">
                <a:solidFill>
                  <a:srgbClr val="D4D4D4"/>
                </a:solidFill>
                <a:latin typeface="Consolas"/>
              </a:rPr>
              <a:t>-</a:t>
            </a:r>
            <a:r>
              <a:rPr sz="1250">
                <a:solidFill>
                  <a:srgbClr val="D4D4D4"/>
                </a:solidFill>
                <a:latin typeface="Consolas"/>
              </a:rPr>
              <a:t>&gt;</a:t>
            </a:r>
            <a:r>
              <a:rPr sz="1250">
                <a:solidFill>
                  <a:srgbClr val="D4D4D4"/>
                </a:solidFill>
                <a:latin typeface="Consolas"/>
              </a:rPr>
              <a:t>localState</a:t>
            </a:r>
            <a:r>
              <a:rPr sz="1250">
                <a:solidFill>
                  <a:srgbClr val="D4D4D4"/>
                </a:solidFill>
                <a:latin typeface="Consolas"/>
              </a:rPr>
              <a:t>(</a:t>
            </a:r>
            <a:r>
              <a:rPr sz="1250">
                <a:solidFill>
                  <a:srgbClr val="D4D4D4"/>
                </a:solidFill>
                <a:latin typeface="Consolas"/>
              </a:rPr>
              <a:t>s</a:t>
            </a:r>
            <a:r>
              <a:rPr sz="1250">
                <a:solidFill>
                  <a:srgbClr val="D4D4D4"/>
                </a:solidFill>
                <a:latin typeface="Consolas"/>
              </a:rPr>
              <a:t>,</a:t>
            </a:r>
            <a:r>
              <a:rPr sz="1250">
                <a:solidFill>
                  <a:srgbClr val="D4D4D4"/>
                </a:solidFill>
                <a:latin typeface="Consolas"/>
              </a:rPr>
              <a:t> </a:t>
            </a:r>
            <a:r>
              <a:rPr sz="1250">
                <a:solidFill>
                  <a:srgbClr val="B5CEA8"/>
                </a:solidFill>
                <a:latin typeface="Consolas"/>
              </a:rPr>
              <a:t>1</a:t>
            </a:r>
            <a:r>
              <a:rPr sz="1250">
                <a:solidFill>
                  <a:srgbClr val="D4D4D4"/>
                </a:solidFill>
                <a:latin typeface="Consolas"/>
              </a:rPr>
              <a:t>)</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p>
          <a:p>
            <a:pPr>
              <a:spcAft>
                <a:spcPts val="100"/>
              </a:spcAft>
            </a:pPr>
            <a:r>
              <a:rPr sz="1250">
                <a:solidFill>
                  <a:srgbClr val="D4D4D4"/>
                </a:solidFill>
                <a:latin typeface="Consolas"/>
              </a:rPr>
              <a:t>}</a:t>
            </a:r>
            <a:r>
              <a:rPr sz="1250">
                <a:solidFill>
                  <a:srgbClr val="D4D4D4"/>
                </a:solidFill>
                <a:latin typeface="Consolas"/>
              </a:rPr>
              <a:t>;</a:t>
            </a:r>
          </a:p>
        </p:txBody>
      </p:sp>
      <p:sp>
        <p:nvSpPr>
          <p:cNvPr id="6" name="TextBox 5"/>
          <p:cNvSpPr txBox="1"/>
          <p:nvPr/>
        </p:nvSpPr>
        <p:spPr>
          <a:xfrm>
            <a:off x="8595360" y="1737360"/>
            <a:ext cx="3200400" cy="4572000"/>
          </a:xfrm>
          <a:prstGeom prst="rect">
            <a:avLst/>
          </a:prstGeom>
          <a:noFill/>
        </p:spPr>
        <p:txBody>
          <a:bodyPr wrap="square">
            <a:spAutoFit/>
          </a:bodyPr>
          <a:lstStyle/>
          <a:p>
            <a:pPr>
              <a:spcAft>
                <a:spcPts val="800"/>
              </a:spcAft>
            </a:pPr>
            <a:r>
              <a:rPr sz="1600">
                <a:solidFill>
                  <a:srgbClr val="35C4E8"/>
                </a:solidFill>
                <a:latin typeface="Segoe UI"/>
              </a:rPr>
              <a:t>•  </a:t>
            </a:r>
            <a:r>
              <a:rPr sz="1600" b="1">
                <a:solidFill>
                  <a:srgbClr val="F2C744"/>
                </a:solidFill>
                <a:latin typeface="Segoe UI"/>
              </a:rPr>
              <a:t>Newton's law and nothing else</a:t>
            </a:r>
          </a:p>
          <a:p>
            <a:pPr>
              <a:spcAft>
                <a:spcPts val="800"/>
              </a:spcAft>
            </a:pPr>
            <a:r>
              <a:rPr sz="1600">
                <a:solidFill>
                  <a:srgbClr val="35C4E8"/>
                </a:solidFill>
                <a:latin typeface="Segoe UI"/>
              </a:rPr>
              <a:t>•  </a:t>
            </a:r>
            <a:r>
              <a:rPr sz="1600" b="0">
                <a:solidFill>
                  <a:srgbClr val="D8E2EC"/>
                </a:solidFill>
                <a:latin typeface="Segoe UI"/>
              </a:rPr>
              <a:t>Doesn't know what produces the force</a:t>
            </a:r>
          </a:p>
          <a:p>
            <a:pPr>
              <a:spcAft>
                <a:spcPts val="800"/>
              </a:spcAft>
            </a:pPr>
            <a:r>
              <a:rPr sz="1600">
                <a:solidFill>
                  <a:srgbClr val="35C4E8"/>
                </a:solidFill>
                <a:latin typeface="Segoe UI"/>
              </a:rPr>
              <a:t>•  </a:t>
            </a:r>
            <a:r>
              <a:rPr sz="1600" b="0">
                <a:solidFill>
                  <a:srgbClr val="35C4E8"/>
                </a:solidFill>
                <a:latin typeface="Segoe UI"/>
              </a:rPr>
              <a:t>compute(Tag, …)</a:t>
            </a:r>
            <a:r>
              <a:rPr sz="1600" b="0">
                <a:solidFill>
                  <a:srgbClr val="D8E2EC"/>
                </a:solidFill>
                <a:latin typeface="Segoe UI"/>
              </a:rPr>
              <a:t> overloads = what it offers to others</a:t>
            </a:r>
          </a:p>
          <a:p>
            <a:pPr>
              <a:spcAft>
                <a:spcPts val="800"/>
              </a:spcAft>
            </a:pPr>
            <a:r>
              <a:rPr sz="1600">
                <a:solidFill>
                  <a:srgbClr val="35C4E8"/>
                </a:solidFill>
                <a:latin typeface="Segoe UI"/>
              </a:rPr>
              <a:t>•  </a:t>
            </a:r>
            <a:r>
              <a:rPr sz="1600" b="0">
                <a:solidFill>
                  <a:srgbClr val="D8E2EC"/>
                </a:solidFill>
                <a:latin typeface="Segoe UI"/>
              </a:rPr>
              <a:t>Same class is Mass1 or Mass2 via the TagSet parameter</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WALKTHROUGH 3/5</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Spring: no state, just physics</a:t>
            </a:r>
          </a:p>
        </p:txBody>
      </p:sp>
      <p:sp>
        <p:nvSpPr>
          <p:cNvPr id="4" name="Rounded Rectangle 3"/>
          <p:cNvSpPr/>
          <p:nvPr/>
        </p:nvSpPr>
        <p:spPr>
          <a:xfrm>
            <a:off x="548640" y="1463040"/>
            <a:ext cx="7863840" cy="475488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spring"/>
          <p:cNvSpPr txBox="1"/>
          <p:nvPr/>
        </p:nvSpPr>
        <p:spPr>
          <a:xfrm>
            <a:off x="713232" y="1627632"/>
            <a:ext cx="7534656" cy="4425696"/>
          </a:xfrm>
          <a:prstGeom prst="rect">
            <a:avLst/>
          </a:prstGeom>
          <a:noFill/>
        </p:spPr>
        <p:txBody>
          <a:bodyPr wrap="none">
            <a:spAutoFit/>
          </a:bodyPr>
          <a:lstStyle/>
          <a:p>
            <a:pPr>
              <a:spcAft>
                <a:spcPts val="100"/>
              </a:spcAft>
            </a:pP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TagSet1</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TagSet2</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Scalar</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4EC9B0"/>
                </a:solidFill>
                <a:latin typeface="Consolas"/>
              </a:rPr>
              <a:t>double</a:t>
            </a:r>
            <a:r>
              <a:rPr sz="1250">
                <a:solidFill>
                  <a:srgbClr val="D4D4D4"/>
                </a:solidFill>
                <a:latin typeface="Consolas"/>
              </a:rPr>
              <a:t>&gt;</a:t>
            </a:r>
          </a:p>
          <a:p>
            <a:pPr>
              <a:spcAft>
                <a:spcPts val="100"/>
              </a:spcAft>
            </a:pPr>
            <a:r>
              <a:rPr sz="1250">
                <a:solidFill>
                  <a:srgbClr val="569CD6"/>
                </a:solidFill>
                <a:latin typeface="Consolas"/>
              </a:rPr>
              <a:t>class</a:t>
            </a:r>
            <a:r>
              <a:rPr sz="1250">
                <a:solidFill>
                  <a:srgbClr val="D4D4D4"/>
                </a:solidFill>
                <a:latin typeface="Consolas"/>
              </a:rPr>
              <a:t> </a:t>
            </a:r>
            <a:r>
              <a:rPr sz="1250">
                <a:solidFill>
                  <a:srgbClr val="4EC9B0"/>
                </a:solidFill>
                <a:latin typeface="Consolas"/>
              </a:rPr>
              <a:t>Spring</a:t>
            </a:r>
            <a:r>
              <a:rPr sz="1250">
                <a:solidFill>
                  <a:srgbClr val="D4D4D4"/>
                </a:solidFill>
                <a:latin typeface="Consolas"/>
              </a:rPr>
              <a:t> </a:t>
            </a:r>
            <a:r>
              <a:rPr sz="1250">
                <a:solidFill>
                  <a:srgbClr val="569CD6"/>
                </a:solidFill>
                <a:latin typeface="Consolas"/>
              </a:rPr>
              <a:t>final</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public</a:t>
            </a:r>
            <a:r>
              <a:rPr sz="1250">
                <a:solidFill>
                  <a:srgbClr val="D4D4D4"/>
                </a:solidFill>
                <a:latin typeface="Consolas"/>
              </a:rPr>
              <a:t> </a:t>
            </a:r>
            <a:r>
              <a:rPr sz="1250">
                <a:solidFill>
                  <a:srgbClr val="D4D4D4"/>
                </a:solidFill>
                <a:latin typeface="Consolas"/>
              </a:rPr>
              <a:t>Component</a:t>
            </a:r>
            <a:r>
              <a:rPr sz="1250">
                <a:solidFill>
                  <a:srgbClr val="D4D4D4"/>
                </a:solidFill>
                <a:latin typeface="Consolas"/>
              </a:rPr>
              <a:t>&lt;</a:t>
            </a:r>
            <a:r>
              <a:rPr sz="1250">
                <a:solidFill>
                  <a:srgbClr val="B5CEA8"/>
                </a:solidFill>
                <a:latin typeface="Consolas"/>
              </a:rPr>
              <a:t>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0 states!</a:t>
            </a:r>
          </a:p>
          <a:p>
            <a:pPr>
              <a:spcAft>
                <a:spcPts val="100"/>
              </a:spcAft>
            </a:pPr>
            <a:r>
              <a:rPr sz="1250">
                <a:solidFill>
                  <a:srgbClr val="D4D4D4"/>
                </a:solidFill>
                <a:latin typeface="Consolas"/>
              </a:rPr>
              <a:t>    </a:t>
            </a:r>
            <a:r>
              <a:rPr sz="1250">
                <a:solidFill>
                  <a:srgbClr val="4EC9B0"/>
                </a:solidFill>
                <a:latin typeface="Consolas"/>
              </a:rPr>
              <a:t>double</a:t>
            </a:r>
            <a:r>
              <a:rPr sz="1250">
                <a:solidFill>
                  <a:srgbClr val="D4D4D4"/>
                </a:solidFill>
                <a:latin typeface="Consolas"/>
              </a:rPr>
              <a:t> </a:t>
            </a:r>
            <a:r>
              <a:rPr sz="1250">
                <a:solidFill>
                  <a:srgbClr val="D4D4D4"/>
                </a:solidFill>
                <a:latin typeface="Consolas"/>
              </a:rPr>
              <a:t>m_stiffness</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m_rest_length</a:t>
            </a:r>
            <a:r>
              <a:rPr sz="1250">
                <a:solidFill>
                  <a:srgbClr val="D4D4D4"/>
                </a:solidFill>
                <a:latin typeface="Consolas"/>
              </a:rPr>
              <a:t>;</a:t>
            </a:r>
          </a:p>
          <a:p>
            <a:pPr>
              <a:spcAft>
                <a:spcPts val="100"/>
              </a:spcAft>
            </a:pPr>
            <a:r>
              <a:rPr sz="1250">
                <a:solidFill>
                  <a:srgbClr val="569CD6"/>
                </a:solidFill>
                <a:latin typeface="Consolas"/>
              </a:rPr>
              <a:t>public</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Registry</a:t>
            </a:r>
            <a:r>
              <a:rPr sz="1250">
                <a:solidFill>
                  <a:srgbClr val="D4D4D4"/>
                </a:solidFill>
                <a:latin typeface="Consolas"/>
              </a:rPr>
              <a:t>&gt;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compute</a:t>
            </a:r>
            <a:r>
              <a:rPr sz="1250">
                <a:solidFill>
                  <a:srgbClr val="D4D4D4"/>
                </a:solidFill>
                <a:latin typeface="Consolas"/>
              </a:rPr>
              <a: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TagSet1</a:t>
            </a:r>
            <a:r>
              <a:rPr sz="1250">
                <a:solidFill>
                  <a:srgbClr val="D4D4D4"/>
                </a:solidFill>
                <a:latin typeface="Consolas"/>
              </a:rPr>
              <a:t>:</a:t>
            </a:r>
            <a:r>
              <a:rPr sz="1250">
                <a:solidFill>
                  <a:srgbClr val="D4D4D4"/>
                </a:solidFill>
                <a:latin typeface="Consolas"/>
              </a:rPr>
              <a:t>:</a:t>
            </a:r>
            <a:r>
              <a:rPr sz="1250">
                <a:solidFill>
                  <a:srgbClr val="D4D4D4"/>
                </a:solidFill>
                <a:latin typeface="Consolas"/>
              </a:rPr>
              <a:t>Force</a:t>
            </a:r>
            <a:r>
              <a:rPr sz="1250">
                <a:solidFill>
                  <a:srgbClr val="D4D4D4"/>
                </a:solidFill>
                <a:latin typeface="Consolas"/>
              </a:rPr>
              <a:t>,</a:t>
            </a:r>
          </a:p>
          <a:p>
            <a:pPr>
              <a:spcAft>
                <a:spcPts val="100"/>
              </a:spcAft>
            </a:pPr>
            <a:r>
              <a:rPr sz="1250">
                <a:solidFill>
                  <a:srgbClr val="D4D4D4"/>
                </a:solidFill>
                <a:latin typeface="Consolas"/>
              </a:rPr>
              <a:t>              </a:t>
            </a:r>
            <a:r>
              <a:rPr sz="1250">
                <a:solidFill>
                  <a:srgbClr val="D4D4D4"/>
                </a:solidFill>
                <a:latin typeface="Consolas"/>
              </a:rPr>
              <a:t>std</a:t>
            </a:r>
            <a:r>
              <a:rPr sz="1250">
                <a:solidFill>
                  <a:srgbClr val="D4D4D4"/>
                </a:solidFill>
                <a:latin typeface="Consolas"/>
              </a:rPr>
              <a: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state</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&amp;</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a:t>
            </a:r>
          </a:p>
          <a:p>
            <a:pPr>
              <a:spcAft>
                <a:spcPts val="100"/>
              </a:spcAft>
            </a:pPr>
            <a:r>
              <a:rPr sz="1250" b="1">
                <a:solidFill>
                  <a:srgbClr val="F2C744"/>
                </a:solidFill>
                <a:latin typeface="Consolas"/>
              </a:rPr>
              <a:t>        </a:t>
            </a:r>
            <a:r>
              <a:rPr sz="1250" b="1">
                <a:solidFill>
                  <a:srgbClr val="F2C744"/>
                </a:solidFill>
                <a:latin typeface="Consolas"/>
              </a:rPr>
              <a:t>T</a:t>
            </a:r>
            <a:r>
              <a:rPr sz="1250" b="1">
                <a:solidFill>
                  <a:srgbClr val="F2C744"/>
                </a:solidFill>
                <a:latin typeface="Consolas"/>
              </a:rPr>
              <a:t> </a:t>
            </a:r>
            <a:r>
              <a:rPr sz="1250" b="1">
                <a:solidFill>
                  <a:srgbClr val="F2C744"/>
                </a:solidFill>
                <a:latin typeface="Consolas"/>
              </a:rPr>
              <a:t>x1</a:t>
            </a:r>
            <a:r>
              <a:rPr sz="1250" b="1">
                <a:solidFill>
                  <a:srgbClr val="F2C744"/>
                </a:solidFill>
                <a:latin typeface="Consolas"/>
              </a:rPr>
              <a:t> </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query</a:t>
            </a:r>
            <a:r>
              <a:rPr sz="1250" b="1">
                <a:solidFill>
                  <a:srgbClr val="F2C744"/>
                </a:solidFill>
                <a:latin typeface="Consolas"/>
              </a:rPr>
              <a:t>&lt;</a:t>
            </a:r>
            <a:r>
              <a:rPr sz="1250" b="1">
                <a:solidFill>
                  <a:srgbClr val="F2C744"/>
                </a:solidFill>
                <a:latin typeface="Consolas"/>
              </a:rPr>
              <a:t>typename</a:t>
            </a:r>
            <a:r>
              <a:rPr sz="1250" b="1">
                <a:solidFill>
                  <a:srgbClr val="F2C744"/>
                </a:solidFill>
                <a:latin typeface="Consolas"/>
              </a:rPr>
              <a:t> </a:t>
            </a:r>
            <a:r>
              <a:rPr sz="1250" b="1">
                <a:solidFill>
                  <a:srgbClr val="F2C744"/>
                </a:solidFill>
                <a:latin typeface="Consolas"/>
              </a:rPr>
              <a:t>TagSet1</a:t>
            </a:r>
            <a:r>
              <a:rPr sz="1250" b="1">
                <a:solidFill>
                  <a:srgbClr val="F2C744"/>
                </a:solidFill>
                <a:latin typeface="Consolas"/>
              </a:rPr>
              <a:t>:</a:t>
            </a:r>
            <a:r>
              <a:rPr sz="1250" b="1">
                <a:solidFill>
                  <a:srgbClr val="F2C744"/>
                </a:solidFill>
                <a:latin typeface="Consolas"/>
              </a:rPr>
              <a:t>:</a:t>
            </a:r>
            <a:r>
              <a:rPr sz="1250" b="1">
                <a:solidFill>
                  <a:srgbClr val="F2C744"/>
                </a:solidFill>
                <a:latin typeface="Consolas"/>
              </a:rPr>
              <a:t>Position</a:t>
            </a:r>
            <a:r>
              <a:rPr sz="1250" b="1">
                <a:solidFill>
                  <a:srgbClr val="F2C744"/>
                </a:solidFill>
                <a:latin typeface="Consolas"/>
              </a:rPr>
              <a:t>&gt;</a:t>
            </a:r>
            <a:r>
              <a:rPr sz="1250" b="1">
                <a:solidFill>
                  <a:srgbClr val="F2C744"/>
                </a:solidFill>
                <a:latin typeface="Consolas"/>
              </a:rPr>
              <a:t>(</a:t>
            </a:r>
            <a:r>
              <a:rPr sz="1250" b="1">
                <a:solidFill>
                  <a:srgbClr val="F2C744"/>
                </a:solidFill>
                <a:latin typeface="Consolas"/>
              </a:rPr>
              <a:t>registry</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state</a:t>
            </a:r>
            <a:r>
              <a:rPr sz="1250" b="1">
                <a:solidFill>
                  <a:srgbClr val="F2C744"/>
                </a:solidFill>
                <a:latin typeface="Consolas"/>
              </a:rPr>
              <a:t>)</a:t>
            </a:r>
            <a:r>
              <a:rPr sz="1250" b="1">
                <a:solidFill>
                  <a:srgbClr val="F2C744"/>
                </a:solidFill>
                <a:latin typeface="Consolas"/>
              </a:rPr>
              <a:t>;</a:t>
            </a:r>
          </a:p>
          <a:p>
            <a:pPr>
              <a:spcAft>
                <a:spcPts val="100"/>
              </a:spcAft>
            </a:pPr>
            <a:r>
              <a:rPr sz="1250" b="1">
                <a:solidFill>
                  <a:srgbClr val="F2C744"/>
                </a:solidFill>
                <a:latin typeface="Consolas"/>
              </a:rPr>
              <a:t>        </a:t>
            </a:r>
            <a:r>
              <a:rPr sz="1250" b="1">
                <a:solidFill>
                  <a:srgbClr val="F2C744"/>
                </a:solidFill>
                <a:latin typeface="Consolas"/>
              </a:rPr>
              <a:t>T</a:t>
            </a:r>
            <a:r>
              <a:rPr sz="1250" b="1">
                <a:solidFill>
                  <a:srgbClr val="F2C744"/>
                </a:solidFill>
                <a:latin typeface="Consolas"/>
              </a:rPr>
              <a:t> </a:t>
            </a:r>
            <a:r>
              <a:rPr sz="1250" b="1">
                <a:solidFill>
                  <a:srgbClr val="F2C744"/>
                </a:solidFill>
                <a:latin typeface="Consolas"/>
              </a:rPr>
              <a:t>x2</a:t>
            </a:r>
            <a:r>
              <a:rPr sz="1250" b="1">
                <a:solidFill>
                  <a:srgbClr val="F2C744"/>
                </a:solidFill>
                <a:latin typeface="Consolas"/>
              </a:rPr>
              <a:t> </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query</a:t>
            </a:r>
            <a:r>
              <a:rPr sz="1250" b="1">
                <a:solidFill>
                  <a:srgbClr val="F2C744"/>
                </a:solidFill>
                <a:latin typeface="Consolas"/>
              </a:rPr>
              <a:t>&lt;</a:t>
            </a:r>
            <a:r>
              <a:rPr sz="1250" b="1">
                <a:solidFill>
                  <a:srgbClr val="F2C744"/>
                </a:solidFill>
                <a:latin typeface="Consolas"/>
              </a:rPr>
              <a:t>typename</a:t>
            </a:r>
            <a:r>
              <a:rPr sz="1250" b="1">
                <a:solidFill>
                  <a:srgbClr val="F2C744"/>
                </a:solidFill>
                <a:latin typeface="Consolas"/>
              </a:rPr>
              <a:t> </a:t>
            </a:r>
            <a:r>
              <a:rPr sz="1250" b="1">
                <a:solidFill>
                  <a:srgbClr val="F2C744"/>
                </a:solidFill>
                <a:latin typeface="Consolas"/>
              </a:rPr>
              <a:t>TagSet2</a:t>
            </a:r>
            <a:r>
              <a:rPr sz="1250" b="1">
                <a:solidFill>
                  <a:srgbClr val="F2C744"/>
                </a:solidFill>
                <a:latin typeface="Consolas"/>
              </a:rPr>
              <a:t>:</a:t>
            </a:r>
            <a:r>
              <a:rPr sz="1250" b="1">
                <a:solidFill>
                  <a:srgbClr val="F2C744"/>
                </a:solidFill>
                <a:latin typeface="Consolas"/>
              </a:rPr>
              <a:t>:</a:t>
            </a:r>
            <a:r>
              <a:rPr sz="1250" b="1">
                <a:solidFill>
                  <a:srgbClr val="F2C744"/>
                </a:solidFill>
                <a:latin typeface="Consolas"/>
              </a:rPr>
              <a:t>Position</a:t>
            </a:r>
            <a:r>
              <a:rPr sz="1250" b="1">
                <a:solidFill>
                  <a:srgbClr val="F2C744"/>
                </a:solidFill>
                <a:latin typeface="Consolas"/>
              </a:rPr>
              <a:t>&gt;</a:t>
            </a:r>
            <a:r>
              <a:rPr sz="1250" b="1">
                <a:solidFill>
                  <a:srgbClr val="F2C744"/>
                </a:solidFill>
                <a:latin typeface="Consolas"/>
              </a:rPr>
              <a:t>(</a:t>
            </a:r>
            <a:r>
              <a:rPr sz="1250" b="1">
                <a:solidFill>
                  <a:srgbClr val="F2C744"/>
                </a:solidFill>
                <a:latin typeface="Consolas"/>
              </a:rPr>
              <a:t>registry</a:t>
            </a:r>
            <a:r>
              <a:rPr sz="1250" b="1">
                <a:solidFill>
                  <a:srgbClr val="F2C744"/>
                </a:solidFill>
                <a:latin typeface="Consolas"/>
              </a:rPr>
              <a:t>,</a:t>
            </a:r>
            <a:r>
              <a:rPr sz="1250" b="1">
                <a:solidFill>
                  <a:srgbClr val="F2C744"/>
                </a:solidFill>
                <a:latin typeface="Consolas"/>
              </a:rPr>
              <a:t> </a:t>
            </a:r>
            <a:r>
              <a:rPr sz="1250" b="1">
                <a:solidFill>
                  <a:srgbClr val="F2C744"/>
                </a:solidFill>
                <a:latin typeface="Consolas"/>
              </a:rPr>
              <a:t>state</a:t>
            </a:r>
            <a:r>
              <a:rPr sz="1250" b="1">
                <a:solidFill>
                  <a:srgbClr val="F2C744"/>
                </a:solidFill>
                <a:latin typeface="Consolas"/>
              </a:rPr>
              <a:t>)</a:t>
            </a:r>
            <a:r>
              <a:rPr sz="1250" b="1">
                <a:solidFill>
                  <a:srgbClr val="F2C744"/>
                </a:solidFill>
                <a:latin typeface="Consolas"/>
              </a:rPr>
              <a: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extension</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x1</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x2</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a:t>
            </a:r>
            <a:r>
              <a:rPr sz="1250">
                <a:solidFill>
                  <a:srgbClr val="D4D4D4"/>
                </a:solidFill>
                <a:latin typeface="Consolas"/>
              </a:rPr>
              <a:t>m_rest_length</a:t>
            </a:r>
            <a:r>
              <a:rPr sz="1250">
                <a:solidFill>
                  <a:srgbClr val="D4D4D4"/>
                </a:solidFill>
                <a:latin typeface="Consolas"/>
              </a:rPr>
              <a:t>)</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return</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T</a:t>
            </a:r>
            <a:r>
              <a:rPr sz="1250">
                <a:solidFill>
                  <a:srgbClr val="D4D4D4"/>
                </a:solidFill>
                <a:latin typeface="Consolas"/>
              </a:rPr>
              <a:t>(</a:t>
            </a:r>
            <a:r>
              <a:rPr sz="1250">
                <a:solidFill>
                  <a:srgbClr val="D4D4D4"/>
                </a:solidFill>
                <a:latin typeface="Consolas"/>
              </a:rPr>
              <a:t>m_stiffness</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extension</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Hooke's law</a:t>
            </a:r>
          </a:p>
          <a:p>
            <a:pPr>
              <a:spcAft>
                <a:spcPts val="100"/>
              </a:spcAft>
            </a:pPr>
            <a:r>
              <a:rPr sz="1250">
                <a:solidFill>
                  <a:srgbClr val="D4D4D4"/>
                </a:solidFill>
                <a:latin typeface="Consolas"/>
              </a:rPr>
              <a:t>    </a:t>
            </a:r>
            <a:r>
              <a:rPr sz="1250">
                <a:solidFill>
                  <a:srgbClr val="D4D4D4"/>
                </a:solidFill>
                <a:latin typeface="Consolas"/>
              </a:rPr>
              <a:t>}</a:t>
            </a:r>
          </a:p>
          <a:p>
            <a:pPr>
              <a:spcAft>
                <a:spcPts val="100"/>
              </a:spcAft>
            </a:pPr>
            <a:r>
              <a:rPr sz="1250">
                <a:latin typeface="Consolas"/>
              </a:rPr>
              <a:t> </a:t>
            </a:r>
          </a:p>
          <a:p>
            <a:pPr>
              <a:spcAft>
                <a:spcPts val="100"/>
              </a:spcAft>
            </a:pPr>
            <a:r>
              <a:rPr sz="1250">
                <a:solidFill>
                  <a:srgbClr val="D4D4D4"/>
                </a:solidFill>
                <a:latin typeface="Consolas"/>
              </a:rPr>
              <a:t>    </a:t>
            </a:r>
            <a:r>
              <a:rPr sz="1250">
                <a:solidFill>
                  <a:srgbClr val="569CD6"/>
                </a:solidFill>
                <a:latin typeface="Consolas"/>
              </a:rPr>
              <a:t>template</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Registry</a:t>
            </a:r>
            <a:r>
              <a:rPr sz="1250">
                <a:solidFill>
                  <a:srgbClr val="D4D4D4"/>
                </a:solidFill>
                <a:latin typeface="Consolas"/>
              </a:rPr>
              <a:t>&gt;</a:t>
            </a:r>
          </a:p>
          <a:p>
            <a:pPr>
              <a:spcAft>
                <a:spcPts val="100"/>
              </a:spcAft>
            </a:pPr>
            <a:r>
              <a:rPr sz="1250">
                <a:solidFill>
                  <a:srgbClr val="D4D4D4"/>
                </a:solidFill>
                <a:latin typeface="Consolas"/>
              </a:rPr>
              <a:t>    </a:t>
            </a:r>
            <a:r>
              <a:rPr sz="1250">
                <a:solidFill>
                  <a:srgbClr val="D4D4D4"/>
                </a:solidFill>
                <a:latin typeface="Consolas"/>
              </a:rPr>
              <a:t>T</a:t>
            </a:r>
            <a:r>
              <a:rPr sz="1250">
                <a:solidFill>
                  <a:srgbClr val="D4D4D4"/>
                </a:solidFill>
                <a:latin typeface="Consolas"/>
              </a:rPr>
              <a:t> </a:t>
            </a:r>
            <a:r>
              <a:rPr sz="1250">
                <a:solidFill>
                  <a:srgbClr val="D4D4D4"/>
                </a:solidFill>
                <a:latin typeface="Consolas"/>
              </a:rPr>
              <a:t>compute</a:t>
            </a:r>
            <a:r>
              <a:rPr sz="1250">
                <a:solidFill>
                  <a:srgbClr val="D4D4D4"/>
                </a:solidFill>
                <a:latin typeface="Consolas"/>
              </a:rPr>
              <a: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TagSet2</a:t>
            </a:r>
            <a:r>
              <a:rPr sz="1250">
                <a:solidFill>
                  <a:srgbClr val="D4D4D4"/>
                </a:solidFill>
                <a:latin typeface="Consolas"/>
              </a:rPr>
              <a:t>:</a:t>
            </a:r>
            <a:r>
              <a:rPr sz="1250">
                <a:solidFill>
                  <a:srgbClr val="D4D4D4"/>
                </a:solidFill>
                <a:latin typeface="Consolas"/>
              </a:rPr>
              <a:t>:</a:t>
            </a:r>
            <a:r>
              <a:rPr sz="1250">
                <a:solidFill>
                  <a:srgbClr val="D4D4D4"/>
                </a:solidFill>
                <a:latin typeface="Consolas"/>
              </a:rPr>
              <a:t>Force</a:t>
            </a:r>
            <a:r>
              <a:rPr sz="1250">
                <a:solidFill>
                  <a:srgbClr val="D4D4D4"/>
                </a:solidFill>
                <a:latin typeface="Consolas"/>
              </a:rPr>
              <a:t>,</a:t>
            </a:r>
          </a:p>
          <a:p>
            <a:pPr>
              <a:spcAft>
                <a:spcPts val="100"/>
              </a:spcAft>
            </a:pPr>
            <a:r>
              <a:rPr sz="1250">
                <a:solidFill>
                  <a:srgbClr val="D4D4D4"/>
                </a:solidFill>
                <a:latin typeface="Consolas"/>
              </a:rPr>
              <a:t>              </a:t>
            </a:r>
            <a:r>
              <a:rPr sz="1250">
                <a:solidFill>
                  <a:srgbClr val="D4D4D4"/>
                </a:solidFill>
                <a:latin typeface="Consolas"/>
              </a:rPr>
              <a:t>std</a:t>
            </a:r>
            <a:r>
              <a:rPr sz="1250">
                <a:solidFill>
                  <a:srgbClr val="D4D4D4"/>
                </a:solidFill>
                <a:latin typeface="Consolas"/>
              </a:rPr>
              <a: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T</a:t>
            </a:r>
            <a:r>
              <a:rPr sz="1250">
                <a:solidFill>
                  <a:srgbClr val="D4D4D4"/>
                </a:solidFill>
                <a:latin typeface="Consolas"/>
              </a:rPr>
              <a:t>&gt;</a:t>
            </a:r>
            <a:r>
              <a:rPr sz="1250">
                <a:solidFill>
                  <a:srgbClr val="D4D4D4"/>
                </a:solidFill>
                <a:latin typeface="Consolas"/>
              </a:rPr>
              <a:t> </a:t>
            </a:r>
            <a:r>
              <a:rPr sz="1250">
                <a:solidFill>
                  <a:srgbClr val="D4D4D4"/>
                </a:solidFill>
                <a:latin typeface="Consolas"/>
              </a:rPr>
              <a:t>state</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&amp;</a:t>
            </a:r>
            <a:r>
              <a:rPr sz="1250">
                <a:solidFill>
                  <a:srgbClr val="D4D4D4"/>
                </a:solidFill>
                <a:latin typeface="Consolas"/>
              </a:rPr>
              <a:t> </a:t>
            </a:r>
            <a:r>
              <a:rPr sz="1250">
                <a:solidFill>
                  <a:srgbClr val="D4D4D4"/>
                </a:solidFill>
                <a:latin typeface="Consolas"/>
              </a:rPr>
              <a:t>registry</a:t>
            </a:r>
            <a:r>
              <a:rPr sz="1250">
                <a:solidFill>
                  <a:srgbClr val="D4D4D4"/>
                </a:solidFill>
                <a:latin typeface="Consolas"/>
              </a:rPr>
              <a:t>)</a:t>
            </a:r>
            <a:r>
              <a:rPr sz="1250">
                <a:solidFill>
                  <a:srgbClr val="D4D4D4"/>
                </a:solidFill>
                <a:latin typeface="Consolas"/>
              </a:rPr>
              <a:t> </a:t>
            </a:r>
            <a:r>
              <a:rPr sz="1250">
                <a:solidFill>
                  <a:srgbClr val="569CD6"/>
                </a:solidFill>
                <a:latin typeface="Consolas"/>
              </a:rPr>
              <a:t>const</a:t>
            </a:r>
            <a:r>
              <a:rPr sz="1250">
                <a:solidFill>
                  <a:srgbClr val="D4D4D4"/>
                </a:solidFill>
                <a:latin typeface="Consolas"/>
              </a:rPr>
              <a:t> </a:t>
            </a:r>
            <a:r>
              <a:rPr sz="1250">
                <a:solidFill>
                  <a:srgbClr val="D4D4D4"/>
                </a:solidFill>
                <a:latin typeface="Consolas"/>
              </a:rPr>
              <a:t>{</a:t>
            </a:r>
          </a:p>
          <a:p>
            <a:pPr>
              <a:spcAft>
                <a:spcPts val="100"/>
              </a:spcAft>
            </a:pPr>
            <a:r>
              <a:rPr sz="1250">
                <a:solidFill>
                  <a:srgbClr val="D4D4D4"/>
                </a:solidFill>
                <a:latin typeface="Consolas"/>
              </a:rPr>
              <a:t>        </a:t>
            </a:r>
            <a:r>
              <a:rPr sz="1250">
                <a:solidFill>
                  <a:srgbClr val="569CD6"/>
                </a:solidFill>
                <a:latin typeface="Consolas"/>
              </a:rPr>
              <a:t>return</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query</a:t>
            </a:r>
            <a:r>
              <a:rPr sz="1250">
                <a:solidFill>
                  <a:srgbClr val="D4D4D4"/>
                </a:solidFill>
                <a:latin typeface="Consolas"/>
              </a:rPr>
              <a:t>&lt;</a:t>
            </a:r>
            <a:r>
              <a:rPr sz="1250">
                <a:solidFill>
                  <a:srgbClr val="569CD6"/>
                </a:solidFill>
                <a:latin typeface="Consolas"/>
              </a:rPr>
              <a:t>typename</a:t>
            </a:r>
            <a:r>
              <a:rPr sz="1250">
                <a:solidFill>
                  <a:srgbClr val="D4D4D4"/>
                </a:solidFill>
                <a:latin typeface="Consolas"/>
              </a:rPr>
              <a:t> </a:t>
            </a:r>
            <a:r>
              <a:rPr sz="1250">
                <a:solidFill>
                  <a:srgbClr val="4EC9B0"/>
                </a:solidFill>
                <a:latin typeface="Consolas"/>
              </a:rPr>
              <a:t>TagSet1</a:t>
            </a:r>
            <a:r>
              <a:rPr sz="1250">
                <a:solidFill>
                  <a:srgbClr val="D4D4D4"/>
                </a:solidFill>
                <a:latin typeface="Consolas"/>
              </a:rPr>
              <a:t>:</a:t>
            </a:r>
            <a:r>
              <a:rPr sz="1250">
                <a:solidFill>
                  <a:srgbClr val="D4D4D4"/>
                </a:solidFill>
                <a:latin typeface="Consolas"/>
              </a:rPr>
              <a:t>:</a:t>
            </a:r>
            <a:r>
              <a:rPr sz="1250">
                <a:solidFill>
                  <a:srgbClr val="D4D4D4"/>
                </a:solidFill>
                <a:latin typeface="Consolas"/>
              </a:rPr>
              <a:t>Force</a:t>
            </a:r>
            <a:r>
              <a:rPr sz="1250">
                <a:solidFill>
                  <a:srgbClr val="D4D4D4"/>
                </a:solidFill>
                <a:latin typeface="Consolas"/>
              </a:rPr>
              <a:t>&gt;</a:t>
            </a:r>
            <a:r>
              <a:rPr sz="1250">
                <a:solidFill>
                  <a:srgbClr val="D4D4D4"/>
                </a:solidFill>
                <a:latin typeface="Consolas"/>
              </a:rPr>
              <a:t>(</a:t>
            </a:r>
            <a:r>
              <a:rPr sz="1250">
                <a:solidFill>
                  <a:srgbClr val="D4D4D4"/>
                </a:solidFill>
                <a:latin typeface="Consolas"/>
              </a:rPr>
              <a:t>registry</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state</a:t>
            </a:r>
            <a:r>
              <a:rPr sz="1250">
                <a:solidFill>
                  <a:srgbClr val="D4D4D4"/>
                </a:solidFill>
                <a:latin typeface="Consolas"/>
              </a:rPr>
              <a:t>)</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Newton's 3rd</a:t>
            </a:r>
          </a:p>
          <a:p>
            <a:pPr>
              <a:spcAft>
                <a:spcPts val="100"/>
              </a:spcAft>
            </a:pPr>
            <a:r>
              <a:rPr sz="1250">
                <a:solidFill>
                  <a:srgbClr val="D4D4D4"/>
                </a:solidFill>
                <a:latin typeface="Consolas"/>
              </a:rPr>
              <a:t>    </a:t>
            </a:r>
            <a:r>
              <a:rPr sz="1250">
                <a:solidFill>
                  <a:srgbClr val="D4D4D4"/>
                </a:solidFill>
                <a:latin typeface="Consolas"/>
              </a:rPr>
              <a:t>}</a:t>
            </a:r>
          </a:p>
          <a:p>
            <a:pPr>
              <a:spcAft>
                <a:spcPts val="100"/>
              </a:spcAft>
            </a:pPr>
            <a:r>
              <a:rPr sz="1250">
                <a:solidFill>
                  <a:srgbClr val="D4D4D4"/>
                </a:solidFill>
                <a:latin typeface="Consolas"/>
              </a:rPr>
              <a:t>}</a:t>
            </a:r>
            <a:r>
              <a:rPr sz="1250">
                <a:solidFill>
                  <a:srgbClr val="D4D4D4"/>
                </a:solidFill>
                <a:latin typeface="Consolas"/>
              </a:rPr>
              <a:t>;</a:t>
            </a:r>
          </a:p>
        </p:txBody>
      </p:sp>
      <p:sp>
        <p:nvSpPr>
          <p:cNvPr id="6" name="TextBox 5"/>
          <p:cNvSpPr txBox="1"/>
          <p:nvPr/>
        </p:nvSpPr>
        <p:spPr>
          <a:xfrm>
            <a:off x="8595360" y="1737360"/>
            <a:ext cx="3200400" cy="4572000"/>
          </a:xfrm>
          <a:prstGeom prst="rect">
            <a:avLst/>
          </a:prstGeom>
          <a:noFill/>
        </p:spPr>
        <p:txBody>
          <a:bodyPr wrap="square">
            <a:spAutoFit/>
          </a:bodyPr>
          <a:lstStyle/>
          <a:p>
            <a:pPr>
              <a:spcAft>
                <a:spcPts val="800"/>
              </a:spcAft>
            </a:pPr>
            <a:r>
              <a:rPr sz="1600">
                <a:solidFill>
                  <a:srgbClr val="35C4E8"/>
                </a:solidFill>
                <a:latin typeface="Segoe UI"/>
              </a:rPr>
              <a:t>•  </a:t>
            </a:r>
            <a:r>
              <a:rPr sz="1600" b="1">
                <a:solidFill>
                  <a:srgbClr val="F2C744"/>
                </a:solidFill>
                <a:latin typeface="Segoe UI"/>
              </a:rPr>
              <a:t>Queries positions, provides forces</a:t>
            </a:r>
          </a:p>
          <a:p>
            <a:pPr>
              <a:spcAft>
                <a:spcPts val="800"/>
              </a:spcAft>
            </a:pPr>
            <a:r>
              <a:rPr sz="1600">
                <a:solidFill>
                  <a:srgbClr val="35C4E8"/>
                </a:solidFill>
                <a:latin typeface="Segoe UI"/>
              </a:rPr>
              <a:t>•  </a:t>
            </a:r>
            <a:r>
              <a:rPr sz="1600" b="0">
                <a:solidFill>
                  <a:srgbClr val="D8E2EC"/>
                </a:solidFill>
                <a:latin typeface="Segoe UI"/>
              </a:rPr>
              <a:t>Doesn't store, doesn't integrate, doesn't allocate</a:t>
            </a:r>
          </a:p>
          <a:p>
            <a:pPr>
              <a:spcAft>
                <a:spcPts val="800"/>
              </a:spcAft>
            </a:pPr>
            <a:r>
              <a:rPr sz="1600">
                <a:solidFill>
                  <a:srgbClr val="35C4E8"/>
                </a:solidFill>
                <a:latin typeface="Segoe UI"/>
              </a:rPr>
              <a:t>•  </a:t>
            </a:r>
            <a:r>
              <a:rPr sz="1600" b="0">
                <a:solidFill>
                  <a:srgbClr val="D8E2EC"/>
                </a:solidFill>
                <a:latin typeface="Segoe UI"/>
              </a:rPr>
              <a:t>Never includes the mass header</a:t>
            </a:r>
          </a:p>
          <a:p>
            <a:pPr>
              <a:spcAft>
                <a:spcPts val="800"/>
              </a:spcAft>
            </a:pPr>
            <a:r>
              <a:rPr sz="1600">
                <a:solidFill>
                  <a:srgbClr val="35C4E8"/>
                </a:solidFill>
                <a:latin typeface="Segoe UI"/>
              </a:rPr>
              <a:t>•  </a:t>
            </a:r>
            <a:r>
              <a:rPr sz="1600" b="0">
                <a:solidFill>
                  <a:srgbClr val="D8E2EC"/>
                </a:solidFill>
                <a:latin typeface="Segoe UI"/>
              </a:rPr>
              <a:t>Newton's 3rd law is one line</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WALKTHROUGH 4/5</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EnergyMonitor: system totals from component data</a:t>
            </a:r>
          </a:p>
        </p:txBody>
      </p:sp>
      <p:sp>
        <p:nvSpPr>
          <p:cNvPr id="4" name="Rounded Rectangle 3"/>
          <p:cNvSpPr/>
          <p:nvPr/>
        </p:nvSpPr>
        <p:spPr>
          <a:xfrm>
            <a:off x="548640" y="1508760"/>
            <a:ext cx="7863840" cy="402336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energy"/>
          <p:cNvSpPr txBox="1"/>
          <p:nvPr/>
        </p:nvSpPr>
        <p:spPr>
          <a:xfrm>
            <a:off x="713232" y="1673352"/>
            <a:ext cx="7534656" cy="3694176"/>
          </a:xfrm>
          <a:prstGeom prst="rect">
            <a:avLst/>
          </a:prstGeom>
          <a:noFill/>
        </p:spPr>
        <p:txBody>
          <a:bodyPr wrap="none">
            <a:spAutoFit/>
          </a:bodyPr>
          <a:lstStyle/>
          <a:p>
            <a:pPr>
              <a:spcAft>
                <a:spcPts val="100"/>
              </a:spcAft>
            </a:pPr>
            <a:r>
              <a:rPr sz="1300">
                <a:solidFill>
                  <a:srgbClr val="569CD6"/>
                </a:solidFill>
                <a:latin typeface="Consolas"/>
              </a:rPr>
              <a:t>template</a:t>
            </a:r>
            <a:r>
              <a:rPr sz="1300">
                <a:solidFill>
                  <a:srgbClr val="D4D4D4"/>
                </a:solidFill>
                <a:latin typeface="Consolas"/>
              </a:rPr>
              <a:t>&lt;</a:t>
            </a:r>
            <a:r>
              <a:rPr sz="1300">
                <a:solidFill>
                  <a:srgbClr val="D4D4D4"/>
                </a:solidFill>
                <a:latin typeface="Consolas"/>
              </a:rPr>
              <a:t>Scalar</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4EC9B0"/>
                </a:solidFill>
                <a:latin typeface="Consolas"/>
              </a:rPr>
              <a:t>double</a:t>
            </a:r>
            <a:r>
              <a:rPr sz="1300">
                <a:solidFill>
                  <a:srgbClr val="D4D4D4"/>
                </a:solidFill>
                <a:latin typeface="Consolas"/>
              </a:rPr>
              <a:t>&gt;</a:t>
            </a:r>
          </a:p>
          <a:p>
            <a:pPr>
              <a:spcAft>
                <a:spcPts val="100"/>
              </a:spcAft>
            </a:pPr>
            <a:r>
              <a:rPr sz="1300">
                <a:solidFill>
                  <a:srgbClr val="569CD6"/>
                </a:solidFill>
                <a:latin typeface="Consolas"/>
              </a:rPr>
              <a:t>class</a:t>
            </a:r>
            <a:r>
              <a:rPr sz="1300">
                <a:solidFill>
                  <a:srgbClr val="D4D4D4"/>
                </a:solidFill>
                <a:latin typeface="Consolas"/>
              </a:rPr>
              <a:t> </a:t>
            </a:r>
            <a:r>
              <a:rPr sz="1300">
                <a:solidFill>
                  <a:srgbClr val="4EC9B0"/>
                </a:solidFill>
                <a:latin typeface="Consolas"/>
              </a:rPr>
              <a:t>EnergyMonitor</a:t>
            </a:r>
            <a:r>
              <a:rPr sz="1300">
                <a:solidFill>
                  <a:srgbClr val="D4D4D4"/>
                </a:solidFill>
                <a:latin typeface="Consolas"/>
              </a:rPr>
              <a:t> </a:t>
            </a:r>
            <a:r>
              <a:rPr sz="1300">
                <a:solidFill>
                  <a:srgbClr val="569CD6"/>
                </a:solidFill>
                <a:latin typeface="Consolas"/>
              </a:rPr>
              <a:t>final</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569CD6"/>
                </a:solidFill>
                <a:latin typeface="Consolas"/>
              </a:rPr>
              <a:t>public</a:t>
            </a:r>
            <a:r>
              <a:rPr sz="1300">
                <a:solidFill>
                  <a:srgbClr val="D4D4D4"/>
                </a:solidFill>
                <a:latin typeface="Consolas"/>
              </a:rPr>
              <a:t> </a:t>
            </a:r>
            <a:r>
              <a:rPr sz="1300">
                <a:solidFill>
                  <a:srgbClr val="D4D4D4"/>
                </a:solidFill>
                <a:latin typeface="Consolas"/>
              </a:rPr>
              <a:t>Component</a:t>
            </a:r>
            <a:r>
              <a:rPr sz="1300">
                <a:solidFill>
                  <a:srgbClr val="D4D4D4"/>
                </a:solidFill>
                <a:latin typeface="Consolas"/>
              </a:rPr>
              <a:t>&lt;</a:t>
            </a:r>
            <a:r>
              <a:rPr sz="1300">
                <a:solidFill>
                  <a:srgbClr val="B5CEA8"/>
                </a:solidFill>
                <a:latin typeface="Consolas"/>
              </a:rPr>
              <a:t>0</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&gt;</a:t>
            </a:r>
            <a:r>
              <a:rPr sz="1300">
                <a:solidFill>
                  <a:srgbClr val="D4D4D4"/>
                </a:solidFill>
                <a:latin typeface="Consolas"/>
              </a:rPr>
              <a:t> </a:t>
            </a:r>
            <a:r>
              <a:rPr sz="1300">
                <a:solidFill>
                  <a:srgbClr val="D4D4D4"/>
                </a:solidFill>
                <a:latin typeface="Consolas"/>
              </a:rPr>
              <a:t>{</a:t>
            </a:r>
          </a:p>
          <a:p>
            <a:pPr>
              <a:spcAft>
                <a:spcPts val="100"/>
              </a:spcAft>
            </a:pPr>
            <a:r>
              <a:rPr sz="1300">
                <a:solidFill>
                  <a:srgbClr val="569CD6"/>
                </a:solidFill>
                <a:latin typeface="Consolas"/>
              </a:rPr>
              <a:t>public</a:t>
            </a:r>
            <a:r>
              <a:rPr sz="1300">
                <a:solidFill>
                  <a:srgbClr val="D4D4D4"/>
                </a:solidFill>
                <a:latin typeface="Consolas"/>
              </a:rPr>
              <a:t>:</a:t>
            </a:r>
          </a:p>
          <a:p>
            <a:pPr>
              <a:spcAft>
                <a:spcPts val="100"/>
              </a:spcAft>
            </a:pPr>
            <a:r>
              <a:rPr sz="1300">
                <a:solidFill>
                  <a:srgbClr val="D4D4D4"/>
                </a:solidFill>
                <a:latin typeface="Consolas"/>
              </a:rPr>
              <a:t>    </a:t>
            </a:r>
            <a:r>
              <a:rPr sz="1300">
                <a:solidFill>
                  <a:srgbClr val="569CD6"/>
                </a:solidFill>
                <a:latin typeface="Consolas"/>
              </a:rPr>
              <a:t>template</a:t>
            </a:r>
            <a:r>
              <a:rPr sz="1300">
                <a:solidFill>
                  <a:srgbClr val="D4D4D4"/>
                </a:solidFill>
                <a:latin typeface="Consolas"/>
              </a:rPr>
              <a:t>&lt;</a:t>
            </a:r>
            <a:r>
              <a:rPr sz="1300">
                <a:solidFill>
                  <a:srgbClr val="569CD6"/>
                </a:solidFill>
                <a:latin typeface="Consolas"/>
              </a:rPr>
              <a:t>typename</a:t>
            </a:r>
            <a:r>
              <a:rPr sz="1300">
                <a:solidFill>
                  <a:srgbClr val="D4D4D4"/>
                </a:solidFill>
                <a:latin typeface="Consolas"/>
              </a:rPr>
              <a:t> </a:t>
            </a:r>
            <a:r>
              <a:rPr sz="1300">
                <a:solidFill>
                  <a:srgbClr val="4EC9B0"/>
                </a:solidFill>
                <a:latin typeface="Consolas"/>
              </a:rPr>
              <a:t>Registry</a:t>
            </a:r>
            <a:r>
              <a:rPr sz="1300">
                <a:solidFill>
                  <a:srgbClr val="D4D4D4"/>
                </a:solidFill>
                <a:latin typeface="Consolas"/>
              </a:rPr>
              <a:t>&gt;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compute</a:t>
            </a:r>
            <a:r>
              <a:rPr sz="1300">
                <a:solidFill>
                  <a:srgbClr val="D4D4D4"/>
                </a:solidFill>
                <a:latin typeface="Consolas"/>
              </a:rPr>
              <a:t>(</a:t>
            </a:r>
            <a:r>
              <a:rPr sz="1300">
                <a:solidFill>
                  <a:srgbClr val="D4D4D4"/>
                </a:solidFill>
                <a:latin typeface="Consolas"/>
              </a:rPr>
              <a:t>system</a:t>
            </a:r>
            <a:r>
              <a:rPr sz="1300">
                <a:solidFill>
                  <a:srgbClr val="D4D4D4"/>
                </a:solidFill>
                <a:latin typeface="Consolas"/>
              </a:rPr>
              <a:t>:</a:t>
            </a:r>
            <a:r>
              <a:rPr sz="1300">
                <a:solidFill>
                  <a:srgbClr val="D4D4D4"/>
                </a:solidFill>
                <a:latin typeface="Consolas"/>
              </a:rPr>
              <a:t>:</a:t>
            </a:r>
            <a:r>
              <a:rPr sz="1300">
                <a:solidFill>
                  <a:srgbClr val="D4D4D4"/>
                </a:solidFill>
                <a:latin typeface="Consolas"/>
              </a:rPr>
              <a:t>TotalEnergy</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std</a:t>
            </a:r>
            <a:r>
              <a:rPr sz="1300">
                <a:solidFill>
                  <a:srgbClr val="D4D4D4"/>
                </a:solidFill>
                <a:latin typeface="Consolas"/>
              </a:rPr>
              <a:t>:</a:t>
            </a:r>
            <a:r>
              <a:rPr sz="1300">
                <a:solidFill>
                  <a:srgbClr val="D4D4D4"/>
                </a:solidFill>
                <a:latin typeface="Consolas"/>
              </a:rPr>
              <a:t>:</a:t>
            </a:r>
            <a:r>
              <a:rPr sz="1300">
                <a:solidFill>
                  <a:srgbClr val="D4D4D4"/>
                </a:solidFill>
                <a:latin typeface="Consolas"/>
              </a:rPr>
              <a:t>span</a:t>
            </a:r>
            <a:r>
              <a:rPr sz="1300">
                <a:solidFill>
                  <a:srgbClr val="D4D4D4"/>
                </a:solidFill>
                <a:latin typeface="Consolas"/>
              </a:rPr>
              <a:t>&lt;</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&gt;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 </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Registry</a:t>
            </a:r>
            <a:r>
              <a:rPr sz="1300">
                <a:solidFill>
                  <a:srgbClr val="D4D4D4"/>
                </a:solidFill>
                <a:latin typeface="Consolas"/>
              </a:rPr>
              <a:t>&amp;</a:t>
            </a:r>
            <a:r>
              <a:rPr sz="1300">
                <a:solidFill>
                  <a:srgbClr val="D4D4D4"/>
                </a:solidFill>
                <a:latin typeface="Consolas"/>
              </a:rPr>
              <a:t> </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m1</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query</a:t>
            </a:r>
            <a:r>
              <a:rPr sz="1300">
                <a:solidFill>
                  <a:srgbClr val="D4D4D4"/>
                </a:solidFill>
                <a:latin typeface="Consolas"/>
              </a:rPr>
              <a:t>&lt;</a:t>
            </a:r>
            <a:r>
              <a:rPr sz="1300">
                <a:solidFill>
                  <a:srgbClr val="D4D4D4"/>
                </a:solidFill>
                <a:latin typeface="Consolas"/>
              </a:rPr>
              <a:t>mass1</a:t>
            </a:r>
            <a:r>
              <a:rPr sz="1300">
                <a:solidFill>
                  <a:srgbClr val="D4D4D4"/>
                </a:solidFill>
                <a:latin typeface="Consolas"/>
              </a:rPr>
              <a:t>:</a:t>
            </a:r>
            <a:r>
              <a:rPr sz="1300">
                <a:solidFill>
                  <a:srgbClr val="D4D4D4"/>
                </a:solidFill>
                <a:latin typeface="Consolas"/>
              </a:rPr>
              <a:t>:</a:t>
            </a:r>
            <a:r>
              <a:rPr sz="1300">
                <a:solidFill>
                  <a:srgbClr val="D4D4D4"/>
                </a:solidFill>
                <a:latin typeface="Consolas"/>
              </a:rPr>
              <a:t>Mass</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v1</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query</a:t>
            </a:r>
            <a:r>
              <a:rPr sz="1300">
                <a:solidFill>
                  <a:srgbClr val="D4D4D4"/>
                </a:solidFill>
                <a:latin typeface="Consolas"/>
              </a:rPr>
              <a:t>&lt;</a:t>
            </a:r>
            <a:r>
              <a:rPr sz="1300">
                <a:solidFill>
                  <a:srgbClr val="D4D4D4"/>
                </a:solidFill>
                <a:latin typeface="Consolas"/>
              </a:rPr>
              <a:t>mass1</a:t>
            </a:r>
            <a:r>
              <a:rPr sz="1300">
                <a:solidFill>
                  <a:srgbClr val="D4D4D4"/>
                </a:solidFill>
                <a:latin typeface="Consolas"/>
              </a:rPr>
              <a:t>:</a:t>
            </a:r>
            <a:r>
              <a:rPr sz="1300">
                <a:solidFill>
                  <a:srgbClr val="D4D4D4"/>
                </a:solidFill>
                <a:latin typeface="Consolas"/>
              </a:rPr>
              <a:t>:</a:t>
            </a:r>
            <a:r>
              <a:rPr sz="1300">
                <a:solidFill>
                  <a:srgbClr val="D4D4D4"/>
                </a:solidFill>
                <a:latin typeface="Consolas"/>
              </a:rPr>
              <a:t>Velocity</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m2</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query</a:t>
            </a:r>
            <a:r>
              <a:rPr sz="1300">
                <a:solidFill>
                  <a:srgbClr val="D4D4D4"/>
                </a:solidFill>
                <a:latin typeface="Consolas"/>
              </a:rPr>
              <a:t>&lt;</a:t>
            </a:r>
            <a:r>
              <a:rPr sz="1300">
                <a:solidFill>
                  <a:srgbClr val="D4D4D4"/>
                </a:solidFill>
                <a:latin typeface="Consolas"/>
              </a:rPr>
              <a:t>mass2</a:t>
            </a:r>
            <a:r>
              <a:rPr sz="1300">
                <a:solidFill>
                  <a:srgbClr val="D4D4D4"/>
                </a:solidFill>
                <a:latin typeface="Consolas"/>
              </a:rPr>
              <a:t>:</a:t>
            </a:r>
            <a:r>
              <a:rPr sz="1300">
                <a:solidFill>
                  <a:srgbClr val="D4D4D4"/>
                </a:solidFill>
                <a:latin typeface="Consolas"/>
              </a:rPr>
              <a:t>:</a:t>
            </a:r>
            <a:r>
              <a:rPr sz="1300">
                <a:solidFill>
                  <a:srgbClr val="D4D4D4"/>
                </a:solidFill>
                <a:latin typeface="Consolas"/>
              </a:rPr>
              <a:t>Mass</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v2</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query</a:t>
            </a:r>
            <a:r>
              <a:rPr sz="1300">
                <a:solidFill>
                  <a:srgbClr val="D4D4D4"/>
                </a:solidFill>
                <a:latin typeface="Consolas"/>
              </a:rPr>
              <a:t>&lt;</a:t>
            </a:r>
            <a:r>
              <a:rPr sz="1300">
                <a:solidFill>
                  <a:srgbClr val="D4D4D4"/>
                </a:solidFill>
                <a:latin typeface="Consolas"/>
              </a:rPr>
              <a:t>mass2</a:t>
            </a:r>
            <a:r>
              <a:rPr sz="1300">
                <a:solidFill>
                  <a:srgbClr val="D4D4D4"/>
                </a:solidFill>
                <a:latin typeface="Consolas"/>
              </a:rPr>
              <a:t>:</a:t>
            </a:r>
            <a:r>
              <a:rPr sz="1300">
                <a:solidFill>
                  <a:srgbClr val="D4D4D4"/>
                </a:solidFill>
                <a:latin typeface="Consolas"/>
              </a:rPr>
              <a:t>:</a:t>
            </a:r>
            <a:r>
              <a:rPr sz="1300">
                <a:solidFill>
                  <a:srgbClr val="D4D4D4"/>
                </a:solidFill>
                <a:latin typeface="Consolas"/>
              </a:rPr>
              <a:t>Velocity</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T</a:t>
            </a:r>
            <a:r>
              <a:rPr sz="1300">
                <a:solidFill>
                  <a:srgbClr val="D4D4D4"/>
                </a:solidFill>
                <a:latin typeface="Consolas"/>
              </a:rPr>
              <a:t> </a:t>
            </a:r>
            <a:r>
              <a:rPr sz="1300">
                <a:solidFill>
                  <a:srgbClr val="D4D4D4"/>
                </a:solidFill>
                <a:latin typeface="Consolas"/>
              </a:rPr>
              <a:t>pe</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query</a:t>
            </a:r>
            <a:r>
              <a:rPr sz="1300">
                <a:solidFill>
                  <a:srgbClr val="D4D4D4"/>
                </a:solidFill>
                <a:latin typeface="Consolas"/>
              </a:rPr>
              <a:t>&lt;</a:t>
            </a:r>
            <a:r>
              <a:rPr sz="1300">
                <a:solidFill>
                  <a:srgbClr val="D4D4D4"/>
                </a:solidFill>
                <a:latin typeface="Consolas"/>
              </a:rPr>
              <a:t>spring</a:t>
            </a:r>
            <a:r>
              <a:rPr sz="1300">
                <a:solidFill>
                  <a:srgbClr val="D4D4D4"/>
                </a:solidFill>
                <a:latin typeface="Consolas"/>
              </a:rPr>
              <a:t>:</a:t>
            </a:r>
            <a:r>
              <a:rPr sz="1300">
                <a:solidFill>
                  <a:srgbClr val="D4D4D4"/>
                </a:solidFill>
                <a:latin typeface="Consolas"/>
              </a:rPr>
              <a:t>:</a:t>
            </a:r>
            <a:r>
              <a:rPr sz="1300">
                <a:solidFill>
                  <a:srgbClr val="D4D4D4"/>
                </a:solidFill>
                <a:latin typeface="Consolas"/>
              </a:rPr>
              <a:t>PotentialEnergy</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registry</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569CD6"/>
                </a:solidFill>
                <a:latin typeface="Consolas"/>
              </a:rPr>
              <a:t>return</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a:t>
            </a:r>
            <a:r>
              <a:rPr sz="1300">
                <a:solidFill>
                  <a:srgbClr val="B5CEA8"/>
                </a:solidFill>
                <a:latin typeface="Consolas"/>
              </a:rPr>
              <a:t>0.5</a:t>
            </a:r>
            <a:r>
              <a:rPr sz="1300">
                <a:solidFill>
                  <a:srgbClr val="D4D4D4"/>
                </a:solidFill>
                <a:latin typeface="Consolas"/>
              </a:rPr>
              <a:t>)</a:t>
            </a:r>
            <a:r>
              <a:rPr sz="1300">
                <a:solidFill>
                  <a:srgbClr val="D4D4D4"/>
                </a:solidFill>
                <a:latin typeface="Consolas"/>
              </a:rPr>
              <a:t>*</a:t>
            </a:r>
            <a:r>
              <a:rPr sz="1300">
                <a:solidFill>
                  <a:srgbClr val="D4D4D4"/>
                </a:solidFill>
                <a:latin typeface="Consolas"/>
              </a:rPr>
              <a:t>m1</a:t>
            </a:r>
            <a:r>
              <a:rPr sz="1300">
                <a:solidFill>
                  <a:srgbClr val="D4D4D4"/>
                </a:solidFill>
                <a:latin typeface="Consolas"/>
              </a:rPr>
              <a:t>*</a:t>
            </a:r>
            <a:r>
              <a:rPr sz="1300">
                <a:solidFill>
                  <a:srgbClr val="D4D4D4"/>
                </a:solidFill>
                <a:latin typeface="Consolas"/>
              </a:rPr>
              <a:t>v1</a:t>
            </a:r>
            <a:r>
              <a:rPr sz="1300">
                <a:solidFill>
                  <a:srgbClr val="D4D4D4"/>
                </a:solidFill>
                <a:latin typeface="Consolas"/>
              </a:rPr>
              <a:t>*</a:t>
            </a:r>
            <a:r>
              <a:rPr sz="1300">
                <a:solidFill>
                  <a:srgbClr val="D4D4D4"/>
                </a:solidFill>
                <a:latin typeface="Consolas"/>
              </a:rPr>
              <a:t>v1</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a:t>
            </a:r>
            <a:r>
              <a:rPr sz="1300">
                <a:solidFill>
                  <a:srgbClr val="B5CEA8"/>
                </a:solidFill>
                <a:latin typeface="Consolas"/>
              </a:rPr>
              <a:t>0.5</a:t>
            </a:r>
            <a:r>
              <a:rPr sz="1300">
                <a:solidFill>
                  <a:srgbClr val="D4D4D4"/>
                </a:solidFill>
                <a:latin typeface="Consolas"/>
              </a:rPr>
              <a:t>)</a:t>
            </a:r>
            <a:r>
              <a:rPr sz="1300">
                <a:solidFill>
                  <a:srgbClr val="D4D4D4"/>
                </a:solidFill>
                <a:latin typeface="Consolas"/>
              </a:rPr>
              <a:t>*</a:t>
            </a:r>
            <a:r>
              <a:rPr sz="1300">
                <a:solidFill>
                  <a:srgbClr val="D4D4D4"/>
                </a:solidFill>
                <a:latin typeface="Consolas"/>
              </a:rPr>
              <a:t>m2</a:t>
            </a:r>
            <a:r>
              <a:rPr sz="1300">
                <a:solidFill>
                  <a:srgbClr val="D4D4D4"/>
                </a:solidFill>
                <a:latin typeface="Consolas"/>
              </a:rPr>
              <a:t>*</a:t>
            </a:r>
            <a:r>
              <a:rPr sz="1300">
                <a:solidFill>
                  <a:srgbClr val="D4D4D4"/>
                </a:solidFill>
                <a:latin typeface="Consolas"/>
              </a:rPr>
              <a:t>v2</a:t>
            </a:r>
            <a:r>
              <a:rPr sz="1300">
                <a:solidFill>
                  <a:srgbClr val="D4D4D4"/>
                </a:solidFill>
                <a:latin typeface="Consolas"/>
              </a:rPr>
              <a:t>*</a:t>
            </a:r>
            <a:r>
              <a:rPr sz="1300">
                <a:solidFill>
                  <a:srgbClr val="D4D4D4"/>
                </a:solidFill>
                <a:latin typeface="Consolas"/>
              </a:rPr>
              <a:t>v2</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pe</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a:t>
            </a:r>
          </a:p>
          <a:p>
            <a:pPr>
              <a:spcAft>
                <a:spcPts val="100"/>
              </a:spcAft>
            </a:pPr>
            <a:r>
              <a:rPr sz="1300">
                <a:solidFill>
                  <a:srgbClr val="D4D4D4"/>
                </a:solidFill>
                <a:latin typeface="Consolas"/>
              </a:rPr>
              <a:t>}</a:t>
            </a:r>
            <a:r>
              <a:rPr sz="1300">
                <a:solidFill>
                  <a:srgbClr val="D4D4D4"/>
                </a:solidFill>
                <a:latin typeface="Consolas"/>
              </a:rPr>
              <a:t>;</a:t>
            </a:r>
          </a:p>
        </p:txBody>
      </p:sp>
      <p:sp>
        <p:nvSpPr>
          <p:cNvPr id="6" name="TextBox 5"/>
          <p:cNvSpPr txBox="1"/>
          <p:nvPr/>
        </p:nvSpPr>
        <p:spPr>
          <a:xfrm>
            <a:off x="8595360" y="1737360"/>
            <a:ext cx="3200400" cy="4572000"/>
          </a:xfrm>
          <a:prstGeom prst="rect">
            <a:avLst/>
          </a:prstGeom>
          <a:noFill/>
        </p:spPr>
        <p:txBody>
          <a:bodyPr wrap="square">
            <a:spAutoFit/>
          </a:bodyPr>
          <a:lstStyle/>
          <a:p>
            <a:pPr>
              <a:spcAft>
                <a:spcPts val="800"/>
              </a:spcAft>
            </a:pPr>
            <a:r>
              <a:rPr sz="1600">
                <a:solidFill>
                  <a:srgbClr val="35C4E8"/>
                </a:solidFill>
                <a:latin typeface="Segoe UI"/>
              </a:rPr>
              <a:t>•  </a:t>
            </a:r>
            <a:r>
              <a:rPr sz="1600" b="1">
                <a:solidFill>
                  <a:srgbClr val="F2C744"/>
                </a:solidFill>
                <a:latin typeface="Segoe UI"/>
              </a:rPr>
              <a:t>Asks for quantities by tag</a:t>
            </a:r>
          </a:p>
          <a:p>
            <a:pPr>
              <a:spcAft>
                <a:spcPts val="800"/>
              </a:spcAft>
            </a:pPr>
            <a:r>
              <a:rPr sz="1600">
                <a:solidFill>
                  <a:srgbClr val="35C4E8"/>
                </a:solidFill>
                <a:latin typeface="Segoe UI"/>
              </a:rPr>
              <a:t>•  </a:t>
            </a:r>
            <a:r>
              <a:rPr sz="1600" b="0">
                <a:solidFill>
                  <a:srgbClr val="D8E2EC"/>
                </a:solidFill>
                <a:latin typeface="Segoe UI"/>
              </a:rPr>
              <a:t>Has no idea a spring provides the PE</a:t>
            </a:r>
          </a:p>
          <a:p>
            <a:pPr>
              <a:spcAft>
                <a:spcPts val="800"/>
              </a:spcAft>
            </a:pPr>
            <a:r>
              <a:rPr sz="1600">
                <a:solidFill>
                  <a:srgbClr val="35C4E8"/>
                </a:solidFill>
                <a:latin typeface="Segoe UI"/>
              </a:rPr>
              <a:t>•  </a:t>
            </a:r>
            <a:r>
              <a:rPr sz="1600" b="0">
                <a:solidFill>
                  <a:srgbClr val="D8E2EC"/>
                </a:solidFill>
                <a:latin typeface="Segoe UI"/>
              </a:rPr>
              <a:t>Swap the spring for gravity — this file doesn't change</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WALKTHROUGH 5/5</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Wiring it together</a:t>
            </a:r>
          </a:p>
        </p:txBody>
      </p:sp>
      <p:sp>
        <p:nvSpPr>
          <p:cNvPr id="4" name="Rounded Rectangle 3"/>
          <p:cNvSpPr/>
          <p:nvPr/>
        </p:nvSpPr>
        <p:spPr>
          <a:xfrm>
            <a:off x="548640" y="1508760"/>
            <a:ext cx="8595360" cy="420624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wiring"/>
          <p:cNvSpPr txBox="1"/>
          <p:nvPr/>
        </p:nvSpPr>
        <p:spPr>
          <a:xfrm>
            <a:off x="713232" y="1673352"/>
            <a:ext cx="8266176" cy="3877056"/>
          </a:xfrm>
          <a:prstGeom prst="rect">
            <a:avLst/>
          </a:prstGeom>
          <a:noFill/>
        </p:spPr>
        <p:txBody>
          <a:bodyPr wrap="none">
            <a:spAutoFit/>
          </a:bodyPr>
          <a:lstStyle/>
          <a:p>
            <a:pPr>
              <a:spcAft>
                <a:spcPts val="100"/>
              </a:spcAft>
            </a:pPr>
            <a:r>
              <a:rPr sz="1400">
                <a:solidFill>
                  <a:srgbClr val="569CD6"/>
                </a:solidFill>
                <a:latin typeface="Consolas"/>
              </a:rPr>
              <a:t>auto</a:t>
            </a:r>
            <a:r>
              <a:rPr sz="1400">
                <a:solidFill>
                  <a:srgbClr val="D4D4D4"/>
                </a:solidFill>
                <a:latin typeface="Consolas"/>
              </a:rPr>
              <a:t> </a:t>
            </a:r>
            <a:r>
              <a:rPr sz="1400">
                <a:solidFill>
                  <a:srgbClr val="D4D4D4"/>
                </a:solidFill>
                <a:latin typeface="Consolas"/>
              </a:rPr>
              <a:t>sys</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makeODESystem</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Mass1</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r>
              <a:rPr sz="1400">
                <a:solidFill>
                  <a:srgbClr val="B5CEA8"/>
                </a:solidFill>
                <a:latin typeface="Consolas"/>
              </a:rPr>
              <a:t>1.0</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/*x0*/</a:t>
            </a:r>
            <a:r>
              <a:rPr sz="1400">
                <a:solidFill>
                  <a:srgbClr val="D4D4D4"/>
                </a:solidFill>
                <a:latin typeface="Consolas"/>
              </a:rPr>
              <a:t> </a:t>
            </a:r>
            <a:r>
              <a:rPr sz="1400">
                <a:solidFill>
                  <a:srgbClr val="B5CEA8"/>
                </a:solidFill>
                <a:latin typeface="Consolas"/>
              </a:rPr>
              <a:t>0.0</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/*v0*/</a:t>
            </a:r>
            <a:r>
              <a:rPr sz="1400">
                <a:solidFill>
                  <a:srgbClr val="D4D4D4"/>
                </a:solidFill>
                <a:latin typeface="Consolas"/>
              </a:rPr>
              <a:t> </a:t>
            </a:r>
            <a:r>
              <a:rPr sz="1400">
                <a:solidFill>
                  <a:srgbClr val="B5CEA8"/>
                </a:solidFill>
                <a:latin typeface="Consolas"/>
              </a:rPr>
              <a:t>0.0</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Mass2</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r>
              <a:rPr sz="1400">
                <a:solidFill>
                  <a:srgbClr val="B5CEA8"/>
                </a:solidFill>
                <a:latin typeface="Consolas"/>
              </a:rPr>
              <a:t>1.0</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/*x0*/</a:t>
            </a:r>
            <a:r>
              <a:rPr sz="1400">
                <a:solidFill>
                  <a:srgbClr val="D4D4D4"/>
                </a:solidFill>
                <a:latin typeface="Consolas"/>
              </a:rPr>
              <a:t> </a:t>
            </a:r>
            <a:r>
              <a:rPr sz="1400">
                <a:solidFill>
                  <a:srgbClr val="B5CEA8"/>
                </a:solidFill>
                <a:latin typeface="Consolas"/>
              </a:rPr>
              <a:t>2.5</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/*v0*/</a:t>
            </a:r>
            <a:r>
              <a:rPr sz="1400">
                <a:solidFill>
                  <a:srgbClr val="D4D4D4"/>
                </a:solidFill>
                <a:latin typeface="Consolas"/>
              </a:rPr>
              <a:t> </a:t>
            </a:r>
            <a:r>
              <a:rPr sz="1400">
                <a:solidFill>
                  <a:srgbClr val="B5CEA8"/>
                </a:solidFill>
                <a:latin typeface="Consolas"/>
              </a:rPr>
              <a:t>0.0</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Spring12</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r>
              <a:rPr sz="1400">
                <a:solidFill>
                  <a:srgbClr val="6A9955"/>
                </a:solidFill>
                <a:latin typeface="Consolas"/>
              </a:rPr>
              <a:t>/*k*/</a:t>
            </a:r>
            <a:r>
              <a:rPr sz="1400">
                <a:solidFill>
                  <a:srgbClr val="D4D4D4"/>
                </a:solidFill>
                <a:latin typeface="Consolas"/>
              </a:rPr>
              <a:t> </a:t>
            </a:r>
            <a:r>
              <a:rPr sz="1400">
                <a:solidFill>
                  <a:srgbClr val="B5CEA8"/>
                </a:solidFill>
                <a:latin typeface="Consolas"/>
              </a:rPr>
              <a:t>4.0</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/*L0*/</a:t>
            </a:r>
            <a:r>
              <a:rPr sz="1400">
                <a:solidFill>
                  <a:srgbClr val="D4D4D4"/>
                </a:solidFill>
                <a:latin typeface="Consolas"/>
              </a:rPr>
              <a:t> </a:t>
            </a:r>
            <a:r>
              <a:rPr sz="1400">
                <a:solidFill>
                  <a:srgbClr val="B5CEA8"/>
                </a:solidFill>
                <a:latin typeface="Consolas"/>
              </a:rPr>
              <a:t>1.0</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EnergyMonitor</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b="1">
                <a:solidFill>
                  <a:srgbClr val="F2C744"/>
                </a:solidFill>
                <a:latin typeface="Consolas"/>
              </a:rPr>
              <a:t>// the wiring is CHECKED at compile time:</a:t>
            </a:r>
          </a:p>
          <a:p>
            <a:pPr>
              <a:spcAft>
                <a:spcPts val="100"/>
              </a:spcAft>
            </a:pPr>
            <a:r>
              <a:rPr sz="1400" b="1">
                <a:solidFill>
                  <a:srgbClr val="F2C744"/>
                </a:solidFill>
                <a:latin typeface="Consolas"/>
              </a:rPr>
              <a:t>static_assert</a:t>
            </a:r>
            <a:r>
              <a:rPr sz="1400" b="1">
                <a:solidFill>
                  <a:srgbClr val="F2C744"/>
                </a:solidFill>
                <a:latin typeface="Consolas"/>
              </a:rPr>
              <a:t>(</a:t>
            </a:r>
            <a:r>
              <a:rPr sz="1400" b="1">
                <a:solidFill>
                  <a:srgbClr val="F2C744"/>
                </a:solidFill>
                <a:latin typeface="Consolas"/>
              </a:rPr>
              <a:t>decltype</a:t>
            </a:r>
            <a:r>
              <a:rPr sz="1400" b="1">
                <a:solidFill>
                  <a:srgbClr val="F2C744"/>
                </a:solidFill>
                <a:latin typeface="Consolas"/>
              </a:rPr>
              <a:t>(</a:t>
            </a:r>
            <a:r>
              <a:rPr sz="1400" b="1">
                <a:solidFill>
                  <a:srgbClr val="F2C744"/>
                </a:solidFill>
                <a:latin typeface="Consolas"/>
              </a:rPr>
              <a:t>sys</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hasFunction</a:t>
            </a:r>
            <a:r>
              <a:rPr sz="1400" b="1">
                <a:solidFill>
                  <a:srgbClr val="F2C744"/>
                </a:solidFill>
                <a:latin typeface="Consolas"/>
              </a:rPr>
              <a:t>&lt;</a:t>
            </a:r>
            <a:r>
              <a:rPr sz="1400" b="1">
                <a:solidFill>
                  <a:srgbClr val="F2C744"/>
                </a:solidFill>
                <a:latin typeface="Consolas"/>
              </a:rPr>
              <a:t>system</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TotalEnergy</a:t>
            </a:r>
            <a:r>
              <a:rPr sz="1400" b="1">
                <a:solidFill>
                  <a:srgbClr val="F2C744"/>
                </a:solidFill>
                <a:latin typeface="Consolas"/>
              </a:rPr>
              <a:t>&gt;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p>
          <a:p>
            <a:pPr>
              <a:spcAft>
                <a:spcPts val="100"/>
              </a:spcAft>
            </a:pPr>
            <a:r>
              <a:rPr sz="1400">
                <a:latin typeface="Consolas"/>
              </a:rPr>
              <a:t> </a:t>
            </a:r>
          </a:p>
          <a:p>
            <a:pPr>
              <a:spcAft>
                <a:spcPts val="100"/>
              </a:spcAft>
            </a:pPr>
            <a:r>
              <a:rPr sz="1400">
                <a:solidFill>
                  <a:srgbClr val="D4D4D4"/>
                </a:solidFill>
                <a:latin typeface="Consolas"/>
              </a:rPr>
              <a:t>RK4Solver</a:t>
            </a:r>
            <a:r>
              <a:rPr sz="1400">
                <a:solidFill>
                  <a:srgbClr val="D4D4D4"/>
                </a:solidFill>
                <a:latin typeface="Consolas"/>
              </a:rPr>
              <a:t> </a:t>
            </a:r>
            <a:r>
              <a:rPr sz="1400">
                <a:solidFill>
                  <a:srgbClr val="D4D4D4"/>
                </a:solidFill>
                <a:latin typeface="Consolas"/>
              </a:rPr>
              <a:t>solver</a:t>
            </a:r>
            <a:r>
              <a:rPr sz="1400">
                <a:solidFill>
                  <a:srgbClr val="D4D4D4"/>
                </a:solidFill>
                <a:latin typeface="Consolas"/>
              </a:rPr>
              <a:t>;</a:t>
            </a:r>
          </a:p>
          <a:p>
            <a:pPr>
              <a:spcAft>
                <a:spcPts val="100"/>
              </a:spcAft>
            </a:pPr>
            <a:r>
              <a:rPr sz="1400">
                <a:solidFill>
                  <a:srgbClr val="569CD6"/>
                </a:solidFill>
                <a:latin typeface="Consolas"/>
              </a:rPr>
              <a:t>auto</a:t>
            </a:r>
            <a:r>
              <a:rPr sz="1400">
                <a:solidFill>
                  <a:srgbClr val="D4D4D4"/>
                </a:solidFill>
                <a:latin typeface="Consolas"/>
              </a:rPr>
              <a:t> </a:t>
            </a:r>
            <a:r>
              <a:rPr sz="1400">
                <a:solidFill>
                  <a:srgbClr val="D4D4D4"/>
                </a:solidFill>
                <a:latin typeface="Consolas"/>
              </a:rPr>
              <a:t>sol</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solver</a:t>
            </a:r>
            <a:r>
              <a:rPr sz="1400">
                <a:solidFill>
                  <a:srgbClr val="D4D4D4"/>
                </a:solidFill>
                <a:latin typeface="Consolas"/>
              </a:rPr>
              <a:t>.</a:t>
            </a:r>
            <a:r>
              <a:rPr sz="1400">
                <a:solidFill>
                  <a:srgbClr val="D4D4D4"/>
                </a:solidFill>
                <a:latin typeface="Consolas"/>
              </a:rPr>
              <a:t>solve</a:t>
            </a:r>
            <a:r>
              <a:rPr sz="1400">
                <a:solidFill>
                  <a:srgbClr val="D4D4D4"/>
                </a:solidFill>
                <a:latin typeface="Consolas"/>
              </a:rPr>
              <a:t>(</a:t>
            </a:r>
            <a:r>
              <a:rPr sz="1400">
                <a:solidFill>
                  <a:srgbClr val="D4D4D4"/>
                </a:solidFill>
                <a:latin typeface="Consolas"/>
              </a:rPr>
              <a:t>derivs</a:t>
            </a:r>
            <a:r>
              <a:rPr sz="1400">
                <a:solidFill>
                  <a:srgbClr val="D4D4D4"/>
                </a:solidFill>
                <a:latin typeface="Consolas"/>
              </a:rPr>
              <a:t>(</a:t>
            </a:r>
            <a:r>
              <a:rPr sz="1400">
                <a:solidFill>
                  <a:srgbClr val="D4D4D4"/>
                </a:solidFill>
                <a:latin typeface="Consolas"/>
              </a:rPr>
              <a:t>sys</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sys</a:t>
            </a:r>
            <a:r>
              <a:rPr sz="1400">
                <a:solidFill>
                  <a:srgbClr val="D4D4D4"/>
                </a:solidFill>
                <a:latin typeface="Consolas"/>
              </a:rPr>
              <a:t>.</a:t>
            </a:r>
            <a:r>
              <a:rPr sz="1400">
                <a:solidFill>
                  <a:srgbClr val="D4D4D4"/>
                </a:solidFill>
                <a:latin typeface="Consolas"/>
              </a:rPr>
              <a:t>getStateDimension</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solidFill>
                  <a:srgbClr val="D4D4D4"/>
                </a:solidFill>
                <a:latin typeface="Consolas"/>
              </a:rPr>
              <a:t>                        </a:t>
            </a:r>
            <a:r>
              <a:rPr sz="1400">
                <a:solidFill>
                  <a:srgbClr val="B5CEA8"/>
                </a:solidFill>
                <a:latin typeface="Consolas"/>
              </a:rPr>
              <a:t>0.0</a:t>
            </a:r>
            <a:r>
              <a:rPr sz="1400">
                <a:solidFill>
                  <a:srgbClr val="D4D4D4"/>
                </a:solidFill>
                <a:latin typeface="Consolas"/>
              </a:rPr>
              <a:t>,</a:t>
            </a:r>
            <a:r>
              <a:rPr sz="1400">
                <a:solidFill>
                  <a:srgbClr val="D4D4D4"/>
                </a:solidFill>
                <a:latin typeface="Consolas"/>
              </a:rPr>
              <a:t> </a:t>
            </a:r>
            <a:r>
              <a:rPr sz="1400">
                <a:solidFill>
                  <a:srgbClr val="B5CEA8"/>
                </a:solidFill>
                <a:latin typeface="Consolas"/>
              </a:rPr>
              <a:t>20.0</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/*dt*/</a:t>
            </a:r>
            <a:r>
              <a:rPr sz="1400">
                <a:solidFill>
                  <a:srgbClr val="D4D4D4"/>
                </a:solidFill>
                <a:latin typeface="Consolas"/>
              </a:rPr>
              <a:t> </a:t>
            </a:r>
            <a:r>
              <a:rPr sz="1400">
                <a:solidFill>
                  <a:srgbClr val="B5CEA8"/>
                </a:solidFill>
                <a:latin typeface="Consolas"/>
              </a:rPr>
              <a:t>0.001</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sys</a:t>
            </a:r>
            <a:r>
              <a:rPr sz="1400">
                <a:solidFill>
                  <a:srgbClr val="D4D4D4"/>
                </a:solidFill>
                <a:latin typeface="Consolas"/>
              </a:rPr>
              <a:t>.</a:t>
            </a:r>
            <a:r>
              <a:rPr sz="1400">
                <a:solidFill>
                  <a:srgbClr val="D4D4D4"/>
                </a:solidFill>
                <a:latin typeface="Consolas"/>
              </a:rPr>
              <a:t>getInitialState</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4EC9B0"/>
                </a:solidFill>
                <a:latin typeface="Consolas"/>
              </a:rPr>
              <a:t>double</a:t>
            </a:r>
            <a:r>
              <a:rPr sz="1400">
                <a:solidFill>
                  <a:srgbClr val="D4D4D4"/>
                </a:solidFill>
                <a:latin typeface="Consolas"/>
              </a:rPr>
              <a:t> </a:t>
            </a:r>
            <a:r>
              <a:rPr sz="1400">
                <a:solidFill>
                  <a:srgbClr val="D4D4D4"/>
                </a:solidFill>
                <a:latin typeface="Consolas"/>
              </a:rPr>
              <a:t>E</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sys</a:t>
            </a:r>
            <a:r>
              <a:rPr sz="1400">
                <a:solidFill>
                  <a:srgbClr val="D4D4D4"/>
                </a:solidFill>
                <a:latin typeface="Consolas"/>
              </a:rPr>
              <a:t>.</a:t>
            </a:r>
            <a:r>
              <a:rPr sz="1400">
                <a:solidFill>
                  <a:srgbClr val="D4D4D4"/>
                </a:solidFill>
                <a:latin typeface="Consolas"/>
              </a:rPr>
              <a:t>query</a:t>
            </a:r>
            <a:r>
              <a:rPr sz="1400">
                <a:solidFill>
                  <a:srgbClr val="D4D4D4"/>
                </a:solidFill>
                <a:latin typeface="Consolas"/>
              </a:rPr>
              <a:t>&lt;</a:t>
            </a:r>
            <a:r>
              <a:rPr sz="1400">
                <a:solidFill>
                  <a:srgbClr val="D4D4D4"/>
                </a:solidFill>
                <a:latin typeface="Consolas"/>
              </a:rPr>
              <a:t>system</a:t>
            </a:r>
            <a:r>
              <a:rPr sz="1400">
                <a:solidFill>
                  <a:srgbClr val="D4D4D4"/>
                </a:solidFill>
                <a:latin typeface="Consolas"/>
              </a:rPr>
              <a:t>:</a:t>
            </a:r>
            <a:r>
              <a:rPr sz="1400">
                <a:solidFill>
                  <a:srgbClr val="D4D4D4"/>
                </a:solidFill>
                <a:latin typeface="Consolas"/>
              </a:rPr>
              <a:t>:</a:t>
            </a:r>
            <a:r>
              <a:rPr sz="1400">
                <a:solidFill>
                  <a:srgbClr val="D4D4D4"/>
                </a:solidFill>
                <a:latin typeface="Consolas"/>
              </a:rPr>
              <a:t>TotalEnergy</a:t>
            </a:r>
            <a:r>
              <a:rPr sz="1400">
                <a:solidFill>
                  <a:srgbClr val="D4D4D4"/>
                </a:solidFill>
                <a:latin typeface="Consolas"/>
              </a:rPr>
              <a:t>&gt;</a:t>
            </a:r>
            <a:r>
              <a:rPr sz="1400">
                <a:solidFill>
                  <a:srgbClr val="D4D4D4"/>
                </a:solidFill>
                <a:latin typeface="Consolas"/>
              </a:rPr>
              <a:t>(</a:t>
            </a:r>
            <a:r>
              <a:rPr sz="1400">
                <a:solidFill>
                  <a:srgbClr val="D4D4D4"/>
                </a:solidFill>
                <a:latin typeface="Consolas"/>
              </a:rPr>
              <a:t>sol</a:t>
            </a:r>
            <a:r>
              <a:rPr sz="1400">
                <a:solidFill>
                  <a:srgbClr val="D4D4D4"/>
                </a:solidFill>
                <a:latin typeface="Consolas"/>
              </a:rPr>
              <a:t>.</a:t>
            </a:r>
            <a:r>
              <a:rPr sz="1400">
                <a:solidFill>
                  <a:srgbClr val="D4D4D4"/>
                </a:solidFill>
                <a:latin typeface="Consolas"/>
              </a:rPr>
              <a:t>states</a:t>
            </a:r>
            <a:r>
              <a:rPr sz="1400">
                <a:solidFill>
                  <a:srgbClr val="D4D4D4"/>
                </a:solidFill>
                <a:latin typeface="Consolas"/>
              </a:rPr>
              <a:t>.</a:t>
            </a:r>
            <a:r>
              <a:rPr sz="1400">
                <a:solidFill>
                  <a:srgbClr val="D4D4D4"/>
                </a:solidFill>
                <a:latin typeface="Consolas"/>
              </a:rPr>
              <a:t>back</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p:txBody>
      </p:sp>
      <p:sp>
        <p:nvSpPr>
          <p:cNvPr id="6" name="TextBox 5"/>
          <p:cNvSpPr txBox="1"/>
          <p:nvPr/>
        </p:nvSpPr>
        <p:spPr>
          <a:xfrm>
            <a:off x="548640" y="5806440"/>
            <a:ext cx="10972800" cy="4572000"/>
          </a:xfrm>
          <a:prstGeom prst="rect">
            <a:avLst/>
          </a:prstGeom>
          <a:noFill/>
        </p:spPr>
        <p:txBody>
          <a:bodyPr wrap="square">
            <a:spAutoFit/>
          </a:bodyPr>
          <a:lstStyle/>
          <a:p>
            <a:pPr>
              <a:spcAft>
                <a:spcPts val="800"/>
              </a:spcAft>
            </a:pPr>
            <a:r>
              <a:rPr sz="1700">
                <a:solidFill>
                  <a:srgbClr val="35C4E8"/>
                </a:solidFill>
                <a:latin typeface="Segoe UI"/>
              </a:rPr>
              <a:t>•  </a:t>
            </a:r>
            <a:r>
              <a:rPr sz="1700" b="1">
                <a:solidFill>
                  <a:srgbClr val="F2C744"/>
                </a:solidFill>
                <a:latin typeface="Segoe UI"/>
              </a:rPr>
              <a:t>Components are values in a tuple — no heap, no pointers</a:t>
            </a:r>
          </a:p>
          <a:p>
            <a:pPr>
              <a:spcAft>
                <a:spcPts val="800"/>
              </a:spcAft>
            </a:pPr>
            <a:r>
              <a:rPr sz="1700">
                <a:solidFill>
                  <a:srgbClr val="35C4E8"/>
                </a:solidFill>
                <a:latin typeface="Segoe UI"/>
              </a:rPr>
              <a:t>•  </a:t>
            </a:r>
            <a:r>
              <a:rPr sz="1700" b="0">
                <a:solidFill>
                  <a:srgbClr val="D8E2EC"/>
                </a:solidFill>
                <a:latin typeface="Segoe UI"/>
              </a:rPr>
              <a:t>Forget the spring → </a:t>
            </a:r>
            <a:r>
              <a:rPr sz="1700" b="1">
                <a:solidFill>
                  <a:srgbClr val="E86A6A"/>
                </a:solidFill>
                <a:latin typeface="Segoe UI"/>
              </a:rPr>
              <a:t>static_assert fires</a:t>
            </a:r>
            <a:r>
              <a:rPr sz="1700" b="0">
                <a:solidFill>
                  <a:srgbClr val="D8E2EC"/>
                </a:solidFill>
                <a:latin typeface="Segoe UI"/>
              </a:rPr>
              <a:t> — not a runtime surprise</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PROOF, NOT PROMISE</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Does it work? Ran this morning on my laptop</a:t>
            </a:r>
          </a:p>
        </p:txBody>
      </p:sp>
      <p:pic>
        <p:nvPicPr>
          <p:cNvPr id="4" name="Picture 3" descr="energy_conservation.png"/>
          <p:cNvPicPr>
            <a:picLocks noChangeAspect="1"/>
          </p:cNvPicPr>
          <p:nvPr/>
        </p:nvPicPr>
        <p:blipFill>
          <a:blip r:embed="rId2"/>
          <a:stretch>
            <a:fillRect/>
          </a:stretch>
        </p:blipFill>
        <p:spPr>
          <a:xfrm>
            <a:off x="548640" y="1554480"/>
            <a:ext cx="7455271" cy="4023360"/>
          </a:xfrm>
          <a:prstGeom prst="rect">
            <a:avLst/>
          </a:prstGeom>
        </p:spPr>
      </p:pic>
      <p:sp>
        <p:nvSpPr>
          <p:cNvPr id="5" name="TextBox 4"/>
          <p:cNvSpPr txBox="1"/>
          <p:nvPr/>
        </p:nvSpPr>
        <p:spPr>
          <a:xfrm>
            <a:off x="8503920" y="1737360"/>
            <a:ext cx="3291840" cy="1005840"/>
          </a:xfrm>
          <a:prstGeom prst="rect">
            <a:avLst/>
          </a:prstGeom>
          <a:noFill/>
        </p:spPr>
        <p:txBody>
          <a:bodyPr wrap="none">
            <a:spAutoFit/>
          </a:bodyPr>
          <a:lstStyle/>
          <a:p>
            <a:r>
              <a:rPr sz="2800" b="1">
                <a:solidFill>
                  <a:srgbClr val="F2C744"/>
                </a:solidFill>
                <a:latin typeface="Segoe UI"/>
              </a:rPr>
              <a:t>20 001</a:t>
            </a:r>
          </a:p>
          <a:p>
            <a:r>
              <a:rPr sz="1400">
                <a:solidFill>
                  <a:srgbClr val="8CA3B8"/>
                </a:solidFill>
                <a:latin typeface="Segoe UI"/>
              </a:rPr>
              <a:t>RK4 steps (dt = 1 ms)</a:t>
            </a:r>
          </a:p>
        </p:txBody>
      </p:sp>
      <p:sp>
        <p:nvSpPr>
          <p:cNvPr id="6" name="TextBox 5"/>
          <p:cNvSpPr txBox="1"/>
          <p:nvPr/>
        </p:nvSpPr>
        <p:spPr>
          <a:xfrm>
            <a:off x="8503920" y="2971800"/>
            <a:ext cx="3291840" cy="1005840"/>
          </a:xfrm>
          <a:prstGeom prst="rect">
            <a:avLst/>
          </a:prstGeom>
          <a:noFill/>
        </p:spPr>
        <p:txBody>
          <a:bodyPr wrap="none">
            <a:spAutoFit/>
          </a:bodyPr>
          <a:lstStyle/>
          <a:p>
            <a:r>
              <a:rPr sz="2800" b="1">
                <a:solidFill>
                  <a:srgbClr val="F2C744"/>
                </a:solidFill>
                <a:latin typeface="Segoe UI"/>
              </a:rPr>
              <a:t>16.7 ms</a:t>
            </a:r>
          </a:p>
          <a:p>
            <a:r>
              <a:rPr sz="1400">
                <a:solidFill>
                  <a:srgbClr val="8CA3B8"/>
                </a:solidFill>
                <a:latin typeface="Segoe UI"/>
              </a:rPr>
              <a:t>wall clock, g++ 14 -O2</a:t>
            </a:r>
          </a:p>
        </p:txBody>
      </p:sp>
      <p:sp>
        <p:nvSpPr>
          <p:cNvPr id="7" name="TextBox 6"/>
          <p:cNvSpPr txBox="1"/>
          <p:nvPr/>
        </p:nvSpPr>
        <p:spPr>
          <a:xfrm>
            <a:off x="8503920" y="4206240"/>
            <a:ext cx="3291840" cy="1005840"/>
          </a:xfrm>
          <a:prstGeom prst="rect">
            <a:avLst/>
          </a:prstGeom>
          <a:noFill/>
        </p:spPr>
        <p:txBody>
          <a:bodyPr wrap="none">
            <a:spAutoFit/>
          </a:bodyPr>
          <a:lstStyle/>
          <a:p>
            <a:r>
              <a:rPr sz="2800" b="1">
                <a:solidFill>
                  <a:srgbClr val="F2C744"/>
                </a:solidFill>
                <a:latin typeface="Segoe UI"/>
              </a:rPr>
              <a:t>1.4 × 10⁻¹³</a:t>
            </a:r>
          </a:p>
          <a:p>
            <a:r>
              <a:rPr sz="1400">
                <a:solidFill>
                  <a:srgbClr val="8CA3B8"/>
                </a:solidFill>
                <a:latin typeface="Segoe UI"/>
              </a:rPr>
              <a:t>max relative energy drift over 20 s</a:t>
            </a:r>
          </a:p>
        </p:txBody>
      </p:sp>
      <p:sp>
        <p:nvSpPr>
          <p:cNvPr id="8" name="TextBox 7"/>
          <p:cNvSpPr txBox="1"/>
          <p:nvPr/>
        </p:nvSpPr>
        <p:spPr>
          <a:xfrm>
            <a:off x="548640" y="5806440"/>
            <a:ext cx="11155680" cy="548640"/>
          </a:xfrm>
          <a:prstGeom prst="rect">
            <a:avLst/>
          </a:prstGeom>
          <a:noFill/>
        </p:spPr>
        <p:txBody>
          <a:bodyPr wrap="none">
            <a:spAutoFit/>
          </a:bodyPr>
          <a:lstStyle/>
          <a:p>
            <a:r>
              <a:rPr sz="1800" i="1">
                <a:solidFill>
                  <a:srgbClr val="7EE08A"/>
                </a:solidFill>
                <a:latin typeface="Segoe UI"/>
              </a:rPr>
              <a:t>That drift is RK4 truncation error — the architecture adds nothing.</a:t>
            </a:r>
          </a:p>
        </p:txBody>
      </p:sp>
      <p:sp>
        <p:nvSpPr>
          <p:cNvPr id="9" name="TextBox 8"/>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10" name="TextBox 9"/>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05</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How It Works</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Tags, registry, concepts — no magic</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10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HOW IT WORKS 1/4</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Idea 1 — dispatch on type, not through a hierarchy</a:t>
            </a:r>
          </a:p>
        </p:txBody>
      </p:sp>
      <p:sp>
        <p:nvSpPr>
          <p:cNvPr id="4" name="Rounded Rectangle 3"/>
          <p:cNvSpPr/>
          <p:nvPr/>
        </p:nvSpPr>
        <p:spPr>
          <a:xfrm>
            <a:off x="548640" y="1508760"/>
            <a:ext cx="11064240" cy="192024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73352"/>
            <a:ext cx="10735056" cy="1591056"/>
          </a:xfrm>
          <a:prstGeom prst="rect">
            <a:avLst/>
          </a:prstGeom>
          <a:noFill/>
        </p:spPr>
        <p:txBody>
          <a:bodyPr wrap="none">
            <a:spAutoFit/>
          </a:bodyPr>
          <a:lstStyle/>
          <a:p>
            <a:pPr>
              <a:spcAft>
                <a:spcPts val="100"/>
              </a:spcAft>
            </a:pPr>
            <a:r>
              <a:rPr sz="1500">
                <a:solidFill>
                  <a:srgbClr val="6A9955"/>
                </a:solidFill>
                <a:latin typeface="Consolas"/>
              </a:rPr>
              <a:t>// instead of:                       // we write:</a:t>
            </a:r>
          </a:p>
          <a:p>
            <a:pPr>
              <a:spcAft>
                <a:spcPts val="100"/>
              </a:spcAft>
            </a:pPr>
            <a:r>
              <a:rPr sz="1500">
                <a:solidFill>
                  <a:srgbClr val="4EC9B0"/>
                </a:solidFill>
                <a:latin typeface="Consolas"/>
              </a:rPr>
              <a:t>double</a:t>
            </a:r>
            <a:r>
              <a:rPr sz="1500">
                <a:solidFill>
                  <a:srgbClr val="D4D4D4"/>
                </a:solidFill>
                <a:latin typeface="Consolas"/>
              </a:rPr>
              <a:t> </a:t>
            </a:r>
            <a:r>
              <a:rPr sz="1500">
                <a:solidFill>
                  <a:srgbClr val="DCDCAA"/>
                </a:solidFill>
                <a:latin typeface="Consolas"/>
              </a:rPr>
              <a:t>getOutput</a:t>
            </a:r>
            <a:r>
              <a:rPr sz="1500">
                <a:solidFill>
                  <a:srgbClr val="D4D4D4"/>
                </a:solidFill>
                <a:latin typeface="Consolas"/>
              </a:rPr>
              <a:t>(</a:t>
            </a:r>
            <a:r>
              <a:rPr sz="1500">
                <a:solidFill>
                  <a:srgbClr val="D4D4D4"/>
                </a:solidFill>
                <a:latin typeface="Consolas"/>
              </a:rPr>
              <a:t>                    </a:t>
            </a:r>
            <a:r>
              <a:rPr sz="1500">
                <a:solidFill>
                  <a:srgbClr val="D4D4D4"/>
                </a:solidFill>
                <a:latin typeface="Consolas"/>
              </a:rPr>
              <a:t>T</a:t>
            </a:r>
            <a:r>
              <a:rPr sz="1500">
                <a:solidFill>
                  <a:srgbClr val="D4D4D4"/>
                </a:solidFill>
                <a:latin typeface="Consolas"/>
              </a:rPr>
              <a:t> </a:t>
            </a:r>
            <a:r>
              <a:rPr sz="1500">
                <a:solidFill>
                  <a:srgbClr val="D4D4D4"/>
                </a:solidFill>
                <a:latin typeface="Consolas"/>
              </a:rPr>
              <a:t>compute</a:t>
            </a:r>
            <a:r>
              <a:rPr sz="1500">
                <a:solidFill>
                  <a:srgbClr val="D4D4D4"/>
                </a:solidFill>
                <a:latin typeface="Consolas"/>
              </a:rPr>
              <a:t>(</a:t>
            </a:r>
            <a:r>
              <a:rPr sz="1500">
                <a:solidFill>
                  <a:srgbClr val="D4D4D4"/>
                </a:solidFill>
                <a:latin typeface="Consolas"/>
              </a:rPr>
              <a:t>mass1</a:t>
            </a:r>
            <a:r>
              <a:rPr sz="1500">
                <a:solidFill>
                  <a:srgbClr val="D4D4D4"/>
                </a:solidFill>
                <a:latin typeface="Consolas"/>
              </a:rPr>
              <a:t>:</a:t>
            </a:r>
            <a:r>
              <a:rPr sz="1500">
                <a:solidFill>
                  <a:srgbClr val="D4D4D4"/>
                </a:solidFill>
                <a:latin typeface="Consolas"/>
              </a:rPr>
              <a:t>:</a:t>
            </a:r>
            <a:r>
              <a:rPr sz="1500">
                <a:solidFill>
                  <a:srgbClr val="D4D4D4"/>
                </a:solidFill>
                <a:latin typeface="Consolas"/>
              </a:rPr>
              <a:t>Position</a:t>
            </a:r>
            <a:r>
              <a:rPr sz="1500">
                <a:solidFill>
                  <a:srgbClr val="D4D4D4"/>
                </a:solidFill>
                <a:latin typeface="Consolas"/>
              </a:rPr>
              <a:t>,</a:t>
            </a:r>
          </a:p>
          <a:p>
            <a:pPr>
              <a:spcAft>
                <a:spcPts val="100"/>
              </a:spcAft>
            </a:pPr>
            <a:r>
              <a:rPr sz="1500">
                <a:solidFill>
                  <a:srgbClr val="D4D4D4"/>
                </a:solidFill>
                <a:latin typeface="Consolas"/>
              </a:rPr>
              <a:t>    </a:t>
            </a:r>
            <a:r>
              <a:rPr sz="1500">
                <a:solidFill>
                  <a:srgbClr val="569CD6"/>
                </a:solidFill>
                <a:latin typeface="Consolas"/>
              </a:rPr>
              <a:t>const</a:t>
            </a:r>
            <a:r>
              <a:rPr sz="1500">
                <a:solidFill>
                  <a:srgbClr val="D4D4D4"/>
                </a:solidFill>
                <a:latin typeface="Consolas"/>
              </a:rPr>
              <a:t> </a:t>
            </a:r>
            <a:r>
              <a:rPr sz="1500">
                <a:solidFill>
                  <a:srgbClr val="D4D4D4"/>
                </a:solidFill>
                <a:latin typeface="Consolas"/>
              </a:rPr>
              <a:t>std</a:t>
            </a:r>
            <a:r>
              <a:rPr sz="1500">
                <a:solidFill>
                  <a:srgbClr val="D4D4D4"/>
                </a:solidFill>
                <a:latin typeface="Consolas"/>
              </a:rPr>
              <a:t>:</a:t>
            </a:r>
            <a:r>
              <a:rPr sz="1500">
                <a:solidFill>
                  <a:srgbClr val="D4D4D4"/>
                </a:solidFill>
                <a:latin typeface="Consolas"/>
              </a:rPr>
              <a:t>:</a:t>
            </a:r>
            <a:r>
              <a:rPr sz="1500">
                <a:solidFill>
                  <a:srgbClr val="D4D4D4"/>
                </a:solidFill>
                <a:latin typeface="Consolas"/>
              </a:rPr>
              <a:t>string</a:t>
            </a:r>
            <a:r>
              <a:rPr sz="1500">
                <a:solidFill>
                  <a:srgbClr val="D4D4D4"/>
                </a:solidFill>
                <a:latin typeface="Consolas"/>
              </a:rPr>
              <a:t>&amp;</a:t>
            </a:r>
            <a:r>
              <a:rPr sz="1500">
                <a:solidFill>
                  <a:srgbClr val="D4D4D4"/>
                </a:solidFill>
                <a:latin typeface="Consolas"/>
              </a:rPr>
              <a:t> </a:t>
            </a:r>
            <a:r>
              <a:rPr sz="1500">
                <a:solidFill>
                  <a:srgbClr val="D4D4D4"/>
                </a:solidFill>
                <a:latin typeface="Consolas"/>
              </a:rPr>
              <a:t>name</a:t>
            </a:r>
            <a:r>
              <a:rPr sz="1500">
                <a:solidFill>
                  <a:srgbClr val="D4D4D4"/>
                </a:solidFill>
                <a:latin typeface="Consolas"/>
              </a:rPr>
              <a:t>)</a:t>
            </a:r>
            <a:r>
              <a:rPr sz="1500">
                <a:solidFill>
                  <a:srgbClr val="D4D4D4"/>
                </a:solidFill>
                <a:latin typeface="Consolas"/>
              </a:rPr>
              <a:t>;</a:t>
            </a:r>
            <a:r>
              <a:rPr sz="1500">
                <a:solidFill>
                  <a:srgbClr val="D4D4D4"/>
                </a:solidFill>
                <a:latin typeface="Consolas"/>
              </a:rPr>
              <a:t>            </a:t>
            </a:r>
            <a:r>
              <a:rPr sz="1500">
                <a:solidFill>
                  <a:srgbClr val="D4D4D4"/>
                </a:solidFill>
                <a:latin typeface="Consolas"/>
              </a:rPr>
              <a:t>std</a:t>
            </a:r>
            <a:r>
              <a:rPr sz="1500">
                <a:solidFill>
                  <a:srgbClr val="D4D4D4"/>
                </a:solidFill>
                <a:latin typeface="Consolas"/>
              </a:rPr>
              <a:t>:</a:t>
            </a:r>
            <a:r>
              <a:rPr sz="1500">
                <a:solidFill>
                  <a:srgbClr val="D4D4D4"/>
                </a:solidFill>
                <a:latin typeface="Consolas"/>
              </a:rPr>
              <a:t>:</a:t>
            </a:r>
            <a:r>
              <a:rPr sz="1500">
                <a:solidFill>
                  <a:srgbClr val="D4D4D4"/>
                </a:solidFill>
                <a:latin typeface="Consolas"/>
              </a:rPr>
              <a:t>span</a:t>
            </a:r>
            <a:r>
              <a:rPr sz="1500">
                <a:solidFill>
                  <a:srgbClr val="D4D4D4"/>
                </a:solidFill>
                <a:latin typeface="Consolas"/>
              </a:rPr>
              <a:t>&lt;</a:t>
            </a:r>
            <a:r>
              <a:rPr sz="1500">
                <a:solidFill>
                  <a:srgbClr val="569CD6"/>
                </a:solidFill>
                <a:latin typeface="Consolas"/>
              </a:rPr>
              <a:t>const</a:t>
            </a:r>
            <a:r>
              <a:rPr sz="1500">
                <a:solidFill>
                  <a:srgbClr val="D4D4D4"/>
                </a:solidFill>
                <a:latin typeface="Consolas"/>
              </a:rPr>
              <a:t> </a:t>
            </a:r>
            <a:r>
              <a:rPr sz="1500">
                <a:solidFill>
                  <a:srgbClr val="D4D4D4"/>
                </a:solidFill>
                <a:latin typeface="Consolas"/>
              </a:rPr>
              <a:t>T</a:t>
            </a:r>
            <a:r>
              <a:rPr sz="1500">
                <a:solidFill>
                  <a:srgbClr val="D4D4D4"/>
                </a:solidFill>
                <a:latin typeface="Consolas"/>
              </a:rPr>
              <a:t>&gt;</a:t>
            </a:r>
            <a:r>
              <a:rPr sz="1500">
                <a:solidFill>
                  <a:srgbClr val="D4D4D4"/>
                </a:solidFill>
                <a:latin typeface="Consolas"/>
              </a:rPr>
              <a:t> </a:t>
            </a:r>
            <a:r>
              <a:rPr sz="1500">
                <a:solidFill>
                  <a:srgbClr val="D4D4D4"/>
                </a:solidFill>
                <a:latin typeface="Consolas"/>
              </a:rPr>
              <a:t>state</a:t>
            </a:r>
            <a:r>
              <a:rPr sz="1500">
                <a:solidFill>
                  <a:srgbClr val="D4D4D4"/>
                </a:solidFill>
                <a:latin typeface="Consolas"/>
              </a:rPr>
              <a:t>)</a:t>
            </a:r>
            <a:r>
              <a:rPr sz="1500">
                <a:solidFill>
                  <a:srgbClr val="D4D4D4"/>
                </a:solidFill>
                <a:latin typeface="Consolas"/>
              </a:rPr>
              <a:t> </a:t>
            </a:r>
            <a:r>
              <a:rPr sz="1500">
                <a:solidFill>
                  <a:srgbClr val="569CD6"/>
                </a:solidFill>
                <a:latin typeface="Consolas"/>
              </a:rPr>
              <a:t>const</a:t>
            </a:r>
            <a:r>
              <a:rPr sz="1500">
                <a:solidFill>
                  <a:srgbClr val="D4D4D4"/>
                </a:solidFill>
                <a:latin typeface="Consolas"/>
              </a:rPr>
              <a:t>;</a:t>
            </a:r>
          </a:p>
          <a:p>
            <a:pPr>
              <a:spcAft>
                <a:spcPts val="100"/>
              </a:spcAft>
            </a:pPr>
            <a:r>
              <a:rPr sz="1500">
                <a:latin typeface="Consolas"/>
              </a:rPr>
              <a:t> </a:t>
            </a:r>
          </a:p>
          <a:p>
            <a:pPr>
              <a:spcAft>
                <a:spcPts val="100"/>
              </a:spcAft>
            </a:pPr>
            <a:r>
              <a:rPr sz="1500">
                <a:solidFill>
                  <a:srgbClr val="6A9955"/>
                </a:solidFill>
                <a:latin typeface="Consolas"/>
              </a:rPr>
              <a:t>// one virtual + string compare      // one overload per quantity,</a:t>
            </a:r>
          </a:p>
          <a:p>
            <a:pPr>
              <a:spcAft>
                <a:spcPts val="100"/>
              </a:spcAft>
            </a:pPr>
            <a:r>
              <a:rPr sz="1500">
                <a:solidFill>
                  <a:srgbClr val="6A9955"/>
                </a:solidFill>
                <a:latin typeface="Consolas"/>
              </a:rPr>
              <a:t>// per query, at runtime             // chosen by the COMPILER</a:t>
            </a:r>
          </a:p>
        </p:txBody>
      </p:sp>
      <p:sp>
        <p:nvSpPr>
          <p:cNvPr id="6" name="TextBox 5"/>
          <p:cNvSpPr txBox="1"/>
          <p:nvPr/>
        </p:nvSpPr>
        <p:spPr>
          <a:xfrm>
            <a:off x="548640" y="3749039"/>
            <a:ext cx="11064240" cy="4572000"/>
          </a:xfrm>
          <a:prstGeom prst="rect">
            <a:avLst/>
          </a:prstGeom>
          <a:noFill/>
        </p:spPr>
        <p:txBody>
          <a:bodyPr wrap="square">
            <a:spAutoFit/>
          </a:bodyPr>
          <a:lstStyle/>
          <a:p>
            <a:pPr>
              <a:spcAft>
                <a:spcPts val="800"/>
              </a:spcAft>
            </a:pPr>
            <a:r>
              <a:rPr sz="2000">
                <a:solidFill>
                  <a:srgbClr val="35C4E8"/>
                </a:solidFill>
                <a:latin typeface="Segoe UI"/>
              </a:rPr>
              <a:t>•  </a:t>
            </a:r>
            <a:r>
              <a:rPr sz="2000" b="1">
                <a:solidFill>
                  <a:srgbClr val="F2C744"/>
                </a:solidFill>
                <a:latin typeface="Segoe UI"/>
              </a:rPr>
              <a:t>Overload resolution replaces virtual dispatch</a:t>
            </a:r>
          </a:p>
          <a:p>
            <a:pPr>
              <a:spcAft>
                <a:spcPts val="800"/>
              </a:spcAft>
            </a:pPr>
            <a:r>
              <a:rPr sz="2000">
                <a:solidFill>
                  <a:srgbClr val="35C4E8"/>
                </a:solidFill>
                <a:latin typeface="Segoe UI"/>
              </a:rPr>
              <a:t>•  </a:t>
            </a:r>
            <a:r>
              <a:rPr sz="2000" b="0">
                <a:solidFill>
                  <a:srgbClr val="D8E2EC"/>
                </a:solidFill>
                <a:latin typeface="Segoe UI"/>
              </a:rPr>
              <a:t>The tag argument is empty — it exists only to select the overload</a:t>
            </a:r>
          </a:p>
          <a:p>
            <a:pPr>
              <a:spcAft>
                <a:spcPts val="800"/>
              </a:spcAft>
            </a:pPr>
            <a:r>
              <a:rPr sz="2000">
                <a:solidFill>
                  <a:srgbClr val="35C4E8"/>
                </a:solidFill>
                <a:latin typeface="Segoe UI"/>
              </a:rPr>
              <a:t>•  </a:t>
            </a:r>
            <a:r>
              <a:rPr sz="2000" b="0">
                <a:solidFill>
                  <a:srgbClr val="D8E2EC"/>
                </a:solidFill>
                <a:latin typeface="Segoe UI"/>
              </a:rPr>
              <a:t>Unknown tag → compile error, with the tag's name in the message</a:t>
            </a:r>
          </a:p>
          <a:p>
            <a:pPr>
              <a:spcAft>
                <a:spcPts val="800"/>
              </a:spcAft>
            </a:pPr>
            <a:r>
              <a:rPr sz="2000">
                <a:solidFill>
                  <a:srgbClr val="35C4E8"/>
                </a:solidFill>
                <a:latin typeface="Segoe UI"/>
              </a:rPr>
              <a:t>•  </a:t>
            </a:r>
            <a:r>
              <a:rPr sz="2000" b="0">
                <a:solidFill>
                  <a:srgbClr val="D8E2EC"/>
                </a:solidFill>
                <a:latin typeface="Segoe UI"/>
              </a:rPr>
              <a:t>This is ordinary C++ — tag dispatch is as old as the STL (</a:t>
            </a:r>
            <a:r>
              <a:rPr sz="2000" b="0">
                <a:solidFill>
                  <a:srgbClr val="35C4E8"/>
                </a:solidFill>
                <a:latin typeface="Segoe UI"/>
              </a:rPr>
              <a:t>std::advance</a:t>
            </a:r>
            <a:r>
              <a:rPr sz="2000" b="0">
                <a:solidFill>
                  <a:srgbClr val="D8E2EC"/>
                </a:solidFill>
                <a:latin typeface="Segoe UI"/>
              </a:rPr>
              <a:t>)</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HOW IT WORKS 2/4</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Idea 2 — the registry: 'who provides what', resolved at compile time</a:t>
            </a:r>
          </a:p>
        </p:txBody>
      </p:sp>
      <p:sp>
        <p:nvSpPr>
          <p:cNvPr id="4" name="Rounded Rectangle 3"/>
          <p:cNvSpPr/>
          <p:nvPr/>
        </p:nvSpPr>
        <p:spPr>
          <a:xfrm>
            <a:off x="548640" y="1508760"/>
            <a:ext cx="8595360" cy="448056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registry"/>
          <p:cNvSpPr txBox="1"/>
          <p:nvPr/>
        </p:nvSpPr>
        <p:spPr>
          <a:xfrm>
            <a:off x="713232" y="1673352"/>
            <a:ext cx="8266176" cy="4151376"/>
          </a:xfrm>
          <a:prstGeom prst="rect">
            <a:avLst/>
          </a:prstGeom>
          <a:noFill/>
        </p:spPr>
        <p:txBody>
          <a:bodyPr wrap="none">
            <a:spAutoFit/>
          </a:bodyPr>
          <a:lstStyle/>
          <a:p>
            <a:pPr>
              <a:spcAft>
                <a:spcPts val="100"/>
              </a:spcAft>
            </a:pPr>
            <a:r>
              <a:rPr sz="1300">
                <a:solidFill>
                  <a:srgbClr val="569CD6"/>
                </a:solidFill>
                <a:latin typeface="Consolas"/>
              </a:rPr>
              <a:t>template</a:t>
            </a:r>
            <a:r>
              <a:rPr sz="1300">
                <a:solidFill>
                  <a:srgbClr val="D4D4D4"/>
                </a:solidFill>
                <a:latin typeface="Consolas"/>
              </a:rPr>
              <a:t>&lt;</a:t>
            </a:r>
            <a:r>
              <a:rPr sz="1300">
                <a:solidFill>
                  <a:srgbClr val="569CD6"/>
                </a:solidFill>
                <a:latin typeface="Consolas"/>
              </a:rPr>
              <a:t>typename</a:t>
            </a:r>
            <a:r>
              <a:rPr sz="1300">
                <a:solidFill>
                  <a:srgbClr val="D4D4D4"/>
                </a:solidFill>
                <a:latin typeface="Consolas"/>
              </a:rPr>
              <a:t> </a:t>
            </a:r>
            <a:r>
              <a:rPr sz="1300">
                <a:solidFill>
                  <a:srgbClr val="4EC9B0"/>
                </a:solidFill>
                <a:latin typeface="Consolas"/>
              </a:rPr>
              <a:t>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ComponentConcept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Components</a:t>
            </a:r>
            <a:r>
              <a:rPr sz="1300">
                <a:solidFill>
                  <a:srgbClr val="D4D4D4"/>
                </a:solidFill>
                <a:latin typeface="Consolas"/>
              </a:rPr>
              <a:t>&gt;</a:t>
            </a:r>
          </a:p>
          <a:p>
            <a:pPr>
              <a:spcAft>
                <a:spcPts val="100"/>
              </a:spcAft>
            </a:pPr>
            <a:r>
              <a:rPr sz="1300">
                <a:solidFill>
                  <a:srgbClr val="569CD6"/>
                </a:solidFill>
                <a:latin typeface="Consolas"/>
              </a:rPr>
              <a:t>class</a:t>
            </a:r>
            <a:r>
              <a:rPr sz="1300">
                <a:solidFill>
                  <a:srgbClr val="D4D4D4"/>
                </a:solidFill>
                <a:latin typeface="Consolas"/>
              </a:rPr>
              <a:t> </a:t>
            </a:r>
            <a:r>
              <a:rPr sz="1300">
                <a:solidFill>
                  <a:srgbClr val="4EC9B0"/>
                </a:solidFill>
                <a:latin typeface="Consolas"/>
              </a:rPr>
              <a:t>Registry</a:t>
            </a:r>
            <a:r>
              <a:rPr sz="1300">
                <a:solidFill>
                  <a:srgbClr val="D4D4D4"/>
                </a:solidFill>
                <a:latin typeface="Consolas"/>
              </a:rPr>
              <a:t> </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std</a:t>
            </a:r>
            <a:r>
              <a:rPr sz="1300">
                <a:solidFill>
                  <a:srgbClr val="D4D4D4"/>
                </a:solidFill>
                <a:latin typeface="Consolas"/>
              </a:rPr>
              <a:t>:</a:t>
            </a:r>
            <a:r>
              <a:rPr sz="1300">
                <a:solidFill>
                  <a:srgbClr val="D4D4D4"/>
                </a:solidFill>
                <a:latin typeface="Consolas"/>
              </a:rPr>
              <a:t>:</a:t>
            </a:r>
            <a:r>
              <a:rPr sz="1300">
                <a:solidFill>
                  <a:srgbClr val="D4D4D4"/>
                </a:solidFill>
                <a:latin typeface="Consolas"/>
              </a:rPr>
              <a:t>tuple</a:t>
            </a:r>
            <a:r>
              <a:rPr sz="1300">
                <a:solidFill>
                  <a:srgbClr val="D4D4D4"/>
                </a:solidFill>
                <a:latin typeface="Consolas"/>
              </a:rPr>
              <a:t>&lt;</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Components</a:t>
            </a:r>
            <a:r>
              <a:rPr sz="1300">
                <a:solidFill>
                  <a:srgbClr val="D4D4D4"/>
                </a:solidFill>
                <a:latin typeface="Consolas"/>
              </a:rPr>
              <a:t>&amp;</a:t>
            </a:r>
            <a:r>
              <a:rPr sz="1300">
                <a:solidFill>
                  <a:srgbClr val="D4D4D4"/>
                </a:solidFill>
                <a:latin typeface="Consolas"/>
              </a:rPr>
              <a: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&gt;</a:t>
            </a:r>
            <a:r>
              <a:rPr sz="1300">
                <a:solidFill>
                  <a:srgbClr val="D4D4D4"/>
                </a:solidFill>
                <a:latin typeface="Consolas"/>
              </a:rPr>
              <a:t> </a:t>
            </a:r>
            <a:r>
              <a:rPr sz="1300">
                <a:solidFill>
                  <a:srgbClr val="D4D4D4"/>
                </a:solidFill>
                <a:latin typeface="Consolas"/>
              </a:rPr>
              <a:t>m_components</a:t>
            </a:r>
            <a:r>
              <a:rPr sz="1300">
                <a:solidFill>
                  <a:srgbClr val="D4D4D4"/>
                </a:solidFill>
                <a:latin typeface="Consolas"/>
              </a:rPr>
              <a:t>;</a:t>
            </a:r>
          </a:p>
          <a:p>
            <a:pPr>
              <a:spcAft>
                <a:spcPts val="100"/>
              </a:spcAft>
            </a:pPr>
            <a:r>
              <a:rPr sz="1300">
                <a:latin typeface="Consolas"/>
              </a:rPr>
              <a:t> </a:t>
            </a:r>
          </a:p>
          <a:p>
            <a:pPr>
              <a:spcAft>
                <a:spcPts val="100"/>
              </a:spcAft>
            </a:pPr>
            <a:r>
              <a:rPr sz="1300">
                <a:solidFill>
                  <a:srgbClr val="D4D4D4"/>
                </a:solidFill>
                <a:latin typeface="Consolas"/>
              </a:rPr>
              <a:t>    </a:t>
            </a:r>
            <a:r>
              <a:rPr sz="1300">
                <a:solidFill>
                  <a:srgbClr val="569CD6"/>
                </a:solidFill>
                <a:latin typeface="Consolas"/>
              </a:rPr>
              <a:t>template</a:t>
            </a:r>
            <a:r>
              <a:rPr sz="1300">
                <a:solidFill>
                  <a:srgbClr val="D4D4D4"/>
                </a:solidFill>
                <a:latin typeface="Consolas"/>
              </a:rPr>
              <a:t>&lt;</a:t>
            </a:r>
            <a:r>
              <a:rPr sz="1300">
                <a:solidFill>
                  <a:srgbClr val="D4D4D4"/>
                </a:solidFill>
                <a:latin typeface="Consolas"/>
              </a:rPr>
              <a:t>StateTagConcept</a:t>
            </a:r>
            <a:r>
              <a:rPr sz="1300">
                <a:solidFill>
                  <a:srgbClr val="D4D4D4"/>
                </a:solidFill>
                <a:latin typeface="Consolas"/>
              </a:rPr>
              <a:t> </a:t>
            </a:r>
            <a:r>
              <a:rPr sz="1300">
                <a:solidFill>
                  <a:srgbClr val="D4D4D4"/>
                </a:solidFill>
                <a:latin typeface="Consolas"/>
              </a:rPr>
              <a:t>Tag</a:t>
            </a:r>
            <a:r>
              <a:rPr sz="1300">
                <a:solidFill>
                  <a:srgbClr val="D4D4D4"/>
                </a:solidFill>
                <a:latin typeface="Consolas"/>
              </a:rPr>
              <a:t>&gt;</a:t>
            </a:r>
          </a:p>
          <a:p>
            <a:pPr>
              <a:spcAft>
                <a:spcPts val="100"/>
              </a:spcAft>
            </a:pPr>
            <a:r>
              <a:rPr sz="1300">
                <a:solidFill>
                  <a:srgbClr val="D4D4D4"/>
                </a:solidFill>
                <a:latin typeface="Consolas"/>
              </a:rPr>
              <a:t>    </a:t>
            </a:r>
            <a:r>
              <a:rPr sz="1300">
                <a:solidFill>
                  <a:srgbClr val="569CD6"/>
                </a:solidFill>
                <a:latin typeface="Consolas"/>
              </a:rPr>
              <a:t>static</a:t>
            </a:r>
            <a:r>
              <a:rPr sz="1300">
                <a:solidFill>
                  <a:srgbClr val="D4D4D4"/>
                </a:solidFill>
                <a:latin typeface="Consolas"/>
              </a:rPr>
              <a:t> </a:t>
            </a:r>
            <a:r>
              <a:rPr sz="1300">
                <a:solidFill>
                  <a:srgbClr val="569CD6"/>
                </a:solidFill>
                <a:latin typeface="Consolas"/>
              </a:rPr>
              <a:t>constexpr</a:t>
            </a:r>
            <a:r>
              <a:rPr sz="1300">
                <a:solidFill>
                  <a:srgbClr val="D4D4D4"/>
                </a:solidFill>
                <a:latin typeface="Consolas"/>
              </a:rPr>
              <a:t> </a:t>
            </a:r>
            <a:r>
              <a:rPr sz="1300">
                <a:solidFill>
                  <a:srgbClr val="4EC9B0"/>
                </a:solidFill>
                <a:latin typeface="Consolas"/>
              </a:rPr>
              <a:t>bool</a:t>
            </a:r>
            <a:r>
              <a:rPr sz="1300">
                <a:solidFill>
                  <a:srgbClr val="D4D4D4"/>
                </a:solidFill>
                <a:latin typeface="Consolas"/>
              </a:rPr>
              <a:t> </a:t>
            </a:r>
            <a:r>
              <a:rPr sz="1300">
                <a:solidFill>
                  <a:srgbClr val="D4D4D4"/>
                </a:solidFill>
                <a:latin typeface="Consolas"/>
              </a:rPr>
              <a:t>hasFunction</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p>
          <a:p>
            <a:pPr>
              <a:spcAft>
                <a:spcPts val="100"/>
              </a:spcAft>
            </a:pPr>
            <a:r>
              <a:rPr sz="1300" b="1">
                <a:solidFill>
                  <a:srgbClr val="F2C744"/>
                </a:solidFill>
                <a:latin typeface="Consolas"/>
              </a:rPr>
              <a:t>        </a:t>
            </a:r>
            <a:r>
              <a:rPr sz="1300" b="1">
                <a:solidFill>
                  <a:srgbClr val="F2C744"/>
                </a:solidFill>
                <a:latin typeface="Consolas"/>
              </a:rPr>
              <a:t>return</a:t>
            </a:r>
            <a:r>
              <a:rPr sz="1300" b="1">
                <a:solidFill>
                  <a:srgbClr val="F2C744"/>
                </a:solidFill>
                <a:latin typeface="Consolas"/>
              </a:rPr>
              <a:t> </a:t>
            </a:r>
            <a:r>
              <a:rPr sz="1300" b="1">
                <a:solidFill>
                  <a:srgbClr val="F2C744"/>
                </a:solidFill>
                <a:latin typeface="Consolas"/>
              </a:rPr>
              <a:t>(</a:t>
            </a:r>
            <a:r>
              <a:rPr sz="1300" b="1">
                <a:solidFill>
                  <a:srgbClr val="F2C744"/>
                </a:solidFill>
                <a:latin typeface="Consolas"/>
              </a:rPr>
              <a:t>ProvidesStateFunction</a:t>
            </a:r>
            <a:r>
              <a:rPr sz="1300" b="1">
                <a:solidFill>
                  <a:srgbClr val="F2C744"/>
                </a:solidFill>
                <a:latin typeface="Consolas"/>
              </a:rPr>
              <a:t>&lt;</a:t>
            </a:r>
            <a:r>
              <a:rPr sz="1300" b="1">
                <a:solidFill>
                  <a:srgbClr val="F2C744"/>
                </a:solidFill>
                <a:latin typeface="Consolas"/>
              </a:rPr>
              <a:t>Components</a:t>
            </a:r>
            <a:r>
              <a:rPr sz="1300" b="1">
                <a:solidFill>
                  <a:srgbClr val="F2C744"/>
                </a:solidFill>
                <a:latin typeface="Consolas"/>
              </a:rPr>
              <a:t>,</a:t>
            </a:r>
            <a:r>
              <a:rPr sz="1300" b="1">
                <a:solidFill>
                  <a:srgbClr val="F2C744"/>
                </a:solidFill>
                <a:latin typeface="Consolas"/>
              </a:rPr>
              <a:t> </a:t>
            </a:r>
            <a:r>
              <a:rPr sz="1300" b="1">
                <a:solidFill>
                  <a:srgbClr val="F2C744"/>
                </a:solidFill>
                <a:latin typeface="Consolas"/>
              </a:rPr>
              <a:t>Tag</a:t>
            </a:r>
            <a:r>
              <a:rPr sz="1300" b="1">
                <a:solidFill>
                  <a:srgbClr val="F2C744"/>
                </a:solidFill>
                <a:latin typeface="Consolas"/>
              </a:rPr>
              <a:t>,</a:t>
            </a:r>
            <a:r>
              <a:rPr sz="1300" b="1">
                <a:solidFill>
                  <a:srgbClr val="F2C744"/>
                </a:solidFill>
                <a:latin typeface="Consolas"/>
              </a:rPr>
              <a:t> </a:t>
            </a:r>
            <a:r>
              <a:rPr sz="1300" b="1">
                <a:solidFill>
                  <a:srgbClr val="F2C744"/>
                </a:solidFill>
                <a:latin typeface="Consolas"/>
              </a:rPr>
              <a:t>T</a:t>
            </a:r>
            <a:r>
              <a:rPr sz="1300" b="1">
                <a:solidFill>
                  <a:srgbClr val="F2C744"/>
                </a:solidFill>
                <a:latin typeface="Consolas"/>
              </a:rPr>
              <a:t>,</a:t>
            </a:r>
            <a:r>
              <a:rPr sz="1300" b="1">
                <a:solidFill>
                  <a:srgbClr val="F2C744"/>
                </a:solidFill>
                <a:latin typeface="Consolas"/>
              </a:rPr>
              <a:t> </a:t>
            </a:r>
            <a:r>
              <a:rPr sz="1300" b="1">
                <a:solidFill>
                  <a:srgbClr val="F2C744"/>
                </a:solidFill>
                <a:latin typeface="Consolas"/>
              </a:rPr>
              <a:t>Registry</a:t>
            </a:r>
            <a:r>
              <a:rPr sz="1300" b="1">
                <a:solidFill>
                  <a:srgbClr val="F2C744"/>
                </a:solidFill>
                <a:latin typeface="Consolas"/>
              </a:rPr>
              <a:t>&gt;</a:t>
            </a:r>
            <a:r>
              <a:rPr sz="1300" b="1">
                <a:solidFill>
                  <a:srgbClr val="F2C744"/>
                </a:solidFill>
                <a:latin typeface="Consolas"/>
              </a:rPr>
              <a:t> </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 </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a:t>
            </a:r>
          </a:p>
          <a:p>
            <a:pPr>
              <a:spcAft>
                <a:spcPts val="100"/>
              </a:spcAft>
            </a:pP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fold over all components</a:t>
            </a:r>
          </a:p>
          <a:p>
            <a:pPr>
              <a:spcAft>
                <a:spcPts val="100"/>
              </a:spcAft>
            </a:pPr>
            <a:r>
              <a:rPr sz="1300">
                <a:latin typeface="Consolas"/>
              </a:rPr>
              <a:t> </a:t>
            </a:r>
          </a:p>
          <a:p>
            <a:pPr>
              <a:spcAft>
                <a:spcPts val="100"/>
              </a:spcAft>
            </a:pPr>
            <a:r>
              <a:rPr sz="1300">
                <a:solidFill>
                  <a:srgbClr val="D4D4D4"/>
                </a:solidFill>
                <a:latin typeface="Consolas"/>
              </a:rPr>
              <a:t>    </a:t>
            </a:r>
            <a:r>
              <a:rPr sz="1300">
                <a:solidFill>
                  <a:srgbClr val="569CD6"/>
                </a:solidFill>
                <a:latin typeface="Consolas"/>
              </a:rPr>
              <a:t>template</a:t>
            </a:r>
            <a:r>
              <a:rPr sz="1300">
                <a:solidFill>
                  <a:srgbClr val="D4D4D4"/>
                </a:solidFill>
                <a:latin typeface="Consolas"/>
              </a:rPr>
              <a:t>&lt;</a:t>
            </a:r>
            <a:r>
              <a:rPr sz="1300">
                <a:solidFill>
                  <a:srgbClr val="D4D4D4"/>
                </a:solidFill>
                <a:latin typeface="Consolas"/>
              </a:rPr>
              <a:t>StateTagConcept</a:t>
            </a:r>
            <a:r>
              <a:rPr sz="1300">
                <a:solidFill>
                  <a:srgbClr val="D4D4D4"/>
                </a:solidFill>
                <a:latin typeface="Consolas"/>
              </a:rPr>
              <a:t> </a:t>
            </a:r>
            <a:r>
              <a:rPr sz="1300">
                <a:solidFill>
                  <a:srgbClr val="D4D4D4"/>
                </a:solidFill>
                <a:latin typeface="Consolas"/>
              </a:rPr>
              <a:t>Tag</a:t>
            </a:r>
            <a:r>
              <a:rPr sz="1300">
                <a:solidFill>
                  <a:srgbClr val="D4D4D4"/>
                </a:solidFill>
                <a:latin typeface="Consolas"/>
              </a:rPr>
              <a:t>&gt;</a:t>
            </a:r>
          </a:p>
          <a:p>
            <a:pPr>
              <a:spcAft>
                <a:spcPts val="100"/>
              </a:spcAft>
            </a:pPr>
            <a:r>
              <a:rPr sz="1300">
                <a:solidFill>
                  <a:srgbClr val="D4D4D4"/>
                </a:solidFill>
                <a:latin typeface="Consolas"/>
              </a:rPr>
              <a:t>    </a:t>
            </a:r>
            <a:r>
              <a:rPr sz="1300">
                <a:solidFill>
                  <a:srgbClr val="569CD6"/>
                </a:solidFill>
                <a:latin typeface="Consolas"/>
              </a:rPr>
              <a:t>auto</a:t>
            </a:r>
            <a:r>
              <a:rPr sz="1300">
                <a:solidFill>
                  <a:srgbClr val="D4D4D4"/>
                </a:solidFill>
                <a:latin typeface="Consolas"/>
              </a:rPr>
              <a:t> </a:t>
            </a:r>
            <a:r>
              <a:rPr sz="1300">
                <a:solidFill>
                  <a:srgbClr val="D4D4D4"/>
                </a:solidFill>
                <a:latin typeface="Consolas"/>
              </a:rPr>
              <a:t>computeFunction</a:t>
            </a:r>
            <a:r>
              <a:rPr sz="1300">
                <a:solidFill>
                  <a:srgbClr val="D4D4D4"/>
                </a:solidFill>
                <a:latin typeface="Consolas"/>
              </a:rPr>
              <a:t>(</a:t>
            </a:r>
            <a:r>
              <a:rPr sz="1300">
                <a:solidFill>
                  <a:srgbClr val="D4D4D4"/>
                </a:solidFill>
                <a:latin typeface="Consolas"/>
              </a:rPr>
              <a:t>std</a:t>
            </a:r>
            <a:r>
              <a:rPr sz="1300">
                <a:solidFill>
                  <a:srgbClr val="D4D4D4"/>
                </a:solidFill>
                <a:latin typeface="Consolas"/>
              </a:rPr>
              <a:t>:</a:t>
            </a:r>
            <a:r>
              <a:rPr sz="1300">
                <a:solidFill>
                  <a:srgbClr val="D4D4D4"/>
                </a:solidFill>
                <a:latin typeface="Consolas"/>
              </a:rPr>
              <a:t>:</a:t>
            </a:r>
            <a:r>
              <a:rPr sz="1300">
                <a:solidFill>
                  <a:srgbClr val="D4D4D4"/>
                </a:solidFill>
                <a:latin typeface="Consolas"/>
              </a:rPr>
              <a:t>span</a:t>
            </a:r>
            <a:r>
              <a:rPr sz="1300">
                <a:solidFill>
                  <a:srgbClr val="D4D4D4"/>
                </a:solidFill>
                <a:latin typeface="Consolas"/>
              </a:rPr>
              <a:t>&lt;</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T</a:t>
            </a:r>
            <a:r>
              <a:rPr sz="1300">
                <a:solidFill>
                  <a:srgbClr val="D4D4D4"/>
                </a:solidFill>
                <a:latin typeface="Consolas"/>
              </a:rPr>
              <a:t>&gt;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 </a:t>
            </a:r>
            <a:r>
              <a:rPr sz="1300">
                <a:solidFill>
                  <a:srgbClr val="569CD6"/>
                </a:solidFill>
                <a:latin typeface="Consolas"/>
              </a:rPr>
              <a:t>const</a:t>
            </a:r>
            <a:r>
              <a:rPr sz="1300">
                <a:solidFill>
                  <a:srgbClr val="D4D4D4"/>
                </a:solidFill>
                <a:latin typeface="Consolas"/>
              </a:rPr>
              <a:t> </a:t>
            </a:r>
            <a:r>
              <a:rPr sz="1300">
                <a:solidFill>
                  <a:srgbClr val="D4D4D4"/>
                </a:solidFill>
                <a:latin typeface="Consolas"/>
              </a:rPr>
              <a:t>{</a:t>
            </a:r>
          </a:p>
          <a:p>
            <a:pPr>
              <a:spcAft>
                <a:spcPts val="100"/>
              </a:spcAft>
            </a:pPr>
            <a:r>
              <a:rPr sz="1300" b="1">
                <a:solidFill>
                  <a:srgbClr val="F2C744"/>
                </a:solidFill>
                <a:latin typeface="Consolas"/>
              </a:rPr>
              <a:t>        </a:t>
            </a:r>
            <a:r>
              <a:rPr sz="1300" b="1">
                <a:solidFill>
                  <a:srgbClr val="F2C744"/>
                </a:solidFill>
                <a:latin typeface="Consolas"/>
              </a:rPr>
              <a:t>static_assert</a:t>
            </a:r>
            <a:r>
              <a:rPr sz="1300" b="1">
                <a:solidFill>
                  <a:srgbClr val="F2C744"/>
                </a:solidFill>
                <a:latin typeface="Consolas"/>
              </a:rPr>
              <a:t>(</a:t>
            </a:r>
            <a:r>
              <a:rPr sz="1300" b="1">
                <a:solidFill>
                  <a:srgbClr val="F2C744"/>
                </a:solidFill>
                <a:latin typeface="Consolas"/>
              </a:rPr>
              <a:t>hasFunction</a:t>
            </a:r>
            <a:r>
              <a:rPr sz="1300" b="1">
                <a:solidFill>
                  <a:srgbClr val="F2C744"/>
                </a:solidFill>
                <a:latin typeface="Consolas"/>
              </a:rPr>
              <a:t>&lt;</a:t>
            </a:r>
            <a:r>
              <a:rPr sz="1300" b="1">
                <a:solidFill>
                  <a:srgbClr val="F2C744"/>
                </a:solidFill>
                <a:latin typeface="Consolas"/>
              </a:rPr>
              <a:t>Tag</a:t>
            </a:r>
            <a:r>
              <a:rPr sz="1300" b="1">
                <a:solidFill>
                  <a:srgbClr val="F2C744"/>
                </a:solidFill>
                <a:latin typeface="Consolas"/>
              </a:rPr>
              <a:t>&gt;</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a:t>
            </a:r>
          </a:p>
          <a:p>
            <a:pPr>
              <a:spcAft>
                <a:spcPts val="100"/>
              </a:spcAft>
            </a:pPr>
            <a:r>
              <a:rPr sz="1300" b="1">
                <a:solidFill>
                  <a:srgbClr val="F2C744"/>
                </a:solidFill>
                <a:latin typeface="Consolas"/>
              </a:rPr>
              <a:t>                      </a:t>
            </a:r>
            <a:r>
              <a:rPr sz="1300" b="1">
                <a:solidFill>
                  <a:srgbClr val="F2C744"/>
                </a:solidFill>
                <a:latin typeface="Consolas"/>
              </a:rPr>
              <a:t>"</a:t>
            </a:r>
            <a:r>
              <a:rPr sz="1300" b="1">
                <a:solidFill>
                  <a:srgbClr val="F2C744"/>
                </a:solidFill>
                <a:latin typeface="Consolas"/>
              </a:rPr>
              <a:t>No component provides this state function</a:t>
            </a:r>
            <a:r>
              <a:rPr sz="1300" b="1">
                <a:solidFill>
                  <a:srgbClr val="F2C744"/>
                </a:solidFill>
                <a:latin typeface="Consolas"/>
              </a:rPr>
              <a:t>"</a:t>
            </a:r>
            <a:r>
              <a:rPr sz="1300" b="1">
                <a:solidFill>
                  <a:srgbClr val="F2C744"/>
                </a:solidFill>
                <a:latin typeface="Consolas"/>
              </a:rPr>
              <a:t>)</a:t>
            </a:r>
            <a:r>
              <a:rPr sz="1300" b="1">
                <a:solidFill>
                  <a:srgbClr val="F2C744"/>
                </a:solidFill>
                <a:latin typeface="Consolas"/>
              </a:rPr>
              <a:t>;</a:t>
            </a:r>
          </a:p>
          <a:p>
            <a:pPr>
              <a:spcAft>
                <a:spcPts val="100"/>
              </a:spcAft>
            </a:pPr>
            <a:r>
              <a:rPr sz="1300">
                <a:solidFill>
                  <a:srgbClr val="D4D4D4"/>
                </a:solidFill>
                <a:latin typeface="Consolas"/>
              </a:rPr>
              <a:t>        </a:t>
            </a:r>
            <a:r>
              <a:rPr sz="1300">
                <a:solidFill>
                  <a:srgbClr val="569CD6"/>
                </a:solidFill>
                <a:latin typeface="Consolas"/>
              </a:rPr>
              <a:t>const</a:t>
            </a:r>
            <a:r>
              <a:rPr sz="1300">
                <a:solidFill>
                  <a:srgbClr val="D4D4D4"/>
                </a:solidFill>
                <a:latin typeface="Consolas"/>
              </a:rPr>
              <a:t> </a:t>
            </a:r>
            <a:r>
              <a:rPr sz="1300">
                <a:solidFill>
                  <a:srgbClr val="569CD6"/>
                </a:solidFill>
                <a:latin typeface="Consolas"/>
              </a:rPr>
              <a:t>auto</a:t>
            </a:r>
            <a:r>
              <a:rPr sz="1300">
                <a:solidFill>
                  <a:srgbClr val="D4D4D4"/>
                </a:solidFill>
                <a:latin typeface="Consolas"/>
              </a:rPr>
              <a:t>&amp;</a:t>
            </a:r>
            <a:r>
              <a:rPr sz="1300">
                <a:solidFill>
                  <a:srgbClr val="D4D4D4"/>
                </a:solidFill>
                <a:latin typeface="Consolas"/>
              </a:rPr>
              <a:t> </a:t>
            </a:r>
            <a:r>
              <a:rPr sz="1300">
                <a:solidFill>
                  <a:srgbClr val="D4D4D4"/>
                </a:solidFill>
                <a:latin typeface="Consolas"/>
              </a:rPr>
              <a:t>provider</a:t>
            </a:r>
            <a:r>
              <a:rPr sz="1300">
                <a:solidFill>
                  <a:srgbClr val="D4D4D4"/>
                </a:solidFill>
                <a:latin typeface="Consolas"/>
              </a:rPr>
              <a:t> </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findProvider</a:t>
            </a:r>
            <a:r>
              <a:rPr sz="1300">
                <a:solidFill>
                  <a:srgbClr val="D4D4D4"/>
                </a:solidFill>
                <a:latin typeface="Consolas"/>
              </a:rPr>
              <a:t>&lt;</a:t>
            </a:r>
            <a:r>
              <a:rPr sz="1300">
                <a:solidFill>
                  <a:srgbClr val="D4D4D4"/>
                </a:solidFill>
                <a:latin typeface="Consolas"/>
              </a:rPr>
              <a:t>Tag</a:t>
            </a:r>
            <a:r>
              <a:rPr sz="1300">
                <a:solidFill>
                  <a:srgbClr val="D4D4D4"/>
                </a:solidFill>
                <a:latin typeface="Consolas"/>
              </a:rPr>
              <a:t>&gt;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6A9955"/>
                </a:solidFill>
                <a:latin typeface="Consolas"/>
              </a:rPr>
              <a:t>// index found constexpr</a:t>
            </a:r>
          </a:p>
          <a:p>
            <a:pPr>
              <a:spcAft>
                <a:spcPts val="100"/>
              </a:spcAft>
            </a:pPr>
            <a:r>
              <a:rPr sz="1300">
                <a:solidFill>
                  <a:srgbClr val="D4D4D4"/>
                </a:solidFill>
                <a:latin typeface="Consolas"/>
              </a:rPr>
              <a:t>        </a:t>
            </a:r>
            <a:r>
              <a:rPr sz="1300">
                <a:solidFill>
                  <a:srgbClr val="569CD6"/>
                </a:solidFill>
                <a:latin typeface="Consolas"/>
              </a:rPr>
              <a:t>return</a:t>
            </a:r>
            <a:r>
              <a:rPr sz="1300">
                <a:solidFill>
                  <a:srgbClr val="D4D4D4"/>
                </a:solidFill>
                <a:latin typeface="Consolas"/>
              </a:rPr>
              <a:t> </a:t>
            </a:r>
            <a:r>
              <a:rPr sz="1300">
                <a:solidFill>
                  <a:srgbClr val="D4D4D4"/>
                </a:solidFill>
                <a:latin typeface="Consolas"/>
              </a:rPr>
              <a:t>provider</a:t>
            </a:r>
            <a:r>
              <a:rPr sz="1300">
                <a:solidFill>
                  <a:srgbClr val="D4D4D4"/>
                </a:solidFill>
                <a:latin typeface="Consolas"/>
              </a:rPr>
              <a:t>.</a:t>
            </a:r>
            <a:r>
              <a:rPr sz="1300">
                <a:solidFill>
                  <a:srgbClr val="D4D4D4"/>
                </a:solidFill>
                <a:latin typeface="Consolas"/>
              </a:rPr>
              <a:t>compute</a:t>
            </a:r>
            <a:r>
              <a:rPr sz="1300">
                <a:solidFill>
                  <a:srgbClr val="D4D4D4"/>
                </a:solidFill>
                <a:latin typeface="Consolas"/>
              </a:rPr>
              <a:t>(</a:t>
            </a:r>
            <a:r>
              <a:rPr sz="1300">
                <a:solidFill>
                  <a:srgbClr val="D4D4D4"/>
                </a:solidFill>
                <a:latin typeface="Consolas"/>
              </a:rPr>
              <a:t>Tag</a:t>
            </a:r>
            <a:r>
              <a:rPr sz="1300">
                <a:solidFill>
                  <a:srgbClr val="D4D4D4"/>
                </a:solidFill>
                <a:latin typeface="Consolas"/>
              </a:rPr>
              <a:t>{</a:t>
            </a:r>
            <a:r>
              <a:rPr sz="1300">
                <a:solidFill>
                  <a:srgbClr val="D4D4D4"/>
                </a:solidFill>
                <a:latin typeface="Consolas"/>
              </a:rPr>
              <a:t>}</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state</a:t>
            </a:r>
            <a:r>
              <a:rPr sz="1300">
                <a:solidFill>
                  <a:srgbClr val="D4D4D4"/>
                </a:solidFill>
                <a:latin typeface="Consolas"/>
              </a:rPr>
              <a:t>,</a:t>
            </a:r>
            <a:r>
              <a:rPr sz="1300">
                <a:solidFill>
                  <a:srgbClr val="D4D4D4"/>
                </a:solidFill>
                <a:latin typeface="Consolas"/>
              </a:rPr>
              <a:t> </a:t>
            </a:r>
            <a:r>
              <a:rPr sz="1300">
                <a:solidFill>
                  <a:srgbClr val="D4D4D4"/>
                </a:solidFill>
                <a:latin typeface="Consolas"/>
              </a:rPr>
              <a:t>*</a:t>
            </a:r>
            <a:r>
              <a:rPr sz="1300">
                <a:solidFill>
                  <a:srgbClr val="569CD6"/>
                </a:solidFill>
                <a:latin typeface="Consolas"/>
              </a:rPr>
              <a:t>this</a:t>
            </a:r>
            <a:r>
              <a:rPr sz="1300">
                <a:solidFill>
                  <a:srgbClr val="D4D4D4"/>
                </a:solidFill>
                <a:latin typeface="Consolas"/>
              </a:rPr>
              <a:t>)</a:t>
            </a:r>
            <a:r>
              <a:rPr sz="1300">
                <a:solidFill>
                  <a:srgbClr val="D4D4D4"/>
                </a:solidFill>
                <a:latin typeface="Consolas"/>
              </a:rPr>
              <a:t>;</a:t>
            </a:r>
          </a:p>
          <a:p>
            <a:pPr>
              <a:spcAft>
                <a:spcPts val="100"/>
              </a:spcAft>
            </a:pPr>
            <a:r>
              <a:rPr sz="1300">
                <a:solidFill>
                  <a:srgbClr val="D4D4D4"/>
                </a:solidFill>
                <a:latin typeface="Consolas"/>
              </a:rPr>
              <a:t>    </a:t>
            </a:r>
            <a:r>
              <a:rPr sz="1300">
                <a:solidFill>
                  <a:srgbClr val="D4D4D4"/>
                </a:solidFill>
                <a:latin typeface="Consolas"/>
              </a:rPr>
              <a:t>}</a:t>
            </a:r>
          </a:p>
          <a:p>
            <a:pPr>
              <a:spcAft>
                <a:spcPts val="100"/>
              </a:spcAft>
            </a:pPr>
            <a:r>
              <a:rPr sz="1300">
                <a:solidFill>
                  <a:srgbClr val="D4D4D4"/>
                </a:solidFill>
                <a:latin typeface="Consolas"/>
              </a:rPr>
              <a:t>}</a:t>
            </a:r>
            <a:r>
              <a:rPr sz="1300">
                <a:solidFill>
                  <a:srgbClr val="D4D4D4"/>
                </a:solidFill>
                <a:latin typeface="Consolas"/>
              </a:rPr>
              <a:t>;</a:t>
            </a:r>
          </a:p>
        </p:txBody>
      </p:sp>
      <p:sp>
        <p:nvSpPr>
          <p:cNvPr id="6" name="TextBox 5"/>
          <p:cNvSpPr txBox="1"/>
          <p:nvPr/>
        </p:nvSpPr>
        <p:spPr>
          <a:xfrm>
            <a:off x="9326880" y="1737360"/>
            <a:ext cx="2560320" cy="4572000"/>
          </a:xfrm>
          <a:prstGeom prst="rect">
            <a:avLst/>
          </a:prstGeom>
          <a:noFill/>
        </p:spPr>
        <p:txBody>
          <a:bodyPr wrap="square">
            <a:spAutoFit/>
          </a:bodyPr>
          <a:lstStyle/>
          <a:p>
            <a:pPr>
              <a:spcAft>
                <a:spcPts val="800"/>
              </a:spcAft>
            </a:pPr>
            <a:r>
              <a:rPr sz="1600">
                <a:solidFill>
                  <a:srgbClr val="35C4E8"/>
                </a:solidFill>
                <a:latin typeface="Segoe UI"/>
              </a:rPr>
              <a:t>•  </a:t>
            </a:r>
            <a:r>
              <a:rPr sz="1600" b="1">
                <a:solidFill>
                  <a:srgbClr val="F2C744"/>
                </a:solidFill>
                <a:latin typeface="Segoe UI"/>
              </a:rPr>
              <a:t>A fold expression over the component pack</a:t>
            </a:r>
          </a:p>
          <a:p>
            <a:pPr>
              <a:spcAft>
                <a:spcPts val="800"/>
              </a:spcAft>
            </a:pPr>
            <a:r>
              <a:rPr sz="1600">
                <a:solidFill>
                  <a:srgbClr val="35C4E8"/>
                </a:solidFill>
                <a:latin typeface="Segoe UI"/>
              </a:rPr>
              <a:t>•  </a:t>
            </a:r>
            <a:r>
              <a:rPr sz="1600" b="0">
                <a:solidFill>
                  <a:srgbClr val="D8E2EC"/>
                </a:solidFill>
                <a:latin typeface="Segoe UI"/>
              </a:rPr>
              <a:t>findProvider = constexpr search of the tuple</a:t>
            </a:r>
          </a:p>
          <a:p>
            <a:pPr>
              <a:spcAft>
                <a:spcPts val="800"/>
              </a:spcAft>
            </a:pPr>
            <a:r>
              <a:rPr sz="1600">
                <a:solidFill>
                  <a:srgbClr val="35C4E8"/>
                </a:solidFill>
                <a:latin typeface="Segoe UI"/>
              </a:rPr>
              <a:t>•  </a:t>
            </a:r>
            <a:r>
              <a:rPr sz="1600" b="1">
                <a:solidFill>
                  <a:srgbClr val="7EE08A"/>
                </a:solidFill>
                <a:latin typeface="Segoe UI"/>
              </a:rPr>
              <a:t>After inlining, the 'lookup' is gone</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HOW IT WORKS 3/4</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Idea 3 — concepts make the contracts checkable</a:t>
            </a:r>
          </a:p>
        </p:txBody>
      </p:sp>
      <p:sp>
        <p:nvSpPr>
          <p:cNvPr id="4" name="Rounded Rectangle 3"/>
          <p:cNvSpPr/>
          <p:nvPr/>
        </p:nvSpPr>
        <p:spPr>
          <a:xfrm>
            <a:off x="548640" y="1508760"/>
            <a:ext cx="8229600" cy="329184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concepts"/>
          <p:cNvSpPr txBox="1"/>
          <p:nvPr/>
        </p:nvSpPr>
        <p:spPr>
          <a:xfrm>
            <a:off x="713232" y="1673352"/>
            <a:ext cx="7900416" cy="2962656"/>
          </a:xfrm>
          <a:prstGeom prst="rect">
            <a:avLst/>
          </a:prstGeom>
          <a:noFill/>
        </p:spPr>
        <p:txBody>
          <a:bodyPr wrap="none">
            <a:spAutoFit/>
          </a:bodyPr>
          <a:lstStyle/>
          <a:p>
            <a:pPr>
              <a:spcAft>
                <a:spcPts val="100"/>
              </a:spcAft>
            </a:pPr>
            <a:r>
              <a:rPr sz="1400">
                <a:solidFill>
                  <a:srgbClr val="6A9955"/>
                </a:solidFill>
                <a:latin typeface="Consolas"/>
              </a:rPr>
              <a:t>// what a component IS:</a:t>
            </a:r>
          </a:p>
          <a:p>
            <a:pPr>
              <a:spcAft>
                <a:spcPts val="100"/>
              </a:spcAft>
            </a:pPr>
            <a:r>
              <a:rPr sz="1400">
                <a:solidFill>
                  <a:srgbClr val="569CD6"/>
                </a:solidFill>
                <a:latin typeface="Consolas"/>
              </a:rPr>
              <a:t>template</a:t>
            </a:r>
            <a:r>
              <a:rPr sz="1400">
                <a:solidFill>
                  <a:srgbClr val="D4D4D4"/>
                </a:solidFill>
                <a:latin typeface="Consolas"/>
              </a:rPr>
              <a:t>&lt;</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C</a:t>
            </a:r>
            <a:r>
              <a:rPr sz="1400">
                <a:solidFill>
                  <a:srgbClr val="D4D4D4"/>
                </a:solidFill>
                <a:latin typeface="Consolas"/>
              </a:rPr>
              <a:t>&gt;</a:t>
            </a:r>
          </a:p>
          <a:p>
            <a:pPr>
              <a:spcAft>
                <a:spcPts val="100"/>
              </a:spcAft>
            </a:pPr>
            <a:r>
              <a:rPr sz="1400">
                <a:solidFill>
                  <a:srgbClr val="569CD6"/>
                </a:solidFill>
                <a:latin typeface="Consolas"/>
              </a:rPr>
              <a:t>concept</a:t>
            </a:r>
            <a:r>
              <a:rPr sz="1400">
                <a:solidFill>
                  <a:srgbClr val="D4D4D4"/>
                </a:solidFill>
                <a:latin typeface="Consolas"/>
              </a:rPr>
              <a:t> </a:t>
            </a:r>
            <a:r>
              <a:rPr sz="1400">
                <a:solidFill>
                  <a:srgbClr val="4EC9B0"/>
                </a:solidFill>
                <a:latin typeface="Consolas"/>
              </a:rPr>
              <a:t>ComponentConcept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requires</a:t>
            </a:r>
            <a:r>
              <a:rPr sz="1400">
                <a:solidFill>
                  <a:srgbClr val="D4D4D4"/>
                </a:solidFill>
                <a:latin typeface="Consolas"/>
              </a:rPr>
              <a:t>(</a:t>
            </a:r>
            <a:r>
              <a:rPr sz="1400">
                <a:solidFill>
                  <a:srgbClr val="569CD6"/>
                </a:solidFill>
                <a:latin typeface="Consolas"/>
              </a:rPr>
              <a:t>const</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&amp;</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t>
            </a:r>
            <a:r>
              <a:rPr sz="1400">
                <a:solidFill>
                  <a:srgbClr val="D4D4D4"/>
                </a:solidFill>
                <a:latin typeface="Consolas"/>
              </a:rPr>
              <a:t>:</a:t>
            </a:r>
            <a:r>
              <a:rPr sz="1400">
                <a:solidFill>
                  <a:srgbClr val="D4D4D4"/>
                </a:solidFill>
                <a:latin typeface="Consolas"/>
              </a:rPr>
              <a:t>state_size</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std</a:t>
            </a:r>
            <a:r>
              <a:rPr sz="1400">
                <a:solidFill>
                  <a:srgbClr val="D4D4D4"/>
                </a:solidFill>
                <a:latin typeface="Consolas"/>
              </a:rPr>
              <a:t>:</a:t>
            </a:r>
            <a:r>
              <a:rPr sz="1400">
                <a:solidFill>
                  <a:srgbClr val="D4D4D4"/>
                </a:solidFill>
                <a:latin typeface="Consolas"/>
              </a:rPr>
              <a:t>:</a:t>
            </a:r>
            <a:r>
              <a:rPr sz="1400">
                <a:solidFill>
                  <a:srgbClr val="D4D4D4"/>
                </a:solidFill>
                <a:latin typeface="Consolas"/>
              </a:rPr>
              <a:t>convertible_to</a:t>
            </a:r>
            <a:r>
              <a:rPr sz="1400">
                <a:solidFill>
                  <a:srgbClr val="D4D4D4"/>
                </a:solidFill>
                <a:latin typeface="Consolas"/>
              </a:rPr>
              <a:t>&lt;</a:t>
            </a:r>
            <a:r>
              <a:rPr sz="1400">
                <a:solidFill>
                  <a:srgbClr val="4EC9B0"/>
                </a:solidFill>
                <a:latin typeface="Consolas"/>
              </a:rPr>
              <a:t>size_t</a:t>
            </a:r>
            <a:r>
              <a:rPr sz="1400">
                <a:solidFill>
                  <a:srgbClr val="D4D4D4"/>
                </a:solidFill>
                <a:latin typeface="Consolas"/>
              </a:rPr>
              <a:t>&gt;</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t>
            </a:r>
            <a:r>
              <a:rPr sz="1400">
                <a:solidFill>
                  <a:srgbClr val="D4D4D4"/>
                </a:solidFill>
                <a:latin typeface="Consolas"/>
              </a:rPr>
              <a:t>getInitialLocalState</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std</a:t>
            </a:r>
            <a:r>
              <a:rPr sz="1400">
                <a:solidFill>
                  <a:srgbClr val="D4D4D4"/>
                </a:solidFill>
                <a:latin typeface="Consolas"/>
              </a:rPr>
              <a:t>:</a:t>
            </a:r>
            <a:r>
              <a:rPr sz="1400">
                <a:solidFill>
                  <a:srgbClr val="D4D4D4"/>
                </a:solidFill>
                <a:latin typeface="Consolas"/>
              </a:rPr>
              <a:t>:</a:t>
            </a:r>
            <a:r>
              <a:rPr sz="1400">
                <a:solidFill>
                  <a:srgbClr val="D4D4D4"/>
                </a:solidFill>
                <a:latin typeface="Consolas"/>
              </a:rPr>
              <a:t>same_as</a:t>
            </a:r>
            <a:r>
              <a:rPr sz="1400">
                <a:solidFill>
                  <a:srgbClr val="D4D4D4"/>
                </a:solidFill>
                <a:latin typeface="Consolas"/>
              </a:rPr>
              <a:t>&lt;</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C</a:t>
            </a:r>
            <a:r>
              <a:rPr sz="1400">
                <a:solidFill>
                  <a:srgbClr val="D4D4D4"/>
                </a:solidFill>
                <a:latin typeface="Consolas"/>
              </a:rPr>
              <a:t>:</a:t>
            </a:r>
            <a:r>
              <a:rPr sz="1400">
                <a:solidFill>
                  <a:srgbClr val="D4D4D4"/>
                </a:solidFill>
                <a:latin typeface="Consolas"/>
              </a:rPr>
              <a:t>:</a:t>
            </a:r>
            <a:r>
              <a:rPr sz="1400">
                <a:solidFill>
                  <a:srgbClr val="D4D4D4"/>
                </a:solidFill>
                <a:latin typeface="Consolas"/>
              </a:rPr>
              <a:t>LocalState</a:t>
            </a:r>
            <a:r>
              <a:rPr sz="1400">
                <a:solidFill>
                  <a:srgbClr val="D4D4D4"/>
                </a:solidFill>
                <a:latin typeface="Consolas"/>
              </a:rPr>
              <a:t>&gt;</a:t>
            </a:r>
            <a:r>
              <a:rPr sz="1400">
                <a:solidFill>
                  <a:srgbClr val="D4D4D4"/>
                </a:solidFill>
                <a:latin typeface="Consolas"/>
              </a:rPr>
              <a:t>;</a:t>
            </a:r>
          </a:p>
          <a:p>
            <a:pPr>
              <a:spcAft>
                <a:spcPts val="100"/>
              </a:spcAft>
            </a:pP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6A9955"/>
                </a:solidFill>
                <a:latin typeface="Consolas"/>
              </a:rPr>
              <a:t>// what it PROVIDES (a quantity, selected by tag):</a:t>
            </a:r>
          </a:p>
          <a:p>
            <a:pPr>
              <a:spcAft>
                <a:spcPts val="100"/>
              </a:spcAft>
            </a:pPr>
            <a:r>
              <a:rPr sz="1400">
                <a:solidFill>
                  <a:srgbClr val="569CD6"/>
                </a:solidFill>
                <a:latin typeface="Consolas"/>
              </a:rPr>
              <a:t>template</a:t>
            </a:r>
            <a:r>
              <a:rPr sz="1400">
                <a:solidFill>
                  <a:srgbClr val="D4D4D4"/>
                </a:solidFill>
                <a:latin typeface="Consolas"/>
              </a:rPr>
              <a:t>&lt;</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C</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Tag</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T</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typename</a:t>
            </a:r>
            <a:r>
              <a:rPr sz="1400">
                <a:solidFill>
                  <a:srgbClr val="D4D4D4"/>
                </a:solidFill>
                <a:latin typeface="Consolas"/>
              </a:rPr>
              <a:t> </a:t>
            </a:r>
            <a:r>
              <a:rPr sz="1400">
                <a:solidFill>
                  <a:srgbClr val="4EC9B0"/>
                </a:solidFill>
                <a:latin typeface="Consolas"/>
              </a:rPr>
              <a:t>Registry</a:t>
            </a:r>
            <a:r>
              <a:rPr sz="1400">
                <a:solidFill>
                  <a:srgbClr val="D4D4D4"/>
                </a:solidFill>
                <a:latin typeface="Consolas"/>
              </a:rPr>
              <a:t>&gt;</a:t>
            </a:r>
          </a:p>
          <a:p>
            <a:pPr>
              <a:spcAft>
                <a:spcPts val="100"/>
              </a:spcAft>
            </a:pPr>
            <a:r>
              <a:rPr sz="1400">
                <a:solidFill>
                  <a:srgbClr val="569CD6"/>
                </a:solidFill>
                <a:latin typeface="Consolas"/>
              </a:rPr>
              <a:t>concept</a:t>
            </a:r>
            <a:r>
              <a:rPr sz="1400">
                <a:solidFill>
                  <a:srgbClr val="D4D4D4"/>
                </a:solidFill>
                <a:latin typeface="Consolas"/>
              </a:rPr>
              <a:t> </a:t>
            </a:r>
            <a:r>
              <a:rPr sz="1400">
                <a:solidFill>
                  <a:srgbClr val="4EC9B0"/>
                </a:solidFill>
                <a:latin typeface="Consolas"/>
              </a:rPr>
              <a:t>ProvidesStateFunction</a:t>
            </a:r>
            <a:r>
              <a:rPr sz="1400">
                <a:solidFill>
                  <a:srgbClr val="D4D4D4"/>
                </a:solidFill>
                <a:latin typeface="Consolas"/>
              </a:rPr>
              <a:t> </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ComponentConcept</a:t>
            </a:r>
            <a:r>
              <a:rPr sz="1400">
                <a:solidFill>
                  <a:srgbClr val="D4D4D4"/>
                </a:solidFill>
                <a:latin typeface="Consolas"/>
              </a:rPr>
              <a:t>&lt;</a:t>
            </a:r>
            <a:r>
              <a:rPr sz="1400">
                <a:solidFill>
                  <a:srgbClr val="D4D4D4"/>
                </a:solidFill>
                <a:latin typeface="Consolas"/>
              </a:rPr>
              <a:t>C</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&amp;</a:t>
            </a:r>
            <a:r>
              <a:rPr sz="1400">
                <a:solidFill>
                  <a:srgbClr val="D4D4D4"/>
                </a:solidFill>
                <a:latin typeface="Consolas"/>
              </a:rPr>
              <a:t>&amp;</a:t>
            </a:r>
            <a:r>
              <a:rPr sz="1400">
                <a:solidFill>
                  <a:srgbClr val="D4D4D4"/>
                </a:solidFill>
                <a:latin typeface="Consolas"/>
              </a:rPr>
              <a:t> </a:t>
            </a:r>
            <a:r>
              <a:rPr sz="1400">
                <a:solidFill>
                  <a:srgbClr val="D4D4D4"/>
                </a:solidFill>
                <a:latin typeface="Consolas"/>
              </a:rPr>
              <a:t>StateTagConcept</a:t>
            </a:r>
            <a:r>
              <a:rPr sz="1400">
                <a:solidFill>
                  <a:srgbClr val="D4D4D4"/>
                </a:solidFill>
                <a:latin typeface="Consolas"/>
              </a:rPr>
              <a:t>&lt;</a:t>
            </a:r>
            <a:r>
              <a:rPr sz="1400">
                <a:solidFill>
                  <a:srgbClr val="D4D4D4"/>
                </a:solidFill>
                <a:latin typeface="Consolas"/>
              </a:rPr>
              <a:t>Tag</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&amp;</a:t>
            </a:r>
            <a:r>
              <a:rPr sz="1400">
                <a:solidFill>
                  <a:srgbClr val="D4D4D4"/>
                </a:solidFill>
                <a:latin typeface="Consolas"/>
              </a:rPr>
              <a:t>&amp;</a:t>
            </a:r>
          </a:p>
          <a:p>
            <a:pPr>
              <a:spcAft>
                <a:spcPts val="100"/>
              </a:spcAft>
            </a:pPr>
            <a:r>
              <a:rPr sz="1400">
                <a:solidFill>
                  <a:srgbClr val="D4D4D4"/>
                </a:solidFill>
                <a:latin typeface="Consolas"/>
              </a:rPr>
              <a:t>    </a:t>
            </a:r>
            <a:r>
              <a:rPr sz="1400">
                <a:solidFill>
                  <a:srgbClr val="569CD6"/>
                </a:solidFill>
                <a:latin typeface="Consolas"/>
              </a:rPr>
              <a:t>requires</a:t>
            </a:r>
            <a:r>
              <a:rPr sz="1400">
                <a:solidFill>
                  <a:srgbClr val="D4D4D4"/>
                </a:solidFill>
                <a:latin typeface="Consolas"/>
              </a:rPr>
              <a:t>(</a:t>
            </a:r>
            <a:r>
              <a:rPr sz="1400">
                <a:solidFill>
                  <a:srgbClr val="569CD6"/>
                </a:solidFill>
                <a:latin typeface="Consolas"/>
              </a:rPr>
              <a:t>const</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&amp;</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std</a:t>
            </a:r>
            <a:r>
              <a:rPr sz="1400">
                <a:solidFill>
                  <a:srgbClr val="D4D4D4"/>
                </a:solidFill>
                <a:latin typeface="Consolas"/>
              </a:rPr>
              <a:t>:</a:t>
            </a:r>
            <a:r>
              <a:rPr sz="1400">
                <a:solidFill>
                  <a:srgbClr val="D4D4D4"/>
                </a:solidFill>
                <a:latin typeface="Consolas"/>
              </a:rPr>
              <a:t>:</a:t>
            </a:r>
            <a:r>
              <a:rPr sz="1400">
                <a:solidFill>
                  <a:srgbClr val="D4D4D4"/>
                </a:solidFill>
                <a:latin typeface="Consolas"/>
              </a:rPr>
              <a:t>span</a:t>
            </a:r>
            <a:r>
              <a:rPr sz="1400">
                <a:solidFill>
                  <a:srgbClr val="D4D4D4"/>
                </a:solidFill>
                <a:latin typeface="Consolas"/>
              </a:rPr>
              <a:t>&lt;</a:t>
            </a:r>
            <a:r>
              <a:rPr sz="1400">
                <a:solidFill>
                  <a:srgbClr val="569CD6"/>
                </a:solidFill>
                <a:latin typeface="Consolas"/>
              </a:rPr>
              <a:t>const</a:t>
            </a:r>
            <a:r>
              <a:rPr sz="1400">
                <a:solidFill>
                  <a:srgbClr val="D4D4D4"/>
                </a:solidFill>
                <a:latin typeface="Consolas"/>
              </a:rPr>
              <a:t> </a:t>
            </a:r>
            <a:r>
              <a:rPr sz="1400">
                <a:solidFill>
                  <a:srgbClr val="D4D4D4"/>
                </a:solidFill>
                <a:latin typeface="Consolas"/>
              </a:rPr>
              <a:t>T</a:t>
            </a:r>
            <a:r>
              <a:rPr sz="1400">
                <a:solidFill>
                  <a:srgbClr val="D4D4D4"/>
                </a:solidFill>
                <a:latin typeface="Consolas"/>
              </a:rPr>
              <a:t>&gt;</a:t>
            </a:r>
            <a:r>
              <a:rPr sz="1400">
                <a:solidFill>
                  <a:srgbClr val="D4D4D4"/>
                </a:solidFill>
                <a:latin typeface="Consolas"/>
              </a:rPr>
              <a:t> </a:t>
            </a:r>
            <a:r>
              <a:rPr sz="1400">
                <a:solidFill>
                  <a:srgbClr val="D4D4D4"/>
                </a:solidFill>
                <a:latin typeface="Consolas"/>
              </a:rPr>
              <a:t>s</a:t>
            </a:r>
            <a:r>
              <a:rPr sz="1400">
                <a:solidFill>
                  <a:srgbClr val="D4D4D4"/>
                </a:solidFill>
                <a:latin typeface="Consolas"/>
              </a:rPr>
              <a:t>,</a:t>
            </a:r>
            <a:r>
              <a:rPr sz="1400">
                <a:solidFill>
                  <a:srgbClr val="D4D4D4"/>
                </a:solidFill>
                <a:latin typeface="Consolas"/>
              </a:rPr>
              <a:t> </a:t>
            </a:r>
            <a:r>
              <a:rPr sz="1400">
                <a:solidFill>
                  <a:srgbClr val="569CD6"/>
                </a:solidFill>
                <a:latin typeface="Consolas"/>
              </a:rPr>
              <a:t>const</a:t>
            </a:r>
            <a:r>
              <a:rPr sz="1400">
                <a:solidFill>
                  <a:srgbClr val="D4D4D4"/>
                </a:solidFill>
                <a:latin typeface="Consolas"/>
              </a:rPr>
              <a:t> </a:t>
            </a:r>
            <a:r>
              <a:rPr sz="1400">
                <a:solidFill>
                  <a:srgbClr val="D4D4D4"/>
                </a:solidFill>
                <a:latin typeface="Consolas"/>
              </a:rPr>
              <a:t>Registry</a:t>
            </a:r>
            <a:r>
              <a:rPr sz="1400">
                <a:solidFill>
                  <a:srgbClr val="D4D4D4"/>
                </a:solidFill>
                <a:latin typeface="Consolas"/>
              </a:rPr>
              <a:t>&amp;</a:t>
            </a:r>
            <a:r>
              <a:rPr sz="1400">
                <a:solidFill>
                  <a:srgbClr val="D4D4D4"/>
                </a:solidFill>
                <a:latin typeface="Consolas"/>
              </a:rPr>
              <a:t> </a:t>
            </a:r>
            <a:r>
              <a:rPr sz="1400">
                <a:solidFill>
                  <a:srgbClr val="D4D4D4"/>
                </a:solidFill>
                <a:latin typeface="Consolas"/>
              </a:rPr>
              <a:t>reg</a:t>
            </a:r>
            <a:r>
              <a:rPr sz="1400">
                <a:solidFill>
                  <a:srgbClr val="D4D4D4"/>
                </a:solidFill>
                <a:latin typeface="Consolas"/>
              </a:rPr>
              <a:t>)</a:t>
            </a:r>
          </a:p>
          <a:p>
            <a:pPr>
              <a:spcAft>
                <a:spcPts val="100"/>
              </a:spcAft>
            </a:pP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c</a:t>
            </a:r>
            <a:r>
              <a:rPr sz="1400">
                <a:solidFill>
                  <a:srgbClr val="D4D4D4"/>
                </a:solidFill>
                <a:latin typeface="Consolas"/>
              </a:rPr>
              <a:t>.</a:t>
            </a:r>
            <a:r>
              <a:rPr sz="1400">
                <a:solidFill>
                  <a:srgbClr val="D4D4D4"/>
                </a:solidFill>
                <a:latin typeface="Consolas"/>
              </a:rPr>
              <a:t>compute</a:t>
            </a:r>
            <a:r>
              <a:rPr sz="1400">
                <a:solidFill>
                  <a:srgbClr val="D4D4D4"/>
                </a:solidFill>
                <a:latin typeface="Consolas"/>
              </a:rPr>
              <a:t>(</a:t>
            </a:r>
            <a:r>
              <a:rPr sz="1400">
                <a:solidFill>
                  <a:srgbClr val="D4D4D4"/>
                </a:solidFill>
                <a:latin typeface="Consolas"/>
              </a:rPr>
              <a:t>Tag</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reg</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a:t>
            </a:r>
          </a:p>
        </p:txBody>
      </p:sp>
      <p:sp>
        <p:nvSpPr>
          <p:cNvPr id="6" name="TextBox 5"/>
          <p:cNvSpPr txBox="1"/>
          <p:nvPr/>
        </p:nvSpPr>
        <p:spPr>
          <a:xfrm>
            <a:off x="548640" y="5029200"/>
            <a:ext cx="11064240" cy="4572000"/>
          </a:xfrm>
          <a:prstGeom prst="rect">
            <a:avLst/>
          </a:prstGeom>
          <a:noFill/>
        </p:spPr>
        <p:txBody>
          <a:bodyPr wrap="square">
            <a:spAutoFit/>
          </a:bodyPr>
          <a:lstStyle/>
          <a:p>
            <a:pPr>
              <a:spcAft>
                <a:spcPts val="800"/>
              </a:spcAft>
            </a:pPr>
            <a:r>
              <a:rPr sz="1900">
                <a:solidFill>
                  <a:srgbClr val="35C4E8"/>
                </a:solidFill>
                <a:latin typeface="Segoe UI"/>
              </a:rPr>
              <a:t>•  </a:t>
            </a:r>
            <a:r>
              <a:rPr sz="1900" b="1">
                <a:solidFill>
                  <a:srgbClr val="F2C744"/>
                </a:solidFill>
                <a:latin typeface="Segoe UI"/>
              </a:rPr>
              <a:t>Errors appear at the interface</a:t>
            </a:r>
            <a:r>
              <a:rPr sz="1900" b="0">
                <a:solidFill>
                  <a:srgbClr val="D8E2EC"/>
                </a:solidFill>
                <a:latin typeface="Segoe UI"/>
              </a:rPr>
              <a:t> — not 40 frames deep in template guts</a:t>
            </a:r>
          </a:p>
          <a:p>
            <a:pPr>
              <a:spcAft>
                <a:spcPts val="800"/>
              </a:spcAft>
            </a:pPr>
            <a:r>
              <a:rPr sz="1900">
                <a:solidFill>
                  <a:srgbClr val="35C4E8"/>
                </a:solidFill>
                <a:latin typeface="Segoe UI"/>
              </a:rPr>
              <a:t>•  </a:t>
            </a:r>
            <a:r>
              <a:rPr sz="1900" b="0">
                <a:solidFill>
                  <a:srgbClr val="D8E2EC"/>
                </a:solidFill>
                <a:latin typeface="Segoe UI"/>
              </a:rPr>
              <a:t>The 'component checklist' from our docs is enforced, not advised</a:t>
            </a:r>
          </a:p>
          <a:p>
            <a:pPr>
              <a:spcAft>
                <a:spcPts val="800"/>
              </a:spcAft>
            </a:pPr>
            <a:r>
              <a:rPr sz="1900">
                <a:solidFill>
                  <a:srgbClr val="35C4E8"/>
                </a:solidFill>
                <a:latin typeface="Segoe UI"/>
              </a:rPr>
              <a:t>•  </a:t>
            </a:r>
            <a:r>
              <a:rPr sz="1900" b="0">
                <a:solidFill>
                  <a:srgbClr val="D8E2EC"/>
                </a:solidFill>
                <a:latin typeface="Segoe UI"/>
              </a:rPr>
              <a:t>This is what makes the pattern </a:t>
            </a:r>
            <a:r>
              <a:rPr sz="1900" b="1">
                <a:solidFill>
                  <a:srgbClr val="FFFFFF"/>
                </a:solidFill>
                <a:latin typeface="Segoe UI"/>
              </a:rPr>
              <a:t>practical</a:t>
            </a:r>
            <a:r>
              <a:rPr sz="1900" b="0">
                <a:solidFill>
                  <a:srgbClr val="D8E2EC"/>
                </a:solidFill>
                <a:latin typeface="Segoe UI"/>
              </a:rPr>
              <a:t> — pre-C++20 it was an expert-only SFINAE swamp</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HOW IT WORKS 4/4</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Idea 4 — everything is a value</a:t>
            </a:r>
          </a:p>
        </p:txBody>
      </p:sp>
      <p:sp>
        <p:nvSpPr>
          <p:cNvPr id="4" name="TextBox 3"/>
          <p:cNvSpPr txBox="1"/>
          <p:nvPr/>
        </p:nvSpPr>
        <p:spPr>
          <a:xfrm>
            <a:off x="548640" y="1737360"/>
            <a:ext cx="11064240" cy="4572000"/>
          </a:xfrm>
          <a:prstGeom prst="rect">
            <a:avLst/>
          </a:prstGeom>
          <a:noFill/>
        </p:spPr>
        <p:txBody>
          <a:bodyPr wrap="square">
            <a:spAutoFit/>
          </a:bodyPr>
          <a:lstStyle/>
          <a:p>
            <a:pPr>
              <a:spcAft>
                <a:spcPts val="800"/>
              </a:spcAft>
            </a:pPr>
            <a:r>
              <a:rPr sz="2100">
                <a:solidFill>
                  <a:srgbClr val="35C4E8"/>
                </a:solidFill>
                <a:latin typeface="Segoe UI"/>
              </a:rPr>
              <a:t>•  </a:t>
            </a:r>
            <a:r>
              <a:rPr sz="2100" b="0">
                <a:solidFill>
                  <a:srgbClr val="D8E2EC"/>
                </a:solidFill>
                <a:latin typeface="Segoe UI"/>
              </a:rPr>
              <a:t>The system is </a:t>
            </a:r>
            <a:r>
              <a:rPr sz="2100" b="0">
                <a:solidFill>
                  <a:srgbClr val="35C4E8"/>
                </a:solidFill>
                <a:latin typeface="Segoe UI"/>
              </a:rPr>
              <a:t>std::tuple&lt;Mass1, Mass2, Spring, EnergyMonitor&gt;</a:t>
            </a:r>
          </a:p>
          <a:p>
            <a:pPr lvl="1">
              <a:spcBef>
                <a:spcPts val="0"/>
              </a:spcBef>
              <a:spcAft>
                <a:spcPts val="800"/>
              </a:spcAft>
            </a:pPr>
            <a:r>
              <a:rPr sz="1900">
                <a:solidFill>
                  <a:srgbClr val="8CA3B8"/>
                </a:solidFill>
                <a:latin typeface="Segoe UI"/>
              </a:rPr>
              <a:t>–  </a:t>
            </a:r>
            <a:r>
              <a:rPr sz="1900" b="0">
                <a:solidFill>
                  <a:srgbClr val="D8E2EC"/>
                </a:solidFill>
                <a:latin typeface="Segoe UI"/>
              </a:rPr>
              <a:t>no heap, no pointers, no type erasure, no std::function</a:t>
            </a:r>
          </a:p>
          <a:p>
            <a:pPr>
              <a:spcAft>
                <a:spcPts val="800"/>
              </a:spcAft>
            </a:pPr>
            <a:r>
              <a:rPr sz="2100">
                <a:solidFill>
                  <a:srgbClr val="35C4E8"/>
                </a:solidFill>
                <a:latin typeface="Segoe UI"/>
              </a:rPr>
              <a:t>•  </a:t>
            </a:r>
            <a:r>
              <a:rPr sz="2100" b="1">
                <a:solidFill>
                  <a:srgbClr val="F2C744"/>
                </a:solidFill>
                <a:latin typeface="Segoe UI"/>
              </a:rPr>
              <a:t>The optimizer sees the whole object graph as one struct</a:t>
            </a:r>
          </a:p>
          <a:p>
            <a:pPr lvl="1">
              <a:spcBef>
                <a:spcPts val="0"/>
              </a:spcBef>
              <a:spcAft>
                <a:spcPts val="800"/>
              </a:spcAft>
            </a:pPr>
            <a:r>
              <a:rPr sz="1900">
                <a:solidFill>
                  <a:srgbClr val="8CA3B8"/>
                </a:solidFill>
                <a:latin typeface="Segoe UI"/>
              </a:rPr>
              <a:t>–  </a:t>
            </a:r>
            <a:r>
              <a:rPr sz="1900" b="0">
                <a:solidFill>
                  <a:srgbClr val="D8E2EC"/>
                </a:solidFill>
                <a:latin typeface="Segoe UI"/>
              </a:rPr>
              <a:t>every compute() call is a direct (and inlinable) call</a:t>
            </a:r>
          </a:p>
          <a:p>
            <a:pPr>
              <a:spcAft>
                <a:spcPts val="800"/>
              </a:spcAft>
            </a:pPr>
            <a:r>
              <a:rPr sz="2100">
                <a:solidFill>
                  <a:srgbClr val="35C4E8"/>
                </a:solidFill>
                <a:latin typeface="Segoe UI"/>
              </a:rPr>
              <a:t>•  </a:t>
            </a:r>
            <a:r>
              <a:rPr sz="2100" b="0">
                <a:solidFill>
                  <a:srgbClr val="D8E2EC"/>
                </a:solidFill>
                <a:latin typeface="Segoe UI"/>
              </a:rPr>
              <a:t>State lives in one contiguous vector; components know their offsets</a:t>
            </a:r>
          </a:p>
          <a:p>
            <a:pPr>
              <a:spcAft>
                <a:spcPts val="800"/>
              </a:spcAft>
            </a:pPr>
            <a:r>
              <a:rPr sz="2100">
                <a:solidFill>
                  <a:srgbClr val="35C4E8"/>
                </a:solidFill>
                <a:latin typeface="Segoe UI"/>
              </a:rPr>
              <a:t>•  </a:t>
            </a:r>
            <a:r>
              <a:rPr sz="2100" b="0">
                <a:solidFill>
                  <a:srgbClr val="D8E2EC"/>
                </a:solidFill>
                <a:latin typeface="Segoe UI"/>
              </a:rPr>
              <a:t>The price: component set is fixed at compile time</a:t>
            </a:r>
          </a:p>
          <a:p>
            <a:pPr lvl="1">
              <a:spcBef>
                <a:spcPts val="0"/>
              </a:spcBef>
              <a:spcAft>
                <a:spcPts val="800"/>
              </a:spcAft>
            </a:pPr>
            <a:r>
              <a:rPr sz="1900">
                <a:solidFill>
                  <a:srgbClr val="8CA3B8"/>
                </a:solidFill>
                <a:latin typeface="Segoe UI"/>
              </a:rPr>
              <a:t>–  </a:t>
            </a:r>
            <a:r>
              <a:rPr sz="1900" b="0">
                <a:solidFill>
                  <a:srgbClr val="D8E2EC"/>
                </a:solidFill>
                <a:latin typeface="Segoe UI"/>
              </a:rPr>
              <a:t>for flight software that's a feature — the vehicle doesn't grow a fin mid-flight</a:t>
            </a:r>
          </a:p>
        </p:txBody>
      </p:sp>
      <p:sp>
        <p:nvSpPr>
          <p:cNvPr id="5" name="TextBox 4"/>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6" name="TextBox 5"/>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06</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What the Compiler Sees</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Trust, but disassemble</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6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G++ 14 -O2, REAL OUTPUT</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The abstraction compiles away</a:t>
            </a:r>
          </a:p>
        </p:txBody>
      </p:sp>
      <p:sp>
        <p:nvSpPr>
          <p:cNvPr id="4" name="Rounded Rectangle 3"/>
          <p:cNvSpPr/>
          <p:nvPr/>
        </p:nvSpPr>
        <p:spPr>
          <a:xfrm>
            <a:off x="548640" y="1463040"/>
            <a:ext cx="6035040" cy="379476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27632"/>
            <a:ext cx="5705856" cy="3465576"/>
          </a:xfrm>
          <a:prstGeom prst="rect">
            <a:avLst/>
          </a:prstGeom>
          <a:noFill/>
        </p:spPr>
        <p:txBody>
          <a:bodyPr wrap="none">
            <a:spAutoFit/>
          </a:bodyPr>
          <a:lstStyle/>
          <a:p>
            <a:pPr>
              <a:spcAft>
                <a:spcPts val="100"/>
              </a:spcAft>
            </a:pPr>
            <a:r>
              <a:rPr sz="1250">
                <a:solidFill>
                  <a:srgbClr val="DCDCAA"/>
                </a:solidFill>
                <a:latin typeface="Consolas"/>
              </a:rPr>
              <a:t>energy_sopot</a:t>
            </a:r>
            <a:r>
              <a:rPr sz="1250">
                <a:solidFill>
                  <a:srgbClr val="D4D4D4"/>
                </a:solidFill>
                <a:latin typeface="Consolas"/>
              </a:rPr>
              <a:t>(</a:t>
            </a:r>
            <a:r>
              <a:rPr sz="1250">
                <a:solidFill>
                  <a:srgbClr val="D4D4D4"/>
                </a:solidFill>
                <a:latin typeface="Consolas"/>
              </a:rPr>
              <a:t>span</a:t>
            </a:r>
            <a:r>
              <a:rPr sz="1250">
                <a:solidFill>
                  <a:srgbClr val="D4D4D4"/>
                </a:solidFill>
                <a:latin typeface="Consolas"/>
              </a:rPr>
              <a:t>&lt;</a:t>
            </a:r>
            <a:r>
              <a:rPr sz="1250">
                <a:solidFill>
                  <a:srgbClr val="D4D4D4"/>
                </a:solidFill>
                <a:latin typeface="Consolas"/>
              </a:rPr>
              <a:t>const</a:t>
            </a:r>
            <a:r>
              <a:rPr sz="1250">
                <a:solidFill>
                  <a:srgbClr val="D4D4D4"/>
                </a:solidFill>
                <a:latin typeface="Consolas"/>
              </a:rPr>
              <a:t> </a:t>
            </a:r>
            <a:r>
              <a:rPr sz="1250">
                <a:solidFill>
                  <a:srgbClr val="D4D4D4"/>
                </a:solidFill>
                <a:latin typeface="Consolas"/>
              </a:rPr>
              <a:t>double</a:t>
            </a:r>
            <a:r>
              <a:rPr sz="1250">
                <a:solidFill>
                  <a:srgbClr val="D4D4D4"/>
                </a:solidFill>
                <a:latin typeface="Consolas"/>
              </a:rPr>
              <a:t>&gt;</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4 components, registry dispatch</a:t>
            </a:r>
          </a:p>
          <a:p>
            <a:pPr>
              <a:spcAft>
                <a:spcPts val="100"/>
              </a:spcAft>
            </a:pPr>
            <a:r>
              <a:rPr sz="1250">
                <a:solidFill>
                  <a:srgbClr val="D4D4D4"/>
                </a:solidFill>
                <a:latin typeface="Consolas"/>
              </a:rPr>
              <a:t>    </a:t>
            </a:r>
            <a:r>
              <a:rPr sz="1250">
                <a:solidFill>
                  <a:srgbClr val="DCDCAA"/>
                </a:solidFill>
                <a:latin typeface="Consolas"/>
              </a:rPr>
              <a:t>mov</a:t>
            </a:r>
            <a:r>
              <a:rPr sz="1250">
                <a:solidFill>
                  <a:srgbClr val="D4D4D4"/>
                </a:solidFill>
                <a:latin typeface="Consolas"/>
              </a:rPr>
              <a:t>   </a:t>
            </a:r>
            <a:r>
              <a:rPr sz="1250">
                <a:solidFill>
                  <a:srgbClr val="D4D4D4"/>
                </a:solidFill>
                <a:latin typeface="Consolas"/>
              </a:rPr>
              <a:t>r10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sys</a:t>
            </a:r>
            <a:r>
              <a:rPr sz="1250">
                <a:solidFill>
                  <a:srgbClr val="D4D4D4"/>
                </a:solidFill>
                <a:latin typeface="Consolas"/>
              </a:rPr>
              <a:t>+</a:t>
            </a:r>
            <a:r>
              <a:rPr sz="1250">
                <a:solidFill>
                  <a:srgbClr val="B5CEA8"/>
                </a:solidFill>
                <a:latin typeface="Consolas"/>
              </a:rPr>
              <a:t>272</a:t>
            </a:r>
            <a:r>
              <a:rPr sz="1250">
                <a:solidFill>
                  <a:srgbClr val="D4D4D4"/>
                </a:solidFill>
                <a:latin typeface="Consolas"/>
              </a:rPr>
              <a:t>]</a:t>
            </a:r>
          </a:p>
          <a:p>
            <a:pPr>
              <a:spcAft>
                <a:spcPts val="100"/>
              </a:spcAft>
            </a:pPr>
            <a:r>
              <a:rPr sz="1250">
                <a:solidFill>
                  <a:srgbClr val="D4D4D4"/>
                </a:solidFill>
                <a:latin typeface="Consolas"/>
              </a:rPr>
              <a:t>    </a:t>
            </a:r>
            <a:r>
              <a:rPr sz="1250">
                <a:solidFill>
                  <a:srgbClr val="DCDCAA"/>
                </a:solidFill>
                <a:latin typeface="Consolas"/>
              </a:rPr>
              <a:t>movsd</a:t>
            </a:r>
            <a:r>
              <a:rPr sz="1250">
                <a:solidFill>
                  <a:srgbClr val="D4D4D4"/>
                </a:solidFill>
                <a:latin typeface="Consolas"/>
              </a:rPr>
              <a:t> </a:t>
            </a:r>
            <a:r>
              <a:rPr sz="1250">
                <a:solidFill>
                  <a:srgbClr val="D4D4D4"/>
                </a:solidFill>
                <a:latin typeface="Consolas"/>
              </a:rPr>
              <a:t>xmm1</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LC0</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0.5</a:t>
            </a:r>
          </a:p>
          <a:p>
            <a:pPr>
              <a:spcAft>
                <a:spcPts val="100"/>
              </a:spcAft>
            </a:pPr>
            <a:r>
              <a:rPr sz="1250">
                <a:solidFill>
                  <a:srgbClr val="D4D4D4"/>
                </a:solidFill>
                <a:latin typeface="Consolas"/>
              </a:rPr>
              <a:t>    </a:t>
            </a:r>
            <a:r>
              <a:rPr sz="1250">
                <a:solidFill>
                  <a:srgbClr val="DCDCAA"/>
                </a:solidFill>
                <a:latin typeface="Consolas"/>
              </a:rPr>
              <a:t>mov</a:t>
            </a:r>
            <a:r>
              <a:rPr sz="1250">
                <a:solidFill>
                  <a:srgbClr val="D4D4D4"/>
                </a:solidFill>
                <a:latin typeface="Consolas"/>
              </a:rPr>
              <a:t>   </a:t>
            </a:r>
            <a:r>
              <a:rPr sz="1250">
                <a:solidFill>
                  <a:srgbClr val="D4D4D4"/>
                </a:solidFill>
                <a:latin typeface="Consolas"/>
              </a:rPr>
              <a:t>rax</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rcx</a:t>
            </a:r>
            <a:r>
              <a:rPr sz="1250">
                <a:solidFill>
                  <a:srgbClr val="D4D4D4"/>
                </a:solidFill>
                <a:latin typeface="Consolas"/>
              </a:rPr>
              <a:t>]</a:t>
            </a:r>
          </a:p>
          <a:p>
            <a:pPr>
              <a:spcAft>
                <a:spcPts val="100"/>
              </a:spcAft>
            </a:pPr>
            <a:r>
              <a:rPr sz="1250">
                <a:solidFill>
                  <a:srgbClr val="D4D4D4"/>
                </a:solidFill>
                <a:latin typeface="Consolas"/>
              </a:rPr>
              <a:t>    </a:t>
            </a:r>
            <a:r>
              <a:rPr sz="1250">
                <a:solidFill>
                  <a:srgbClr val="DCDCAA"/>
                </a:solidFill>
                <a:latin typeface="Consolas"/>
              </a:rPr>
              <a:t>movsd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r10</a:t>
            </a:r>
            <a:r>
              <a:rPr sz="1250">
                <a:solidFill>
                  <a:srgbClr val="D4D4D4"/>
                </a:solidFill>
                <a:latin typeface="Consolas"/>
              </a:rPr>
              <a:t>+</a:t>
            </a:r>
            <a:r>
              <a:rPr sz="1250">
                <a:solidFill>
                  <a:srgbClr val="B5CEA8"/>
                </a:solidFill>
                <a:latin typeface="Consolas"/>
              </a:rPr>
              <a:t>8</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m1        &lt;- runtime parameters,</a:t>
            </a:r>
          </a:p>
          <a:p>
            <a:pPr>
              <a:spcAft>
                <a:spcPts val="100"/>
              </a:spcAft>
            </a:pPr>
            <a:r>
              <a:rPr sz="1250">
                <a:solidFill>
                  <a:srgbClr val="D4D4D4"/>
                </a:solidFill>
                <a:latin typeface="Consolas"/>
              </a:rPr>
              <a:t>    </a:t>
            </a:r>
            <a:r>
              <a:rPr sz="1250">
                <a:solidFill>
                  <a:srgbClr val="DCDCAA"/>
                </a:solidFill>
                <a:latin typeface="Consolas"/>
              </a:rPr>
              <a:t>movsd</a:t>
            </a:r>
            <a:r>
              <a:rPr sz="1250">
                <a:solidFill>
                  <a:srgbClr val="D4D4D4"/>
                </a:solidFill>
                <a:latin typeface="Consolas"/>
              </a:rPr>
              <a:t> </a:t>
            </a:r>
            <a:r>
              <a:rPr sz="1250">
                <a:solidFill>
                  <a:srgbClr val="D4D4D4"/>
                </a:solidFill>
                <a:latin typeface="Consolas"/>
              </a:rPr>
              <a:t>xmm3</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rax</a:t>
            </a:r>
            <a:r>
              <a:rPr sz="1250">
                <a:solidFill>
                  <a:srgbClr val="D4D4D4"/>
                </a:solidFill>
                <a:latin typeface="Consolas"/>
              </a:rPr>
              <a:t>+</a:t>
            </a:r>
            <a:r>
              <a:rPr sz="1250">
                <a:solidFill>
                  <a:srgbClr val="D4D4D4"/>
                </a:solidFill>
                <a:latin typeface="Consolas"/>
              </a:rPr>
              <a:t>rcx</a:t>
            </a:r>
            <a:r>
              <a:rPr sz="1250">
                <a:solidFill>
                  <a:srgbClr val="D4D4D4"/>
                </a:solidFill>
                <a:latin typeface="Consolas"/>
              </a:rPr>
              <a:t>*</a:t>
            </a:r>
            <a:r>
              <a:rPr sz="1250">
                <a:solidFill>
                  <a:srgbClr val="B5CEA8"/>
                </a:solidFill>
                <a:latin typeface="Consolas"/>
              </a:rPr>
              <a:t>8</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v1           loaded once</a:t>
            </a:r>
          </a:p>
          <a:p>
            <a:pPr>
              <a:spcAft>
                <a:spcPts val="100"/>
              </a:spcAft>
            </a:pPr>
            <a:r>
              <a:rPr sz="1250">
                <a:solidFill>
                  <a:srgbClr val="D4D4D4"/>
                </a:solidFill>
                <a:latin typeface="Consolas"/>
              </a:rPr>
              <a:t>    </a:t>
            </a:r>
            <a:r>
              <a:rPr sz="1250">
                <a:solidFill>
                  <a:srgbClr val="DCDCAA"/>
                </a:solidFill>
                <a:latin typeface="Consolas"/>
              </a:rPr>
              <a:t>mulsd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xmm1</a:t>
            </a:r>
          </a:p>
          <a:p>
            <a:pPr>
              <a:spcAft>
                <a:spcPts val="100"/>
              </a:spcAft>
            </a:pPr>
            <a:r>
              <a:rPr sz="1250">
                <a:solidFill>
                  <a:srgbClr val="D4D4D4"/>
                </a:solidFill>
                <a:latin typeface="Consolas"/>
              </a:rPr>
              <a:t>    </a:t>
            </a:r>
            <a:r>
              <a:rPr sz="1250">
                <a:solidFill>
                  <a:srgbClr val="DCDCAA"/>
                </a:solidFill>
                <a:latin typeface="Consolas"/>
              </a:rPr>
              <a:t>mulsd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xmm3</a:t>
            </a:r>
            <a:r>
              <a:rPr sz="1250">
                <a:solidFill>
                  <a:srgbClr val="D4D4D4"/>
                </a:solidFill>
                <a:latin typeface="Consolas"/>
              </a:rPr>
              <a:t>          </a:t>
            </a:r>
            <a:r>
              <a:rPr sz="1250">
                <a:solidFill>
                  <a:srgbClr val="6A9955"/>
                </a:solidFill>
                <a:latin typeface="Consolas"/>
              </a:rPr>
              <a:t>; 0.5*m1*v1</a:t>
            </a:r>
          </a:p>
          <a:p>
            <a:pPr>
              <a:spcAft>
                <a:spcPts val="100"/>
              </a:spcAft>
            </a:pPr>
            <a:r>
              <a:rPr sz="1250">
                <a:solidFill>
                  <a:srgbClr val="D4D4D4"/>
                </a:solidFill>
                <a:latin typeface="Consolas"/>
              </a:rPr>
              <a:t>    </a:t>
            </a:r>
            <a:r>
              <a:rPr sz="1250">
                <a:solidFill>
                  <a:srgbClr val="DCDCAA"/>
                </a:solidFill>
                <a:latin typeface="Consolas"/>
              </a:rPr>
              <a:t>mulsd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xmm3</a:t>
            </a:r>
            <a:r>
              <a:rPr sz="1250">
                <a:solidFill>
                  <a:srgbClr val="D4D4D4"/>
                </a:solidFill>
                <a:latin typeface="Consolas"/>
              </a:rPr>
              <a:t>          </a:t>
            </a:r>
            <a:r>
              <a:rPr sz="1250">
                <a:solidFill>
                  <a:srgbClr val="6A9955"/>
                </a:solidFill>
                <a:latin typeface="Consolas"/>
              </a:rPr>
              <a:t>; ... * v1</a:t>
            </a:r>
          </a:p>
          <a:p>
            <a:pPr>
              <a:spcAft>
                <a:spcPts val="100"/>
              </a:spcAft>
            </a:pPr>
            <a:r>
              <a:rPr sz="1250">
                <a:solidFill>
                  <a:srgbClr val="D4D4D4"/>
                </a:solidFill>
                <a:latin typeface="Consolas"/>
              </a:rPr>
              <a:t>    </a:t>
            </a:r>
            <a:r>
              <a:rPr sz="1250">
                <a:solidFill>
                  <a:srgbClr val="DCDCAA"/>
                </a:solidFill>
                <a:latin typeface="Consolas"/>
              </a:rPr>
              <a:t>subsd</a:t>
            </a:r>
            <a:r>
              <a:rPr sz="1250">
                <a:solidFill>
                  <a:srgbClr val="D4D4D4"/>
                </a:solidFill>
                <a:latin typeface="Consolas"/>
              </a:rPr>
              <a:t> </a:t>
            </a:r>
            <a:r>
              <a:rPr sz="1250">
                <a:solidFill>
                  <a:srgbClr val="D4D4D4"/>
                </a:solidFill>
                <a:latin typeface="Consolas"/>
              </a:rPr>
              <a:t>xmm2</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a:t>
            </a:r>
            <a:r>
              <a:rPr sz="1250">
                <a:solidFill>
                  <a:srgbClr val="D4D4D4"/>
                </a:solidFill>
                <a:latin typeface="Consolas"/>
              </a:rPr>
              <a:t>r8</a:t>
            </a:r>
            <a:r>
              <a:rPr sz="1250">
                <a:solidFill>
                  <a:srgbClr val="D4D4D4"/>
                </a:solidFill>
                <a:latin typeface="Consolas"/>
              </a:rPr>
              <a:t>+</a:t>
            </a:r>
            <a:r>
              <a:rPr sz="1250">
                <a:solidFill>
                  <a:srgbClr val="B5CEA8"/>
                </a:solidFill>
                <a:latin typeface="Consolas"/>
              </a:rPr>
              <a:t>16</a:t>
            </a:r>
            <a:r>
              <a:rPr sz="1250">
                <a:solidFill>
                  <a:srgbClr val="D4D4D4"/>
                </a:solidFill>
                <a:latin typeface="Consolas"/>
              </a:rPr>
              <a:t>]</a:t>
            </a:r>
            <a:r>
              <a:rPr sz="1250">
                <a:solidFill>
                  <a:srgbClr val="D4D4D4"/>
                </a:solidFill>
                <a:latin typeface="Consolas"/>
              </a:rPr>
              <a:t>       </a:t>
            </a:r>
            <a:r>
              <a:rPr sz="1250">
                <a:solidFill>
                  <a:srgbClr val="6A9955"/>
                </a:solidFill>
                <a:latin typeface="Consolas"/>
              </a:rPr>
              <a:t>; x1-x2-L0</a:t>
            </a:r>
          </a:p>
          <a:p>
            <a:pPr>
              <a:spcAft>
                <a:spcPts val="100"/>
              </a:spcAft>
            </a:pPr>
            <a:r>
              <a:rPr sz="1250">
                <a:solidFill>
                  <a:srgbClr val="D4D4D4"/>
                </a:solidFill>
                <a:latin typeface="Consolas"/>
              </a:rPr>
              <a:t>    </a:t>
            </a:r>
            <a:r>
              <a:rPr sz="1250">
                <a:solidFill>
                  <a:srgbClr val="DCDCAA"/>
                </a:solidFill>
                <a:latin typeface="Consolas"/>
              </a:rPr>
              <a:t>mulsd</a:t>
            </a:r>
            <a:r>
              <a:rPr sz="1250">
                <a:solidFill>
                  <a:srgbClr val="D4D4D4"/>
                </a:solidFill>
                <a:latin typeface="Consolas"/>
              </a:rPr>
              <a:t> </a:t>
            </a:r>
            <a:r>
              <a:rPr sz="1250">
                <a:solidFill>
                  <a:srgbClr val="D4D4D4"/>
                </a:solidFill>
                <a:latin typeface="Consolas"/>
              </a:rPr>
              <a:t>xmm1</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xmm2</a:t>
            </a:r>
            <a:r>
              <a:rPr sz="1250">
                <a:solidFill>
                  <a:srgbClr val="D4D4D4"/>
                </a:solidFill>
                <a:latin typeface="Consolas"/>
              </a:rPr>
              <a:t>          </a:t>
            </a:r>
            <a:r>
              <a:rPr sz="1250">
                <a:solidFill>
                  <a:srgbClr val="6A9955"/>
                </a:solidFill>
                <a:latin typeface="Consolas"/>
              </a:rPr>
              <a:t>; PE terms</a:t>
            </a:r>
          </a:p>
          <a:p>
            <a:pPr>
              <a:spcAft>
                <a:spcPts val="100"/>
              </a:spcAft>
            </a:pPr>
            <a:r>
              <a:rPr sz="1250">
                <a:solidFill>
                  <a:srgbClr val="D4D4D4"/>
                </a:solidFill>
                <a:latin typeface="Consolas"/>
              </a:rPr>
              <a:t>    </a:t>
            </a:r>
            <a:r>
              <a:rPr sz="1250">
                <a:solidFill>
                  <a:srgbClr val="DCDCAA"/>
                </a:solidFill>
                <a:latin typeface="Consolas"/>
              </a:rPr>
              <a:t>addsd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xmm3</a:t>
            </a:r>
          </a:p>
          <a:p>
            <a:pPr>
              <a:spcAft>
                <a:spcPts val="100"/>
              </a:spcAft>
            </a:pPr>
            <a:r>
              <a:rPr sz="1250">
                <a:solidFill>
                  <a:srgbClr val="D4D4D4"/>
                </a:solidFill>
                <a:latin typeface="Consolas"/>
              </a:rPr>
              <a:t>    </a:t>
            </a:r>
            <a:r>
              <a:rPr sz="1250">
                <a:solidFill>
                  <a:srgbClr val="DCDCAA"/>
                </a:solidFill>
                <a:latin typeface="Consolas"/>
              </a:rPr>
              <a:t>addsd</a:t>
            </a:r>
            <a:r>
              <a:rPr sz="1250">
                <a:solidFill>
                  <a:srgbClr val="D4D4D4"/>
                </a:solidFill>
                <a:latin typeface="Consolas"/>
              </a:rPr>
              <a:t> </a:t>
            </a:r>
            <a:r>
              <a:rPr sz="1250">
                <a:solidFill>
                  <a:srgbClr val="D4D4D4"/>
                </a:solidFill>
                <a:latin typeface="Consolas"/>
              </a:rPr>
              <a:t>xmm0</a:t>
            </a:r>
            <a:r>
              <a:rPr sz="1250">
                <a:solidFill>
                  <a:srgbClr val="D4D4D4"/>
                </a:solidFill>
                <a:latin typeface="Consolas"/>
              </a:rPr>
              <a:t>,</a:t>
            </a:r>
            <a:r>
              <a:rPr sz="1250">
                <a:solidFill>
                  <a:srgbClr val="D4D4D4"/>
                </a:solidFill>
                <a:latin typeface="Consolas"/>
              </a:rPr>
              <a:t> </a:t>
            </a:r>
            <a:r>
              <a:rPr sz="1250">
                <a:solidFill>
                  <a:srgbClr val="D4D4D4"/>
                </a:solidFill>
                <a:latin typeface="Consolas"/>
              </a:rPr>
              <a:t>xmm1</a:t>
            </a:r>
            <a:r>
              <a:rPr sz="1250">
                <a:solidFill>
                  <a:srgbClr val="D4D4D4"/>
                </a:solidFill>
                <a:latin typeface="Consolas"/>
              </a:rPr>
              <a:t>          </a:t>
            </a:r>
            <a:r>
              <a:rPr sz="1250">
                <a:solidFill>
                  <a:srgbClr val="6A9955"/>
                </a:solidFill>
                <a:latin typeface="Consolas"/>
              </a:rPr>
              <a:t>; KE1+KE2+PE</a:t>
            </a:r>
          </a:p>
          <a:p>
            <a:pPr>
              <a:spcAft>
                <a:spcPts val="100"/>
              </a:spcAft>
            </a:pPr>
            <a:r>
              <a:rPr sz="1250">
                <a:solidFill>
                  <a:srgbClr val="D4D4D4"/>
                </a:solidFill>
                <a:latin typeface="Consolas"/>
              </a:rPr>
              <a:t>    </a:t>
            </a:r>
            <a:r>
              <a:rPr sz="1250">
                <a:solidFill>
                  <a:srgbClr val="DCDCAA"/>
                </a:solidFill>
                <a:latin typeface="Consolas"/>
              </a:rPr>
              <a:t>ret</a:t>
            </a:r>
          </a:p>
        </p:txBody>
      </p:sp>
      <p:sp>
        <p:nvSpPr>
          <p:cNvPr id="6" name="TextBox 5"/>
          <p:cNvSpPr txBox="1"/>
          <p:nvPr/>
        </p:nvSpPr>
        <p:spPr>
          <a:xfrm>
            <a:off x="6858000" y="1828800"/>
            <a:ext cx="4937760" cy="4572000"/>
          </a:xfrm>
          <a:prstGeom prst="rect">
            <a:avLst/>
          </a:prstGeom>
          <a:noFill/>
        </p:spPr>
        <p:txBody>
          <a:bodyPr wrap="square">
            <a:spAutoFit/>
          </a:bodyPr>
          <a:lstStyle/>
          <a:p>
            <a:pPr>
              <a:spcAft>
                <a:spcPts val="800"/>
              </a:spcAft>
            </a:pPr>
            <a:r>
              <a:rPr sz="1800">
                <a:solidFill>
                  <a:srgbClr val="35C4E8"/>
                </a:solidFill>
                <a:latin typeface="Segoe UI"/>
              </a:rPr>
              <a:t>•  </a:t>
            </a:r>
            <a:r>
              <a:rPr sz="1800" b="1">
                <a:solidFill>
                  <a:srgbClr val="7EE08A"/>
                </a:solidFill>
                <a:latin typeface="Segoe UI"/>
              </a:rPr>
              <a:t>0 call</a:t>
            </a:r>
            <a:r>
              <a:rPr sz="1800" b="1">
                <a:solidFill>
                  <a:srgbClr val="7EE08A"/>
                </a:solidFill>
                <a:latin typeface="Segoe UI"/>
              </a:rPr>
              <a:t>   0 jmp</a:t>
            </a:r>
            <a:r>
              <a:rPr sz="1800" b="1">
                <a:solidFill>
                  <a:srgbClr val="7EE08A"/>
                </a:solidFill>
                <a:latin typeface="Segoe UI"/>
              </a:rPr>
              <a:t>   0 vtable</a:t>
            </a:r>
          </a:p>
          <a:p>
            <a:pPr>
              <a:spcAft>
                <a:spcPts val="800"/>
              </a:spcAft>
            </a:pPr>
            <a:r>
              <a:rPr sz="1800">
                <a:solidFill>
                  <a:srgbClr val="35C4E8"/>
                </a:solidFill>
                <a:latin typeface="Segoe UI"/>
              </a:rPr>
              <a:t>•  </a:t>
            </a:r>
            <a:r>
              <a:rPr sz="1800" b="0">
                <a:solidFill>
                  <a:srgbClr val="D8E2EC"/>
                </a:solidFill>
                <a:latin typeface="Segoe UI"/>
              </a:rPr>
              <a:t>Straight-line floating point — identical shape to the hand-written formula</a:t>
            </a:r>
          </a:p>
          <a:p>
            <a:pPr>
              <a:spcAft>
                <a:spcPts val="800"/>
              </a:spcAft>
            </a:pPr>
            <a:r>
              <a:rPr sz="1800">
                <a:solidFill>
                  <a:srgbClr val="35C4E8"/>
                </a:solidFill>
                <a:latin typeface="Segoe UI"/>
              </a:rPr>
              <a:t>•  </a:t>
            </a:r>
            <a:r>
              <a:rPr sz="1800" b="0">
                <a:solidFill>
                  <a:srgbClr val="D8E2EC"/>
                </a:solidFill>
                <a:latin typeface="Segoe UI"/>
              </a:rPr>
              <a:t>Only difference: the monolith constant-folds m and k; the framework reads them as parameters</a:t>
            </a:r>
          </a:p>
          <a:p>
            <a:pPr>
              <a:spcAft>
                <a:spcPts val="800"/>
              </a:spcAft>
            </a:pPr>
            <a:r>
              <a:rPr sz="1800">
                <a:solidFill>
                  <a:srgbClr val="35C4E8"/>
                </a:solidFill>
                <a:latin typeface="Segoe UI"/>
              </a:rPr>
              <a:t>•  </a:t>
            </a:r>
            <a:r>
              <a:rPr sz="1800" b="0">
                <a:solidFill>
                  <a:srgbClr val="D8E2EC"/>
                </a:solidFill>
                <a:latin typeface="Segoe UI"/>
              </a:rPr>
              <a:t>Registry, tags, concepts: </a:t>
            </a:r>
            <a:r>
              <a:rPr sz="1800" b="1">
                <a:solidFill>
                  <a:srgbClr val="F2C744"/>
                </a:solidFill>
                <a:latin typeface="Segoe UI"/>
              </a:rPr>
              <a:t>zero instructions</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MEASURED, NOT ESTIMATED</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Numbers</a:t>
            </a:r>
          </a:p>
        </p:txBody>
      </p:sp>
      <p:sp>
        <p:nvSpPr>
          <p:cNvPr id="4" name="TextBox 3"/>
          <p:cNvSpPr txBox="1"/>
          <p:nvPr/>
        </p:nvSpPr>
        <p:spPr>
          <a:xfrm>
            <a:off x="914400" y="1828800"/>
            <a:ext cx="10515600" cy="1188720"/>
          </a:xfrm>
          <a:prstGeom prst="rect">
            <a:avLst/>
          </a:prstGeom>
          <a:noFill/>
        </p:spPr>
        <p:txBody>
          <a:bodyPr wrap="none">
            <a:spAutoFit/>
          </a:bodyPr>
          <a:lstStyle/>
          <a:p>
            <a:r>
              <a:rPr sz="4000" b="1">
                <a:solidFill>
                  <a:srgbClr val="35C4E8"/>
                </a:solidFill>
                <a:latin typeface="Segoe UI"/>
              </a:rPr>
              <a:t>~1 ns</a:t>
            </a:r>
            <a:r>
              <a:rPr sz="2000">
                <a:solidFill>
                  <a:srgbClr val="D8E2EC"/>
                </a:solidFill>
                <a:latin typeface="Segoe UI"/>
              </a:rPr>
              <a:t>   per state-function query — fully inlined</a:t>
            </a:r>
          </a:p>
        </p:txBody>
      </p:sp>
      <p:sp>
        <p:nvSpPr>
          <p:cNvPr id="5" name="TextBox 4"/>
          <p:cNvSpPr txBox="1"/>
          <p:nvPr/>
        </p:nvSpPr>
        <p:spPr>
          <a:xfrm>
            <a:off x="914400" y="3154680"/>
            <a:ext cx="10515600" cy="1188720"/>
          </a:xfrm>
          <a:prstGeom prst="rect">
            <a:avLst/>
          </a:prstGeom>
          <a:noFill/>
        </p:spPr>
        <p:txBody>
          <a:bodyPr wrap="none">
            <a:spAutoFit/>
          </a:bodyPr>
          <a:lstStyle/>
          <a:p>
            <a:r>
              <a:rPr sz="4000" b="1">
                <a:solidFill>
                  <a:srgbClr val="F2C744"/>
                </a:solidFill>
                <a:latin typeface="Segoe UI"/>
              </a:rPr>
              <a:t>16.7 ms</a:t>
            </a:r>
            <a:r>
              <a:rPr sz="2000">
                <a:solidFill>
                  <a:srgbClr val="D8E2EC"/>
                </a:solidFill>
                <a:latin typeface="Segoe UI"/>
              </a:rPr>
              <a:t>   20 001 RK4 steps of the 4-component oscillator (laptop, -O2)</a:t>
            </a:r>
          </a:p>
        </p:txBody>
      </p:sp>
      <p:sp>
        <p:nvSpPr>
          <p:cNvPr id="6" name="TextBox 5"/>
          <p:cNvSpPr txBox="1"/>
          <p:nvPr/>
        </p:nvSpPr>
        <p:spPr>
          <a:xfrm>
            <a:off x="914400" y="4480560"/>
            <a:ext cx="10515600" cy="1188720"/>
          </a:xfrm>
          <a:prstGeom prst="rect">
            <a:avLst/>
          </a:prstGeom>
          <a:noFill/>
        </p:spPr>
        <p:txBody>
          <a:bodyPr wrap="none">
            <a:spAutoFit/>
          </a:bodyPr>
          <a:lstStyle/>
          <a:p>
            <a:r>
              <a:rPr sz="4000" b="1">
                <a:solidFill>
                  <a:srgbClr val="7EE08A"/>
                </a:solidFill>
                <a:latin typeface="Segoe UI"/>
              </a:rPr>
              <a:t>70–80 %</a:t>
            </a:r>
            <a:r>
              <a:rPr sz="2000">
                <a:solidFill>
                  <a:srgbClr val="D8E2EC"/>
                </a:solidFill>
                <a:latin typeface="Segoe UI"/>
              </a:rPr>
              <a:t>   of native speed for the same code compiled to WebAssembly</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FROM THE HANDWRITTEN PLAN</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Why C++20 — and not C++26?</a:t>
            </a:r>
          </a:p>
        </p:txBody>
      </p:sp>
      <p:sp>
        <p:nvSpPr>
          <p:cNvPr id="4" name="TextBox 3"/>
          <p:cNvSpPr txBox="1"/>
          <p:nvPr/>
        </p:nvSpPr>
        <p:spPr>
          <a:xfrm>
            <a:off x="548640" y="1737360"/>
            <a:ext cx="11064240" cy="4572000"/>
          </a:xfrm>
          <a:prstGeom prst="rect">
            <a:avLst/>
          </a:prstGeom>
          <a:noFill/>
        </p:spPr>
        <p:txBody>
          <a:bodyPr wrap="square">
            <a:spAutoFit/>
          </a:bodyPr>
          <a:lstStyle/>
          <a:p>
            <a:pPr>
              <a:spcAft>
                <a:spcPts val="800"/>
              </a:spcAft>
            </a:pPr>
            <a:r>
              <a:rPr sz="2100">
                <a:solidFill>
                  <a:srgbClr val="35C4E8"/>
                </a:solidFill>
                <a:latin typeface="Segoe UI"/>
              </a:rPr>
              <a:t>•  </a:t>
            </a:r>
            <a:r>
              <a:rPr sz="2100" b="1">
                <a:solidFill>
                  <a:srgbClr val="FFFFFF"/>
                </a:solidFill>
                <a:latin typeface="Segoe UI"/>
              </a:rPr>
              <a:t>Everything here needs only C++20:</a:t>
            </a:r>
          </a:p>
          <a:p>
            <a:pPr lvl="1">
              <a:spcBef>
                <a:spcPts val="0"/>
              </a:spcBef>
              <a:spcAft>
                <a:spcPts val="800"/>
              </a:spcAft>
            </a:pPr>
            <a:r>
              <a:rPr sz="1900">
                <a:solidFill>
                  <a:srgbClr val="8CA3B8"/>
                </a:solidFill>
                <a:latin typeface="Segoe UI"/>
              </a:rPr>
              <a:t>–  </a:t>
            </a:r>
            <a:r>
              <a:rPr sz="1900" b="0">
                <a:solidFill>
                  <a:srgbClr val="D8E2EC"/>
                </a:solidFill>
                <a:latin typeface="Segoe UI"/>
              </a:rPr>
              <a:t>concepts (the diagnostics!), fold expressions, std::span, CTAD</a:t>
            </a:r>
          </a:p>
          <a:p>
            <a:pPr>
              <a:spcAft>
                <a:spcPts val="800"/>
              </a:spcAft>
            </a:pPr>
            <a:r>
              <a:rPr sz="2100">
                <a:solidFill>
                  <a:srgbClr val="35C4E8"/>
                </a:solidFill>
                <a:latin typeface="Segoe UI"/>
              </a:rPr>
              <a:t>•  </a:t>
            </a:r>
            <a:r>
              <a:rPr sz="2100" b="1">
                <a:solidFill>
                  <a:srgbClr val="FFFFFF"/>
                </a:solidFill>
                <a:latin typeface="Segoe UI"/>
              </a:rPr>
              <a:t>C++26 reflection (P2996) would remove the remaining boilerplate:</a:t>
            </a:r>
          </a:p>
          <a:p>
            <a:pPr lvl="1">
              <a:spcBef>
                <a:spcPts val="0"/>
              </a:spcBef>
              <a:spcAft>
                <a:spcPts val="800"/>
              </a:spcAft>
            </a:pPr>
            <a:r>
              <a:rPr sz="1900">
                <a:solidFill>
                  <a:srgbClr val="8CA3B8"/>
                </a:solidFill>
                <a:latin typeface="Segoe UI"/>
              </a:rPr>
              <a:t>–  </a:t>
            </a:r>
            <a:r>
              <a:rPr sz="1900" b="0">
                <a:solidFill>
                  <a:srgbClr val="D8E2EC"/>
                </a:solidFill>
                <a:latin typeface="Segoe UI"/>
              </a:rPr>
              <a:t>tag declarations and compute() registration could be generated</a:t>
            </a:r>
          </a:p>
          <a:p>
            <a:pPr lvl="1">
              <a:spcBef>
                <a:spcPts val="0"/>
              </a:spcBef>
              <a:spcAft>
                <a:spcPts val="800"/>
              </a:spcAft>
            </a:pPr>
            <a:r>
              <a:rPr sz="1900">
                <a:solidFill>
                  <a:srgbClr val="8CA3B8"/>
                </a:solidFill>
                <a:latin typeface="Segoe UI"/>
              </a:rPr>
              <a:t>–  </a:t>
            </a:r>
            <a:r>
              <a:rPr sz="1900" b="0">
                <a:solidFill>
                  <a:srgbClr val="D8E2EC"/>
                </a:solidFill>
                <a:latin typeface="Segoe UI"/>
              </a:rPr>
              <a:t>we have working experiments in the repo: </a:t>
            </a:r>
            <a:r>
              <a:rPr sz="1900" b="0">
                <a:solidFill>
                  <a:srgbClr val="35C4E8"/>
                </a:solidFill>
                <a:latin typeface="Segoe UI"/>
              </a:rPr>
              <a:t>reflect/</a:t>
            </a:r>
          </a:p>
          <a:p>
            <a:pPr>
              <a:spcAft>
                <a:spcPts val="800"/>
              </a:spcAft>
            </a:pPr>
            <a:r>
              <a:rPr sz="2100">
                <a:solidFill>
                  <a:srgbClr val="35C4E8"/>
                </a:solidFill>
                <a:latin typeface="Segoe UI"/>
              </a:rPr>
              <a:t>•  </a:t>
            </a:r>
            <a:r>
              <a:rPr sz="2100" b="0">
                <a:solidFill>
                  <a:srgbClr val="FFFFFF"/>
                </a:solidFill>
                <a:latin typeface="Segoe UI"/>
              </a:rPr>
              <a:t>But flight software ships on the toolchain you have, </a:t>
            </a:r>
            <a:r>
              <a:rPr sz="2100" b="1">
                <a:solidFill>
                  <a:srgbClr val="F2C744"/>
                </a:solidFill>
                <a:latin typeface="Segoe UI"/>
              </a:rPr>
              <a:t>not the one you want</a:t>
            </a:r>
          </a:p>
          <a:p>
            <a:pPr lvl="1">
              <a:spcBef>
                <a:spcPts val="0"/>
              </a:spcBef>
              <a:spcAft>
                <a:spcPts val="800"/>
              </a:spcAft>
            </a:pPr>
            <a:r>
              <a:rPr sz="1900">
                <a:solidFill>
                  <a:srgbClr val="8CA3B8"/>
                </a:solidFill>
                <a:latin typeface="Segoe UI"/>
              </a:rPr>
              <a:t>–  </a:t>
            </a:r>
            <a:r>
              <a:rPr sz="1900" b="0">
                <a:solidFill>
                  <a:srgbClr val="D8E2EC"/>
                </a:solidFill>
                <a:latin typeface="Segoe UI"/>
              </a:rPr>
              <a:t>embedded / cross targets lag years behind; certification lags more</a:t>
            </a:r>
          </a:p>
        </p:txBody>
      </p:sp>
      <p:sp>
        <p:nvSpPr>
          <p:cNvPr id="5" name="TextBox 4"/>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6" name="TextBox 5"/>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640080" y="1463040"/>
            <a:ext cx="3291840" cy="3108960"/>
          </a:xfrm>
          <a:prstGeom prst="rect">
            <a:avLst/>
          </a:prstGeom>
          <a:noFill/>
        </p:spPr>
        <p:txBody>
          <a:bodyPr wrap="none">
            <a:spAutoFit/>
          </a:bodyPr>
          <a:lstStyle/>
          <a:p>
            <a:r>
              <a:rPr sz="17000" b="1">
                <a:solidFill>
                  <a:srgbClr val="14324E"/>
                </a:solidFill>
                <a:latin typeface="Segoe UI"/>
              </a:rPr>
              <a:t>07</a:t>
            </a:r>
          </a:p>
        </p:txBody>
      </p:sp>
      <p:sp>
        <p:nvSpPr>
          <p:cNvPr id="3" name="TextBox 2"/>
          <p:cNvSpPr txBox="1"/>
          <p:nvPr/>
        </p:nvSpPr>
        <p:spPr>
          <a:xfrm>
            <a:off x="3749039" y="2377440"/>
            <a:ext cx="7863840" cy="1280160"/>
          </a:xfrm>
          <a:prstGeom prst="rect">
            <a:avLst/>
          </a:prstGeom>
          <a:noFill/>
        </p:spPr>
        <p:txBody>
          <a:bodyPr wrap="none">
            <a:spAutoFit/>
          </a:bodyPr>
          <a:lstStyle/>
          <a:p>
            <a:r>
              <a:rPr sz="4400" b="1">
                <a:solidFill>
                  <a:srgbClr val="FFFFFF"/>
                </a:solidFill>
                <a:latin typeface="Segoe UI"/>
              </a:rPr>
              <a:t>Where It Scales</a:t>
            </a:r>
          </a:p>
        </p:txBody>
      </p:sp>
      <p:sp>
        <p:nvSpPr>
          <p:cNvPr id="4" name="TextBox 3"/>
          <p:cNvSpPr txBox="1"/>
          <p:nvPr/>
        </p:nvSpPr>
        <p:spPr>
          <a:xfrm>
            <a:off x="3794760" y="3429000"/>
            <a:ext cx="7772400" cy="822960"/>
          </a:xfrm>
          <a:prstGeom prst="rect">
            <a:avLst/>
          </a:prstGeom>
          <a:noFill/>
        </p:spPr>
        <p:txBody>
          <a:bodyPr wrap="none">
            <a:spAutoFit/>
          </a:bodyPr>
          <a:lstStyle/>
          <a:p>
            <a:r>
              <a:rPr sz="2000">
                <a:solidFill>
                  <a:srgbClr val="8CA3B8"/>
                </a:solidFill>
                <a:latin typeface="Segoe UI"/>
              </a:rPr>
              <a:t>From two masses to a flying vehicle</a:t>
            </a:r>
          </a:p>
        </p:txBody>
      </p:sp>
      <p:sp>
        <p:nvSpPr>
          <p:cNvPr id="5" name="TextBox 4"/>
          <p:cNvSpPr txBox="1"/>
          <p:nvPr/>
        </p:nvSpPr>
        <p:spPr>
          <a:xfrm>
            <a:off x="3794760" y="4206240"/>
            <a:ext cx="3657600" cy="457200"/>
          </a:xfrm>
          <a:prstGeom prst="rect">
            <a:avLst/>
          </a:prstGeom>
          <a:noFill/>
        </p:spPr>
        <p:txBody>
          <a:bodyPr wrap="none">
            <a:spAutoFit/>
          </a:bodyPr>
          <a:lstStyle/>
          <a:p>
            <a:r>
              <a:rPr sz="1500" b="1">
                <a:solidFill>
                  <a:srgbClr val="F2C744"/>
                </a:solidFill>
                <a:latin typeface="Segoe UI"/>
              </a:rPr>
              <a:t>≈ 7 min</a:t>
            </a:r>
          </a:p>
        </p:txBody>
      </p:sp>
      <p:sp>
        <p:nvSpPr>
          <p:cNvPr id="6" name="Rectangle 5"/>
          <p:cNvSpPr/>
          <p:nvPr/>
        </p:nvSpPr>
        <p:spPr>
          <a:xfrm>
            <a:off x="3794760" y="2240280"/>
            <a:ext cx="1463040" cy="50800"/>
          </a:xfrm>
          <a:prstGeom prst="rect">
            <a:avLst/>
          </a:prstGeom>
          <a:solidFill>
            <a:srgbClr val="F2C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PRODUCTION, NOT PROMO</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Same pattern, real vehicle: 6-DOF rocket</a:t>
            </a:r>
          </a:p>
        </p:txBody>
      </p:sp>
      <p:sp>
        <p:nvSpPr>
          <p:cNvPr id="4" name="Rounded Rectangle 3"/>
          <p:cNvSpPr/>
          <p:nvPr/>
        </p:nvSpPr>
        <p:spPr>
          <a:xfrm>
            <a:off x="640080" y="164592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35C4E8"/>
                </a:solidFill>
                <a:latin typeface="Segoe UI"/>
              </a:rPr>
              <a:t>StandardAtmosphere</a:t>
            </a:r>
          </a:p>
        </p:txBody>
      </p:sp>
      <p:sp>
        <p:nvSpPr>
          <p:cNvPr id="5" name="Rounded Rectangle 4"/>
          <p:cNvSpPr/>
          <p:nvPr/>
        </p:nvSpPr>
        <p:spPr>
          <a:xfrm>
            <a:off x="640080" y="246888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35C4E8"/>
                </a:solidFill>
                <a:latin typeface="Segoe UI"/>
              </a:rPr>
              <a:t>AxisymmetricAero</a:t>
            </a:r>
          </a:p>
        </p:txBody>
      </p:sp>
      <p:sp>
        <p:nvSpPr>
          <p:cNvPr id="6" name="Rounded Rectangle 5"/>
          <p:cNvSpPr/>
          <p:nvPr/>
        </p:nvSpPr>
        <p:spPr>
          <a:xfrm>
            <a:off x="640080" y="329184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35C4E8"/>
                </a:solidFill>
                <a:latin typeface="Segoe UI"/>
              </a:rPr>
              <a:t>InterpolatedEngine</a:t>
            </a:r>
          </a:p>
        </p:txBody>
      </p:sp>
      <p:sp>
        <p:nvSpPr>
          <p:cNvPr id="7" name="Rounded Rectangle 6"/>
          <p:cNvSpPr/>
          <p:nvPr/>
        </p:nvSpPr>
        <p:spPr>
          <a:xfrm>
            <a:off x="640080" y="411480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35C4E8"/>
                </a:solidFill>
                <a:latin typeface="Segoe UI"/>
              </a:rPr>
              <a:t>Gravity</a:t>
            </a:r>
          </a:p>
        </p:txBody>
      </p:sp>
      <p:sp>
        <p:nvSpPr>
          <p:cNvPr id="8" name="Rounded Rectangle 7"/>
          <p:cNvSpPr/>
          <p:nvPr/>
        </p:nvSpPr>
        <p:spPr>
          <a:xfrm>
            <a:off x="4206240" y="288036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2C744"/>
                </a:solidFill>
                <a:latin typeface="Segoe UI"/>
              </a:rPr>
              <a:t>ForceAggregator</a:t>
            </a:r>
          </a:p>
        </p:txBody>
      </p:sp>
      <p:sp>
        <p:nvSpPr>
          <p:cNvPr id="9" name="Rounded Rectangle 8"/>
          <p:cNvSpPr/>
          <p:nvPr/>
        </p:nvSpPr>
        <p:spPr>
          <a:xfrm>
            <a:off x="7589520" y="205740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7EE08A"/>
                </a:solidFill>
                <a:latin typeface="Segoe UI"/>
              </a:rPr>
              <a:t>TranslationDynamics</a:t>
            </a:r>
          </a:p>
        </p:txBody>
      </p:sp>
      <p:sp>
        <p:nvSpPr>
          <p:cNvPr id="10" name="Rounded Rectangle 9"/>
          <p:cNvSpPr/>
          <p:nvPr/>
        </p:nvSpPr>
        <p:spPr>
          <a:xfrm>
            <a:off x="7589520" y="288036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7EE08A"/>
                </a:solidFill>
                <a:latin typeface="Segoe UI"/>
              </a:rPr>
              <a:t>RotationDynamics</a:t>
            </a:r>
          </a:p>
        </p:txBody>
      </p:sp>
      <p:sp>
        <p:nvSpPr>
          <p:cNvPr id="11" name="Rounded Rectangle 10"/>
          <p:cNvSpPr/>
          <p:nvPr/>
        </p:nvSpPr>
        <p:spPr>
          <a:xfrm>
            <a:off x="7589520" y="3703320"/>
            <a:ext cx="2926080" cy="64008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7EE08A"/>
                </a:solidFill>
                <a:latin typeface="Segoe UI"/>
              </a:rPr>
              <a:t>RocketBody (mass, I)</a:t>
            </a:r>
          </a:p>
        </p:txBody>
      </p:sp>
      <p:cxnSp>
        <p:nvCxnSpPr>
          <p:cNvPr id="12" name="Connector 11"/>
          <p:cNvCxnSpPr/>
          <p:nvPr/>
        </p:nvCxnSpPr>
        <p:spPr>
          <a:xfrm>
            <a:off x="3566160" y="2788920"/>
            <a:ext cx="640080" cy="32004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566160" y="3291840"/>
            <a:ext cx="640080" cy="32004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132320" y="2468880"/>
            <a:ext cx="457200" cy="73152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32320" y="3200400"/>
            <a:ext cx="457200" cy="0"/>
          </a:xfrm>
          <a:prstGeom prst="bentConnector3">
            <a:avLst/>
          </a:prstGeom>
          <a:ln w="19050">
            <a:solidFill>
              <a:srgbClr val="8CA3B8"/>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5120640"/>
            <a:ext cx="11064240" cy="4572000"/>
          </a:xfrm>
          <a:prstGeom prst="rect">
            <a:avLst/>
          </a:prstGeom>
          <a:noFill/>
        </p:spPr>
        <p:txBody>
          <a:bodyPr wrap="square">
            <a:spAutoFit/>
          </a:bodyPr>
          <a:lstStyle/>
          <a:p>
            <a:pPr>
              <a:spcAft>
                <a:spcPts val="800"/>
              </a:spcAft>
            </a:pPr>
            <a:r>
              <a:rPr sz="1800">
                <a:solidFill>
                  <a:srgbClr val="35C4E8"/>
                </a:solidFill>
                <a:latin typeface="Segoe UI"/>
              </a:rPr>
              <a:t>•  </a:t>
            </a:r>
            <a:r>
              <a:rPr sz="1800" b="1">
                <a:solidFill>
                  <a:srgbClr val="F2C744"/>
                </a:solidFill>
                <a:latin typeface="Segoe UI"/>
              </a:rPr>
              <a:t>11 components, 14 states</a:t>
            </a:r>
            <a:r>
              <a:rPr sz="1800" b="0">
                <a:solidFill>
                  <a:srgbClr val="D8E2EC"/>
                </a:solidFill>
                <a:latin typeface="Segoe UI"/>
              </a:rPr>
              <a:t> — position, velocity, quaternion, angular rate, mass</a:t>
            </a:r>
          </a:p>
          <a:p>
            <a:pPr>
              <a:spcAft>
                <a:spcPts val="800"/>
              </a:spcAft>
            </a:pPr>
            <a:r>
              <a:rPr sz="1800">
                <a:solidFill>
                  <a:srgbClr val="35C4E8"/>
                </a:solidFill>
                <a:latin typeface="Segoe UI"/>
              </a:rPr>
              <a:t>•  </a:t>
            </a:r>
            <a:r>
              <a:rPr sz="1800" b="0">
                <a:solidFill>
                  <a:srgbClr val="D8E2EC"/>
                </a:solidFill>
                <a:latin typeface="Segoe UI"/>
              </a:rPr>
              <a:t>Thrust vector control &amp; attitude determination: same tags-and-registry architecture</a:t>
            </a:r>
          </a:p>
          <a:p>
            <a:pPr>
              <a:spcAft>
                <a:spcPts val="800"/>
              </a:spcAft>
            </a:pPr>
            <a:r>
              <a:rPr sz="1800">
                <a:solidFill>
                  <a:srgbClr val="35C4E8"/>
                </a:solidFill>
                <a:latin typeface="Segoe UI"/>
              </a:rPr>
              <a:t>•  </a:t>
            </a:r>
            <a:r>
              <a:rPr sz="1800" b="1">
                <a:solidFill>
                  <a:srgbClr val="FFFFFF"/>
                </a:solidFill>
                <a:latin typeface="Segoe UI"/>
              </a:rPr>
              <a:t>These patterns run in production flight software</a:t>
            </a:r>
            <a:r>
              <a:rPr sz="1800" b="0">
                <a:solidFill>
                  <a:srgbClr val="D8E2EC"/>
                </a:solidFill>
                <a:latin typeface="Segoe UI"/>
              </a:rPr>
              <a:t> — correctness and performance both non-negotiable</a:t>
            </a:r>
          </a:p>
        </p:txBody>
      </p:sp>
      <p:sp>
        <p:nvSpPr>
          <p:cNvPr id="17" name="TextBox 1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18" name="TextBox 1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WE PLANTED T EVERYWHERE — PAYOFF</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Bonus: the scalar is a template parameter</a:t>
            </a:r>
          </a:p>
        </p:txBody>
      </p:sp>
      <p:sp>
        <p:nvSpPr>
          <p:cNvPr id="4" name="Rounded Rectangle 3"/>
          <p:cNvSpPr/>
          <p:nvPr/>
        </p:nvSpPr>
        <p:spPr>
          <a:xfrm>
            <a:off x="548640" y="1508760"/>
            <a:ext cx="8778240" cy="3108960"/>
          </a:xfrm>
          <a:prstGeom prst="roundRect">
            <a:avLst>
              <a:gd name="adj" fmla="val 35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autodiff"/>
          <p:cNvSpPr txBox="1"/>
          <p:nvPr/>
        </p:nvSpPr>
        <p:spPr>
          <a:xfrm>
            <a:off x="713232" y="1673352"/>
            <a:ext cx="8449056" cy="2779776"/>
          </a:xfrm>
          <a:prstGeom prst="rect">
            <a:avLst/>
          </a:prstGeom>
          <a:noFill/>
        </p:spPr>
        <p:txBody>
          <a:bodyPr wrap="none">
            <a:spAutoFit/>
          </a:bodyPr>
          <a:lstStyle/>
          <a:p>
            <a:pPr>
              <a:spcAft>
                <a:spcPts val="100"/>
              </a:spcAft>
            </a:pPr>
            <a:r>
              <a:rPr sz="1400">
                <a:solidFill>
                  <a:srgbClr val="6A9955"/>
                </a:solidFill>
                <a:latin typeface="Consolas"/>
              </a:rPr>
              <a:t>// simulate:</a:t>
            </a:r>
          </a:p>
          <a:p>
            <a:pPr>
              <a:spcAft>
                <a:spcPts val="100"/>
              </a:spcAft>
            </a:pPr>
            <a:r>
              <a:rPr sz="1400">
                <a:solidFill>
                  <a:srgbClr val="569CD6"/>
                </a:solidFill>
                <a:latin typeface="Consolas"/>
              </a:rPr>
              <a:t>auto</a:t>
            </a:r>
            <a:r>
              <a:rPr sz="1400">
                <a:solidFill>
                  <a:srgbClr val="D4D4D4"/>
                </a:solidFill>
                <a:latin typeface="Consolas"/>
              </a:rPr>
              <a:t> </a:t>
            </a:r>
            <a:r>
              <a:rPr sz="1400">
                <a:solidFill>
                  <a:srgbClr val="D4D4D4"/>
                </a:solidFill>
                <a:latin typeface="Consolas"/>
              </a:rPr>
              <a:t>sim</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makeODESystem</a:t>
            </a:r>
            <a:r>
              <a:rPr sz="1400">
                <a:solidFill>
                  <a:srgbClr val="D4D4D4"/>
                </a:solidFill>
                <a:latin typeface="Consolas"/>
              </a:rPr>
              <a:t>&lt;</a:t>
            </a:r>
            <a:r>
              <a:rPr sz="1400">
                <a:solidFill>
                  <a:srgbClr val="4EC9B0"/>
                </a:solidFill>
                <a:latin typeface="Consolas"/>
              </a:rPr>
              <a:t>double</a:t>
            </a:r>
            <a:r>
              <a:rPr sz="1400">
                <a:solidFill>
                  <a:srgbClr val="D4D4D4"/>
                </a:solidFill>
                <a:latin typeface="Consolas"/>
              </a:rPr>
              <a:t>&gt;</a:t>
            </a:r>
            <a:r>
              <a:rPr sz="1400">
                <a:solidFill>
                  <a:srgbClr val="D4D4D4"/>
                </a:solidFill>
                <a:latin typeface="Consolas"/>
              </a:rPr>
              <a:t>(</a:t>
            </a:r>
            <a:r>
              <a:rPr sz="1400">
                <a:solidFill>
                  <a:srgbClr val="D4D4D4"/>
                </a:solidFill>
                <a:latin typeface="Consolas"/>
              </a:rPr>
              <a:t>comps</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p>
          <a:p>
            <a:pPr>
              <a:spcAft>
                <a:spcPts val="100"/>
              </a:spcAft>
            </a:pPr>
            <a:r>
              <a:rPr sz="1400">
                <a:latin typeface="Consolas"/>
              </a:rPr>
              <a:t> </a:t>
            </a:r>
          </a:p>
          <a:p>
            <a:pPr>
              <a:spcAft>
                <a:spcPts val="100"/>
              </a:spcAft>
            </a:pPr>
            <a:r>
              <a:rPr sz="1400">
                <a:solidFill>
                  <a:srgbClr val="6A9955"/>
                </a:solidFill>
                <a:latin typeface="Consolas"/>
              </a:rPr>
              <a:t>// differentiate — SAME components, different scalar:</a:t>
            </a:r>
          </a:p>
          <a:p>
            <a:pPr>
              <a:spcAft>
                <a:spcPts val="100"/>
              </a:spcAft>
            </a:pPr>
            <a:r>
              <a:rPr sz="1400" b="1">
                <a:solidFill>
                  <a:srgbClr val="F2C744"/>
                </a:solidFill>
                <a:latin typeface="Consolas"/>
              </a:rPr>
              <a:t>using</a:t>
            </a:r>
            <a:r>
              <a:rPr sz="1400" b="1">
                <a:solidFill>
                  <a:srgbClr val="F2C744"/>
                </a:solidFill>
                <a:latin typeface="Consolas"/>
              </a:rPr>
              <a:t> </a:t>
            </a:r>
            <a:r>
              <a:rPr sz="1400" b="1">
                <a:solidFill>
                  <a:srgbClr val="F2C744"/>
                </a:solidFill>
                <a:latin typeface="Consolas"/>
              </a:rPr>
              <a:t>D</a:t>
            </a:r>
            <a:r>
              <a:rPr sz="1400" b="1">
                <a:solidFill>
                  <a:srgbClr val="F2C744"/>
                </a:solidFill>
                <a:latin typeface="Consolas"/>
              </a:rPr>
              <a:t> </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Dual</a:t>
            </a:r>
            <a:r>
              <a:rPr sz="1400" b="1">
                <a:solidFill>
                  <a:srgbClr val="F2C744"/>
                </a:solidFill>
                <a:latin typeface="Consolas"/>
              </a:rPr>
              <a:t>&lt;</a:t>
            </a:r>
            <a:r>
              <a:rPr sz="1400" b="1">
                <a:solidFill>
                  <a:srgbClr val="F2C744"/>
                </a:solidFill>
                <a:latin typeface="Consolas"/>
              </a:rPr>
              <a:t>double</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14</a:t>
            </a:r>
            <a:r>
              <a:rPr sz="1400" b="1">
                <a:solidFill>
                  <a:srgbClr val="F2C744"/>
                </a:solidFill>
                <a:latin typeface="Consolas"/>
              </a:rPr>
              <a:t>&gt;</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 forward-mode autodiff</a:t>
            </a:r>
          </a:p>
          <a:p>
            <a:pPr>
              <a:spcAft>
                <a:spcPts val="100"/>
              </a:spcAft>
            </a:pPr>
            <a:r>
              <a:rPr sz="1400" b="1">
                <a:solidFill>
                  <a:srgbClr val="F2C744"/>
                </a:solidFill>
                <a:latin typeface="Consolas"/>
              </a:rPr>
              <a:t>auto</a:t>
            </a:r>
            <a:r>
              <a:rPr sz="1400" b="1">
                <a:solidFill>
                  <a:srgbClr val="F2C744"/>
                </a:solidFill>
                <a:latin typeface="Consolas"/>
              </a:rPr>
              <a:t> </a:t>
            </a:r>
            <a:r>
              <a:rPr sz="1400" b="1">
                <a:solidFill>
                  <a:srgbClr val="F2C744"/>
                </a:solidFill>
                <a:latin typeface="Consolas"/>
              </a:rPr>
              <a:t>grad</a:t>
            </a:r>
            <a:r>
              <a:rPr sz="1400" b="1">
                <a:solidFill>
                  <a:srgbClr val="F2C744"/>
                </a:solidFill>
                <a:latin typeface="Consolas"/>
              </a:rPr>
              <a:t> </a:t>
            </a:r>
            <a:r>
              <a:rPr sz="1400" b="1">
                <a:solidFill>
                  <a:srgbClr val="F2C744"/>
                </a:solidFill>
                <a:latin typeface="Consolas"/>
              </a:rPr>
              <a:t>=</a:t>
            </a:r>
            <a:r>
              <a:rPr sz="1400" b="1">
                <a:solidFill>
                  <a:srgbClr val="F2C744"/>
                </a:solidFill>
                <a:latin typeface="Consolas"/>
              </a:rPr>
              <a:t> </a:t>
            </a:r>
            <a:r>
              <a:rPr sz="1400" b="1">
                <a:solidFill>
                  <a:srgbClr val="F2C744"/>
                </a:solidFill>
                <a:latin typeface="Consolas"/>
              </a:rPr>
              <a:t>makeODESystem</a:t>
            </a:r>
            <a:r>
              <a:rPr sz="1400" b="1">
                <a:solidFill>
                  <a:srgbClr val="F2C744"/>
                </a:solidFill>
                <a:latin typeface="Consolas"/>
              </a:rPr>
              <a:t>&lt;</a:t>
            </a:r>
            <a:r>
              <a:rPr sz="1400" b="1">
                <a:solidFill>
                  <a:srgbClr val="F2C744"/>
                </a:solidFill>
                <a:latin typeface="Consolas"/>
              </a:rPr>
              <a:t>D</a:t>
            </a:r>
            <a:r>
              <a:rPr sz="1400" b="1">
                <a:solidFill>
                  <a:srgbClr val="F2C744"/>
                </a:solidFill>
                <a:latin typeface="Consolas"/>
              </a:rPr>
              <a:t>&gt;</a:t>
            </a:r>
            <a:r>
              <a:rPr sz="1400" b="1">
                <a:solidFill>
                  <a:srgbClr val="F2C744"/>
                </a:solidFill>
                <a:latin typeface="Consolas"/>
              </a:rPr>
              <a:t>(</a:t>
            </a:r>
            <a:r>
              <a:rPr sz="1400" b="1">
                <a:solidFill>
                  <a:srgbClr val="F2C744"/>
                </a:solidFill>
                <a:latin typeface="Consolas"/>
              </a:rPr>
              <a:t>comps</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r>
              <a:rPr sz="1400" b="1">
                <a:solidFill>
                  <a:srgbClr val="F2C744"/>
                </a:solidFill>
                <a:latin typeface="Consolas"/>
              </a:rPr>
              <a:t>;</a:t>
            </a:r>
          </a:p>
          <a:p>
            <a:pPr>
              <a:spcAft>
                <a:spcPts val="100"/>
              </a:spcAft>
            </a:pPr>
            <a:r>
              <a:rPr sz="1400">
                <a:solidFill>
                  <a:srgbClr val="569CD6"/>
                </a:solidFill>
                <a:latin typeface="Consolas"/>
              </a:rPr>
              <a:t>auto</a:t>
            </a:r>
            <a:r>
              <a:rPr sz="1400">
                <a:solidFill>
                  <a:srgbClr val="D4D4D4"/>
                </a:solidFill>
                <a:latin typeface="Consolas"/>
              </a:rPr>
              <a:t> </a:t>
            </a:r>
            <a:r>
              <a:rPr sz="1400">
                <a:solidFill>
                  <a:srgbClr val="D4D4D4"/>
                </a:solidFill>
                <a:latin typeface="Consolas"/>
              </a:rPr>
              <a:t>J</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computeJacobian</a:t>
            </a:r>
            <a:r>
              <a:rPr sz="1400">
                <a:solidFill>
                  <a:srgbClr val="D4D4D4"/>
                </a:solidFill>
                <a:latin typeface="Consolas"/>
              </a:rPr>
              <a:t>(</a:t>
            </a:r>
            <a:r>
              <a:rPr sz="1400">
                <a:solidFill>
                  <a:srgbClr val="D4D4D4"/>
                </a:solidFill>
                <a:latin typeface="Consolas"/>
              </a:rPr>
              <a:t>grad</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t</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state</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6A9955"/>
                </a:solidFill>
                <a:latin typeface="Consolas"/>
              </a:rPr>
              <a:t>// exact, to machine precision</a:t>
            </a:r>
          </a:p>
          <a:p>
            <a:pPr>
              <a:spcAft>
                <a:spcPts val="100"/>
              </a:spcAft>
            </a:pPr>
            <a:r>
              <a:rPr sz="1400">
                <a:latin typeface="Consolas"/>
              </a:rPr>
              <a:t> </a:t>
            </a:r>
          </a:p>
          <a:p>
            <a:pPr>
              <a:spcAft>
                <a:spcPts val="100"/>
              </a:spcAft>
            </a:pPr>
            <a:r>
              <a:rPr sz="1400">
                <a:solidFill>
                  <a:srgbClr val="6A9955"/>
                </a:solidFill>
                <a:latin typeface="Consolas"/>
              </a:rPr>
              <a:t>// linearize -&gt; LQR gain straight from the nonlinear model</a:t>
            </a:r>
          </a:p>
          <a:p>
            <a:pPr>
              <a:spcAft>
                <a:spcPts val="100"/>
              </a:spcAft>
            </a:pPr>
            <a:r>
              <a:rPr sz="1400">
                <a:solidFill>
                  <a:srgbClr val="569CD6"/>
                </a:solidFill>
                <a:latin typeface="Consolas"/>
              </a:rPr>
              <a:t>auto</a:t>
            </a:r>
            <a:r>
              <a:rPr sz="1400">
                <a:solidFill>
                  <a:srgbClr val="D4D4D4"/>
                </a:solidFill>
                <a:latin typeface="Consolas"/>
              </a:rPr>
              <a:t> </a:t>
            </a:r>
            <a:r>
              <a:rPr sz="1400">
                <a:solidFill>
                  <a:srgbClr val="D4D4D4"/>
                </a:solidFill>
                <a:latin typeface="Consolas"/>
              </a:rPr>
              <a:t>K</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lqr</a:t>
            </a:r>
            <a:r>
              <a:rPr sz="1400">
                <a:solidFill>
                  <a:srgbClr val="D4D4D4"/>
                </a:solidFill>
                <a:latin typeface="Consolas"/>
              </a:rPr>
              <a:t>(</a:t>
            </a:r>
            <a:r>
              <a:rPr sz="1400">
                <a:solidFill>
                  <a:srgbClr val="D4D4D4"/>
                </a:solidFill>
                <a:latin typeface="Consolas"/>
              </a:rPr>
              <a:t>J</a:t>
            </a:r>
            <a:r>
              <a:rPr sz="1400">
                <a:solidFill>
                  <a:srgbClr val="D4D4D4"/>
                </a:solidFill>
                <a:latin typeface="Consolas"/>
              </a:rPr>
              <a:t>.</a:t>
            </a:r>
            <a:r>
              <a:rPr sz="1400">
                <a:solidFill>
                  <a:srgbClr val="D4D4D4"/>
                </a:solidFill>
                <a:latin typeface="Consolas"/>
              </a:rPr>
              <a:t>A</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J</a:t>
            </a:r>
            <a:r>
              <a:rPr sz="1400">
                <a:solidFill>
                  <a:srgbClr val="D4D4D4"/>
                </a:solidFill>
                <a:latin typeface="Consolas"/>
              </a:rPr>
              <a:t>.</a:t>
            </a:r>
            <a:r>
              <a:rPr sz="1400">
                <a:solidFill>
                  <a:srgbClr val="D4D4D4"/>
                </a:solidFill>
                <a:latin typeface="Consolas"/>
              </a:rPr>
              <a:t>B</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Q</a:t>
            </a:r>
            <a:r>
              <a:rPr sz="1400">
                <a:solidFill>
                  <a:srgbClr val="D4D4D4"/>
                </a:solidFill>
                <a:latin typeface="Consolas"/>
              </a:rPr>
              <a:t>,</a:t>
            </a:r>
            <a:r>
              <a:rPr sz="1400">
                <a:solidFill>
                  <a:srgbClr val="D4D4D4"/>
                </a:solidFill>
                <a:latin typeface="Consolas"/>
              </a:rPr>
              <a:t> </a:t>
            </a:r>
            <a:r>
              <a:rPr sz="1400">
                <a:solidFill>
                  <a:srgbClr val="D4D4D4"/>
                </a:solidFill>
                <a:latin typeface="Consolas"/>
              </a:rPr>
              <a:t>R</a:t>
            </a:r>
            <a:r>
              <a:rPr sz="1400">
                <a:solidFill>
                  <a:srgbClr val="D4D4D4"/>
                </a:solidFill>
                <a:latin typeface="Consolas"/>
              </a:rPr>
              <a:t>)</a:t>
            </a:r>
            <a:r>
              <a:rPr sz="1400">
                <a:solidFill>
                  <a:srgbClr val="D4D4D4"/>
                </a:solidFill>
                <a:latin typeface="Consolas"/>
              </a:rPr>
              <a:t>;</a:t>
            </a:r>
          </a:p>
        </p:txBody>
      </p:sp>
      <p:sp>
        <p:nvSpPr>
          <p:cNvPr id="6" name="TextBox 5"/>
          <p:cNvSpPr txBox="1"/>
          <p:nvPr/>
        </p:nvSpPr>
        <p:spPr>
          <a:xfrm>
            <a:off x="548640" y="4937760"/>
            <a:ext cx="11064240" cy="4572000"/>
          </a:xfrm>
          <a:prstGeom prst="rect">
            <a:avLst/>
          </a:prstGeom>
          <a:noFill/>
        </p:spPr>
        <p:txBody>
          <a:bodyPr wrap="square">
            <a:spAutoFit/>
          </a:bodyPr>
          <a:lstStyle/>
          <a:p>
            <a:pPr>
              <a:spcAft>
                <a:spcPts val="800"/>
              </a:spcAft>
            </a:pPr>
            <a:r>
              <a:rPr sz="1900">
                <a:solidFill>
                  <a:srgbClr val="35C4E8"/>
                </a:solidFill>
                <a:latin typeface="Segoe UI"/>
              </a:rPr>
              <a:t>•  </a:t>
            </a:r>
            <a:r>
              <a:rPr sz="1900" b="1">
                <a:solidFill>
                  <a:srgbClr val="F2C744"/>
                </a:solidFill>
                <a:latin typeface="Segoe UI"/>
              </a:rPr>
              <a:t>Jacobians without hand-derived math or finite differences</a:t>
            </a:r>
          </a:p>
          <a:p>
            <a:pPr>
              <a:spcAft>
                <a:spcPts val="800"/>
              </a:spcAft>
            </a:pPr>
            <a:r>
              <a:rPr sz="1900">
                <a:solidFill>
                  <a:srgbClr val="35C4E8"/>
                </a:solidFill>
                <a:latin typeface="Segoe UI"/>
              </a:rPr>
              <a:t>•  </a:t>
            </a:r>
            <a:r>
              <a:rPr sz="1900" b="0">
                <a:solidFill>
                  <a:srgbClr val="35C4E8"/>
                </a:solidFill>
                <a:latin typeface="Segoe UI"/>
              </a:rPr>
              <a:t>The controller you'll see in a minute was designed exactly this way</a:t>
            </a:r>
          </a:p>
        </p:txBody>
      </p:sp>
      <p:sp>
        <p:nvSpPr>
          <p:cNvPr id="7" name="TextBox 6"/>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8" name="TextBox 7"/>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OPEN IDEAS</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Can we go further?</a:t>
            </a:r>
          </a:p>
        </p:txBody>
      </p:sp>
      <p:sp>
        <p:nvSpPr>
          <p:cNvPr id="4" name="TextBox 3"/>
          <p:cNvSpPr txBox="1"/>
          <p:nvPr/>
        </p:nvSpPr>
        <p:spPr>
          <a:xfrm>
            <a:off x="548640" y="1737360"/>
            <a:ext cx="11064240" cy="4572000"/>
          </a:xfrm>
          <a:prstGeom prst="rect">
            <a:avLst/>
          </a:prstGeom>
          <a:noFill/>
        </p:spPr>
        <p:txBody>
          <a:bodyPr wrap="square">
            <a:spAutoFit/>
          </a:bodyPr>
          <a:lstStyle/>
          <a:p>
            <a:pPr>
              <a:spcAft>
                <a:spcPts val="800"/>
              </a:spcAft>
            </a:pPr>
            <a:r>
              <a:rPr sz="2200">
                <a:solidFill>
                  <a:srgbClr val="35C4E8"/>
                </a:solidFill>
                <a:latin typeface="Segoe UI"/>
              </a:rPr>
              <a:t>•  </a:t>
            </a:r>
            <a:r>
              <a:rPr sz="2200" b="1">
                <a:solidFill>
                  <a:srgbClr val="FFFFFF"/>
                </a:solidFill>
                <a:latin typeface="Segoe UI"/>
              </a:rPr>
              <a:t>Frames as types</a:t>
            </a:r>
            <a:r>
              <a:rPr sz="2200" b="0">
                <a:solidFill>
                  <a:srgbClr val="D8E2EC"/>
                </a:solidFill>
                <a:latin typeface="Segoe UI"/>
              </a:rPr>
              <a:t> — body vs ENU vs ECEF: mixing them up should be a compile error too</a:t>
            </a:r>
          </a:p>
          <a:p>
            <a:pPr>
              <a:spcAft>
                <a:spcPts val="800"/>
              </a:spcAft>
            </a:pPr>
            <a:r>
              <a:rPr sz="2200">
                <a:solidFill>
                  <a:srgbClr val="35C4E8"/>
                </a:solidFill>
                <a:latin typeface="Segoe UI"/>
              </a:rPr>
              <a:t>•  </a:t>
            </a:r>
            <a:r>
              <a:rPr sz="2200" b="1">
                <a:solidFill>
                  <a:srgbClr val="FFFFFF"/>
                </a:solidFill>
                <a:latin typeface="Segoe UI"/>
              </a:rPr>
              <a:t>Physical laws as concepts</a:t>
            </a:r>
            <a:r>
              <a:rPr sz="2200" b="0">
                <a:solidFill>
                  <a:srgbClr val="D8E2EC"/>
                </a:solidFill>
                <a:latin typeface="Segoe UI"/>
              </a:rPr>
              <a:t> — 'conserves energy', 'action-reaction pair' as checkable contracts</a:t>
            </a:r>
          </a:p>
          <a:p>
            <a:pPr>
              <a:spcAft>
                <a:spcPts val="800"/>
              </a:spcAft>
            </a:pPr>
            <a:r>
              <a:rPr sz="2200">
                <a:solidFill>
                  <a:srgbClr val="35C4E8"/>
                </a:solidFill>
                <a:latin typeface="Segoe UI"/>
              </a:rPr>
              <a:t>•  </a:t>
            </a:r>
            <a:r>
              <a:rPr sz="2200" b="0">
                <a:solidFill>
                  <a:srgbClr val="D8E2EC"/>
                </a:solidFill>
                <a:latin typeface="Segoe UI"/>
              </a:rPr>
              <a:t>Units in the type system — dimensional analysis at compile time</a:t>
            </a:r>
          </a:p>
        </p:txBody>
      </p:sp>
      <p:sp>
        <p:nvSpPr>
          <p:cNvPr id="5" name="TextBox 4"/>
          <p:cNvSpPr txBox="1"/>
          <p:nvPr/>
        </p:nvSpPr>
        <p:spPr>
          <a:xfrm>
            <a:off x="822960" y="4206240"/>
            <a:ext cx="10515600" cy="1463040"/>
          </a:xfrm>
          <a:prstGeom prst="rect">
            <a:avLst/>
          </a:prstGeom>
          <a:noFill/>
        </p:spPr>
        <p:txBody>
          <a:bodyPr wrap="square">
            <a:spAutoFit/>
          </a:bodyPr>
          <a:lstStyle/>
          <a:p>
            <a:r>
              <a:rPr sz="2600" b="1">
                <a:solidFill>
                  <a:srgbClr val="F2C744"/>
                </a:solidFill>
                <a:latin typeface="Segoe UI"/>
              </a:rPr>
              <a:t>The goal, all the way down:  a consistent level of abstraction —</a:t>
            </a:r>
          </a:p>
          <a:p>
            <a:r>
              <a:rPr sz="2200" i="1">
                <a:solidFill>
                  <a:srgbClr val="FFFFFF"/>
                </a:solidFill>
                <a:latin typeface="Segoe UI"/>
              </a:rPr>
              <a:t>the code reads at the level of the physics, and the machine code reads like the monolith.</a:t>
            </a:r>
          </a:p>
        </p:txBody>
      </p:sp>
      <p:sp>
        <p:nvSpPr>
          <p:cNvPr id="6" name="TextBox 5"/>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7" name="TextBox 6"/>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A SHORT HISTORY LESSON</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We've been here before</a:t>
            </a:r>
          </a:p>
        </p:txBody>
      </p:sp>
      <p:sp>
        <p:nvSpPr>
          <p:cNvPr id="4" name="Rounded Rectangle 3"/>
          <p:cNvSpPr/>
          <p:nvPr/>
        </p:nvSpPr>
        <p:spPr>
          <a:xfrm>
            <a:off x="1097280" y="1737360"/>
            <a:ext cx="9966960" cy="3108960"/>
          </a:xfrm>
          <a:prstGeom prst="roundRect">
            <a:avLst>
              <a:gd name="adj" fmla="val 10000"/>
            </a:avLst>
          </a:prstGeom>
          <a:solidFill>
            <a:srgbClr val="081626"/>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a:solidFill>
                  <a:srgbClr val="8CA3B8"/>
                </a:solidFill>
                <a:latin typeface="Segoe UI"/>
              </a:rPr>
              <a:t>[ PLACEHOLDER — scan of rocket-control code from a classic textbook
(Zipfel / 1960s–90s Fortran, zero modularity) ]</a:t>
            </a:r>
          </a:p>
        </p:txBody>
      </p:sp>
      <p:sp>
        <p:nvSpPr>
          <p:cNvPr id="5" name="TextBox 4"/>
          <p:cNvSpPr txBox="1"/>
          <p:nvPr/>
        </p:nvSpPr>
        <p:spPr>
          <a:xfrm>
            <a:off x="548640" y="5120640"/>
            <a:ext cx="11064240" cy="4572000"/>
          </a:xfrm>
          <a:prstGeom prst="rect">
            <a:avLst/>
          </a:prstGeom>
          <a:noFill/>
        </p:spPr>
        <p:txBody>
          <a:bodyPr wrap="square">
            <a:spAutoFit/>
          </a:bodyPr>
          <a:lstStyle/>
          <a:p>
            <a:pPr>
              <a:spcAft>
                <a:spcPts val="800"/>
              </a:spcAft>
            </a:pPr>
            <a:r>
              <a:rPr sz="2000">
                <a:solidFill>
                  <a:srgbClr val="35C4E8"/>
                </a:solidFill>
                <a:latin typeface="Segoe UI"/>
              </a:rPr>
              <a:t>•  </a:t>
            </a:r>
            <a:r>
              <a:rPr sz="2000" b="0">
                <a:solidFill>
                  <a:srgbClr val="D8E2EC"/>
                </a:solidFill>
                <a:latin typeface="Segoe UI"/>
              </a:rPr>
              <a:t>Six decades of rocket code — the math was always modular; the code never was</a:t>
            </a:r>
          </a:p>
          <a:p>
            <a:pPr>
              <a:spcAft>
                <a:spcPts val="800"/>
              </a:spcAft>
            </a:pPr>
            <a:r>
              <a:rPr sz="2000">
                <a:solidFill>
                  <a:srgbClr val="35C4E8"/>
                </a:solidFill>
                <a:latin typeface="Segoe UI"/>
              </a:rPr>
              <a:t>•  </a:t>
            </a:r>
            <a:r>
              <a:rPr sz="2000" b="1">
                <a:solidFill>
                  <a:srgbClr val="F2C744"/>
                </a:solidFill>
                <a:latin typeface="Segoe UI"/>
              </a:rPr>
              <a:t>Not because the engineers were careless — because the languages made them choose</a:t>
            </a:r>
          </a:p>
        </p:txBody>
      </p:sp>
      <p:sp>
        <p:nvSpPr>
          <p:cNvPr id="6" name="TextBox 5"/>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7" name="TextBox 6"/>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FUN EXAMPLE — LIVE</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One more thing: six pendulums on a cart</a:t>
            </a:r>
          </a:p>
        </p:txBody>
      </p:sp>
      <p:sp>
        <p:nvSpPr>
          <p:cNvPr id="4" name="TextBox 3"/>
          <p:cNvSpPr txBox="1"/>
          <p:nvPr/>
        </p:nvSpPr>
        <p:spPr>
          <a:xfrm>
            <a:off x="548640" y="1737360"/>
            <a:ext cx="11064240" cy="4572000"/>
          </a:xfrm>
          <a:prstGeom prst="rect">
            <a:avLst/>
          </a:prstGeom>
          <a:noFill/>
        </p:spPr>
        <p:txBody>
          <a:bodyPr wrap="square">
            <a:spAutoFit/>
          </a:bodyPr>
          <a:lstStyle/>
          <a:p>
            <a:pPr>
              <a:spcAft>
                <a:spcPts val="800"/>
              </a:spcAft>
            </a:pPr>
            <a:r>
              <a:rPr sz="2200">
                <a:solidFill>
                  <a:srgbClr val="35C4E8"/>
                </a:solidFill>
                <a:latin typeface="Segoe UI"/>
              </a:rPr>
              <a:t>•  </a:t>
            </a:r>
            <a:r>
              <a:rPr sz="2200" b="1">
                <a:solidFill>
                  <a:srgbClr val="F2C744"/>
                </a:solidFill>
                <a:latin typeface="Segoe UI"/>
              </a:rPr>
              <a:t>Inverted 6-pendulum chain</a:t>
            </a:r>
            <a:r>
              <a:rPr sz="2200" b="0">
                <a:solidFill>
                  <a:srgbClr val="D8E2EC"/>
                </a:solidFill>
                <a:latin typeface="Segoe UI"/>
              </a:rPr>
              <a:t> balanced on a moving cart — LQR-stabilized</a:t>
            </a:r>
          </a:p>
          <a:p>
            <a:pPr>
              <a:spcAft>
                <a:spcPts val="800"/>
              </a:spcAft>
            </a:pPr>
            <a:r>
              <a:rPr sz="2200">
                <a:solidFill>
                  <a:srgbClr val="35C4E8"/>
                </a:solidFill>
                <a:latin typeface="Segoe UI"/>
              </a:rPr>
              <a:t>•  </a:t>
            </a:r>
            <a:r>
              <a:rPr sz="2200" b="0">
                <a:solidFill>
                  <a:srgbClr val="D8E2EC"/>
                </a:solidFill>
                <a:latin typeface="Segoe UI"/>
              </a:rPr>
              <a:t>Built from the same components, tags and registry you just saw</a:t>
            </a:r>
          </a:p>
          <a:p>
            <a:pPr>
              <a:spcAft>
                <a:spcPts val="800"/>
              </a:spcAft>
            </a:pPr>
            <a:r>
              <a:rPr sz="2200">
                <a:solidFill>
                  <a:srgbClr val="35C4E8"/>
                </a:solidFill>
                <a:latin typeface="Segoe UI"/>
              </a:rPr>
              <a:t>•  </a:t>
            </a:r>
            <a:r>
              <a:rPr sz="2200" b="0">
                <a:solidFill>
                  <a:srgbClr val="D8E2EC"/>
                </a:solidFill>
                <a:latin typeface="Segoe UI"/>
              </a:rPr>
              <a:t>Linearized with </a:t>
            </a:r>
            <a:r>
              <a:rPr sz="2200" b="0">
                <a:solidFill>
                  <a:srgbClr val="35C4E8"/>
                </a:solidFill>
                <a:latin typeface="Segoe UI"/>
              </a:rPr>
              <a:t>Dual&lt;double, N&gt;</a:t>
            </a:r>
            <a:r>
              <a:rPr sz="2200" b="0">
                <a:solidFill>
                  <a:srgbClr val="D8E2EC"/>
                </a:solidFill>
                <a:latin typeface="Segoe UI"/>
              </a:rPr>
              <a:t> — the autodiff Jacobian from two slides ago</a:t>
            </a:r>
          </a:p>
          <a:p>
            <a:pPr>
              <a:spcAft>
                <a:spcPts val="800"/>
              </a:spcAft>
            </a:pPr>
            <a:r>
              <a:rPr sz="2200">
                <a:solidFill>
                  <a:srgbClr val="35C4E8"/>
                </a:solidFill>
                <a:latin typeface="Segoe UI"/>
              </a:rPr>
              <a:t>•  </a:t>
            </a:r>
            <a:r>
              <a:rPr sz="2200" b="0">
                <a:solidFill>
                  <a:srgbClr val="D8E2EC"/>
                </a:solidFill>
                <a:latin typeface="Segoe UI"/>
              </a:rPr>
              <a:t>Same C++20, compiled to WebAssembly, running in your browser right now:</a:t>
            </a:r>
          </a:p>
          <a:p>
            <a:pPr>
              <a:spcAft>
                <a:spcPts val="800"/>
              </a:spcAft>
            </a:pPr>
            <a:r>
              <a:rPr sz="2200" b="0">
                <a:solidFill>
                  <a:srgbClr val="D8E2EC"/>
                </a:solidFill>
                <a:latin typeface="Segoe UI"/>
              </a:rPr>
              <a:t/>
            </a:r>
            <a:r>
              <a:rPr sz="2200" b="1">
                <a:solidFill>
                  <a:srgbClr val="35C4E8"/>
                </a:solidFill>
                <a:latin typeface="Segoe UI"/>
              </a:rPr>
              <a:t>jedrzejmichalczyk.github.io/sopot</a:t>
            </a:r>
          </a:p>
        </p:txBody>
      </p:sp>
      <p:sp>
        <p:nvSpPr>
          <p:cNvPr id="5" name="Rounded Rectangle 4"/>
          <p:cNvSpPr/>
          <p:nvPr/>
        </p:nvSpPr>
        <p:spPr>
          <a:xfrm>
            <a:off x="4023360" y="4846320"/>
            <a:ext cx="4114800" cy="1005840"/>
          </a:xfrm>
          <a:prstGeom prst="roundRect">
            <a:avLst>
              <a:gd name="adj" fmla="val 10000"/>
            </a:avLst>
          </a:prstGeom>
          <a:solidFill>
            <a:srgbClr val="F2C744"/>
          </a:solidFill>
          <a:ln w="12700">
            <a:solidFill>
              <a:srgbClr val="1E3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0B1F33"/>
                </a:solidFill>
                <a:latin typeface="Segoe UI"/>
              </a:rPr>
              <a:t>▶  LIVE DEMO</a:t>
            </a:r>
          </a:p>
        </p:txBody>
      </p:sp>
      <p:sp>
        <p:nvSpPr>
          <p:cNvPr id="6" name="TextBox 5"/>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7" name="TextBox 6"/>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502920" y="384048"/>
            <a:ext cx="11155680" cy="292608"/>
          </a:xfrm>
          <a:prstGeom prst="rect">
            <a:avLst/>
          </a:prstGeom>
          <a:noFill/>
        </p:spPr>
        <p:txBody>
          <a:bodyPr wrap="none">
            <a:spAutoFit/>
          </a:bodyPr>
          <a:lstStyle/>
          <a:p>
            <a:r>
              <a:rPr sz="1300" b="1">
                <a:solidFill>
                  <a:srgbClr val="F2C744"/>
                </a:solidFill>
                <a:latin typeface="Segoe UI"/>
              </a:rPr>
              <a:t>IF YOU REMEMBER FOUR THINGS</a:t>
            </a:r>
          </a:p>
        </p:txBody>
      </p:sp>
      <p:sp>
        <p:nvSpPr>
          <p:cNvPr id="3" name="TextBox 2"/>
          <p:cNvSpPr txBox="1"/>
          <p:nvPr/>
        </p:nvSpPr>
        <p:spPr>
          <a:xfrm>
            <a:off x="457200" y="694944"/>
            <a:ext cx="11247120" cy="777240"/>
          </a:xfrm>
          <a:prstGeom prst="rect">
            <a:avLst/>
          </a:prstGeom>
          <a:noFill/>
        </p:spPr>
        <p:txBody>
          <a:bodyPr wrap="none">
            <a:spAutoFit/>
          </a:bodyPr>
          <a:lstStyle/>
          <a:p>
            <a:r>
              <a:rPr sz="3100" b="1">
                <a:solidFill>
                  <a:srgbClr val="FFFFFF"/>
                </a:solidFill>
                <a:latin typeface="Segoe UI"/>
              </a:rPr>
              <a:t>Takeaways</a:t>
            </a:r>
          </a:p>
        </p:txBody>
      </p:sp>
      <p:sp>
        <p:nvSpPr>
          <p:cNvPr id="4" name="TextBox 3"/>
          <p:cNvSpPr txBox="1"/>
          <p:nvPr/>
        </p:nvSpPr>
        <p:spPr>
          <a:xfrm>
            <a:off x="548640" y="1828800"/>
            <a:ext cx="11064240" cy="4572000"/>
          </a:xfrm>
          <a:prstGeom prst="rect">
            <a:avLst/>
          </a:prstGeom>
          <a:noFill/>
        </p:spPr>
        <p:txBody>
          <a:bodyPr wrap="square">
            <a:spAutoFit/>
          </a:bodyPr>
          <a:lstStyle/>
          <a:p>
            <a:pPr>
              <a:spcAft>
                <a:spcPts val="800"/>
              </a:spcAft>
            </a:pPr>
            <a:r>
              <a:rPr sz="2300">
                <a:solidFill>
                  <a:srgbClr val="35C4E8"/>
                </a:solidFill>
                <a:latin typeface="Segoe UI"/>
              </a:rPr>
              <a:t>•  </a:t>
            </a:r>
            <a:r>
              <a:rPr sz="2300" b="1">
                <a:solidFill>
                  <a:srgbClr val="F2C744"/>
                </a:solidFill>
                <a:latin typeface="Segoe UI"/>
              </a:rPr>
              <a:t>Separation of concerns is achievable at zero cost</a:t>
            </a:r>
            <a:r>
              <a:rPr sz="2300" b="0">
                <a:solidFill>
                  <a:srgbClr val="D8E2EC"/>
                </a:solidFill>
                <a:latin typeface="Segoe UI"/>
              </a:rPr>
              <a:t> in C++20 — measured, not asserted</a:t>
            </a:r>
          </a:p>
          <a:p>
            <a:pPr>
              <a:spcAft>
                <a:spcPts val="800"/>
              </a:spcAft>
            </a:pPr>
            <a:r>
              <a:rPr sz="2300">
                <a:solidFill>
                  <a:srgbClr val="35C4E8"/>
                </a:solidFill>
                <a:latin typeface="Segoe UI"/>
              </a:rPr>
              <a:t>•  </a:t>
            </a:r>
            <a:r>
              <a:rPr sz="2300" b="0">
                <a:solidFill>
                  <a:srgbClr val="D8E2EC"/>
                </a:solidFill>
                <a:latin typeface="Segoe UI"/>
              </a:rPr>
              <a:t>The recipe is small: </a:t>
            </a:r>
            <a:r>
              <a:rPr sz="2300" b="1">
                <a:solidFill>
                  <a:srgbClr val="35C4E8"/>
                </a:solidFill>
                <a:latin typeface="Segoe UI"/>
              </a:rPr>
              <a:t>typed tags + overloaded compute() + a constexpr registry + concepts</a:t>
            </a:r>
          </a:p>
          <a:p>
            <a:pPr lvl="1">
              <a:spcBef>
                <a:spcPts val="0"/>
              </a:spcBef>
              <a:spcAft>
                <a:spcPts val="800"/>
              </a:spcAft>
            </a:pPr>
            <a:r>
              <a:rPr sz="2100">
                <a:solidFill>
                  <a:srgbClr val="8CA3B8"/>
                </a:solidFill>
                <a:latin typeface="Segoe UI"/>
              </a:rPr>
              <a:t>–  </a:t>
            </a:r>
            <a:r>
              <a:rPr sz="2100" b="0">
                <a:solidFill>
                  <a:srgbClr val="D8E2EC"/>
                </a:solidFill>
                <a:latin typeface="Segoe UI"/>
              </a:rPr>
              <a:t>no inheritance, no virtuals, no strings, no codegen</a:t>
            </a:r>
          </a:p>
          <a:p>
            <a:pPr>
              <a:spcAft>
                <a:spcPts val="800"/>
              </a:spcAft>
            </a:pPr>
            <a:r>
              <a:rPr sz="2300">
                <a:solidFill>
                  <a:srgbClr val="35C4E8"/>
                </a:solidFill>
                <a:latin typeface="Segoe UI"/>
              </a:rPr>
              <a:t>•  </a:t>
            </a:r>
            <a:r>
              <a:rPr sz="2300" b="1">
                <a:solidFill>
                  <a:srgbClr val="FFFFFF"/>
                </a:solidFill>
                <a:latin typeface="Segoe UI"/>
              </a:rPr>
              <a:t>Prefer abstractions you can verify</a:t>
            </a:r>
            <a:r>
              <a:rPr sz="2300" b="0">
                <a:solidFill>
                  <a:srgbClr val="D8E2EC"/>
                </a:solidFill>
                <a:latin typeface="Segoe UI"/>
              </a:rPr>
              <a:t> — conservation laws and disassembly are unit tests for architecture</a:t>
            </a:r>
          </a:p>
          <a:p>
            <a:pPr>
              <a:spcAft>
                <a:spcPts val="800"/>
              </a:spcAft>
            </a:pPr>
            <a:r>
              <a:rPr sz="2300">
                <a:solidFill>
                  <a:srgbClr val="35C4E8"/>
                </a:solidFill>
                <a:latin typeface="Segoe UI"/>
              </a:rPr>
              <a:t>•  </a:t>
            </a:r>
            <a:r>
              <a:rPr sz="2300" b="1">
                <a:solidFill>
                  <a:srgbClr val="FFFFFF"/>
                </a:solidFill>
                <a:latin typeface="Segoe UI"/>
              </a:rPr>
              <a:t>Quality vs performance was the false tradeoff</a:t>
            </a:r>
            <a:r>
              <a:rPr sz="2300" b="0">
                <a:solidFill>
                  <a:srgbClr val="D8E2EC"/>
                </a:solidFill>
                <a:latin typeface="Segoe UI"/>
              </a:rPr>
              <a:t> — modern C++ finally lets us refuse it</a:t>
            </a:r>
          </a:p>
        </p:txBody>
      </p:sp>
      <p:sp>
        <p:nvSpPr>
          <p:cNvPr id="5" name="TextBox 4"/>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6" name="TextBox 5"/>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822960" y="1463040"/>
            <a:ext cx="10515600" cy="1371600"/>
          </a:xfrm>
          <a:prstGeom prst="rect">
            <a:avLst/>
          </a:prstGeom>
          <a:noFill/>
        </p:spPr>
        <p:txBody>
          <a:bodyPr wrap="none">
            <a:spAutoFit/>
          </a:bodyPr>
          <a:lstStyle/>
          <a:p>
            <a:r>
              <a:rPr sz="4800" b="1">
                <a:solidFill>
                  <a:srgbClr val="FFFFFF"/>
                </a:solidFill>
                <a:latin typeface="Segoe UI"/>
              </a:rPr>
              <a:t>Thank you!  Questions?</a:t>
            </a:r>
          </a:p>
        </p:txBody>
      </p:sp>
      <p:sp>
        <p:nvSpPr>
          <p:cNvPr id="3" name="TextBox 2"/>
          <p:cNvSpPr txBox="1"/>
          <p:nvPr/>
        </p:nvSpPr>
        <p:spPr>
          <a:xfrm>
            <a:off x="548640" y="3108960"/>
            <a:ext cx="11064240" cy="4572000"/>
          </a:xfrm>
          <a:prstGeom prst="rect">
            <a:avLst/>
          </a:prstGeom>
          <a:noFill/>
        </p:spPr>
        <p:txBody>
          <a:bodyPr wrap="square">
            <a:spAutoFit/>
          </a:bodyPr>
          <a:lstStyle/>
          <a:p>
            <a:pPr>
              <a:spcAft>
                <a:spcPts val="800"/>
              </a:spcAft>
            </a:pPr>
            <a:r>
              <a:rPr sz="2400">
                <a:solidFill>
                  <a:srgbClr val="35C4E8"/>
                </a:solidFill>
                <a:latin typeface="Segoe UI"/>
              </a:rPr>
              <a:t>•  </a:t>
            </a:r>
            <a:r>
              <a:rPr sz="2400" b="0">
                <a:solidFill>
                  <a:srgbClr val="8CA3B8"/>
                </a:solidFill>
                <a:latin typeface="Segoe UI"/>
              </a:rPr>
              <a:t>Code &amp; slides:  </a:t>
            </a:r>
            <a:r>
              <a:rPr sz="2400" b="1">
                <a:solidFill>
                  <a:srgbClr val="35C4E8"/>
                </a:solidFill>
                <a:latin typeface="Segoe UI"/>
              </a:rPr>
              <a:t>github.com/jedrzejmichalczyk/sopot</a:t>
            </a:r>
          </a:p>
          <a:p>
            <a:pPr>
              <a:spcAft>
                <a:spcPts val="800"/>
              </a:spcAft>
            </a:pPr>
            <a:r>
              <a:rPr sz="2400">
                <a:solidFill>
                  <a:srgbClr val="35C4E8"/>
                </a:solidFill>
                <a:latin typeface="Segoe UI"/>
              </a:rPr>
              <a:t>•  </a:t>
            </a:r>
            <a:r>
              <a:rPr sz="2400" b="0">
                <a:solidFill>
                  <a:srgbClr val="8CA3B8"/>
                </a:solidFill>
                <a:latin typeface="Segoe UI"/>
              </a:rPr>
              <a:t>Live demo:  </a:t>
            </a:r>
            <a:r>
              <a:rPr sz="2400" b="1">
                <a:solidFill>
                  <a:srgbClr val="35C4E8"/>
                </a:solidFill>
                <a:latin typeface="Segoe UI"/>
              </a:rPr>
              <a:t>jedrzejmichalczyk.github.io/sopot</a:t>
            </a:r>
          </a:p>
          <a:p>
            <a:pPr>
              <a:spcAft>
                <a:spcPts val="800"/>
              </a:spcAft>
            </a:pPr>
            <a:r>
              <a:rPr sz="2400">
                <a:solidFill>
                  <a:srgbClr val="35C4E8"/>
                </a:solidFill>
                <a:latin typeface="Segoe UI"/>
              </a:rPr>
              <a:t>•  </a:t>
            </a:r>
            <a:r>
              <a:rPr sz="2400" b="0">
                <a:solidFill>
                  <a:srgbClr val="8CA3B8"/>
                </a:solidFill>
                <a:latin typeface="Segoe UI"/>
              </a:rPr>
              <a:t>Email:  </a:t>
            </a:r>
            <a:r>
              <a:rPr sz="2400" b="1">
                <a:solidFill>
                  <a:srgbClr val="F2C744"/>
                </a:solidFill>
                <a:latin typeface="Segoe UI"/>
              </a:rPr>
              <a:t>jedrzej.michalczyk@spaceforest.pl</a:t>
            </a:r>
          </a:p>
        </p:txBody>
      </p:sp>
      <p:sp>
        <p:nvSpPr>
          <p:cNvPr id="4" name="TextBox 3"/>
          <p:cNvSpPr txBox="1"/>
          <p:nvPr/>
        </p:nvSpPr>
        <p:spPr>
          <a:xfrm>
            <a:off x="411480" y="6446520"/>
            <a:ext cx="10058400" cy="320040"/>
          </a:xfrm>
          <a:prstGeom prst="rect">
            <a:avLst/>
          </a:prstGeom>
          <a:noFill/>
        </p:spPr>
        <p:txBody>
          <a:bodyPr wrap="none">
            <a:spAutoFit/>
          </a:bodyPr>
          <a:lstStyle/>
          <a:p>
            <a:r>
              <a:rPr sz="1000">
                <a:solidFill>
                  <a:srgbClr val="8CA3B8"/>
                </a:solidFill>
                <a:latin typeface="Segoe UI"/>
              </a:rPr>
              <a:t>Separation of Concerns at Zero Cost — ACCU on Sea 2026</a:t>
            </a:r>
          </a:p>
        </p:txBody>
      </p:sp>
      <p:sp>
        <p:nvSpPr>
          <p:cNvPr id="5" name="TextBox 4"/>
          <p:cNvSpPr txBox="1"/>
          <p:nvPr/>
        </p:nvSpPr>
        <p:spPr>
          <a:xfrm>
            <a:off x="11384280" y="6446520"/>
            <a:ext cx="548640" cy="320040"/>
          </a:xfrm>
          <a:prstGeom prst="rect">
            <a:avLst/>
          </a:prstGeom>
          <a:noFill/>
        </p:spPr>
        <p:txBody>
          <a:bodyPr wrap="none">
            <a:spAutoFit/>
          </a:bodyPr>
          <a:lstStyle/>
          <a:p>
            <a:pPr algn="r"/>
            <a:r>
              <a:rPr sz="1000">
                <a:solidFill>
                  <a:srgbClr val="8CA3B8"/>
                </a:solidFill>
                <a:latin typeface="Segoe UI"/>
              </a:rP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