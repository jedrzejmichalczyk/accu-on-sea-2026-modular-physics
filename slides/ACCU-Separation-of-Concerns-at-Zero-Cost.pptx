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97" r:id="rId46"/>
    <p:sldId id="284" r:id="rId31"/>
    <p:sldId id="285" r:id="rId32"/>
    <p:sldId id="286" r:id="rId33"/>
    <p:sldId id="287" r:id="rId34"/>
    <p:sldId id="288" r:id="rId35"/>
    <p:sldId id="289" r:id="rId36"/>
    <p:sldId id="290" r:id="rId37"/>
    <p:sldId id="298" r:id="rId47"/>
    <p:sldId id="299" r:id="rId48"/>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0.xml"/><Relationship Id="rId47" Type="http://schemas.openxmlformats.org/officeDocument/2006/relationships/slide" Target="slides/slide38.xml"/><Relationship Id="rId48"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47120" cy="914400"/>
          </a:xfrm>
          <a:prstGeom prst="rect">
            <a:avLst/>
          </a:prstGeom>
          <a:noFill/>
        </p:spPr>
        <p:txBody>
          <a:bodyPr wrap="square">
            <a:spAutoFit/>
          </a:bodyPr>
          <a:lstStyle/>
          <a:p>
            <a:r>
              <a:rPr sz="3100" b="1" i="0">
                <a:solidFill>
                  <a:srgbClr val="FFFFFF"/>
                </a:solidFill>
                <a:latin typeface="Segoe UI"/>
              </a:rPr>
              <a:t>Choose the states — everything else is a state function</a:t>
            </a:r>
          </a:p>
        </p:txBody>
      </p:sp>
      <p:sp>
        <p:nvSpPr>
          <p:cNvPr id="4" name="TextBox 3"/>
          <p:cNvSpPr txBox="1"/>
          <p:nvPr/>
        </p:nvSpPr>
        <p:spPr>
          <a:xfrm>
            <a:off x="548640" y="2286000"/>
            <a:ext cx="10972800" cy="548640"/>
          </a:xfrm>
          <a:prstGeom prst="rect">
            <a:avLst/>
          </a:prstGeom>
          <a:noFill/>
        </p:spPr>
        <p:txBody>
          <a:bodyPr wrap="none">
            <a:spAutoFit/>
          </a:bodyPr>
          <a:lstStyle/>
          <a:p>
            <a:pPr algn="ctr"/>
            <a:r>
              <a:rPr sz="2200" b="1" i="0">
                <a:solidFill>
                  <a:srgbClr val="35C4E8"/>
                </a:solidFill>
                <a:latin typeface="Segoe UI"/>
              </a:rPr>
              <a:t>SOPOT — “Obviously Physics, Obviously Templates” — tries to capture this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
        <p:nvSpPr>
          <p:cNvPr id="7" name="kicker"/>
          <p:cNvSpPr txBox="1"/>
          <p:nvPr/>
        </p:nvSpPr>
        <p:spPr>
          <a:xfrm>
            <a:off x="548640" y="365760"/>
            <a:ext cx="11155680" cy="274320"/>
          </a:xfrm>
          <a:prstGeom prst="rect">
            <a:avLst/>
          </a:prstGeom>
          <a:noFill/>
        </p:spPr>
        <p:txBody>
          <a:bodyPr wrap="none">
            <a:spAutoFit/>
          </a:bodyPr>
          <a:lstStyle/>
          <a:p>
            <a:r>
              <a:rPr sz="1300" b="1" i="0">
                <a:solidFill>
                  <a:srgbClr val="F2C744"/>
                </a:solidFill>
                <a:latin typeface="Segoe UI"/>
              </a:rPr>
              <a:t>THE PRINCIPLE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
        <p:nvSpPr>
          <p:cNvPr id="204" name="Spring13"/>
          <p:cNvSpPr/>
          <p:nvPr/>
        </p:nvSpPr>
        <p:spPr>
          <a:xfrm>
            <a:off x="4572000" y="2084831"/>
            <a:ext cx="3017520" cy="402336"/>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 label"/>
          <p:cNvSpPr txBox="1"/>
          <p:nvPr/>
        </p:nvSpPr>
        <p:spPr>
          <a:xfrm>
            <a:off x="4572000" y="1481328"/>
            <a:ext cx="3017520" cy="365760"/>
          </a:xfrm>
          <a:prstGeom prst="rect">
            <a:avLst/>
          </a:prstGeom>
          <a:noFill/>
        </p:spPr>
        <p:txBody>
          <a:bodyPr wrap="none">
            <a:spAutoFit/>
          </a:bodyPr>
          <a:lstStyle/>
          <a:p>
            <a:pPr algn="ctr"/>
            <a:r>
              <a:rPr sz="1600" b="1">
                <a:solidFill>
                  <a:srgbClr val="FFFFFF"/>
                </a:solidFill>
                <a:latin typeface="Segoe UI"/>
              </a:rPr>
              <a:t>Spring  k, L0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371600"/>
            <a:ext cx="1133856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554480"/>
            <a:ext cx="10972800" cy="3758183"/>
          </a:xfrm>
          <a:prstGeom prst="rect">
            <a:avLst/>
          </a:prstGeom>
          <a:noFill/>
        </p:spPr>
        <p:txBody>
          <a:bodyPr wrap="none">
            <a:spAutoFit/>
          </a:bodyPr>
          <a:lstStyle/>
          <a:p>
            <a:pPr>
              <a:spcAft>
                <a:spcPts val="100"/>
              </a:spcAft>
            </a:pPr>
            <a:r>
              <a:rPr sz="1600">
                <a:solidFill>
                  <a:srgbClr val="DCDCAA"/>
                </a:solidFill>
                <a:latin typeface="Consolas"/>
              </a:rPr>
              <a:t>energy_sopot</a:t>
            </a:r>
            <a:r>
              <a:rPr sz="1600">
                <a:solidFill>
                  <a:srgbClr val="D4D4D4"/>
                </a:solidFill>
                <a:latin typeface="Consolas"/>
              </a:rPr>
              <a:t>(span&lt;const double&gt;):     </a:t>
            </a:r>
            <a:r>
              <a:rPr sz="1600">
                <a:solidFill>
                  <a:srgbClr val="6A9955"/>
                </a:solidFill>
                <a:latin typeface="Consolas"/>
              </a:rPr>
              <a:t>; 4 components, registry dispatch</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r10, [sys+</a:t>
            </a:r>
            <a:r>
              <a:rPr sz="1600">
                <a:solidFill>
                  <a:srgbClr val="B5CEA8"/>
                </a:solidFill>
                <a:latin typeface="Consolas"/>
              </a:rPr>
              <a:t>272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xmm1, [.LC0]        </a:t>
            </a:r>
            <a:r>
              <a:rPr sz="1600">
                <a:solidFill>
                  <a:srgbClr val="6A9955"/>
                </a:solidFill>
                <a:latin typeface="Consolas"/>
              </a:rPr>
              <a:t>; 0.5</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rax, [rcx]</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xmm0, [r10+</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m1        &lt;- runtime parameters,</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xmm3, [rax+rcx*</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v1           loaded once</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0.5*m1*v1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 * v1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xmm2, [r8+</a:t>
            </a:r>
            <a:r>
              <a:rPr sz="1600">
                <a:solidFill>
                  <a:srgbClr val="B5CEA8"/>
                </a:solidFill>
                <a:latin typeface="Consolas"/>
              </a:rPr>
              <a:t>16</a:t>
            </a:r>
            <a:r>
              <a:rPr sz="1600">
                <a:solidFill>
                  <a:srgbClr val="D4D4D4"/>
                </a:solidFill>
                <a:latin typeface="Consolas"/>
              </a:rPr>
              <a:t>]       </a:t>
            </a:r>
            <a:r>
              <a:rPr sz="1600">
                <a:solidFill>
                  <a:srgbClr val="6A9955"/>
                </a:solidFill>
                <a:latin typeface="Consolas"/>
              </a:rPr>
              <a:t>; x1-x2-L0</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xmm1, xmm2          </a:t>
            </a:r>
            <a:r>
              <a:rPr sz="1600">
                <a:solidFill>
                  <a:srgbClr val="6A9955"/>
                </a:solidFill>
                <a:latin typeface="Consolas"/>
              </a:rPr>
              <a:t>; PE terms</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xmm3</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xmm1          </a:t>
            </a:r>
            <a:r>
              <a:rPr sz="1600">
                <a:solidFill>
                  <a:srgbClr val="6A9955"/>
                </a:solidFill>
                <a:latin typeface="Consolas"/>
              </a:rPr>
              <a:t>; KE1+KE2+PE</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
        <p:nvSpPr>
          <p:cNvPr id="9" name="asm takeaway"/>
          <p:cNvSpPr txBox="1"/>
          <p:nvPr/>
        </p:nvSpPr>
        <p:spPr>
          <a:xfrm>
            <a:off x="731520" y="5678423"/>
            <a:ext cx="10972800" cy="548640"/>
          </a:xfrm>
          <a:prstGeom prst="rect">
            <a:avLst/>
          </a:prstGeom>
          <a:noFill/>
        </p:spPr>
        <p:txBody>
          <a:bodyPr wrap="none">
            <a:spAutoFit/>
          </a:bodyPr>
          <a:lstStyle/>
          <a:p>
            <a:r>
              <a:rPr sz="1900" i="1">
                <a:solidFill>
                  <a:srgbClr val="7EE08A"/>
                </a:solidFill>
                <a:latin typeface="Segoe UI"/>
              </a:rPr>
              <a:t>0 calls · 0 jumps · 0 vtables — straight-line FP, the same shape as the hand-written formula.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…and the derivative? Same story.</a:t>
            </a:r>
          </a:p>
        </p:txBody>
      </p:sp>
      <p:sp>
        <p:nvSpPr>
          <p:cNvPr id="4" name="Rounded Rectangle 3"/>
          <p:cNvSpPr/>
          <p:nvPr/>
        </p:nvSpPr>
        <p:spPr>
          <a:xfrm>
            <a:off x="548640" y="1280160"/>
            <a:ext cx="11338560" cy="442569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972800" cy="4059936"/>
          </a:xfrm>
          <a:prstGeom prst="rect">
            <a:avLst/>
          </a:prstGeom>
          <a:noFill/>
        </p:spPr>
        <p:txBody>
          <a:bodyPr wrap="none">
            <a:spAutoFit/>
          </a:bodyPr>
          <a:lstStyle/>
          <a:p>
            <a:pPr>
              <a:spcAft>
                <a:spcPts val="100"/>
              </a:spcAft>
            </a:pPr>
            <a:r>
              <a:rPr sz="1600">
                <a:solidFill>
                  <a:srgbClr val="DCDCAA"/>
                </a:solidFill>
                <a:latin typeface="Consolas"/>
              </a:rPr>
              <a:t>mass1_derivative</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returns { dx/dt , dv/dt }</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a:t>
            </a:r>
            <a:r>
              <a:rPr sz="1600">
                <a:solidFill>
                  <a:srgbClr val="D4D4D4"/>
                </a:solidFill>
                <a:latin typeface="Consolas"/>
              </a:rPr>
              <a:t>r9</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sys</a:t>
            </a:r>
            <a:r>
              <a:rPr sz="1600">
                <a:solidFill>
                  <a:srgbClr val="D4D4D4"/>
                </a:solidFill>
                <a:latin typeface="Consolas"/>
              </a:rPr>
              <a:t>+</a:t>
            </a:r>
            <a:r>
              <a:rPr sz="1600">
                <a:solidFill>
                  <a:srgbClr val="B5CEA8"/>
                </a:solidFill>
                <a:latin typeface="Consolas"/>
              </a:rPr>
              <a:t>112</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spring component</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a:t>
            </a:r>
            <a:r>
              <a:rPr sz="1600">
                <a:solidFill>
                  <a:srgbClr val="D4D4D4"/>
                </a:solidFill>
                <a:latin typeface="Consolas"/>
              </a:rPr>
              <a:t>r10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sys</a:t>
            </a:r>
            <a:r>
              <a:rPr sz="1600">
                <a:solidFill>
                  <a:srgbClr val="D4D4D4"/>
                </a:solidFill>
                <a:latin typeface="Consolas"/>
              </a:rPr>
              <a:t>+</a:t>
            </a:r>
            <a:r>
              <a:rPr sz="1600">
                <a:solidFill>
                  <a:srgbClr val="B5CEA8"/>
                </a:solidFill>
                <a:latin typeface="Consolas"/>
              </a:rPr>
              <a:t>128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mass1 component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a:t>
            </a:r>
            <a:r>
              <a:rPr sz="1600">
                <a:solidFill>
                  <a:srgbClr val="D4D4D4"/>
                </a:solidFill>
                <a:latin typeface="Consolas"/>
              </a:rPr>
              <a:t>xmm2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r9</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stiffness k, negated -&gt; -k</a:t>
            </a:r>
          </a:p>
          <a:p>
            <a:pPr>
              <a:spcAft>
                <a:spcPts val="100"/>
              </a:spcAft>
            </a:pPr>
            <a:r>
              <a:rPr sz="1600">
                <a:solidFill>
                  <a:srgbClr val="D4D4D4"/>
                </a:solidFill>
                <a:latin typeface="Consolas"/>
              </a:rPr>
              <a:t>    </a:t>
            </a:r>
            <a:r>
              <a:rPr sz="1600">
                <a:solidFill>
                  <a:srgbClr val="DCDCAA"/>
                </a:solidFill>
                <a:latin typeface="Consolas"/>
              </a:rPr>
              <a:t>xorpd</a:t>
            </a:r>
            <a:r>
              <a:rPr sz="1600">
                <a:solidFill>
                  <a:srgbClr val="D4D4D4"/>
                </a:solidFill>
                <a:latin typeface="Consolas"/>
              </a:rPr>
              <a:t> </a:t>
            </a:r>
            <a:r>
              <a:rPr sz="1600">
                <a:solidFill>
                  <a:srgbClr val="D4D4D4"/>
                </a:solidFill>
                <a:latin typeface="Consolas"/>
              </a:rPr>
              <a:t>xmm2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LC0</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r8</a:t>
            </a:r>
            <a:r>
              <a:rPr sz="1600">
                <a:solidFill>
                  <a:srgbClr val="D4D4D4"/>
                </a:solidFill>
                <a:latin typeface="Consolas"/>
              </a:rPr>
              <a:t>+</a:t>
            </a:r>
            <a:r>
              <a:rPr sz="1600">
                <a:solidFill>
                  <a:srgbClr val="D4D4D4"/>
                </a:solidFill>
                <a:latin typeface="Consolas"/>
              </a:rPr>
              <a:t>rcx</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x1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r8</a:t>
            </a:r>
            <a:r>
              <a:rPr sz="1600">
                <a:solidFill>
                  <a:srgbClr val="D4D4D4"/>
                </a:solidFill>
                <a:latin typeface="Consolas"/>
              </a:rPr>
              <a:t>+</a:t>
            </a:r>
            <a:r>
              <a:rPr sz="1600">
                <a:solidFill>
                  <a:srgbClr val="D4D4D4"/>
                </a:solidFill>
                <a:latin typeface="Consolas"/>
              </a:rPr>
              <a:t>rdx</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 x2</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r9</a:t>
            </a:r>
            <a:r>
              <a:rPr sz="1600">
                <a:solidFill>
                  <a:srgbClr val="D4D4D4"/>
                </a:solidFill>
                <a:latin typeface="Consolas"/>
              </a:rPr>
              <a:t>+</a:t>
            </a:r>
            <a:r>
              <a:rPr sz="1600">
                <a:solidFill>
                  <a:srgbClr val="B5CEA8"/>
                </a:solidFill>
                <a:latin typeface="Consolas"/>
              </a:rPr>
              <a:t>16</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 L0       -&gt; extension</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a:t>
            </a:r>
            <a:r>
              <a:rPr sz="1600">
                <a:solidFill>
                  <a:srgbClr val="D4D4D4"/>
                </a:solidFill>
                <a:latin typeface="Consolas"/>
              </a:rPr>
              <a:t>xmm1</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r8</a:t>
            </a:r>
            <a:r>
              <a:rPr sz="1600">
                <a:solidFill>
                  <a:srgbClr val="D4D4D4"/>
                </a:solidFill>
                <a:latin typeface="Consolas"/>
              </a:rPr>
              <a:t>+</a:t>
            </a:r>
            <a:r>
              <a:rPr sz="1600">
                <a:solidFill>
                  <a:srgbClr val="D4D4D4"/>
                </a:solidFill>
                <a:latin typeface="Consolas"/>
              </a:rPr>
              <a:t>rcx</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v1           (= dx/dt)</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xmm2</a:t>
            </a:r>
            <a:r>
              <a:rPr sz="1600">
                <a:solidFill>
                  <a:srgbClr val="D4D4D4"/>
                </a:solidFill>
                <a:latin typeface="Consolas"/>
              </a:rPr>
              <a:t>              </a:t>
            </a:r>
            <a:r>
              <a:rPr sz="1600">
                <a:solidFill>
                  <a:srgbClr val="6A9955"/>
                </a:solidFill>
                <a:latin typeface="Consolas"/>
              </a:rPr>
              <a:t>; -k * extension   (spring force)</a:t>
            </a:r>
          </a:p>
          <a:p>
            <a:pPr>
              <a:spcAft>
                <a:spcPts val="100"/>
              </a:spcAft>
            </a:pPr>
            <a:r>
              <a:rPr sz="1600">
                <a:solidFill>
                  <a:srgbClr val="D4D4D4"/>
                </a:solidFill>
                <a:latin typeface="Consolas"/>
              </a:rPr>
              <a:t>    </a:t>
            </a:r>
            <a:r>
              <a:rPr sz="1600">
                <a:solidFill>
                  <a:srgbClr val="DCDCAA"/>
                </a:solidFill>
                <a:latin typeface="Consolas"/>
              </a:rPr>
              <a:t>comisd</a:t>
            </a:r>
            <a:r>
              <a:rPr sz="1600">
                <a:solidFill>
                  <a:srgbClr val="D4D4D4"/>
                </a:solidFill>
                <a:latin typeface="Consolas"/>
              </a:rPr>
              <a:t> </a:t>
            </a:r>
            <a:r>
              <a:rPr sz="1600">
                <a:solidFill>
                  <a:srgbClr val="D4D4D4"/>
                </a:solidFill>
                <a:latin typeface="Consolas"/>
              </a:rPr>
              <a:t>xmm3</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a:t>
            </a:r>
            <a:r>
              <a:rPr sz="1600">
                <a:solidFill>
                  <a:srgbClr val="D4D4D4"/>
                </a:solidFill>
                <a:latin typeface="Consolas"/>
              </a:rPr>
              <a:t>               </a:t>
            </a:r>
            <a:r>
              <a:rPr sz="1600">
                <a:solidFill>
                  <a:srgbClr val="6A9955"/>
                </a:solidFill>
                <a:latin typeface="Consolas"/>
              </a:rPr>
              <a:t>; if (damping &gt; 0)  - c == 0, so</a:t>
            </a:r>
          </a:p>
          <a:p>
            <a:pPr>
              <a:spcAft>
                <a:spcPts val="100"/>
              </a:spcAft>
            </a:pPr>
            <a:r>
              <a:rPr sz="1600">
                <a:solidFill>
                  <a:srgbClr val="D4D4D4"/>
                </a:solidFill>
                <a:latin typeface="Consolas"/>
              </a:rPr>
              <a:t>    </a:t>
            </a:r>
            <a:r>
              <a:rPr sz="1600">
                <a:solidFill>
                  <a:srgbClr val="DCDCAA"/>
                </a:solidFill>
                <a:latin typeface="Consolas"/>
              </a:rPr>
              <a:t>jbe</a:t>
            </a:r>
            <a:r>
              <a:rPr sz="1600">
                <a:solidFill>
                  <a:srgbClr val="D4D4D4"/>
                </a:solidFill>
                <a:latin typeface="Consolas"/>
              </a:rPr>
              <a:t>   </a:t>
            </a:r>
            <a:r>
              <a:rPr sz="1600">
                <a:solidFill>
                  <a:srgbClr val="D4D4D4"/>
                </a:solidFill>
                <a:latin typeface="Consolas"/>
              </a:rPr>
              <a:t>.Lskip</a:t>
            </a:r>
            <a:r>
              <a:rPr sz="1600">
                <a:solidFill>
                  <a:srgbClr val="D4D4D4"/>
                </a:solidFill>
                <a:latin typeface="Consolas"/>
              </a:rPr>
              <a:t>                 </a:t>
            </a:r>
            <a:r>
              <a:rPr sz="1600">
                <a:solidFill>
                  <a:srgbClr val="6A9955"/>
                </a:solidFill>
                <a:latin typeface="Consolas"/>
              </a:rPr>
              <a:t>;   the branch is skipped</a:t>
            </a:r>
          </a:p>
          <a:p>
            <a:pPr>
              <a:spcAft>
                <a:spcPts val="100"/>
              </a:spcAft>
            </a:pPr>
            <a:r>
              <a:rPr sz="1600">
                <a:solidFill>
                  <a:srgbClr val="D4D4D4"/>
                </a:solidFill>
                <a:latin typeface="Consolas"/>
              </a:rPr>
              <a:t>    </a:t>
            </a:r>
            <a:r>
              <a:rPr sz="1600">
                <a:solidFill>
                  <a:srgbClr val="DCDCAA"/>
                </a:solidFill>
                <a:latin typeface="Consolas"/>
              </a:rPr>
              <a:t>divsd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r10</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force / m1   (= dv/dt)</a:t>
            </a:r>
          </a:p>
          <a:p>
            <a:pPr>
              <a:spcAft>
                <a:spcPts val="100"/>
              </a:spcAft>
            </a:pPr>
            <a:r>
              <a:rPr sz="1600">
                <a:solidFill>
                  <a:srgbClr val="D4D4D4"/>
                </a:solidFill>
                <a:latin typeface="Consolas"/>
              </a:rPr>
              <a:t>    </a:t>
            </a:r>
            <a:r>
              <a:rPr sz="1600">
                <a:solidFill>
                  <a:srgbClr val="DCDCAA"/>
                </a:solidFill>
                <a:latin typeface="Consolas"/>
              </a:rPr>
              <a:t>unpcklpd</a:t>
            </a:r>
            <a:r>
              <a:rPr sz="1600">
                <a:solidFill>
                  <a:srgbClr val="D4D4D4"/>
                </a:solidFill>
                <a:latin typeface="Consolas"/>
              </a:rPr>
              <a:t> </a:t>
            </a:r>
            <a:r>
              <a:rPr sz="1600">
                <a:solidFill>
                  <a:srgbClr val="D4D4D4"/>
                </a:solidFill>
                <a:latin typeface="Consolas"/>
              </a:rPr>
              <a:t>xmm1</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          </a:t>
            </a:r>
            <a:r>
              <a:rPr sz="1600">
                <a:solidFill>
                  <a:srgbClr val="6A9955"/>
                </a:solidFill>
                <a:latin typeface="Consolas"/>
              </a:rPr>
              <a:t>; pack { v1, a1 }</a:t>
            </a:r>
          </a:p>
          <a:p>
            <a:pPr>
              <a:spcAft>
                <a:spcPts val="100"/>
              </a:spcAft>
            </a:pPr>
            <a:r>
              <a:rPr sz="1600">
                <a:solidFill>
                  <a:srgbClr val="D4D4D4"/>
                </a:solidFill>
                <a:latin typeface="Consolas"/>
              </a:rPr>
              <a:t>    </a:t>
            </a:r>
            <a:r>
              <a:rPr sz="1600">
                <a:solidFill>
                  <a:srgbClr val="DCDCAA"/>
                </a:solidFill>
                <a:latin typeface="Consolas"/>
              </a:rPr>
              <a:t>movups</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rax</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xmm1</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
        <p:nvSpPr>
          <p:cNvPr id="9" name="asm takeaway"/>
          <p:cNvSpPr txBox="1"/>
          <p:nvPr/>
        </p:nvSpPr>
        <p:spPr>
          <a:xfrm>
            <a:off x="731520" y="5833872"/>
            <a:ext cx="11155680" cy="548640"/>
          </a:xfrm>
          <a:prstGeom prst="rect">
            <a:avLst/>
          </a:prstGeom>
          <a:noFill/>
        </p:spPr>
        <p:txBody>
          <a:bodyPr wrap="none">
            <a:spAutoFit/>
          </a:bodyPr>
          <a:lstStyle/>
          <a:p>
            <a:r>
              <a:rPr sz="1900" i="1">
                <a:solidFill>
                  <a:srgbClr val="7EE08A"/>
                </a:solidFill>
                <a:latin typeface="Segoe UI"/>
              </a:rPr>
              <a:t>the whole query chain — spring force, then ÷ mass — is ~15 instructions, no calls.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sz="4000" b="1">
                <a:solidFill>
                  <a:srgbClr val="7EE08A"/>
                </a:solidFill>
                <a:latin typeface="Segoe UI"/>
              </a:rPr>
              <a:t>1000×</a:t>
            </a:r>
            <a:r>
              <a:rPr sz="2000" b="0">
                <a:solidFill>
                  <a:srgbClr val="D8E2EC"/>
                </a:solidFill>
                <a:latin typeface="Segoe UI"/>
              </a:rPr>
              <a:t>   faster than an equivalent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548640" y="1554480"/>
            <a:ext cx="11338560" cy="301752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
        <p:nvSpPr>
          <p:cNvPr id="8" name="zarchan setup"/>
          <p:cNvSpPr txBox="1"/>
          <p:nvPr/>
        </p:nvSpPr>
        <p:spPr>
          <a:xfrm>
            <a:off x="777240" y="1691640"/>
            <a:ext cx="10881360" cy="2743200"/>
          </a:xfrm>
          <a:prstGeom prst="rect">
            <a:avLst/>
          </a:prstGeom>
          <a:noFill/>
        </p:spPr>
        <p:txBody>
          <a:bodyPr wrap="none">
            <a:spAutoFit/>
          </a:bodyPr>
          <a:lstStyle/>
          <a:p>
            <a:pPr>
              <a:spcAft>
                <a:spcPts val="100"/>
              </a:spcAft>
            </a:pPr>
            <a:r>
              <a:rPr sz="1600">
                <a:solidFill>
                  <a:srgbClr val="D4D4D4"/>
                </a:solidFill>
                <a:latin typeface="Consolas"/>
              </a:rPr>
              <a:t>XISP1</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XMF1</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XMF2</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WPAY</a:t>
            </a:r>
            <a:r>
              <a:rPr sz="1600">
                <a:solidFill>
                  <a:srgbClr val="D4D4D4"/>
                </a:solidFill>
                <a:latin typeface="Consolas"/>
              </a:rPr>
              <a:t>=</a:t>
            </a:r>
            <a:r>
              <a:rPr sz="1600">
                <a:solidFill>
                  <a:srgbClr val="B5CEA8"/>
                </a:solidFill>
                <a:latin typeface="Consolas"/>
              </a:rPr>
              <a:t>100.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a:t>
            </a:r>
            <a:r>
              <a:rPr sz="1600">
                <a:solidFill>
                  <a:srgbClr val="D4D4D4"/>
                </a:solidFill>
                <a:latin typeface="Consolas"/>
              </a:rPr>
              <a:t>=</a:t>
            </a:r>
            <a:r>
              <a:rPr sz="1600">
                <a:solidFill>
                  <a:srgbClr val="B5CEA8"/>
                </a:solidFill>
                <a:latin typeface="Consolas"/>
              </a:rPr>
              <a:t>20000.</a:t>
            </a:r>
            <a:r>
              <a:rPr sz="1600">
                <a:solidFill>
                  <a:srgbClr val="D4D4D4"/>
                </a:solidFill>
                <a:latin typeface="Consolas"/>
              </a:rPr>
              <a:t>;</a:t>
            </a:r>
          </a:p>
          <a:p>
            <a:pPr>
              <a:spcAft>
                <a:spcPts val="100"/>
              </a:spcAft>
            </a:pPr>
            <a:r>
              <a:rPr sz="1600">
                <a:solidFill>
                  <a:srgbClr val="D4D4D4"/>
                </a:solidFill>
                <a:latin typeface="Consolas"/>
              </a:rPr>
              <a:t>DELV1</a:t>
            </a:r>
            <a:r>
              <a:rPr sz="1600">
                <a:solidFill>
                  <a:srgbClr val="D4D4D4"/>
                </a:solidFill>
                <a:latin typeface="Consolas"/>
              </a:rPr>
              <a:t>=</a:t>
            </a:r>
            <a:r>
              <a:rPr sz="1600">
                <a:solidFill>
                  <a:srgbClr val="B5CEA8"/>
                </a:solidFill>
                <a:latin typeface="Consolas"/>
              </a:rPr>
              <a:t>.3333</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DELV2</a:t>
            </a:r>
            <a:r>
              <a:rPr sz="1600">
                <a:solidFill>
                  <a:srgbClr val="D4D4D4"/>
                </a:solidFill>
                <a:latin typeface="Consolas"/>
              </a:rPr>
              <a:t>=</a:t>
            </a:r>
            <a:r>
              <a:rPr sz="1600">
                <a:solidFill>
                  <a:srgbClr val="B5CEA8"/>
                </a:solidFill>
                <a:latin typeface="Consolas"/>
              </a:rPr>
              <a:t>.6667</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p>
          <a:p>
            <a:pPr>
              <a:spcAft>
                <a:spcPts val="100"/>
              </a:spcAft>
            </a:pPr>
            <a:r>
              <a:rPr sz="1600">
                <a:solidFill>
                  <a:srgbClr val="D4D4D4"/>
                </a:solidFill>
                <a:latin typeface="Consolas"/>
              </a:rPr>
              <a:t>AMAX1</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AMAX2</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GAMDEG</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TOP2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BOT2</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WP2</a:t>
            </a:r>
            <a:r>
              <a:rPr sz="1600">
                <a:solidFill>
                  <a:srgbClr val="D4D4D4"/>
                </a:solidFill>
                <a:latin typeface="Consolas"/>
              </a:rPr>
              <a:t>=</a:t>
            </a:r>
            <a:r>
              <a:rPr sz="1600">
                <a:solidFill>
                  <a:srgbClr val="D4D4D4"/>
                </a:solidFill>
                <a:latin typeface="Consolas"/>
              </a:rPr>
              <a:t>TOP2</a:t>
            </a:r>
            <a:r>
              <a:rPr sz="1600">
                <a:solidFill>
                  <a:srgbClr val="D4D4D4"/>
                </a:solidFill>
                <a:latin typeface="Consolas"/>
              </a:rPr>
              <a:t>/</a:t>
            </a:r>
            <a:r>
              <a:rPr sz="1600">
                <a:solidFill>
                  <a:srgbClr val="D4D4D4"/>
                </a:solidFill>
                <a:latin typeface="Consolas"/>
              </a:rPr>
              <a:t>BOT2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p>
          <a:p>
            <a:pPr>
              <a:spcAft>
                <a:spcPts val="100"/>
              </a:spcAft>
            </a:pPr>
            <a:r>
              <a:rPr sz="1600">
                <a:solidFill>
                  <a:srgbClr val="D4D4D4"/>
                </a:solidFill>
                <a:latin typeface="Consolas"/>
              </a:rPr>
              <a:t>TRST2</a:t>
            </a:r>
            <a:r>
              <a:rPr sz="1600">
                <a:solidFill>
                  <a:srgbClr val="D4D4D4"/>
                </a:solidFill>
                <a:latin typeface="Consolas"/>
              </a:rPr>
              <a:t>=</a:t>
            </a:r>
            <a:r>
              <a:rPr sz="1600">
                <a:solidFill>
                  <a:srgbClr val="D4D4D4"/>
                </a:solidFill>
                <a:latin typeface="Consolas"/>
              </a:rPr>
              <a:t>AMAX2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6A9955"/>
                </a:solidFill>
                <a:latin typeface="Consolas"/>
              </a:rPr>
              <a:t>% ... then TOP1,BOT1,WP1,WS1,WTOT,TRST1,TB1 -- same again for stage 1</a:t>
            </a:r>
          </a:p>
        </p:txBody>
      </p:sp>
      <p:sp>
        <p:nvSpPr>
          <p:cNvPr id="9" name="TextBox 8"/>
          <p:cNvSpPr txBox="1"/>
          <p:nvPr/>
        </p:nvSpPr>
        <p:spPr>
          <a:xfrm>
            <a:off x="777240" y="4617720"/>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loop, every variable global</a:t>
            </a:r>
          </a:p>
        </p:txBody>
      </p:sp>
      <p:sp>
        <p:nvSpPr>
          <p:cNvPr id="4" name="Rounded Rectangle 3"/>
          <p:cNvSpPr/>
          <p:nvPr/>
        </p:nvSpPr>
        <p:spPr>
          <a:xfrm>
            <a:off x="548640" y="1463040"/>
            <a:ext cx="11338560" cy="3767328"/>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
        <p:nvSpPr>
          <p:cNvPr id="8" name="zarchan loop"/>
          <p:cNvSpPr txBox="1"/>
          <p:nvPr/>
        </p:nvSpPr>
        <p:spPr>
          <a:xfrm>
            <a:off x="777240" y="1600200"/>
            <a:ext cx="10881360" cy="3566160"/>
          </a:xfrm>
          <a:prstGeom prst="rect">
            <a:avLst/>
          </a:prstGeom>
          <a:noFill/>
        </p:spPr>
        <p:txBody>
          <a:bodyPr wrap="none">
            <a:spAutoFit/>
          </a:bodyPr>
          <a:lstStyle/>
          <a:p>
            <a:pPr>
              <a:spcAft>
                <a:spcPts val="100"/>
              </a:spcAft>
            </a:pPr>
            <a:r>
              <a:rPr sz="1600">
                <a:solidFill>
                  <a:srgbClr val="569CD6"/>
                </a:solidFill>
                <a:latin typeface="Consolas"/>
              </a:rPr>
              <a:t>while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TB1</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WP1</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WTOT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B5CEA8"/>
                </a:solidFill>
                <a:latin typeface="Consolas"/>
              </a:rPr>
              <a:t>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D4D4D4"/>
                </a:solidFill>
                <a:latin typeface="Consolas"/>
              </a:rPr>
              <a:t>    </a:t>
            </a:r>
            <a:r>
              <a:rPr sz="1600">
                <a:solidFill>
                  <a:srgbClr val="D4D4D4"/>
                </a:solidFill>
                <a:latin typeface="Consolas"/>
              </a:rPr>
              <a:t>AT</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VEL</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1.5</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X1D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Y1D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a:t>
            </a:r>
            <a:r>
              <a:rPr sz="1600">
                <a:solidFill>
                  <a:srgbClr val="6A9955"/>
                </a:solidFill>
                <a:latin typeface="Consolas"/>
              </a:rPr>
              <a:t>                          % + Euler step, range/altitude bookkeeping</a:t>
            </a:r>
          </a:p>
          <a:p>
            <a:pPr>
              <a:spcAft>
                <a:spcPts val="100"/>
              </a:spcAft>
            </a:pPr>
            <a:r>
              <a:rPr sz="1600">
                <a:solidFill>
                  <a:srgbClr val="569CD6"/>
                </a:solidFill>
                <a:latin typeface="Consolas"/>
              </a:rPr>
              <a:t>end</a:t>
            </a:r>
          </a:p>
        </p:txBody>
      </p:sp>
      <p:sp>
        <p:nvSpPr>
          <p:cNvPr id="9" name="TextBox 8"/>
          <p:cNvSpPr txBox="1"/>
          <p:nvPr/>
        </p:nvSpPr>
        <p:spPr>
          <a:xfrm>
            <a:off x="777240" y="5340096"/>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669280"/>
            <a:ext cx="10972800" cy="457200"/>
          </a:xfrm>
          <a:prstGeom prst="rect">
            <a:avLst/>
          </a:prstGeom>
          <a:noFill/>
        </p:spPr>
        <p:txBody>
          <a:bodyPr wrap="none">
            <a:spAutoFit/>
          </a:bodyPr>
          <a:lstStyle/>
          <a:p>
            <a:r>
              <a:rPr sz="1900" i="1">
                <a:solidFill>
                  <a:srgbClr val="7EE08A"/>
                </a:solidFill>
                <a:latin typeface="Segoe UI"/>
              </a:rPr>
              <a:t>One scope. Every name global. Physics, staging, and the integrator all tangled together.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script — even the plotting and file I/O</a:t>
            </a:r>
          </a:p>
        </p:txBody>
      </p:sp>
      <p:sp>
        <p:nvSpPr>
          <p:cNvPr id="4" name="Rounded Rectangle 3"/>
          <p:cNvSpPr/>
          <p:nvPr/>
        </p:nvSpPr>
        <p:spPr>
          <a:xfrm>
            <a:off x="548640" y="1463040"/>
            <a:ext cx="11338560" cy="352044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
        <p:nvSpPr>
          <p:cNvPr id="8" name="zarchan tail"/>
          <p:cNvSpPr txBox="1"/>
          <p:nvPr/>
        </p:nvSpPr>
        <p:spPr>
          <a:xfrm>
            <a:off x="777240" y="1600200"/>
            <a:ext cx="10881360" cy="3319272"/>
          </a:xfrm>
          <a:prstGeom prst="rect">
            <a:avLst/>
          </a:prstGeom>
          <a:noFill/>
        </p:spPr>
        <p:txBody>
          <a:bodyPr wrap="none">
            <a:spAutoFit/>
          </a:bodyPr>
          <a:lstStyle/>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&gt;=</a:t>
            </a:r>
            <a:r>
              <a:rPr sz="1600">
                <a:solidFill>
                  <a:srgbClr val="B5CEA8"/>
                </a:solidFill>
                <a:latin typeface="Consolas"/>
              </a:rPr>
              <a:t>9.99999</a:t>
            </a:r>
          </a:p>
          <a:p>
            <a:pPr>
              <a:spcAft>
                <a:spcPts val="100"/>
              </a:spcAft>
            </a:pPr>
            <a:r>
              <a:rPr sz="1600">
                <a:solidFill>
                  <a:srgbClr val="D4D4D4"/>
                </a:solidFill>
                <a:latin typeface="Consolas"/>
              </a:rPr>
              <a:t>        </a:t>
            </a:r>
            <a:r>
              <a:rPr sz="1600">
                <a:solidFill>
                  <a:srgbClr val="D4D4D4"/>
                </a:solidFill>
                <a:latin typeface="Consolas"/>
              </a:rPr>
              <a:t>R</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RF</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XFIRST</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YFIRST</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BETA</a:t>
            </a:r>
            <a:r>
              <a:rPr sz="1600">
                <a:solidFill>
                  <a:srgbClr val="D4D4D4"/>
                </a:solidFill>
                <a:latin typeface="Consolas"/>
              </a:rPr>
              <a:t>=</a:t>
            </a:r>
            <a:r>
              <a:rPr sz="1600">
                <a:solidFill>
                  <a:srgbClr val="4EC9B0"/>
                </a:solidFill>
                <a:latin typeface="Consolas"/>
              </a:rPr>
              <a:t>acos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XFIRST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YFIRST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R</a:t>
            </a:r>
            <a:r>
              <a:rPr sz="1600">
                <a:solidFill>
                  <a:srgbClr val="D4D4D4"/>
                </a:solidFill>
                <a:latin typeface="Consolas"/>
              </a:rPr>
              <a:t>*</a:t>
            </a:r>
            <a:r>
              <a:rPr sz="1600">
                <a:solidFill>
                  <a:srgbClr val="D4D4D4"/>
                </a:solidFill>
                <a:latin typeface="Consolas"/>
              </a:rPr>
              <a:t>RF</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DISTNM</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BETA</a:t>
            </a:r>
            <a:r>
              <a:rPr sz="1600">
                <a:solidFill>
                  <a:srgbClr val="D4D4D4"/>
                </a:solidFill>
                <a:latin typeface="Consolas"/>
              </a:rPr>
              <a:t>/</a:t>
            </a:r>
            <a:r>
              <a:rPr sz="1600">
                <a:solidFill>
                  <a:srgbClr val="B5CEA8"/>
                </a:solidFill>
                <a:latin typeface="Consolas"/>
              </a:rPr>
              <a:t>6076.</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ALTNM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a:t>
            </a:r>
            <a:r>
              <a:rPr sz="1600">
                <a:solidFill>
                  <a:srgbClr val="B5CEA8"/>
                </a:solidFill>
                <a:latin typeface="Consolas"/>
              </a:rPr>
              <a:t>6076.</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count</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ArrayT</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ArrayDISTNM</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DISTNM</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ArrayALTNM</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ALTNM</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569CD6"/>
                </a:solidFill>
                <a:latin typeface="Consolas"/>
              </a:rPr>
              <a:t>end</a:t>
            </a:r>
          </a:p>
          <a:p>
            <a:pPr>
              <a:spcAft>
                <a:spcPts val="100"/>
              </a:spcAft>
            </a:pPr>
            <a:r>
              <a:rPr sz="1600">
                <a:solidFill>
                  <a:srgbClr val="4EC9B0"/>
                </a:solidFill>
                <a:latin typeface="Consolas"/>
              </a:rPr>
              <a:t>figure</a:t>
            </a:r>
          </a:p>
          <a:p>
            <a:pPr>
              <a:spcAft>
                <a:spcPts val="100"/>
              </a:spcAft>
            </a:pPr>
            <a:r>
              <a:rPr sz="1600">
                <a:solidFill>
                  <a:srgbClr val="4EC9B0"/>
                </a:solidFill>
                <a:latin typeface="Consolas"/>
              </a:rPr>
              <a:t>plot</a:t>
            </a:r>
            <a:r>
              <a:rPr sz="1600">
                <a:solidFill>
                  <a:srgbClr val="D4D4D4"/>
                </a:solidFill>
                <a:latin typeface="Consolas"/>
              </a:rPr>
              <a:t>(</a:t>
            </a:r>
            <a:r>
              <a:rPr sz="1600">
                <a:solidFill>
                  <a:srgbClr val="D4D4D4"/>
                </a:solidFill>
                <a:latin typeface="Consolas"/>
              </a:rPr>
              <a:t>ArrayDISTNM</a:t>
            </a:r>
            <a:r>
              <a:rPr sz="1600">
                <a:solidFill>
                  <a:srgbClr val="D4D4D4"/>
                </a:solidFill>
                <a:latin typeface="Consolas"/>
              </a:rPr>
              <a:t>,</a:t>
            </a:r>
            <a:r>
              <a:rPr sz="1600">
                <a:solidFill>
                  <a:srgbClr val="D4D4D4"/>
                </a:solidFill>
                <a:latin typeface="Consolas"/>
              </a:rPr>
              <a:t>ArrayALTNM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grid</a:t>
            </a:r>
          </a:p>
          <a:p>
            <a:pPr>
              <a:spcAft>
                <a:spcPts val="100"/>
              </a:spcAft>
            </a:pPr>
            <a:r>
              <a:rPr sz="1600">
                <a:solidFill>
                  <a:srgbClr val="4EC9B0"/>
                </a:solidFill>
                <a:latin typeface="Consolas"/>
              </a:rPr>
              <a:t>xlabel</a:t>
            </a:r>
            <a:r>
              <a:rPr sz="1600">
                <a:solidFill>
                  <a:srgbClr val="D4D4D4"/>
                </a:solidFill>
                <a:latin typeface="Consolas"/>
              </a:rPr>
              <a:t>(</a:t>
            </a:r>
            <a:r>
              <a:rPr sz="1600">
                <a:solidFill>
                  <a:srgbClr val="CE9178"/>
                </a:solidFill>
                <a:latin typeface="Consolas"/>
              </a:rPr>
              <a:t>'</a:t>
            </a:r>
            <a:r>
              <a:rPr sz="1600">
                <a:solidFill>
                  <a:srgbClr val="CE9178"/>
                </a:solidFill>
                <a:latin typeface="Consolas"/>
              </a:rPr>
              <a:t>Downrange (Nmi)'</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ylabel</a:t>
            </a:r>
            <a:r>
              <a:rPr sz="1600">
                <a:solidFill>
                  <a:srgbClr val="D4D4D4"/>
                </a:solidFill>
                <a:latin typeface="Consolas"/>
              </a:rPr>
              <a:t>(</a:t>
            </a:r>
            <a:r>
              <a:rPr sz="1600">
                <a:solidFill>
                  <a:srgbClr val="CE9178"/>
                </a:solidFill>
                <a:latin typeface="Consolas"/>
              </a:rPr>
              <a:t>'</a:t>
            </a:r>
            <a:r>
              <a:rPr sz="1600">
                <a:solidFill>
                  <a:srgbClr val="CE9178"/>
                </a:solidFill>
                <a:latin typeface="Consolas"/>
              </a:rPr>
              <a:t>Altitude (Nmi)'</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save</a:t>
            </a:r>
            <a:r>
              <a:rPr sz="1600">
                <a:solidFill>
                  <a:srgbClr val="D4D4D4"/>
                </a:solidFill>
                <a:latin typeface="Consolas"/>
              </a:rPr>
              <a:t> </a:t>
            </a:r>
            <a:r>
              <a:rPr sz="1600">
                <a:solidFill>
                  <a:srgbClr val="CE9178"/>
                </a:solidFill>
                <a:latin typeface="Consolas"/>
              </a:rPr>
              <a:t>datfil</a:t>
            </a:r>
            <a:r>
              <a:rPr sz="1600">
                <a:solidFill>
                  <a:srgbClr val="D4D4D4"/>
                </a:solidFill>
                <a:latin typeface="Consolas"/>
              </a:rPr>
              <a:t> </a:t>
            </a:r>
            <a:r>
              <a:rPr sz="1600">
                <a:solidFill>
                  <a:srgbClr val="CE9178"/>
                </a:solidFill>
                <a:latin typeface="Consolas"/>
              </a:rPr>
              <a:t>output</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ascii</a:t>
            </a:r>
          </a:p>
          <a:p>
            <a:pPr>
              <a:spcAft>
                <a:spcPts val="100"/>
              </a:spcAft>
            </a:pPr>
            <a:r>
              <a:rPr sz="1600">
                <a:solidFill>
                  <a:srgbClr val="4EC9B0"/>
                </a:solidFill>
                <a:latin typeface="Consolas"/>
              </a:rPr>
              <a:t>disp</a:t>
            </a:r>
            <a:r>
              <a:rPr sz="1600">
                <a:solidFill>
                  <a:srgbClr val="D4D4D4"/>
                </a:solidFill>
                <a:latin typeface="Consolas"/>
              </a:rPr>
              <a:t> </a:t>
            </a:r>
            <a:r>
              <a:rPr sz="1600">
                <a:solidFill>
                  <a:srgbClr val="CE9178"/>
                </a:solidFill>
                <a:latin typeface="Consolas"/>
              </a:rPr>
              <a:t>'</a:t>
            </a:r>
            <a:r>
              <a:rPr sz="1600">
                <a:solidFill>
                  <a:srgbClr val="CE9178"/>
                </a:solidFill>
                <a:latin typeface="Consolas"/>
              </a:rPr>
              <a:t>simulation finished'</a:t>
            </a:r>
          </a:p>
        </p:txBody>
      </p:sp>
      <p:sp>
        <p:nvSpPr>
          <p:cNvPr id="9" name="TextBox 8"/>
          <p:cNvSpPr txBox="1"/>
          <p:nvPr/>
        </p:nvSpPr>
        <p:spPr>
          <a:xfrm>
            <a:off x="777240" y="5093208"/>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422392"/>
            <a:ext cx="10972800" cy="457200"/>
          </a:xfrm>
          <a:prstGeom prst="rect">
            <a:avLst/>
          </a:prstGeom>
          <a:noFill/>
        </p:spPr>
        <p:txBody>
          <a:bodyPr wrap="none">
            <a:spAutoFit/>
          </a:bodyPr>
          <a:lstStyle/>
          <a:p>
            <a:r>
              <a:rPr sz="1900" i="1">
                <a:solidFill>
                  <a:srgbClr val="7EE08A"/>
                </a:solidFill>
                <a:latin typeface="Segoe UI"/>
              </a:rPr>
              <a:t>No boundary between simulation, analysis, and I/O — every concern in one scope.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sleepy" descr="sleepy.jpg"/>
          <p:cNvPicPr>
            <a:picLocks noChangeAspect="1"/>
          </p:cNvPicPr>
          <p:nvPr/>
        </p:nvPicPr>
        <p:blipFill>
          <a:blip r:embed="rId3"/>
          <a:stretch>
            <a:fillRect/>
          </a:stretch>
        </p:blipFill>
        <p:spPr>
          <a:xfrm>
            <a:off x="3524097" y="0"/>
            <a:ext cx="51435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accu-on-sea-2026-modular-physics</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accu-on-sea-2026-modular-physics</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