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9" d="100"/>
          <a:sy n="99" d="100"/>
        </p:scale>
        <p:origin x="108" y="6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400" b="0" noProof="0" dirty="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548640" y="5394960"/>
            <a:ext cx="10809562" cy="461665"/>
          </a:xfrm>
          <a:prstGeom prst="rect">
            <a:avLst/>
          </a:prstGeom>
          <a:noFill/>
        </p:spPr>
        <p:txBody>
          <a:bodyPr wrap="none">
            <a:spAutoFit/>
          </a:bodyPr>
          <a:lstStyle/>
          <a:p>
            <a:r>
              <a:rPr lang="en-US" sz="2400" b="1" i="1" dirty="0">
                <a:solidFill>
                  <a:srgbClr val="F2C744"/>
                </a:solidFill>
                <a:latin typeface="Segoe UI"/>
              </a:rPr>
              <a:t>One model expressed in math — carried all the way down to embedded C.</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square">
            <a:spAutoFit/>
          </a:bodyPr>
          <a:lstStyle/>
          <a:p>
            <a:pPr>
              <a:spcAft>
                <a:spcPts val="100"/>
              </a:spcAft>
            </a:pPr>
            <a:r>
              <a:rPr dirty="0">
                <a:solidFill>
                  <a:srgbClr val="6A9955"/>
                </a:solidFill>
                <a:latin typeface="Consolas"/>
              </a:rPr>
              <a:t>// derivs.cpp — all of physics in one function</a:t>
            </a:r>
          </a:p>
          <a:p>
            <a:pPr>
              <a:spcAft>
                <a:spcPts val="100"/>
              </a:spcAft>
            </a:pPr>
            <a:r>
              <a:rPr dirty="0">
                <a:solidFill>
                  <a:srgbClr val="4EC9B0"/>
                </a:solidFill>
                <a:latin typeface="Consolas"/>
              </a:rPr>
              <a:t>void</a:t>
            </a:r>
            <a:r>
              <a:rPr dirty="0">
                <a:solidFill>
                  <a:srgbClr val="D4D4D4"/>
                </a:solidFill>
                <a:latin typeface="Consolas"/>
              </a:rPr>
              <a:t> </a:t>
            </a:r>
            <a:r>
              <a:rPr dirty="0" err="1">
                <a:solidFill>
                  <a:srgbClr val="DCDCAA"/>
                </a:solidFill>
                <a:latin typeface="Consolas"/>
              </a:rPr>
              <a:t>derivs</a:t>
            </a:r>
            <a:r>
              <a:rPr dirty="0">
                <a:solidFill>
                  <a:srgbClr val="D4D4D4"/>
                </a:solidFill>
                <a:latin typeface="Consolas"/>
              </a:rPr>
              <a:t>(</a:t>
            </a:r>
            <a:r>
              <a:rPr dirty="0">
                <a:solidFill>
                  <a:srgbClr val="4EC9B0"/>
                </a:solidFill>
                <a:latin typeface="Consolas"/>
              </a:rPr>
              <a:t>double</a:t>
            </a:r>
            <a:r>
              <a:rPr dirty="0">
                <a:solidFill>
                  <a:srgbClr val="D4D4D4"/>
                </a:solidFill>
                <a:latin typeface="Consolas"/>
              </a:rPr>
              <a:t> t, </a:t>
            </a:r>
            <a:r>
              <a:rPr dirty="0">
                <a:solidFill>
                  <a:srgbClr val="569CD6"/>
                </a:solidFill>
                <a:latin typeface="Consolas"/>
              </a:rPr>
              <a:t>const</a:t>
            </a: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y,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 {</a:t>
            </a:r>
          </a:p>
          <a:p>
            <a:pPr>
              <a:spcAft>
                <a:spcPts val="100"/>
              </a:spcAft>
            </a:pPr>
            <a:r>
              <a:rPr dirty="0">
                <a:solidFill>
                  <a:srgbClr val="D4D4D4"/>
                </a:solidFill>
                <a:latin typeface="Consolas"/>
              </a:rPr>
              <a:t>    </a:t>
            </a:r>
            <a:r>
              <a:rPr dirty="0">
                <a:solidFill>
                  <a:srgbClr val="6A9955"/>
                </a:solidFill>
                <a:latin typeface="Consolas"/>
              </a:rPr>
              <a:t>// y[0..2] pos, y[3..5] vel, y[6..9] quat, y[10..12] omega, y[13] mass</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rho = </a:t>
            </a:r>
            <a:r>
              <a:rPr dirty="0">
                <a:solidFill>
                  <a:srgbClr val="B5CEA8"/>
                </a:solidFill>
                <a:latin typeface="Consolas"/>
              </a:rPr>
              <a:t>1.225</a:t>
            </a:r>
            <a:r>
              <a:rPr dirty="0">
                <a:solidFill>
                  <a:srgbClr val="D4D4D4"/>
                </a:solidFill>
                <a:latin typeface="Consolas"/>
              </a:rPr>
              <a:t> * exp(-y[</a:t>
            </a:r>
            <a:r>
              <a:rPr dirty="0">
                <a:solidFill>
                  <a:srgbClr val="B5CEA8"/>
                </a:solidFill>
                <a:latin typeface="Consolas"/>
              </a:rPr>
              <a:t>2</a:t>
            </a:r>
            <a:r>
              <a:rPr dirty="0">
                <a:solidFill>
                  <a:srgbClr val="D4D4D4"/>
                </a:solidFill>
                <a:latin typeface="Consolas"/>
              </a:rPr>
              <a:t>] / </a:t>
            </a:r>
            <a:r>
              <a:rPr dirty="0">
                <a:solidFill>
                  <a:srgbClr val="B5CEA8"/>
                </a:solidFill>
                <a:latin typeface="Consolas"/>
              </a:rPr>
              <a:t>8500.0</a:t>
            </a:r>
            <a:r>
              <a:rPr dirty="0">
                <a:solidFill>
                  <a:srgbClr val="D4D4D4"/>
                </a:solidFill>
                <a:latin typeface="Consolas"/>
              </a:rPr>
              <a:t>);            </a:t>
            </a:r>
            <a:r>
              <a:rPr dirty="0">
                <a:solidFill>
                  <a:srgbClr val="6A9955"/>
                </a:solidFill>
                <a:latin typeface="Consolas"/>
              </a:rPr>
              <a:t>// atmosphere</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v2  = y[</a:t>
            </a:r>
            <a:r>
              <a:rPr dirty="0">
                <a:solidFill>
                  <a:srgbClr val="B5CEA8"/>
                </a:solidFill>
                <a:latin typeface="Consolas"/>
              </a:rPr>
              <a:t>3</a:t>
            </a:r>
            <a:r>
              <a:rPr dirty="0">
                <a:solidFill>
                  <a:srgbClr val="D4D4D4"/>
                </a:solidFill>
                <a:latin typeface="Consolas"/>
              </a:rPr>
              <a:t>]*y[</a:t>
            </a:r>
            <a:r>
              <a:rPr dirty="0">
                <a:solidFill>
                  <a:srgbClr val="B5CEA8"/>
                </a:solidFill>
                <a:latin typeface="Consolas"/>
              </a:rPr>
              <a:t>3</a:t>
            </a:r>
            <a:r>
              <a:rPr dirty="0">
                <a:solidFill>
                  <a:srgbClr val="D4D4D4"/>
                </a:solidFill>
                <a:latin typeface="Consolas"/>
              </a:rPr>
              <a:t>] + y[</a:t>
            </a:r>
            <a:r>
              <a:rPr dirty="0">
                <a:solidFill>
                  <a:srgbClr val="B5CEA8"/>
                </a:solidFill>
                <a:latin typeface="Consolas"/>
              </a:rPr>
              <a:t>4</a:t>
            </a:r>
            <a:r>
              <a:rPr dirty="0">
                <a:solidFill>
                  <a:srgbClr val="D4D4D4"/>
                </a:solidFill>
                <a:latin typeface="Consolas"/>
              </a:rPr>
              <a:t>]*y[</a:t>
            </a:r>
            <a:r>
              <a:rPr dirty="0">
                <a:solidFill>
                  <a:srgbClr val="B5CEA8"/>
                </a:solidFill>
                <a:latin typeface="Consolas"/>
              </a:rPr>
              <a:t>4</a:t>
            </a:r>
            <a:r>
              <a:rPr dirty="0">
                <a:solidFill>
                  <a:srgbClr val="D4D4D4"/>
                </a:solidFill>
                <a:latin typeface="Consolas"/>
              </a:rPr>
              <a:t>] + y[</a:t>
            </a:r>
            <a:r>
              <a:rPr dirty="0">
                <a:solidFill>
                  <a:srgbClr val="B5CEA8"/>
                </a:solidFill>
                <a:latin typeface="Consolas"/>
              </a:rPr>
              <a:t>5</a:t>
            </a:r>
            <a:r>
              <a:rPr dirty="0">
                <a:solidFill>
                  <a:srgbClr val="D4D4D4"/>
                </a:solidFill>
                <a:latin typeface="Consolas"/>
              </a:rPr>
              <a:t>]*y[</a:t>
            </a:r>
            <a:r>
              <a:rPr dirty="0">
                <a:solidFill>
                  <a:srgbClr val="B5CEA8"/>
                </a:solidFill>
                <a:latin typeface="Consolas"/>
              </a:rPr>
              <a:t>5</a:t>
            </a:r>
            <a:r>
              <a:rPr dirty="0">
                <a:solidFill>
                  <a:srgbClr val="D4D4D4"/>
                </a:solidFill>
                <a:latin typeface="Consolas"/>
              </a:rPr>
              <a:t>];</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Fd</a:t>
            </a:r>
            <a:r>
              <a:rPr dirty="0">
                <a:solidFill>
                  <a:srgbClr val="D4D4D4"/>
                </a:solidFill>
                <a:latin typeface="Consolas"/>
              </a:rPr>
              <a:t>  = </a:t>
            </a:r>
            <a:r>
              <a:rPr dirty="0">
                <a:solidFill>
                  <a:srgbClr val="B5CEA8"/>
                </a:solidFill>
                <a:latin typeface="Consolas"/>
              </a:rPr>
              <a:t>0.5</a:t>
            </a:r>
            <a:r>
              <a:rPr dirty="0">
                <a:solidFill>
                  <a:srgbClr val="D4D4D4"/>
                </a:solidFill>
                <a:latin typeface="Consolas"/>
              </a:rPr>
              <a:t> * rho * v2 * CD * AREA;             </a:t>
            </a:r>
            <a:r>
              <a:rPr dirty="0">
                <a:solidFill>
                  <a:srgbClr val="6A9955"/>
                </a:solidFill>
                <a:latin typeface="Consolas"/>
              </a:rPr>
              <a:t>// aero drag</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Ft  = </a:t>
            </a:r>
            <a:r>
              <a:rPr dirty="0" err="1">
                <a:solidFill>
                  <a:srgbClr val="D4D4D4"/>
                </a:solidFill>
                <a:latin typeface="Consolas"/>
              </a:rPr>
              <a:t>thrust_table_lookup</a:t>
            </a:r>
            <a:r>
              <a:rPr dirty="0">
                <a:solidFill>
                  <a:srgbClr val="D4D4D4"/>
                </a:solidFill>
                <a:latin typeface="Consolas"/>
              </a:rPr>
              <a:t>(t);                 </a:t>
            </a:r>
            <a:r>
              <a:rPr dirty="0">
                <a:solidFill>
                  <a:srgbClr val="6A9955"/>
                </a:solidFill>
                <a:latin typeface="Consolas"/>
              </a:rPr>
              <a:t>// propulsion</a:t>
            </a:r>
          </a:p>
          <a:p>
            <a:pPr>
              <a:spcAft>
                <a:spcPts val="100"/>
              </a:spcAft>
            </a:pP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a:t>
            </a:r>
            <a:r>
              <a:rPr dirty="0">
                <a:solidFill>
                  <a:srgbClr val="B5CEA8"/>
                </a:solidFill>
                <a:latin typeface="Consolas"/>
              </a:rPr>
              <a:t>3</a:t>
            </a:r>
            <a:r>
              <a:rPr dirty="0">
                <a:solidFill>
                  <a:srgbClr val="D4D4D4"/>
                </a:solidFill>
                <a:latin typeface="Consolas"/>
              </a:rPr>
              <a:t>] = (Ft*ax(y) - </a:t>
            </a:r>
            <a:r>
              <a:rPr dirty="0" err="1">
                <a:solidFill>
                  <a:srgbClr val="D4D4D4"/>
                </a:solidFill>
                <a:latin typeface="Consolas"/>
              </a:rPr>
              <a:t>Fd</a:t>
            </a:r>
            <a:r>
              <a:rPr dirty="0">
                <a:solidFill>
                  <a:srgbClr val="D4D4D4"/>
                </a:solidFill>
                <a:latin typeface="Consolas"/>
              </a:rPr>
              <a:t>*</a:t>
            </a:r>
            <a:r>
              <a:rPr dirty="0" err="1">
                <a:solidFill>
                  <a:srgbClr val="D4D4D4"/>
                </a:solidFill>
                <a:latin typeface="Consolas"/>
              </a:rPr>
              <a:t>vx_hat</a:t>
            </a:r>
            <a:r>
              <a:rPr dirty="0">
                <a:solidFill>
                  <a:srgbClr val="D4D4D4"/>
                </a:solidFill>
                <a:latin typeface="Consolas"/>
              </a:rPr>
              <a:t>(y)) / y[</a:t>
            </a:r>
            <a:r>
              <a:rPr dirty="0">
                <a:solidFill>
                  <a:srgbClr val="B5CEA8"/>
                </a:solidFill>
                <a:latin typeface="Consolas"/>
              </a:rPr>
              <a:t>13</a:t>
            </a:r>
            <a:r>
              <a:rPr dirty="0">
                <a:solidFill>
                  <a:srgbClr val="D4D4D4"/>
                </a:solidFill>
                <a:latin typeface="Consolas"/>
              </a:rPr>
              <a:t>];         </a:t>
            </a:r>
            <a:r>
              <a:rPr dirty="0">
                <a:solidFill>
                  <a:srgbClr val="6A9955"/>
                </a:solidFill>
                <a:latin typeface="Consolas"/>
              </a:rPr>
              <a:t>// dynamics</a:t>
            </a:r>
          </a:p>
          <a:p>
            <a:pPr>
              <a:spcAft>
                <a:spcPts val="100"/>
              </a:spcAft>
            </a:pPr>
            <a:r>
              <a:rPr dirty="0">
                <a:solidFill>
                  <a:srgbClr val="D4D4D4"/>
                </a:solidFill>
                <a:latin typeface="Consolas"/>
              </a:rPr>
              <a:t>    </a:t>
            </a:r>
            <a:r>
              <a:rPr dirty="0">
                <a:solidFill>
                  <a:srgbClr val="6A9955"/>
                </a:solidFill>
                <a:latin typeface="Consolas"/>
              </a:rPr>
              <a:t>/* ... 400 more lines, every subsystem interleaved ... */</a:t>
            </a:r>
          </a:p>
          <a:p>
            <a:pPr>
              <a:spcAft>
                <a:spcPts val="100"/>
              </a:spcAft>
            </a:pPr>
            <a:r>
              <a:rPr sz="130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square">
            <a:spAutoFit/>
          </a:bodyPr>
          <a:lstStyle/>
          <a:p>
            <a:pPr>
              <a:spcAft>
                <a:spcPts val="100"/>
              </a:spcAft>
            </a:pPr>
            <a:r>
              <a:rPr sz="2000" dirty="0">
                <a:solidFill>
                  <a:srgbClr val="569CD6"/>
                </a:solidFill>
                <a:latin typeface="Consolas"/>
              </a:rPr>
              <a:t>struct</a:t>
            </a:r>
            <a:r>
              <a:rPr sz="2000" dirty="0">
                <a:solidFill>
                  <a:srgbClr val="D4D4D4"/>
                </a:solidFill>
                <a:latin typeface="Consolas"/>
              </a:rPr>
              <a:t> </a:t>
            </a:r>
            <a:r>
              <a:rPr sz="2000" dirty="0">
                <a:solidFill>
                  <a:srgbClr val="4EC9B0"/>
                </a:solidFill>
                <a:latin typeface="Consolas"/>
              </a:rPr>
              <a:t>Component</a:t>
            </a:r>
            <a:r>
              <a:rPr sz="2000" dirty="0">
                <a:solidFill>
                  <a:srgbClr val="D4D4D4"/>
                </a:solidFill>
                <a:latin typeface="Consolas"/>
              </a:rPr>
              <a:t>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a:t>
            </a:r>
            <a:r>
              <a:rPr sz="2000" dirty="0">
                <a:solidFill>
                  <a:srgbClr val="4EC9B0"/>
                </a:solidFill>
                <a:latin typeface="Consolas"/>
              </a:rPr>
              <a:t>void</a:t>
            </a:r>
            <a:r>
              <a:rPr sz="2000" dirty="0">
                <a:solidFill>
                  <a:srgbClr val="D4D4D4"/>
                </a:solidFill>
                <a:latin typeface="Consolas"/>
              </a:rPr>
              <a:t> </a:t>
            </a:r>
            <a:r>
              <a:rPr sz="2000" dirty="0" err="1">
                <a:solidFill>
                  <a:srgbClr val="DCDCAA"/>
                </a:solidFill>
                <a:latin typeface="Consolas"/>
              </a:rPr>
              <a:t>computeDerivatives</a:t>
            </a:r>
            <a:r>
              <a:rPr sz="2000" dirty="0">
                <a:solidFill>
                  <a:srgbClr val="D4D4D4"/>
                </a:solidFill>
                <a:latin typeface="Consolas"/>
              </a:rPr>
              <a:t>(</a:t>
            </a:r>
            <a:r>
              <a:rPr sz="2000" dirty="0">
                <a:solidFill>
                  <a:srgbClr val="4EC9B0"/>
                </a:solidFill>
                <a:latin typeface="Consolas"/>
              </a:rPr>
              <a:t>double</a:t>
            </a:r>
            <a:r>
              <a:rPr sz="2000" dirty="0">
                <a:solidFill>
                  <a:srgbClr val="D4D4D4"/>
                </a:solidFill>
                <a:latin typeface="Consolas"/>
              </a:rPr>
              <a:t> t,</a:t>
            </a:r>
          </a:p>
          <a:p>
            <a:pPr>
              <a:spcAft>
                <a:spcPts val="100"/>
              </a:spcAft>
            </a:pPr>
            <a:r>
              <a:rPr sz="2000" dirty="0">
                <a:solidFill>
                  <a:srgbClr val="D4D4D4"/>
                </a:solidFill>
                <a:latin typeface="Consolas"/>
              </a:rPr>
              <a:t>                                    </a:t>
            </a:r>
            <a:r>
              <a:rPr sz="2000" dirty="0">
                <a:solidFill>
                  <a:srgbClr val="569CD6"/>
                </a:solidFill>
                <a:latin typeface="Consolas"/>
              </a:rPr>
              <a:t>const</a:t>
            </a: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state,</a:t>
            </a:r>
          </a:p>
          <a:p>
            <a:pPr>
              <a:spcAft>
                <a:spcPts val="100"/>
              </a:spcAft>
            </a:pP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a:t>
            </a:r>
            <a:r>
              <a:rPr sz="2000" dirty="0" err="1">
                <a:solidFill>
                  <a:srgbClr val="D4D4D4"/>
                </a:solidFill>
                <a:latin typeface="Consolas"/>
              </a:rPr>
              <a:t>dydt</a:t>
            </a:r>
            <a:r>
              <a:rPr sz="2000" dirty="0">
                <a:solidFill>
                  <a:srgbClr val="D4D4D4"/>
                </a:solidFill>
                <a:latin typeface="Consolas"/>
              </a:rPr>
              <a:t>) = </a:t>
            </a:r>
            <a:r>
              <a:rPr sz="2000" dirty="0">
                <a:solidFill>
                  <a:srgbClr val="B5CEA8"/>
                </a:solidFill>
                <a:latin typeface="Consolas"/>
              </a:rPr>
              <a:t>0</a:t>
            </a:r>
            <a:r>
              <a:rPr sz="2000" dirty="0">
                <a:solidFill>
                  <a:srgbClr val="D4D4D4"/>
                </a:solidFill>
                <a:latin typeface="Consolas"/>
              </a:rPr>
              <a:t>;</a:t>
            </a:r>
          </a:p>
          <a:p>
            <a:pPr>
              <a:spcAft>
                <a:spcPts val="100"/>
              </a:spcAft>
            </a:pPr>
            <a:r>
              <a:rPr sz="2000" b="1" dirty="0">
                <a:solidFill>
                  <a:srgbClr val="F2C744"/>
                </a:solidFill>
                <a:latin typeface="Consolas"/>
              </a:rPr>
              <a:t>    virtual double </a:t>
            </a:r>
            <a:r>
              <a:rPr sz="2000" b="1" dirty="0" err="1">
                <a:solidFill>
                  <a:srgbClr val="F2C744"/>
                </a:solidFill>
                <a:latin typeface="Consolas"/>
              </a:rPr>
              <a:t>getOutput</a:t>
            </a:r>
            <a:r>
              <a:rPr sz="2000" b="1" dirty="0">
                <a:solidFill>
                  <a:srgbClr val="F2C744"/>
                </a:solidFill>
                <a:latin typeface="Consolas"/>
              </a:rPr>
              <a:t>(const std::string&amp; name) = 0;  //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~Component() = </a:t>
            </a:r>
            <a:r>
              <a:rPr sz="2000" dirty="0">
                <a:solidFill>
                  <a:srgbClr val="569CD6"/>
                </a:solidFill>
                <a:latin typeface="Consolas"/>
              </a:rPr>
              <a:t>default</a:t>
            </a:r>
            <a:r>
              <a:rPr sz="2000" dirty="0">
                <a:solidFill>
                  <a:srgbClr val="D4D4D4"/>
                </a:solidFill>
                <a:latin typeface="Consolas"/>
              </a:rPr>
              <a:t>;</a:t>
            </a:r>
          </a:p>
          <a:p>
            <a:pPr>
              <a:spcAft>
                <a:spcPts val="100"/>
              </a:spcAft>
            </a:pPr>
            <a:r>
              <a:rPr sz="2000" dirty="0">
                <a:solidFill>
                  <a:srgbClr val="D4D4D4"/>
                </a:solidFill>
                <a:latin typeface="Consolas"/>
              </a:rPr>
              <a:t>};</a:t>
            </a:r>
          </a:p>
          <a:p>
            <a:pPr>
              <a:spcAft>
                <a:spcPts val="100"/>
              </a:spcAft>
            </a:pPr>
            <a:r>
              <a:rPr sz="2000" dirty="0">
                <a:latin typeface="Consolas"/>
              </a:rPr>
              <a:t> </a:t>
            </a:r>
          </a:p>
          <a:p>
            <a:pPr>
              <a:spcAft>
                <a:spcPts val="100"/>
              </a:spcAft>
            </a:pPr>
            <a:r>
              <a:rPr sz="2000" dirty="0">
                <a:solidFill>
                  <a:srgbClr val="D4D4D4"/>
                </a:solidFill>
                <a:latin typeface="Consolas"/>
              </a:rPr>
              <a:t>std::vector&lt;std::</a:t>
            </a:r>
            <a:r>
              <a:rPr sz="2000" dirty="0" err="1">
                <a:solidFill>
                  <a:srgbClr val="D4D4D4"/>
                </a:solidFill>
                <a:latin typeface="Consolas"/>
              </a:rPr>
              <a:t>unique_ptr</a:t>
            </a:r>
            <a:r>
              <a:rPr sz="2000" dirty="0">
                <a:solidFill>
                  <a:srgbClr val="D4D4D4"/>
                </a:solidFill>
                <a:latin typeface="Consolas"/>
              </a:rPr>
              <a:t>&lt;Component&gt;&gt; components;</a:t>
            </a:r>
          </a:p>
          <a:p>
            <a:pPr>
              <a:spcAft>
                <a:spcPts val="100"/>
              </a:spcAft>
            </a:pPr>
            <a:r>
              <a:rPr sz="2000" b="1" dirty="0">
                <a:solidFill>
                  <a:srgbClr val="F2C744"/>
                </a:solidFill>
                <a:latin typeface="Consolas"/>
              </a:rPr>
              <a:t>for (auto&amp; c : components)              // innermost loop of RK4,</a:t>
            </a:r>
          </a:p>
          <a:p>
            <a:pPr>
              <a:spcAft>
                <a:spcPts val="100"/>
              </a:spcAft>
            </a:pPr>
            <a:r>
              <a:rPr sz="2000" b="1" dirty="0">
                <a:solidFill>
                  <a:srgbClr val="F2C744"/>
                </a:solidFill>
                <a:latin typeface="Consolas"/>
              </a:rPr>
              <a:t>    c-&gt;</a:t>
            </a:r>
            <a:r>
              <a:rPr sz="2000" b="1" dirty="0" err="1">
                <a:solidFill>
                  <a:srgbClr val="F2C744"/>
                </a:solidFill>
                <a:latin typeface="Consolas"/>
              </a:rPr>
              <a:t>computeDerivatives</a:t>
            </a:r>
            <a:r>
              <a:rPr sz="2000" b="1" dirty="0">
                <a:solidFill>
                  <a:srgbClr val="F2C744"/>
                </a:solidFill>
                <a:latin typeface="Consolas"/>
              </a:rPr>
              <a:t>(t, y, </a:t>
            </a:r>
            <a:r>
              <a:rPr sz="2000" b="1" dirty="0" err="1">
                <a:solidFill>
                  <a:srgbClr val="F2C744"/>
                </a:solidFill>
                <a:latin typeface="Consolas"/>
              </a:rPr>
              <a:t>dydt</a:t>
            </a:r>
            <a:r>
              <a:rPr sz="2000" b="1" dirty="0">
                <a:solidFill>
                  <a:srgbClr val="F2C744"/>
                </a:solidFill>
                <a:latin typeface="Consolas"/>
              </a:rPr>
              <a:t>);  //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Position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empty types — pure compile-time keys</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Velocity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Force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same shape, different types */</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namespace</a:t>
            </a:r>
            <a:r>
              <a:rPr sz="1400">
                <a:solidFill>
                  <a:srgbClr val="D4D4D4"/>
                </a:solidFill>
                <a:latin typeface="Consolas"/>
              </a:rPr>
              <a:t> </a:t>
            </a:r>
            <a:r>
              <a:rPr sz="1400">
                <a:solidFill>
                  <a:srgbClr val="4EC9B0"/>
                </a:solidFill>
                <a:latin typeface="Consolas"/>
              </a:rPr>
              <a:t>spring</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Extension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PotentialEnergy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548640" y="1463040"/>
            <a:ext cx="11384280" cy="470001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713232" y="1627632"/>
            <a:ext cx="10930128"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PointMass</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4EC9B0"/>
                </a:solidFill>
                <a:latin typeface="Consolas"/>
              </a:rPr>
              <a:t>Component</a:t>
            </a:r>
            <a:r>
              <a:rPr sz="1250">
                <a:solidFill>
                  <a:srgbClr val="D4D4D4"/>
                </a:solidFill>
                <a:latin typeface="Consolas"/>
              </a:rPr>
              <a:t>&lt;</a:t>
            </a:r>
            <a:r>
              <a:rPr sz="1250">
                <a:solidFill>
                  <a:srgbClr val="B5CEA8"/>
                </a:solidFill>
                <a:latin typeface="Consolas"/>
              </a:rPr>
              <a:t>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2 states: [x, v]</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m_mass</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4EC9B0"/>
                </a:solidFill>
                <a:latin typeface="Consolas"/>
              </a:rPr>
              <a:t>LocalDerivative</a:t>
            </a:r>
            <a:r>
              <a:rPr sz="1250">
                <a:solidFill>
                  <a:srgbClr val="D4D4D4"/>
                </a:solidFill>
                <a:latin typeface="Consolas"/>
              </a:rPr>
              <a:t> </a:t>
            </a:r>
            <a:r>
              <a:rPr sz="1250">
                <a:solidFill>
                  <a:srgbClr val="D4D4D4"/>
                </a:solidFill>
                <a:latin typeface="Consolas"/>
              </a:rPr>
              <a:t>derivatives</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velocity</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dx/dt = v</a:t>
            </a:r>
          </a:p>
          <a:p>
            <a:pPr>
              <a:spcAft>
                <a:spcPts val="100"/>
              </a:spcAft>
            </a:pPr>
            <a:r>
              <a:rPr sz="1250" b="1">
                <a:solidFill>
                  <a:srgbClr val="D4D4D4"/>
                </a:solidFill>
                <a:latin typeface="Consolas"/>
              </a:rPr>
              <a:t>        </a:t>
            </a:r>
            <a:r>
              <a:rPr sz="1250" b="1">
                <a:solidFill>
                  <a:srgbClr val="D4D4D4"/>
                </a:solidFill>
                <a:latin typeface="Consolas"/>
              </a:rPr>
              <a:t>T</a:t>
            </a:r>
            <a:r>
              <a:rPr sz="1250" b="1">
                <a:solidFill>
                  <a:srgbClr val="D4D4D4"/>
                </a:solidFill>
                <a:latin typeface="Consolas"/>
              </a:rPr>
              <a:t> </a:t>
            </a:r>
            <a:r>
              <a:rPr sz="1250" b="1">
                <a:solidFill>
                  <a:srgbClr val="D4D4D4"/>
                </a:solidFill>
                <a:latin typeface="Consolas"/>
              </a:rPr>
              <a:t>force</a:t>
            </a:r>
            <a:r>
              <a:rPr sz="1250" b="1">
                <a:solidFill>
                  <a:srgbClr val="D4D4D4"/>
                </a:solidFill>
                <a:latin typeface="Consolas"/>
              </a:rPr>
              <a:t> </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query</a:t>
            </a:r>
            <a:r>
              <a:rPr sz="1250" b="1">
                <a:solidFill>
                  <a:srgbClr val="D4D4D4"/>
                </a:solidFill>
                <a:latin typeface="Consolas"/>
              </a:rPr>
              <a:t>&lt;</a:t>
            </a:r>
            <a:r>
              <a:rPr sz="1250" b="1">
                <a:solidFill>
                  <a:srgbClr val="569CD6"/>
                </a:solidFill>
                <a:latin typeface="Consolas"/>
              </a:rPr>
              <a:t>typename</a:t>
            </a:r>
            <a:r>
              <a:rPr sz="1250" b="1">
                <a:solidFill>
                  <a:srgbClr val="D4D4D4"/>
                </a:solidFill>
                <a:latin typeface="Consolas"/>
              </a:rPr>
              <a:t> </a:t>
            </a:r>
            <a:r>
              <a:rPr sz="1250" b="1">
                <a:solidFill>
                  <a:srgbClr val="4EC9B0"/>
                </a:solidFill>
                <a:latin typeface="Consolas"/>
              </a:rPr>
              <a:t>TagSet</a:t>
            </a:r>
            <a:r>
              <a:rPr sz="1250" b="1">
                <a:solidFill>
                  <a:srgbClr val="D4D4D4"/>
                </a:solidFill>
                <a:latin typeface="Consolas"/>
              </a:rPr>
              <a:t>:</a:t>
            </a:r>
            <a:r>
              <a:rPr sz="1250" b="1">
                <a:solidFill>
                  <a:srgbClr val="D4D4D4"/>
                </a:solidFill>
                <a:latin typeface="Consolas"/>
              </a:rPr>
              <a:t>:</a:t>
            </a:r>
            <a:r>
              <a:rPr sz="1250" b="1">
                <a:solidFill>
                  <a:srgbClr val="4EC9B0"/>
                </a:solidFill>
                <a:latin typeface="Consolas"/>
              </a:rPr>
              <a:t>Force</a:t>
            </a:r>
            <a:r>
              <a:rPr sz="1250" b="1">
                <a:solidFill>
                  <a:srgbClr val="D4D4D4"/>
                </a:solidFill>
                <a:latin typeface="Consolas"/>
              </a:rPr>
              <a:t>&gt;</a:t>
            </a:r>
            <a:r>
              <a:rPr sz="1250" b="1">
                <a:solidFill>
                  <a:srgbClr val="D4D4D4"/>
                </a:solidFill>
                <a:latin typeface="Consolas"/>
              </a:rPr>
              <a:t>(</a:t>
            </a:r>
            <a:r>
              <a:rPr sz="1250" b="1">
                <a:solidFill>
                  <a:srgbClr val="D4D4D4"/>
                </a:solidFill>
                <a:latin typeface="Consolas"/>
              </a:rPr>
              <a:t>registry</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state</a:t>
            </a:r>
            <a:r>
              <a:rPr sz="1250" b="1">
                <a:solidFill>
                  <a:srgbClr val="D4D4D4"/>
                </a:solidFill>
                <a:latin typeface="Consolas"/>
              </a:rPr>
              <a:t>)</a:t>
            </a:r>
            <a:r>
              <a:rPr sz="1250" b="1">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force</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m_mass</a:t>
            </a:r>
            <a:r>
              <a:rPr sz="1250">
                <a:solidFill>
                  <a:srgbClr val="D4D4D4"/>
                </a:solidFill>
                <a:latin typeface="Consolas"/>
              </a:rPr>
              <a: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dv/dt = F/m</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4EC9B0"/>
                </a:solidFill>
                <a:latin typeface="Consolas"/>
              </a:rPr>
              <a:t>Position</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4EC9B0"/>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548640" y="1463040"/>
            <a:ext cx="11247120" cy="47548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713232" y="1627632"/>
            <a:ext cx="10837084"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Spring</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4EC9B0"/>
                </a:solidFill>
                <a:latin typeface="Consolas"/>
              </a:rPr>
              <a:t>Component</a:t>
            </a:r>
            <a:r>
              <a:rPr sz="1250">
                <a:solidFill>
                  <a:srgbClr val="D4D4D4"/>
                </a:solidFill>
                <a:latin typeface="Consolas"/>
              </a:rPr>
              <a:t>&lt;</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0 states!</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m_rest_length</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b="1">
                <a:solidFill>
                  <a:srgbClr val="D4D4D4"/>
                </a:solidFill>
                <a:latin typeface="Consolas"/>
              </a:rPr>
              <a:t>        </a:t>
            </a:r>
            <a:r>
              <a:rPr sz="1250" b="1">
                <a:solidFill>
                  <a:srgbClr val="D4D4D4"/>
                </a:solidFill>
                <a:latin typeface="Consolas"/>
              </a:rPr>
              <a:t>T</a:t>
            </a:r>
            <a:r>
              <a:rPr sz="1250" b="1">
                <a:solidFill>
                  <a:srgbClr val="D4D4D4"/>
                </a:solidFill>
                <a:latin typeface="Consolas"/>
              </a:rPr>
              <a:t> </a:t>
            </a:r>
            <a:r>
              <a:rPr sz="1250" b="1">
                <a:solidFill>
                  <a:srgbClr val="D4D4D4"/>
                </a:solidFill>
                <a:latin typeface="Consolas"/>
              </a:rPr>
              <a:t>x1</a:t>
            </a:r>
            <a:r>
              <a:rPr sz="1250" b="1">
                <a:solidFill>
                  <a:srgbClr val="D4D4D4"/>
                </a:solidFill>
                <a:latin typeface="Consolas"/>
              </a:rPr>
              <a:t> </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query</a:t>
            </a:r>
            <a:r>
              <a:rPr sz="1250" b="1">
                <a:solidFill>
                  <a:srgbClr val="D4D4D4"/>
                </a:solidFill>
                <a:latin typeface="Consolas"/>
              </a:rPr>
              <a:t>&lt;</a:t>
            </a:r>
            <a:r>
              <a:rPr sz="1250" b="1">
                <a:solidFill>
                  <a:srgbClr val="569CD6"/>
                </a:solidFill>
                <a:latin typeface="Consolas"/>
              </a:rPr>
              <a:t>typename</a:t>
            </a:r>
            <a:r>
              <a:rPr sz="1250" b="1">
                <a:solidFill>
                  <a:srgbClr val="D4D4D4"/>
                </a:solidFill>
                <a:latin typeface="Consolas"/>
              </a:rPr>
              <a:t> </a:t>
            </a:r>
            <a:r>
              <a:rPr sz="1250" b="1">
                <a:solidFill>
                  <a:srgbClr val="4EC9B0"/>
                </a:solidFill>
                <a:latin typeface="Consolas"/>
              </a:rPr>
              <a:t>TagSet1</a:t>
            </a:r>
            <a:r>
              <a:rPr sz="1250" b="1">
                <a:solidFill>
                  <a:srgbClr val="D4D4D4"/>
                </a:solidFill>
                <a:latin typeface="Consolas"/>
              </a:rPr>
              <a:t>:</a:t>
            </a:r>
            <a:r>
              <a:rPr sz="1250" b="1">
                <a:solidFill>
                  <a:srgbClr val="D4D4D4"/>
                </a:solidFill>
                <a:latin typeface="Consolas"/>
              </a:rPr>
              <a:t>:</a:t>
            </a:r>
            <a:r>
              <a:rPr sz="1250" b="1">
                <a:solidFill>
                  <a:srgbClr val="4EC9B0"/>
                </a:solidFill>
                <a:latin typeface="Consolas"/>
              </a:rPr>
              <a:t>Position</a:t>
            </a:r>
            <a:r>
              <a:rPr sz="1250" b="1">
                <a:solidFill>
                  <a:srgbClr val="D4D4D4"/>
                </a:solidFill>
                <a:latin typeface="Consolas"/>
              </a:rPr>
              <a:t>&gt;</a:t>
            </a:r>
            <a:r>
              <a:rPr sz="1250" b="1">
                <a:solidFill>
                  <a:srgbClr val="D4D4D4"/>
                </a:solidFill>
                <a:latin typeface="Consolas"/>
              </a:rPr>
              <a:t>(</a:t>
            </a:r>
            <a:r>
              <a:rPr sz="1250" b="1">
                <a:solidFill>
                  <a:srgbClr val="D4D4D4"/>
                </a:solidFill>
                <a:latin typeface="Consolas"/>
              </a:rPr>
              <a:t>registry</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state</a:t>
            </a:r>
            <a:r>
              <a:rPr sz="1250" b="1">
                <a:solidFill>
                  <a:srgbClr val="D4D4D4"/>
                </a:solidFill>
                <a:latin typeface="Consolas"/>
              </a:rPr>
              <a:t>)</a:t>
            </a:r>
            <a:r>
              <a:rPr sz="1250" b="1">
                <a:solidFill>
                  <a:srgbClr val="D4D4D4"/>
                </a:solidFill>
                <a:latin typeface="Consolas"/>
              </a:rPr>
              <a:t>;</a:t>
            </a:r>
          </a:p>
          <a:p>
            <a:pPr>
              <a:spcAft>
                <a:spcPts val="100"/>
              </a:spcAft>
            </a:pPr>
            <a:r>
              <a:rPr sz="1250" b="1">
                <a:solidFill>
                  <a:srgbClr val="D4D4D4"/>
                </a:solidFill>
                <a:latin typeface="Consolas"/>
              </a:rPr>
              <a:t>        </a:t>
            </a:r>
            <a:r>
              <a:rPr sz="1250" b="1">
                <a:solidFill>
                  <a:srgbClr val="D4D4D4"/>
                </a:solidFill>
                <a:latin typeface="Consolas"/>
              </a:rPr>
              <a:t>T</a:t>
            </a:r>
            <a:r>
              <a:rPr sz="1250" b="1">
                <a:solidFill>
                  <a:srgbClr val="D4D4D4"/>
                </a:solidFill>
                <a:latin typeface="Consolas"/>
              </a:rPr>
              <a:t> </a:t>
            </a:r>
            <a:r>
              <a:rPr sz="1250" b="1">
                <a:solidFill>
                  <a:srgbClr val="D4D4D4"/>
                </a:solidFill>
                <a:latin typeface="Consolas"/>
              </a:rPr>
              <a:t>x2</a:t>
            </a:r>
            <a:r>
              <a:rPr sz="1250" b="1">
                <a:solidFill>
                  <a:srgbClr val="D4D4D4"/>
                </a:solidFill>
                <a:latin typeface="Consolas"/>
              </a:rPr>
              <a:t> </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query</a:t>
            </a:r>
            <a:r>
              <a:rPr sz="1250" b="1">
                <a:solidFill>
                  <a:srgbClr val="D4D4D4"/>
                </a:solidFill>
                <a:latin typeface="Consolas"/>
              </a:rPr>
              <a:t>&lt;</a:t>
            </a:r>
            <a:r>
              <a:rPr sz="1250" b="1">
                <a:solidFill>
                  <a:srgbClr val="569CD6"/>
                </a:solidFill>
                <a:latin typeface="Consolas"/>
              </a:rPr>
              <a:t>typename</a:t>
            </a:r>
            <a:r>
              <a:rPr sz="1250" b="1">
                <a:solidFill>
                  <a:srgbClr val="D4D4D4"/>
                </a:solidFill>
                <a:latin typeface="Consolas"/>
              </a:rPr>
              <a:t> </a:t>
            </a:r>
            <a:r>
              <a:rPr sz="1250" b="1">
                <a:solidFill>
                  <a:srgbClr val="4EC9B0"/>
                </a:solidFill>
                <a:latin typeface="Consolas"/>
              </a:rPr>
              <a:t>TagSet2</a:t>
            </a:r>
            <a:r>
              <a:rPr sz="1250" b="1">
                <a:solidFill>
                  <a:srgbClr val="D4D4D4"/>
                </a:solidFill>
                <a:latin typeface="Consolas"/>
              </a:rPr>
              <a:t>:</a:t>
            </a:r>
            <a:r>
              <a:rPr sz="1250" b="1">
                <a:solidFill>
                  <a:srgbClr val="D4D4D4"/>
                </a:solidFill>
                <a:latin typeface="Consolas"/>
              </a:rPr>
              <a:t>:</a:t>
            </a:r>
            <a:r>
              <a:rPr sz="1250" b="1">
                <a:solidFill>
                  <a:srgbClr val="4EC9B0"/>
                </a:solidFill>
                <a:latin typeface="Consolas"/>
              </a:rPr>
              <a:t>Position</a:t>
            </a:r>
            <a:r>
              <a:rPr sz="1250" b="1">
                <a:solidFill>
                  <a:srgbClr val="D4D4D4"/>
                </a:solidFill>
                <a:latin typeface="Consolas"/>
              </a:rPr>
              <a:t>&gt;</a:t>
            </a:r>
            <a:r>
              <a:rPr sz="1250" b="1">
                <a:solidFill>
                  <a:srgbClr val="D4D4D4"/>
                </a:solidFill>
                <a:latin typeface="Consolas"/>
              </a:rPr>
              <a:t>(</a:t>
            </a:r>
            <a:r>
              <a:rPr sz="1250" b="1">
                <a:solidFill>
                  <a:srgbClr val="D4D4D4"/>
                </a:solidFill>
                <a:latin typeface="Consolas"/>
              </a:rPr>
              <a:t>registry</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state</a:t>
            </a:r>
            <a:r>
              <a:rPr sz="1250" b="1">
                <a:solidFill>
                  <a:srgbClr val="D4D4D4"/>
                </a:solidFill>
                <a:latin typeface="Consolas"/>
              </a:rPr>
              <a:t>)</a:t>
            </a:r>
            <a:r>
              <a:rPr sz="1250" b="1">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x1</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x2</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m_rest_length</a:t>
            </a:r>
            <a:r>
              <a:rPr sz="1250">
                <a:solidFill>
                  <a:srgbClr val="D4D4D4"/>
                </a:solidFill>
                <a:latin typeface="Consolas"/>
              </a:rPr>
              <a:t>)</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Hooke's law</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query</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&gt;</a:t>
            </a:r>
            <a:r>
              <a:rPr sz="1250">
                <a:solidFill>
                  <a:srgbClr val="D4D4D4"/>
                </a:solidFill>
                <a:latin typeface="Consolas"/>
              </a:rPr>
              <a:t>(</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Newton's 3rd</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48640" y="1508760"/>
            <a:ext cx="11247120" cy="40233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673352"/>
            <a:ext cx="10788957" cy="3059812"/>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Scalar</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EnergyMonitor</a:t>
            </a:r>
            <a:r>
              <a:rPr sz="1300">
                <a:solidFill>
                  <a:srgbClr val="D4D4D4"/>
                </a:solidFill>
                <a:latin typeface="Consolas"/>
              </a:rPr>
              <a:t> </a:t>
            </a:r>
            <a:r>
              <a:rPr sz="1300">
                <a:solidFill>
                  <a:srgbClr val="569CD6"/>
                </a:solidFill>
                <a:latin typeface="Consolas"/>
              </a:rPr>
              <a:t>final</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public</a:t>
            </a:r>
            <a:r>
              <a:rPr sz="1300">
                <a:solidFill>
                  <a:srgbClr val="D4D4D4"/>
                </a:solidFill>
                <a:latin typeface="Consolas"/>
              </a:rPr>
              <a:t> </a:t>
            </a:r>
            <a:r>
              <a:rPr sz="1300">
                <a:solidFill>
                  <a:srgbClr val="4EC9B0"/>
                </a:solidFill>
                <a:latin typeface="Consolas"/>
              </a:rPr>
              <a:t>Component</a:t>
            </a:r>
            <a:r>
              <a:rPr sz="1300">
                <a:solidFill>
                  <a:srgbClr val="D4D4D4"/>
                </a:solidFill>
                <a:latin typeface="Consolas"/>
              </a:rPr>
              <a:t>&lt;</a:t>
            </a:r>
            <a:r>
              <a:rPr sz="1300">
                <a:solidFill>
                  <a:srgbClr val="B5CEA8"/>
                </a:solidFill>
                <a:latin typeface="Consolas"/>
              </a:rPr>
              <a:t>0</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a:t>
            </a:r>
          </a:p>
          <a:p>
            <a:pPr>
              <a:spcAft>
                <a:spcPts val="100"/>
              </a:spcAft>
            </a:pPr>
            <a:r>
              <a:rPr sz="1300">
                <a:solidFill>
                  <a:srgbClr val="569CD6"/>
                </a:solidFill>
                <a:latin typeface="Consolas"/>
              </a:rPr>
              <a:t>public</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compute</a:t>
            </a:r>
            <a:r>
              <a:rPr sz="1300">
                <a:solidFill>
                  <a:srgbClr val="D4D4D4"/>
                </a:solidFill>
                <a:latin typeface="Consolas"/>
              </a:rPr>
              <a:t>(</a:t>
            </a:r>
            <a:r>
              <a:rPr sz="1300">
                <a:solidFill>
                  <a:srgbClr val="D4D4D4"/>
                </a:solidFill>
                <a:latin typeface="Consolas"/>
              </a:rPr>
              <a:t>system</a:t>
            </a:r>
            <a:r>
              <a:rPr sz="1300">
                <a:solidFill>
                  <a:srgbClr val="D4D4D4"/>
                </a:solidFill>
                <a:latin typeface="Consolas"/>
              </a:rPr>
              <a:t>:</a:t>
            </a:r>
            <a:r>
              <a:rPr sz="1300">
                <a:solidFill>
                  <a:srgbClr val="D4D4D4"/>
                </a:solidFill>
                <a:latin typeface="Consolas"/>
              </a:rPr>
              <a:t>:</a:t>
            </a:r>
            <a:r>
              <a:rPr sz="1300">
                <a:solidFill>
                  <a:srgbClr val="4EC9B0"/>
                </a:solidFill>
                <a:latin typeface="Consolas"/>
              </a:rPr>
              <a:t>TotalEnergy</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4EC9B0"/>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4EC9B0"/>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4EC9B0"/>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4EC9B0"/>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spring</a:t>
            </a:r>
            <a:r>
              <a:rPr sz="1300">
                <a:solidFill>
                  <a:srgbClr val="D4D4D4"/>
                </a:solidFill>
                <a:latin typeface="Consolas"/>
              </a:rPr>
              <a:t>:</a:t>
            </a:r>
            <a:r>
              <a:rPr sz="1300">
                <a:solidFill>
                  <a:srgbClr val="D4D4D4"/>
                </a:solidFill>
                <a:latin typeface="Consolas"/>
              </a:rPr>
              <a:t>:</a:t>
            </a:r>
            <a:r>
              <a:rPr sz="1300">
                <a:solidFill>
                  <a:srgbClr val="4EC9B0"/>
                </a:solidFill>
                <a:latin typeface="Consolas"/>
              </a:rPr>
              <a:t>PotentialEnergy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48640" y="1508760"/>
            <a:ext cx="11247120" cy="4206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673352"/>
            <a:ext cx="10827459" cy="3503523"/>
          </a:xfrm>
          <a:prstGeom prst="rect">
            <a:avLst/>
          </a:prstGeom>
          <a:noFill/>
        </p:spPr>
        <p:txBody>
          <a:bodyPr wrap="none">
            <a:spAutoFit/>
          </a:bodyPr>
          <a:lstStyle/>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2.5</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Spring12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6A9955"/>
                </a:solidFill>
                <a:latin typeface="Consolas"/>
              </a:rPr>
              <a:t>/*k*/</a:t>
            </a:r>
            <a:r>
              <a:rPr sz="1400">
                <a:solidFill>
                  <a:srgbClr val="D4D4D4"/>
                </a:solidFill>
                <a:latin typeface="Consolas"/>
              </a:rPr>
              <a:t> </a:t>
            </a:r>
            <a:r>
              <a:rPr sz="1400">
                <a:solidFill>
                  <a:srgbClr val="B5CEA8"/>
                </a:solidFill>
                <a:latin typeface="Consolas"/>
              </a:rPr>
              <a:t>4.0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/*L0*/</a:t>
            </a:r>
            <a:r>
              <a:rPr sz="1400">
                <a:solidFill>
                  <a:srgbClr val="D4D4D4"/>
                </a:solidFill>
                <a:latin typeface="Consolas"/>
              </a:rPr>
              <a:t> </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EnergyMonitor</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b="1">
                <a:solidFill>
                  <a:srgbClr val="6A9955"/>
                </a:solidFill>
                <a:latin typeface="Consolas"/>
              </a:rPr>
              <a:t>// the wiring is CHECKED at compile time:</a:t>
            </a:r>
          </a:p>
          <a:p>
            <a:pPr>
              <a:spcAft>
                <a:spcPts val="100"/>
              </a:spcAft>
            </a:pPr>
            <a:r>
              <a:rPr sz="1400" b="1">
                <a:solidFill>
                  <a:srgbClr val="569CD6"/>
                </a:solidFill>
                <a:latin typeface="Consolas"/>
              </a:rPr>
              <a:t>static_assert</a:t>
            </a:r>
            <a:r>
              <a:rPr sz="1400" b="1">
                <a:solidFill>
                  <a:srgbClr val="D4D4D4"/>
                </a:solidFill>
                <a:latin typeface="Consolas"/>
              </a:rPr>
              <a:t>(</a:t>
            </a:r>
            <a:r>
              <a:rPr sz="1400" b="1">
                <a:solidFill>
                  <a:srgbClr val="569CD6"/>
                </a:solidFill>
                <a:latin typeface="Consolas"/>
              </a:rPr>
              <a:t>decltype</a:t>
            </a:r>
            <a:r>
              <a:rPr sz="1400" b="1">
                <a:solidFill>
                  <a:srgbClr val="D4D4D4"/>
                </a:solidFill>
                <a:latin typeface="Consolas"/>
              </a:rPr>
              <a:t>(</a:t>
            </a:r>
            <a:r>
              <a:rPr sz="1400" b="1">
                <a:solidFill>
                  <a:srgbClr val="D4D4D4"/>
                </a:solidFill>
                <a:latin typeface="Consolas"/>
              </a:rPr>
              <a:t>sys</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hasFunction</a:t>
            </a:r>
            <a:r>
              <a:rPr sz="1400" b="1">
                <a:solidFill>
                  <a:srgbClr val="D4D4D4"/>
                </a:solidFill>
                <a:latin typeface="Consolas"/>
              </a:rPr>
              <a:t>&lt;</a:t>
            </a:r>
            <a:r>
              <a:rPr sz="1400" b="1">
                <a:solidFill>
                  <a:srgbClr val="D4D4D4"/>
                </a:solidFill>
                <a:latin typeface="Consolas"/>
              </a:rPr>
              <a:t>system</a:t>
            </a:r>
            <a:r>
              <a:rPr sz="1400" b="1">
                <a:solidFill>
                  <a:srgbClr val="D4D4D4"/>
                </a:solidFill>
                <a:latin typeface="Consolas"/>
              </a:rPr>
              <a:t>:</a:t>
            </a:r>
            <a:r>
              <a:rPr sz="1400" b="1">
                <a:solidFill>
                  <a:srgbClr val="D4D4D4"/>
                </a:solidFill>
                <a:latin typeface="Consolas"/>
              </a:rPr>
              <a:t>:</a:t>
            </a:r>
            <a:r>
              <a:rPr sz="1400" b="1">
                <a:solidFill>
                  <a:srgbClr val="4EC9B0"/>
                </a:solidFill>
                <a:latin typeface="Consolas"/>
              </a:rPr>
              <a:t>TotalEnergy</a:t>
            </a:r>
            <a:r>
              <a:rPr sz="1400" b="1">
                <a:solidFill>
                  <a:srgbClr val="D4D4D4"/>
                </a:solidFill>
                <a:latin typeface="Consolas"/>
              </a:rPr>
              <a:t>&gt;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RK4Solver</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sol</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r>
              <a:rPr sz="1400">
                <a:solidFill>
                  <a:srgbClr val="D4D4D4"/>
                </a:solidFill>
                <a:latin typeface="Consolas"/>
              </a:rPr>
              <a:t>solve</a:t>
            </a:r>
            <a:r>
              <a:rPr sz="1400">
                <a:solidFill>
                  <a:srgbClr val="D4D4D4"/>
                </a:solidFill>
                <a:latin typeface="Consolas"/>
              </a:rPr>
              <a:t>(</a:t>
            </a:r>
            <a:r>
              <a:rPr sz="1400">
                <a:solidFill>
                  <a:srgbClr val="D4D4D4"/>
                </a:solidFill>
                <a:latin typeface="Consolas"/>
              </a:rPr>
              <a:t>derivs</a:t>
            </a:r>
            <a:r>
              <a:rPr sz="1400">
                <a:solidFill>
                  <a:srgbClr val="D4D4D4"/>
                </a:solidFill>
                <a:latin typeface="Consolas"/>
              </a:rPr>
              <a:t>(</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getStateDimension</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B5CEA8"/>
                </a:solidFill>
                <a:latin typeface="Consolas"/>
              </a:rPr>
              <a:t>20.0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/*dt*/</a:t>
            </a:r>
            <a:r>
              <a:rPr sz="1400">
                <a:solidFill>
                  <a:srgbClr val="D4D4D4"/>
                </a:solidFill>
                <a:latin typeface="Consolas"/>
              </a:rPr>
              <a:t> </a:t>
            </a:r>
            <a:r>
              <a:rPr sz="1400">
                <a:solidFill>
                  <a:srgbClr val="B5CEA8"/>
                </a:solidFill>
                <a:latin typeface="Consolas"/>
              </a:rPr>
              <a:t>0.001</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getInitialState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double</a:t>
            </a:r>
            <a:r>
              <a:rPr sz="1400">
                <a:solidFill>
                  <a:srgbClr val="D4D4D4"/>
                </a:solidFill>
                <a:latin typeface="Consolas"/>
              </a:rPr>
              <a:t> </a:t>
            </a:r>
            <a:r>
              <a:rPr sz="1400">
                <a:solidFill>
                  <a:srgbClr val="D4D4D4"/>
                </a:solidFill>
                <a:latin typeface="Consolas"/>
              </a:rPr>
              <a:t>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query</a:t>
            </a:r>
            <a:r>
              <a:rPr sz="1400">
                <a:solidFill>
                  <a:srgbClr val="D4D4D4"/>
                </a:solidFill>
                <a:latin typeface="Consolas"/>
              </a:rPr>
              <a:t>&lt;</a:t>
            </a:r>
            <a:r>
              <a:rPr sz="1400">
                <a:solidFill>
                  <a:srgbClr val="D4D4D4"/>
                </a:solidFill>
                <a:latin typeface="Consolas"/>
              </a:rPr>
              <a:t>system</a:t>
            </a:r>
            <a:r>
              <a:rPr sz="1400">
                <a:solidFill>
                  <a:srgbClr val="D4D4D4"/>
                </a:solidFill>
                <a:latin typeface="Consolas"/>
              </a:rPr>
              <a:t>:</a:t>
            </a:r>
            <a:r>
              <a:rPr sz="1400">
                <a:solidFill>
                  <a:srgbClr val="D4D4D4"/>
                </a:solidFill>
                <a:latin typeface="Consolas"/>
              </a:rPr>
              <a:t>:</a:t>
            </a:r>
            <a:r>
              <a:rPr sz="1400">
                <a:solidFill>
                  <a:srgbClr val="4EC9B0"/>
                </a:solidFill>
                <a:latin typeface="Consolas"/>
              </a:rPr>
              <a:t>TotalEnergy</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sol</a:t>
            </a:r>
            <a:r>
              <a:rPr sz="1400">
                <a:solidFill>
                  <a:srgbClr val="D4D4D4"/>
                </a:solidFill>
                <a:latin typeface="Consolas"/>
              </a:rPr>
              <a:t>.</a:t>
            </a:r>
            <a:r>
              <a:rPr sz="1400">
                <a:solidFill>
                  <a:srgbClr val="D4D4D4"/>
                </a:solidFill>
                <a:latin typeface="Consolas"/>
              </a:rPr>
              <a:t>states</a:t>
            </a:r>
            <a:r>
              <a:rPr sz="1400">
                <a:solidFill>
                  <a:srgbClr val="D4D4D4"/>
                </a:solidFill>
                <a:latin typeface="Consolas"/>
              </a:rPr>
              <a:t>.</a:t>
            </a:r>
            <a:r>
              <a:rPr sz="1400">
                <a:solidFill>
                  <a:srgbClr val="D4D4D4"/>
                </a:solidFill>
                <a:latin typeface="Consolas"/>
              </a:rPr>
              <a:t>back</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48640" y="1508760"/>
            <a:ext cx="11064240" cy="1920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10735056" cy="1591056"/>
          </a:xfrm>
          <a:prstGeom prst="rect">
            <a:avLst/>
          </a:prstGeom>
          <a:noFill/>
        </p:spPr>
        <p:txBody>
          <a:bodyPr wrap="none">
            <a:spAutoFit/>
          </a:bodyPr>
          <a:lstStyle/>
          <a:p>
            <a:pPr>
              <a:spcAft>
                <a:spcPts val="100"/>
              </a:spcAft>
            </a:pPr>
            <a:r>
              <a:rPr sz="1500">
                <a:solidFill>
                  <a:srgbClr val="6A9955"/>
                </a:solidFill>
                <a:latin typeface="Consolas"/>
              </a:rPr>
              <a:t>// instead of:                       // we write:</a:t>
            </a:r>
          </a:p>
          <a:p>
            <a:pPr>
              <a:spcAft>
                <a:spcPts val="100"/>
              </a:spcAft>
            </a:pPr>
            <a:r>
              <a:rPr sz="1500">
                <a:solidFill>
                  <a:srgbClr val="4EC9B0"/>
                </a:solidFill>
                <a:latin typeface="Consolas"/>
              </a:rPr>
              <a:t>double</a:t>
            </a:r>
            <a:r>
              <a:rPr sz="1500">
                <a:solidFill>
                  <a:srgbClr val="D4D4D4"/>
                </a:solidFill>
                <a:latin typeface="Consolas"/>
              </a:rPr>
              <a:t> </a:t>
            </a:r>
            <a:r>
              <a:rPr sz="1500">
                <a:solidFill>
                  <a:srgbClr val="DCDCAA"/>
                </a:solidFill>
                <a:latin typeface="Consolas"/>
              </a:rPr>
              <a:t>getOutput</a:t>
            </a:r>
            <a:r>
              <a:rPr sz="1500">
                <a:solidFill>
                  <a:srgbClr val="D4D4D4"/>
                </a:solidFill>
                <a:latin typeface="Consolas"/>
              </a:rPr>
              <a:t>(                    T compute(mass1::Position,</a:t>
            </a:r>
          </a:p>
          <a:p>
            <a:pPr>
              <a:spcAft>
                <a:spcPts val="100"/>
              </a:spcAft>
            </a:pP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 std::string&amp; name);            std::span&lt;</a:t>
            </a:r>
            <a:r>
              <a:rPr sz="1500">
                <a:solidFill>
                  <a:srgbClr val="569CD6"/>
                </a:solidFill>
                <a:latin typeface="Consolas"/>
              </a:rPr>
              <a:t>const</a:t>
            </a:r>
            <a:r>
              <a:rPr sz="1500">
                <a:solidFill>
                  <a:srgbClr val="D4D4D4"/>
                </a:solidFill>
                <a:latin typeface="Consolas"/>
              </a:rPr>
              <a:t> T&gt; state) </a:t>
            </a:r>
            <a:r>
              <a:rPr sz="1500">
                <a:solidFill>
                  <a:srgbClr val="569CD6"/>
                </a:solidFill>
                <a:latin typeface="Consolas"/>
              </a:rPr>
              <a:t>const</a:t>
            </a:r>
            <a:r>
              <a:rPr sz="1500">
                <a:solidFill>
                  <a:srgbClr val="D4D4D4"/>
                </a:solidFill>
                <a:latin typeface="Consolas"/>
              </a:rPr>
              <a:t>;</a:t>
            </a:r>
          </a:p>
          <a:p>
            <a:pPr>
              <a:spcAft>
                <a:spcPts val="100"/>
              </a:spcAft>
            </a:pPr>
            <a:r>
              <a:rPr sz="1500">
                <a:latin typeface="Consolas"/>
              </a:rPr>
              <a:t> </a:t>
            </a:r>
          </a:p>
          <a:p>
            <a:pPr>
              <a:spcAft>
                <a:spcPts val="100"/>
              </a:spcAft>
            </a:pPr>
            <a:r>
              <a:rPr sz="1500">
                <a:solidFill>
                  <a:srgbClr val="6A9955"/>
                </a:solidFill>
                <a:latin typeface="Consolas"/>
              </a:rPr>
              <a:t>// one virtual + string compare      // one overload per quantity,</a:t>
            </a:r>
          </a:p>
          <a:p>
            <a:pPr>
              <a:spcAft>
                <a:spcPts val="100"/>
              </a:spcAft>
            </a:pPr>
            <a:r>
              <a:rPr sz="15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2/4</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39" y="1508760"/>
            <a:ext cx="11300059" cy="44805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13232" y="1673352"/>
            <a:ext cx="8266176" cy="4151376"/>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T</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ComponentConcept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Components</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tuple</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Components</a:t>
            </a:r>
            <a:r>
              <a:rPr sz="1300">
                <a:solidFill>
                  <a:srgbClr val="D4D4D4"/>
                </a:solidFill>
                <a:latin typeface="Consolas"/>
              </a:rPr>
              <a:t>&amp;</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m_components</a:t>
            </a:r>
            <a:r>
              <a:rPr sz="1300">
                <a:solidFill>
                  <a:srgbClr val="D4D4D4"/>
                </a:solidFill>
                <a:latin typeface="Consolas"/>
              </a:rPr>
              <a:t>;</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StateTagConcept</a:t>
            </a:r>
            <a:r>
              <a:rPr sz="1300">
                <a:solidFill>
                  <a:srgbClr val="D4D4D4"/>
                </a:solidFill>
                <a:latin typeface="Consolas"/>
              </a:rPr>
              <a:t> </a:t>
            </a:r>
            <a:r>
              <a:rPr sz="1300">
                <a:solidFill>
                  <a:srgbClr val="4EC9B0"/>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static</a:t>
            </a:r>
            <a:r>
              <a:rPr sz="1300">
                <a:solidFill>
                  <a:srgbClr val="D4D4D4"/>
                </a:solidFill>
                <a:latin typeface="Consolas"/>
              </a:rPr>
              <a:t> </a:t>
            </a:r>
            <a:r>
              <a:rPr sz="1300">
                <a:solidFill>
                  <a:srgbClr val="569CD6"/>
                </a:solidFill>
                <a:latin typeface="Consolas"/>
              </a:rPr>
              <a:t>constexpr</a:t>
            </a:r>
            <a:r>
              <a:rPr sz="1300">
                <a:solidFill>
                  <a:srgbClr val="D4D4D4"/>
                </a:solidFill>
                <a:latin typeface="Consolas"/>
              </a:rPr>
              <a:t> </a:t>
            </a:r>
            <a:r>
              <a:rPr sz="1300">
                <a:solidFill>
                  <a:srgbClr val="4EC9B0"/>
                </a:solidFill>
                <a:latin typeface="Consolas"/>
              </a:rPr>
              <a:t>bool</a:t>
            </a:r>
            <a:r>
              <a:rPr sz="1300">
                <a:solidFill>
                  <a:srgbClr val="D4D4D4"/>
                </a:solidFill>
                <a:latin typeface="Consolas"/>
              </a:rPr>
              <a:t> </a:t>
            </a:r>
            <a:r>
              <a:rPr sz="1300">
                <a:solidFill>
                  <a:srgbClr val="D4D4D4"/>
                </a:solidFill>
                <a:latin typeface="Consolas"/>
              </a:rPr>
              <a:t>hasFunction</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D4D4D4"/>
                </a:solidFill>
                <a:latin typeface="Consolas"/>
              </a:rPr>
              <a:t>        </a:t>
            </a:r>
            <a:r>
              <a:rPr sz="1300" b="1">
                <a:solidFill>
                  <a:srgbClr val="569CD6"/>
                </a:solidFill>
                <a:latin typeface="Consolas"/>
              </a:rPr>
              <a:t>return</a:t>
            </a:r>
            <a:r>
              <a:rPr sz="1300" b="1">
                <a:solidFill>
                  <a:srgbClr val="D4D4D4"/>
                </a:solidFill>
                <a:latin typeface="Consolas"/>
              </a:rPr>
              <a:t> </a:t>
            </a:r>
            <a:r>
              <a:rPr sz="1300" b="1">
                <a:solidFill>
                  <a:srgbClr val="D4D4D4"/>
                </a:solidFill>
                <a:latin typeface="Consolas"/>
              </a:rPr>
              <a:t>(</a:t>
            </a:r>
            <a:r>
              <a:rPr sz="1300" b="1">
                <a:solidFill>
                  <a:srgbClr val="4EC9B0"/>
                </a:solidFill>
                <a:latin typeface="Consolas"/>
              </a:rPr>
              <a:t>ProvidesStateFunction</a:t>
            </a:r>
            <a:r>
              <a:rPr sz="1300" b="1">
                <a:solidFill>
                  <a:srgbClr val="D4D4D4"/>
                </a:solidFill>
                <a:latin typeface="Consolas"/>
              </a:rPr>
              <a:t>&lt;</a:t>
            </a:r>
            <a:r>
              <a:rPr sz="1300" b="1">
                <a:solidFill>
                  <a:srgbClr val="4EC9B0"/>
                </a:solidFill>
                <a:latin typeface="Consolas"/>
              </a:rPr>
              <a:t>Components</a:t>
            </a:r>
            <a:r>
              <a:rPr sz="1300" b="1">
                <a:solidFill>
                  <a:srgbClr val="D4D4D4"/>
                </a:solidFill>
                <a:latin typeface="Consolas"/>
              </a:rPr>
              <a:t>,</a:t>
            </a:r>
            <a:r>
              <a:rPr sz="1300" b="1">
                <a:solidFill>
                  <a:srgbClr val="D4D4D4"/>
                </a:solidFill>
                <a:latin typeface="Consolas"/>
              </a:rPr>
              <a:t> </a:t>
            </a:r>
            <a:r>
              <a:rPr sz="1300" b="1">
                <a:solidFill>
                  <a:srgbClr val="4EC9B0"/>
                </a:solidFill>
                <a:latin typeface="Consolas"/>
              </a:rPr>
              <a:t>Tag</a:t>
            </a:r>
            <a:r>
              <a:rPr sz="1300" b="1">
                <a:solidFill>
                  <a:srgbClr val="D4D4D4"/>
                </a:solidFill>
                <a:latin typeface="Consolas"/>
              </a:rPr>
              <a:t>,</a:t>
            </a:r>
            <a:r>
              <a:rPr sz="1300" b="1">
                <a:solidFill>
                  <a:srgbClr val="D4D4D4"/>
                </a:solidFill>
                <a:latin typeface="Consolas"/>
              </a:rPr>
              <a:t> </a:t>
            </a:r>
            <a:r>
              <a:rPr sz="1300" b="1">
                <a:solidFill>
                  <a:srgbClr val="D4D4D4"/>
                </a:solidFill>
                <a:latin typeface="Consolas"/>
              </a:rPr>
              <a:t>T</a:t>
            </a:r>
            <a:r>
              <a:rPr sz="1300" b="1">
                <a:solidFill>
                  <a:srgbClr val="D4D4D4"/>
                </a:solidFill>
                <a:latin typeface="Consolas"/>
              </a:rPr>
              <a:t>,</a:t>
            </a:r>
            <a:r>
              <a:rPr sz="1300" b="1">
                <a:solidFill>
                  <a:srgbClr val="D4D4D4"/>
                </a:solidFill>
                <a:latin typeface="Consolas"/>
              </a:rPr>
              <a:t> </a:t>
            </a:r>
            <a:r>
              <a:rPr sz="1300" b="1">
                <a:solidFill>
                  <a:srgbClr val="4EC9B0"/>
                </a:solidFill>
                <a:latin typeface="Consolas"/>
              </a:rPr>
              <a:t>Registry</a:t>
            </a:r>
            <a:r>
              <a:rPr sz="1300" b="1">
                <a:solidFill>
                  <a:srgbClr val="D4D4D4"/>
                </a:solidFill>
                <a:latin typeface="Consolas"/>
              </a:rPr>
              <a:t>&gt;</a:t>
            </a:r>
            <a:r>
              <a:rPr sz="1300" b="1">
                <a:solidFill>
                  <a:srgbClr val="D4D4D4"/>
                </a:solidFill>
                <a:latin typeface="Consolas"/>
              </a:rPr>
              <a:t> </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 </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fold over all components</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StateTagConcept</a:t>
            </a:r>
            <a:r>
              <a:rPr sz="1300">
                <a:solidFill>
                  <a:srgbClr val="D4D4D4"/>
                </a:solidFill>
                <a:latin typeface="Consolas"/>
              </a:rPr>
              <a:t> </a:t>
            </a:r>
            <a:r>
              <a:rPr sz="1300">
                <a:solidFill>
                  <a:srgbClr val="4EC9B0"/>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 </a:t>
            </a:r>
            <a:r>
              <a:rPr sz="1300">
                <a:solidFill>
                  <a:srgbClr val="D4D4D4"/>
                </a:solidFill>
                <a:latin typeface="Consolas"/>
              </a:rPr>
              <a:t>computeFunction</a:t>
            </a:r>
            <a:r>
              <a:rPr sz="1300">
                <a:solidFill>
                  <a:srgbClr val="D4D4D4"/>
                </a:solidFill>
                <a:latin typeface="Consolas"/>
              </a:rPr>
              <a:t>(</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D4D4D4"/>
                </a:solidFill>
                <a:latin typeface="Consolas"/>
              </a:rPr>
              <a:t>        </a:t>
            </a:r>
            <a:r>
              <a:rPr sz="1300" b="1">
                <a:solidFill>
                  <a:srgbClr val="569CD6"/>
                </a:solidFill>
                <a:latin typeface="Consolas"/>
              </a:rPr>
              <a:t>static_assert</a:t>
            </a:r>
            <a:r>
              <a:rPr sz="1300" b="1">
                <a:solidFill>
                  <a:srgbClr val="D4D4D4"/>
                </a:solidFill>
                <a:latin typeface="Consolas"/>
              </a:rPr>
              <a:t>(</a:t>
            </a:r>
            <a:r>
              <a:rPr sz="1300" b="1">
                <a:solidFill>
                  <a:srgbClr val="D4D4D4"/>
                </a:solidFill>
                <a:latin typeface="Consolas"/>
              </a:rPr>
              <a:t>hasFunction</a:t>
            </a:r>
            <a:r>
              <a:rPr sz="1300" b="1">
                <a:solidFill>
                  <a:srgbClr val="D4D4D4"/>
                </a:solidFill>
                <a:latin typeface="Consolas"/>
              </a:rPr>
              <a:t>&lt;</a:t>
            </a:r>
            <a:r>
              <a:rPr sz="1300" b="1">
                <a:solidFill>
                  <a:srgbClr val="4EC9B0"/>
                </a:solidFill>
                <a:latin typeface="Consolas"/>
              </a:rPr>
              <a:t>Tag</a:t>
            </a:r>
            <a:r>
              <a:rPr sz="1300" b="1">
                <a:solidFill>
                  <a:srgbClr val="D4D4D4"/>
                </a:solidFill>
                <a:latin typeface="Consolas"/>
              </a:rPr>
              <a:t>&gt;</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p>
          <a:p>
            <a:pPr>
              <a:spcAft>
                <a:spcPts val="100"/>
              </a:spcAft>
            </a:pPr>
            <a:r>
              <a:rPr sz="1300" b="1">
                <a:solidFill>
                  <a:srgbClr val="D4D4D4"/>
                </a:solidFill>
                <a:latin typeface="Consolas"/>
              </a:rPr>
              <a:t>                      </a:t>
            </a:r>
            <a:r>
              <a:rPr sz="1300" b="1">
                <a:solidFill>
                  <a:srgbClr val="CE9178"/>
                </a:solidFill>
                <a:latin typeface="Consolas"/>
              </a:rPr>
              <a:t>"</a:t>
            </a:r>
            <a:r>
              <a:rPr sz="1300" b="1">
                <a:solidFill>
                  <a:srgbClr val="CE9178"/>
                </a:solidFill>
                <a:latin typeface="Consolas"/>
              </a:rPr>
              <a:t>No component provides this state function</a:t>
            </a:r>
            <a:r>
              <a:rPr sz="1300" b="1">
                <a:solidFill>
                  <a:srgbClr val="CE9178"/>
                </a:solidFill>
                <a:latin typeface="Consolas"/>
              </a:rPr>
              <a:t>"</a:t>
            </a:r>
            <a:r>
              <a:rPr sz="1300" b="1">
                <a:solidFill>
                  <a:srgbClr val="D4D4D4"/>
                </a:solidFill>
                <a:latin typeface="Consolas"/>
              </a:rPr>
              <a:t>)</a:t>
            </a:r>
            <a:r>
              <a:rPr sz="1300" b="1">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findProvider</a:t>
            </a:r>
            <a:r>
              <a:rPr sz="1300">
                <a:solidFill>
                  <a:srgbClr val="D4D4D4"/>
                </a:solidFill>
                <a:latin typeface="Consolas"/>
              </a:rPr>
              <a:t>&lt;</a:t>
            </a:r>
            <a:r>
              <a:rPr sz="1300">
                <a:solidFill>
                  <a:srgbClr val="4EC9B0"/>
                </a:solidFill>
                <a:latin typeface="Consolas"/>
              </a:rPr>
              <a:t>Tag</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index found constexpr</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a:t>
            </a:r>
            <a:r>
              <a:rPr sz="1300">
                <a:solidFill>
                  <a:srgbClr val="D4D4D4"/>
                </a:solidFill>
                <a:latin typeface="Consolas"/>
              </a:rPr>
              <a:t>compute</a:t>
            </a:r>
            <a:r>
              <a:rPr sz="1300">
                <a:solidFill>
                  <a:srgbClr val="D4D4D4"/>
                </a:solidFill>
                <a:latin typeface="Consolas"/>
              </a:rPr>
              <a:t>(</a:t>
            </a:r>
            <a:r>
              <a:rPr sz="1300">
                <a:solidFill>
                  <a:srgbClr val="4EC9B0"/>
                </a:solidFill>
                <a:latin typeface="Consolas"/>
              </a:rPr>
              <a:t>Tag</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569CD6"/>
                </a:solidFill>
                <a:latin typeface="Consolas"/>
              </a:rPr>
              <a:t>this</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48640" y="1508759"/>
            <a:ext cx="11247120" cy="4516655"/>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673352"/>
            <a:ext cx="10671048" cy="2590453"/>
          </a:xfrm>
          <a:prstGeom prst="rect">
            <a:avLst/>
          </a:prstGeom>
          <a:noFill/>
        </p:spPr>
        <p:txBody>
          <a:bodyPr wrap="none">
            <a:spAutoFit/>
          </a:bodyPr>
          <a:lstStyle/>
          <a:p>
            <a:pPr>
              <a:spcAft>
                <a:spcPts val="100"/>
              </a:spcAft>
            </a:pPr>
            <a:r>
              <a:rPr sz="1400">
                <a:solidFill>
                  <a:srgbClr val="6A9955"/>
                </a:solidFill>
                <a:latin typeface="Consolas"/>
              </a:rPr>
              <a:t>// what a component IS:</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state_size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convertible_to</a:t>
            </a:r>
            <a:r>
              <a:rPr sz="1400">
                <a:solidFill>
                  <a:srgbClr val="D4D4D4"/>
                </a:solidFill>
                <a:latin typeface="Consolas"/>
              </a:rPr>
              <a:t>&lt;</a:t>
            </a:r>
            <a:r>
              <a:rPr sz="1400">
                <a:solidFill>
                  <a:srgbClr val="4EC9B0"/>
                </a:solidFill>
                <a:latin typeface="Consolas"/>
              </a:rPr>
              <a:t>size_t</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getInitialLocalState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same_as</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a:t>
            </a:r>
            <a:r>
              <a:rPr sz="1400">
                <a:solidFill>
                  <a:srgbClr val="4EC9B0"/>
                </a:solidFill>
                <a:latin typeface="Consolas"/>
              </a:rPr>
              <a:t>LocalState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what it PROVIDES (a quantity, selected by tag):</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ProvidesStateFunction</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&lt;</a:t>
            </a:r>
            <a:r>
              <a:rPr sz="1400">
                <a:solidFill>
                  <a:srgbClr val="D4D4D4"/>
                </a:solidFill>
                <a:latin typeface="Consolas"/>
              </a:rPr>
              <a:t>C</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r>
              <a:rPr sz="1400">
                <a:solidFill>
                  <a:srgbClr val="D4D4D4"/>
                </a:solidFill>
                <a:latin typeface="Consolas"/>
              </a:rPr>
              <a:t> </a:t>
            </a:r>
            <a:r>
              <a:rPr sz="1400">
                <a:solidFill>
                  <a:srgbClr val="4EC9B0"/>
                </a:solidFill>
                <a:latin typeface="Consolas"/>
              </a:rPr>
              <a:t>StateTagConcept</a:t>
            </a:r>
            <a:r>
              <a:rPr sz="1400">
                <a:solidFill>
                  <a:srgbClr val="D4D4D4"/>
                </a:solidFill>
                <a:latin typeface="Consolas"/>
              </a:rPr>
              <a:t>&lt;</a:t>
            </a:r>
            <a:r>
              <a:rPr sz="1400">
                <a:solidFill>
                  <a:srgbClr val="4EC9B0"/>
                </a:solidFill>
                <a:latin typeface="Consolas"/>
              </a:rPr>
              <a:t>Tag</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p>
          <a:p>
            <a:pPr>
              <a:spcAft>
                <a:spcPts val="100"/>
              </a:spcAft>
            </a:pP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span</a:t>
            </a:r>
            <a:r>
              <a:rPr sz="1400">
                <a:solidFill>
                  <a:srgbClr val="D4D4D4"/>
                </a:solidFill>
                <a:latin typeface="Consolas"/>
              </a:rPr>
              <a:t>&lt;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const</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compute</a:t>
            </a:r>
            <a:r>
              <a:rPr sz="1400">
                <a:solidFill>
                  <a:srgbClr val="D4D4D4"/>
                </a:solidFill>
                <a:latin typeface="Consolas"/>
              </a:rPr>
              <a:t>(</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508760"/>
            <a:ext cx="8778240" cy="31089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13232" y="1673352"/>
            <a:ext cx="8449056" cy="2779776"/>
          </a:xfrm>
          <a:prstGeom prst="rect">
            <a:avLst/>
          </a:prstGeom>
          <a:noFill/>
        </p:spPr>
        <p:txBody>
          <a:bodyPr wrap="none">
            <a:spAutoFit/>
          </a:bodyPr>
          <a:lstStyle/>
          <a:p>
            <a:pPr>
              <a:spcAft>
                <a:spcPts val="100"/>
              </a:spcAft>
            </a:pPr>
            <a:r>
              <a:rPr sz="1400">
                <a:solidFill>
                  <a:srgbClr val="6A9955"/>
                </a:solidFill>
                <a:latin typeface="Consolas"/>
              </a:rPr>
              <a:t>// simulate:</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sim</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comps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differentiate — SAME components, different scalar:</a:t>
            </a:r>
          </a:p>
          <a:p>
            <a:pPr>
              <a:spcAft>
                <a:spcPts val="100"/>
              </a:spcAft>
            </a:pPr>
            <a:r>
              <a:rPr sz="1400" b="1">
                <a:solidFill>
                  <a:srgbClr val="569CD6"/>
                </a:solidFill>
                <a:latin typeface="Consolas"/>
              </a:rPr>
              <a:t>using</a:t>
            </a:r>
            <a:r>
              <a:rPr sz="1400" b="1">
                <a:solidFill>
                  <a:srgbClr val="D4D4D4"/>
                </a:solidFill>
                <a:latin typeface="Consolas"/>
              </a:rPr>
              <a:t> </a:t>
            </a:r>
            <a:r>
              <a:rPr sz="1400" b="1">
                <a:solidFill>
                  <a:srgbClr val="D4D4D4"/>
                </a:solidFill>
                <a:latin typeface="Consolas"/>
              </a:rPr>
              <a:t>D</a:t>
            </a:r>
            <a:r>
              <a:rPr sz="1400" b="1">
                <a:solidFill>
                  <a:srgbClr val="D4D4D4"/>
                </a:solidFill>
                <a:latin typeface="Consolas"/>
              </a:rPr>
              <a:t> </a:t>
            </a:r>
            <a:r>
              <a:rPr sz="1400" b="1">
                <a:solidFill>
                  <a:srgbClr val="D4D4D4"/>
                </a:solidFill>
                <a:latin typeface="Consolas"/>
              </a:rPr>
              <a:t>=</a:t>
            </a:r>
            <a:r>
              <a:rPr sz="1400" b="1">
                <a:solidFill>
                  <a:srgbClr val="D4D4D4"/>
                </a:solidFill>
                <a:latin typeface="Consolas"/>
              </a:rPr>
              <a:t> </a:t>
            </a:r>
            <a:r>
              <a:rPr sz="1400" b="1">
                <a:solidFill>
                  <a:srgbClr val="4EC9B0"/>
                </a:solidFill>
                <a:latin typeface="Consolas"/>
              </a:rPr>
              <a:t>Dual</a:t>
            </a:r>
            <a:r>
              <a:rPr sz="1400" b="1">
                <a:solidFill>
                  <a:srgbClr val="D4D4D4"/>
                </a:solidFill>
                <a:latin typeface="Consolas"/>
              </a:rPr>
              <a:t>&lt;</a:t>
            </a:r>
            <a:r>
              <a:rPr sz="1400" b="1">
                <a:solidFill>
                  <a:srgbClr val="4EC9B0"/>
                </a:solidFill>
                <a:latin typeface="Consolas"/>
              </a:rPr>
              <a:t>double</a:t>
            </a:r>
            <a:r>
              <a:rPr sz="1400" b="1">
                <a:solidFill>
                  <a:srgbClr val="D4D4D4"/>
                </a:solidFill>
                <a:latin typeface="Consolas"/>
              </a:rPr>
              <a:t>,</a:t>
            </a:r>
            <a:r>
              <a:rPr sz="1400" b="1">
                <a:solidFill>
                  <a:srgbClr val="D4D4D4"/>
                </a:solidFill>
                <a:latin typeface="Consolas"/>
              </a:rPr>
              <a:t> </a:t>
            </a:r>
            <a:r>
              <a:rPr sz="1400" b="1">
                <a:solidFill>
                  <a:srgbClr val="B5CEA8"/>
                </a:solidFill>
                <a:latin typeface="Consolas"/>
              </a:rPr>
              <a:t>14</a:t>
            </a:r>
            <a:r>
              <a:rPr sz="1400" b="1">
                <a:solidFill>
                  <a:srgbClr val="D4D4D4"/>
                </a:solidFill>
                <a:latin typeface="Consolas"/>
              </a:rPr>
              <a:t>&gt;</a:t>
            </a:r>
            <a:r>
              <a:rPr sz="1400" b="1">
                <a:solidFill>
                  <a:srgbClr val="D4D4D4"/>
                </a:solidFill>
                <a:latin typeface="Consolas"/>
              </a:rPr>
              <a:t>;</a:t>
            </a:r>
            <a:r>
              <a:rPr sz="1400" b="1">
                <a:solidFill>
                  <a:srgbClr val="D4D4D4"/>
                </a:solidFill>
                <a:latin typeface="Consolas"/>
              </a:rPr>
              <a:t>                  </a:t>
            </a:r>
            <a:r>
              <a:rPr sz="1400" b="1">
                <a:solidFill>
                  <a:srgbClr val="6A9955"/>
                </a:solidFill>
                <a:latin typeface="Consolas"/>
              </a:rPr>
              <a:t>// forward-mode autodiff</a:t>
            </a:r>
          </a:p>
          <a:p>
            <a:pPr>
              <a:spcAft>
                <a:spcPts val="100"/>
              </a:spcAft>
            </a:pPr>
            <a:r>
              <a:rPr sz="1400" b="1">
                <a:solidFill>
                  <a:srgbClr val="569CD6"/>
                </a:solidFill>
                <a:latin typeface="Consolas"/>
              </a:rPr>
              <a:t>auto</a:t>
            </a:r>
            <a:r>
              <a:rPr sz="1400" b="1">
                <a:solidFill>
                  <a:srgbClr val="D4D4D4"/>
                </a:solidFill>
                <a:latin typeface="Consolas"/>
              </a:rPr>
              <a:t> </a:t>
            </a:r>
            <a:r>
              <a:rPr sz="1400" b="1">
                <a:solidFill>
                  <a:srgbClr val="D4D4D4"/>
                </a:solidFill>
                <a:latin typeface="Consolas"/>
              </a:rPr>
              <a:t>grad</a:t>
            </a:r>
            <a:r>
              <a:rPr sz="1400" b="1">
                <a:solidFill>
                  <a:srgbClr val="D4D4D4"/>
                </a:solidFill>
                <a:latin typeface="Consolas"/>
              </a:rPr>
              <a:t> </a:t>
            </a:r>
            <a:r>
              <a:rPr sz="1400" b="1">
                <a:solidFill>
                  <a:srgbClr val="D4D4D4"/>
                </a:solidFill>
                <a:latin typeface="Consolas"/>
              </a:rPr>
              <a:t>=</a:t>
            </a:r>
            <a:r>
              <a:rPr sz="1400" b="1">
                <a:solidFill>
                  <a:srgbClr val="D4D4D4"/>
                </a:solidFill>
                <a:latin typeface="Consolas"/>
              </a:rPr>
              <a:t> </a:t>
            </a:r>
            <a:r>
              <a:rPr sz="1400" b="1">
                <a:solidFill>
                  <a:srgbClr val="D4D4D4"/>
                </a:solidFill>
                <a:latin typeface="Consolas"/>
              </a:rPr>
              <a:t>makeODESystem</a:t>
            </a:r>
            <a:r>
              <a:rPr sz="1400" b="1">
                <a:solidFill>
                  <a:srgbClr val="D4D4D4"/>
                </a:solidFill>
                <a:latin typeface="Consolas"/>
              </a:rPr>
              <a:t>&lt;</a:t>
            </a:r>
            <a:r>
              <a:rPr sz="1400" b="1">
                <a:solidFill>
                  <a:srgbClr val="D4D4D4"/>
                </a:solidFill>
                <a:latin typeface="Consolas"/>
              </a:rPr>
              <a:t>D</a:t>
            </a:r>
            <a:r>
              <a:rPr sz="1400" b="1">
                <a:solidFill>
                  <a:srgbClr val="D4D4D4"/>
                </a:solidFill>
                <a:latin typeface="Consolas"/>
              </a:rPr>
              <a:t>&gt;</a:t>
            </a:r>
            <a:r>
              <a:rPr sz="1400" b="1">
                <a:solidFill>
                  <a:srgbClr val="D4D4D4"/>
                </a:solidFill>
                <a:latin typeface="Consolas"/>
              </a:rPr>
              <a:t>(</a:t>
            </a:r>
            <a:r>
              <a:rPr sz="1400" b="1">
                <a:solidFill>
                  <a:srgbClr val="D4D4D4"/>
                </a:solidFill>
                <a:latin typeface="Consolas"/>
              </a:rPr>
              <a:t>comps</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computeJacobian</a:t>
            </a:r>
            <a:r>
              <a:rPr sz="1400">
                <a:solidFill>
                  <a:srgbClr val="D4D4D4"/>
                </a:solidFill>
                <a:latin typeface="Consolas"/>
              </a:rPr>
              <a:t>(</a:t>
            </a:r>
            <a:r>
              <a:rPr sz="1400">
                <a:solidFill>
                  <a:srgbClr val="D4D4D4"/>
                </a:solidFill>
                <a:latin typeface="Consolas"/>
              </a:rPr>
              <a:t>grad</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exact, to machine precision</a:t>
            </a:r>
          </a:p>
          <a:p>
            <a:pPr>
              <a:spcAft>
                <a:spcPts val="100"/>
              </a:spcAft>
            </a:pPr>
            <a:r>
              <a:rPr sz="1400">
                <a:latin typeface="Consolas"/>
              </a:rPr>
              <a:t> </a:t>
            </a:r>
          </a:p>
          <a:p>
            <a:pPr>
              <a:spcAft>
                <a:spcPts val="100"/>
              </a:spcAft>
            </a:pPr>
            <a:r>
              <a:rPr sz="1400">
                <a:solidFill>
                  <a:srgbClr val="6A9955"/>
                </a:solidFill>
                <a:latin typeface="Consolas"/>
              </a:rPr>
              <a:t>// linearize -&gt; LQR gain straight from the nonlinear model</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K</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lqr</a:t>
            </a:r>
            <a:r>
              <a:rPr sz="1400">
                <a:solidFill>
                  <a:srgbClr val="D4D4D4"/>
                </a:solidFill>
                <a:latin typeface="Consolas"/>
              </a:rPr>
              <a:t>(</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A</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B</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Q</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a:t>
            </a: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TotalTime>
  <Words>4433</Words>
  <Application>Microsoft Office PowerPoint</Application>
  <PresentationFormat>Panoramiczny</PresentationFormat>
  <Paragraphs>490</Paragraphs>
  <Slides>38</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38</vt:i4>
      </vt:variant>
    </vt:vector>
  </HeadingPairs>
  <TitlesOfParts>
    <vt:vector size="43"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2</cp:revision>
  <dcterms:created xsi:type="dcterms:W3CDTF">2013-01-27T09:14:16Z</dcterms:created>
  <dcterms:modified xsi:type="dcterms:W3CDTF">2026-06-13T21:57:16Z</dcterms:modified>
  <cp:category/>
</cp:coreProperties>
</file>